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9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CB84-4A38-41B6-A11F-709AA9E935F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8988D-87B3-4FE6-9FC6-B392E735DD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779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CB84-4A38-41B6-A11F-709AA9E935F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8988D-87B3-4FE6-9FC6-B392E735DD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440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CB84-4A38-41B6-A11F-709AA9E935F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8988D-87B3-4FE6-9FC6-B392E735DD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37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CB84-4A38-41B6-A11F-709AA9E935F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8988D-87B3-4FE6-9FC6-B392E735DD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68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CB84-4A38-41B6-A11F-709AA9E935F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8988D-87B3-4FE6-9FC6-B392E735DD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0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CB84-4A38-41B6-A11F-709AA9E935F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8988D-87B3-4FE6-9FC6-B392E735DD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33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CB84-4A38-41B6-A11F-709AA9E935F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8988D-87B3-4FE6-9FC6-B392E735DD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571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CB84-4A38-41B6-A11F-709AA9E935F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8988D-87B3-4FE6-9FC6-B392E735DD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79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CB84-4A38-41B6-A11F-709AA9E935F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8988D-87B3-4FE6-9FC6-B392E735DD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745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CB84-4A38-41B6-A11F-709AA9E935F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8988D-87B3-4FE6-9FC6-B392E735DD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69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CB84-4A38-41B6-A11F-709AA9E935F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8988D-87B3-4FE6-9FC6-B392E735DD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7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3CB84-4A38-41B6-A11F-709AA9E935F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8988D-87B3-4FE6-9FC6-B392E735DD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08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ingbeeni.tistory.com/entry/52-TCP%EC%9D%98-%EC%9D%B4%EB%A1%A0%EC%A0%81%EC%9D%B8-%EC%9D%B4%EC%95%BC%EA%B8%B0" TargetMode="External"/><Relationship Id="rId3" Type="http://schemas.openxmlformats.org/officeDocument/2006/relationships/hyperlink" Target="https://taesun1114.tistory.com/entry/TCP-IP-%ED%94%84%EB%A1%9C%ED%86%A0%EC%BD%9C-%EC%8A%A4%ED%83%9D" TargetMode="External"/><Relationship Id="rId7" Type="http://schemas.openxmlformats.org/officeDocument/2006/relationships/hyperlink" Target="https://minwan1.github.io/2018/10/28/2018-10-28-TCP-IP-DATA-PROCESSING/" TargetMode="External"/><Relationship Id="rId2" Type="http://schemas.openxmlformats.org/officeDocument/2006/relationships/hyperlink" Target="https://christin2.tistory.com/entry/Chapter-04-TCP-%EA%B8%B0%EB%B0%98-%EC%84%9C%EB%B2%84%ED%81%B4%EB%9D%BC%EC%9D%B4%EC%96%B8%ED%8A%B8-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behdrhs.tistory.com/93" TargetMode="External"/><Relationship Id="rId5" Type="http://schemas.openxmlformats.org/officeDocument/2006/relationships/hyperlink" Target="https://ehclub.co.kr/1375" TargetMode="External"/><Relationship Id="rId4" Type="http://schemas.openxmlformats.org/officeDocument/2006/relationships/hyperlink" Target="https://m.blog.naver.com/PostView.nhn?blogId=kittenjun&amp;logNo=17026047&amp;proxyReferer=https%3A%2F%2Fwww.google.com%2F" TargetMode="External"/><Relationship Id="rId9" Type="http://schemas.openxmlformats.org/officeDocument/2006/relationships/hyperlink" Target="https://koocci.github.io/network/2018/05/16/Network1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96052B-C27C-49F4-9C93-FC4E54EA0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22601"/>
            <a:ext cx="10515598" cy="41543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altLang="ko-KR" sz="32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endParaRPr lang="en-US" altLang="ko-KR" sz="32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altLang="ko-KR" sz="3200" dirty="0">
                <a:solidFill>
                  <a:srgbClr val="FFFFFF"/>
                </a:solidFill>
              </a:rPr>
              <a:t>GBC TCP/ IP </a:t>
            </a:r>
            <a:r>
              <a:rPr lang="ko-KR" altLang="en-US" sz="3200" dirty="0">
                <a:solidFill>
                  <a:srgbClr val="FFFFFF"/>
                </a:solidFill>
              </a:rPr>
              <a:t>소켓 프로그래밍</a:t>
            </a:r>
            <a:endParaRPr lang="en-US" altLang="ko-KR" sz="32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altLang="ko-KR" sz="2400" dirty="0">
                <a:solidFill>
                  <a:srgbClr val="FFFFFF"/>
                </a:solidFill>
              </a:rPr>
              <a:t>21900195 </a:t>
            </a:r>
            <a:r>
              <a:rPr lang="ko-KR" altLang="en-US" sz="2400" dirty="0">
                <a:solidFill>
                  <a:srgbClr val="FFFFFF"/>
                </a:solidFill>
              </a:rPr>
              <a:t>김 진 일</a:t>
            </a:r>
          </a:p>
        </p:txBody>
      </p:sp>
    </p:spTree>
    <p:extLst>
      <p:ext uri="{BB962C8B-B14F-4D97-AF65-F5344CB8AC3E}">
        <p14:creationId xmlns:p14="http://schemas.microsoft.com/office/powerpoint/2010/main" val="1559968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51C04F-32A4-41F1-83EF-7D94C64CD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04007"/>
            <a:ext cx="10515598" cy="5572955"/>
          </a:xfrm>
        </p:spPr>
        <p:txBody>
          <a:bodyPr>
            <a:normAutofit/>
          </a:bodyPr>
          <a:lstStyle/>
          <a:p>
            <a:endParaRPr lang="en-US" altLang="ko-KR" sz="2400" dirty="0">
              <a:solidFill>
                <a:srgbClr val="FFFFFF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소켓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네트워크의 연결 도구로서 인터넷에서 서로 연결해서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데이터를 주고 받을 수 있게 해주는 것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socket </a:t>
            </a:r>
            <a:r>
              <a:rPr lang="ko-KR" altLang="en-US" sz="2000" dirty="0">
                <a:solidFill>
                  <a:srgbClr val="FFFFFF"/>
                </a:solidFill>
              </a:rPr>
              <a:t>함수로 생성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소켓의 주소</a:t>
            </a:r>
            <a:r>
              <a:rPr lang="en-US" altLang="ko-KR" sz="2000" dirty="0">
                <a:solidFill>
                  <a:srgbClr val="FFFFFF"/>
                </a:solidFill>
              </a:rPr>
              <a:t>  IP , PORT </a:t>
            </a:r>
            <a:r>
              <a:rPr lang="ko-KR" altLang="en-US" sz="2000" dirty="0">
                <a:solidFill>
                  <a:srgbClr val="FFFFFF"/>
                </a:solidFill>
              </a:rPr>
              <a:t>번호로 구성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(</a:t>
            </a:r>
            <a:r>
              <a:rPr lang="ko-KR" altLang="en-US" sz="2000" dirty="0">
                <a:solidFill>
                  <a:srgbClr val="FFFFFF"/>
                </a:solidFill>
              </a:rPr>
              <a:t>수신 소켓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송신 소켓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>
              <a:buFontTx/>
              <a:buChar char="-"/>
            </a:pPr>
            <a:endParaRPr lang="en-US" altLang="ko-KR" sz="2000" dirty="0">
              <a:solidFill>
                <a:srgbClr val="FFFFFF"/>
              </a:solidFill>
            </a:endParaRPr>
          </a:p>
          <a:p>
            <a:pPr>
              <a:buFontTx/>
              <a:buChar char="-"/>
            </a:pPr>
            <a:r>
              <a:rPr lang="ko-KR" altLang="en-US" sz="2400" dirty="0">
                <a:solidFill>
                  <a:srgbClr val="FFFF00"/>
                </a:solidFill>
              </a:rPr>
              <a:t>수신 </a:t>
            </a:r>
            <a:r>
              <a:rPr lang="ko-KR" altLang="en-US" sz="2400" dirty="0">
                <a:solidFill>
                  <a:srgbClr val="FFFFFF"/>
                </a:solidFill>
              </a:rPr>
              <a:t> </a:t>
            </a:r>
            <a:endParaRPr lang="en-US" altLang="ko-KR" sz="24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socket  </a:t>
            </a:r>
            <a:r>
              <a:rPr lang="ko-KR" altLang="en-US" sz="2000" dirty="0">
                <a:solidFill>
                  <a:srgbClr val="FFFFFF"/>
                </a:solidFill>
              </a:rPr>
              <a:t>전화기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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소켓의 생성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bind  </a:t>
            </a:r>
            <a:r>
              <a:rPr lang="ko-KR" altLang="en-US" sz="2000" dirty="0">
                <a:solidFill>
                  <a:srgbClr val="FFFFFF"/>
                </a:solidFill>
              </a:rPr>
              <a:t>전화번호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 IP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와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PORT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번호의 할당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Listen </a:t>
            </a:r>
            <a:r>
              <a:rPr lang="ko-KR" altLang="en-US" sz="2000" dirty="0">
                <a:solidFill>
                  <a:srgbClr val="FFFFFF"/>
                </a:solidFill>
              </a:rPr>
              <a:t>전화망 연결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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연결 요청 가능 상태로 변경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Accept </a:t>
            </a:r>
            <a:r>
              <a:rPr lang="ko-KR" altLang="en-US" sz="2000" dirty="0">
                <a:solidFill>
                  <a:srgbClr val="FFFFFF"/>
                </a:solidFill>
              </a:rPr>
              <a:t>전화 받기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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연결 요청에 대한 수락</a:t>
            </a:r>
            <a:endParaRPr lang="en-US" altLang="ko-KR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6064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99F23E-546E-42ED-BE11-596888392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87897"/>
            <a:ext cx="10515598" cy="5489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FFFFFF"/>
                </a:solidFill>
              </a:rPr>
              <a:t>  </a:t>
            </a:r>
            <a:r>
              <a:rPr lang="ko-KR" altLang="en-US" sz="2400" dirty="0">
                <a:solidFill>
                  <a:srgbClr val="FFFF00"/>
                </a:solidFill>
              </a:rPr>
              <a:t>송신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socket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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소켓의 생성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connect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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연결 요청</a:t>
            </a: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</a:t>
            </a:r>
            <a:r>
              <a:rPr lang="ko-KR" altLang="en-US" sz="2400" dirty="0">
                <a:solidFill>
                  <a:srgbClr val="FFFF00"/>
                </a:solidFill>
                <a:sym typeface="Wingdings" panose="05000000000000000000" pitchFamily="2" charset="2"/>
              </a:rPr>
              <a:t>저 수준 파일 입출력과 파일 </a:t>
            </a:r>
            <a:r>
              <a:rPr lang="ko-KR" altLang="en-US" sz="2400" dirty="0" err="1">
                <a:solidFill>
                  <a:srgbClr val="FFFF00"/>
                </a:solidFill>
                <a:sym typeface="Wingdings" panose="05000000000000000000" pitchFamily="2" charset="2"/>
              </a:rPr>
              <a:t>디스크립터</a:t>
            </a:r>
            <a:endParaRPr lang="en-US" altLang="ko-KR" sz="24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파일 열기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닫기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입출력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)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Open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함수 호출 시 반환된 파일 </a:t>
            </a:r>
            <a:r>
              <a:rPr lang="ko-KR" altLang="en-US" sz="2000" dirty="0" err="1">
                <a:solidFill>
                  <a:srgbClr val="FFFFFF"/>
                </a:solidFill>
                <a:sym typeface="Wingdings" panose="05000000000000000000" pitchFamily="2" charset="2"/>
              </a:rPr>
              <a:t>디스크립터를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 이용해서 파일 입출력을 진행하게 됨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리눅스</a:t>
            </a: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소켓도 파일로 간주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둘다 </a:t>
            </a:r>
            <a:r>
              <a:rPr lang="ko-KR" altLang="en-US" sz="2000" dirty="0" err="1">
                <a:solidFill>
                  <a:srgbClr val="FFFFFF"/>
                </a:solidFill>
                <a:sym typeface="Wingdings" panose="05000000000000000000" pitchFamily="2" charset="2"/>
              </a:rPr>
              <a:t>디스크립터가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 반환</a:t>
            </a: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윈도우</a:t>
            </a: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소켓과 파일은 다른 것으로 간주 </a:t>
            </a: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</p:txBody>
      </p:sp>
      <p:pic>
        <p:nvPicPr>
          <p:cNvPr id="1028" name="Picture 4" descr="íì¼ ëì¤í¬ë¦½í°ì ëí ì´ë¯¸ì§ ê²ìê²°ê³¼">
            <a:extLst>
              <a:ext uri="{FF2B5EF4-FFF2-40B4-BE49-F238E27FC236}">
                <a16:creationId xmlns:a16="http://schemas.microsoft.com/office/drawing/2014/main" id="{A524598E-4A8D-408B-8974-466F4E4410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6"/>
          <a:stretch/>
        </p:blipFill>
        <p:spPr bwMode="auto">
          <a:xfrm>
            <a:off x="6746244" y="1234467"/>
            <a:ext cx="4332723" cy="179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2600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BF4223-7AE4-4B08-A85E-C1D6B0071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578840"/>
            <a:ext cx="10515598" cy="5821959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rgbClr val="FFFF00"/>
                </a:solidFill>
              </a:rPr>
              <a:t>프로토콜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상호간의 대화에 필요한 통신 규약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프로토콜 체계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생성되는 소켓이 사용할 프로토콜의 부류정보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ex) IPv4 </a:t>
            </a:r>
            <a:r>
              <a:rPr lang="ko-KR" altLang="en-US" sz="2000" dirty="0">
                <a:solidFill>
                  <a:srgbClr val="FFFFFF"/>
                </a:solidFill>
              </a:rPr>
              <a:t>인터넷 프로토콜 체계 </a:t>
            </a:r>
            <a:r>
              <a:rPr lang="en-US" altLang="ko-KR" sz="2000" dirty="0">
                <a:solidFill>
                  <a:srgbClr val="FFFFFF"/>
                </a:solidFill>
              </a:rPr>
              <a:t>, IPv6  </a:t>
            </a:r>
            <a:r>
              <a:rPr lang="ko-KR" altLang="en-US" sz="2000" dirty="0">
                <a:solidFill>
                  <a:srgbClr val="FFFFFF"/>
                </a:solidFill>
              </a:rPr>
              <a:t>인터넷 프로토콜 체계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소켓의 타입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소켓의 데이터 전송 방식을 의미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데이터 전송 방식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1. </a:t>
            </a:r>
            <a:r>
              <a:rPr lang="ko-KR" altLang="en-US" sz="2000" dirty="0">
                <a:solidFill>
                  <a:srgbClr val="FFFFFF"/>
                </a:solidFill>
              </a:rPr>
              <a:t>연결 지향형 소켓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2. </a:t>
            </a:r>
            <a:r>
              <a:rPr lang="ko-KR" altLang="en-US" sz="2000" dirty="0" err="1">
                <a:solidFill>
                  <a:srgbClr val="FFFFFF"/>
                </a:solidFill>
              </a:rPr>
              <a:t>비연결</a:t>
            </a:r>
            <a:r>
              <a:rPr lang="ko-KR" altLang="en-US" sz="2000" dirty="0">
                <a:solidFill>
                  <a:srgbClr val="FFFFFF"/>
                </a:solidFill>
              </a:rPr>
              <a:t> 지향형 소켓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795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B3BD1-9A23-4787-A05C-9783D9DE6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46621"/>
            <a:ext cx="10515598" cy="5430342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1. </a:t>
            </a:r>
            <a:r>
              <a:rPr lang="ko-KR" altLang="en-US" sz="2000" dirty="0">
                <a:solidFill>
                  <a:srgbClr val="FFFF00"/>
                </a:solidFill>
              </a:rPr>
              <a:t>연결지향형 소켓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</a:t>
            </a:r>
            <a:r>
              <a:rPr lang="en-US" altLang="ko-KR" sz="2000" dirty="0">
                <a:solidFill>
                  <a:srgbClr val="FFFFFF"/>
                </a:solidFill>
              </a:rPr>
              <a:t>socket </a:t>
            </a:r>
            <a:r>
              <a:rPr lang="ko-KR" altLang="en-US" sz="2000" dirty="0">
                <a:solidFill>
                  <a:srgbClr val="FFFFFF"/>
                </a:solidFill>
              </a:rPr>
              <a:t>함수의 두 번째 인자로 </a:t>
            </a:r>
            <a:r>
              <a:rPr lang="en-US" altLang="ko-KR" sz="2000" dirty="0">
                <a:solidFill>
                  <a:srgbClr val="FFFFFF"/>
                </a:solidFill>
              </a:rPr>
              <a:t>SOCK_STREAM</a:t>
            </a:r>
            <a:r>
              <a:rPr lang="ko-KR" altLang="en-US" sz="2000" dirty="0">
                <a:solidFill>
                  <a:srgbClr val="FFFFFF"/>
                </a:solidFill>
              </a:rPr>
              <a:t>을 전달하면 연결지향형 소켓이 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</a:rPr>
              <a:t>특징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1. </a:t>
            </a:r>
            <a:r>
              <a:rPr lang="ko-KR" altLang="en-US" sz="2000" dirty="0">
                <a:solidFill>
                  <a:srgbClr val="FFFFFF"/>
                </a:solidFill>
              </a:rPr>
              <a:t>중간에 데이터가 소멸되지 않고 목적지로 전송된다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2. </a:t>
            </a:r>
            <a:r>
              <a:rPr lang="ko-KR" altLang="en-US" sz="2000" dirty="0">
                <a:solidFill>
                  <a:srgbClr val="FFFFFF"/>
                </a:solidFill>
              </a:rPr>
              <a:t>전송 순서대로 데이터가 수신된다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3. </a:t>
            </a:r>
            <a:r>
              <a:rPr lang="ko-KR" altLang="en-US" sz="2000" dirty="0">
                <a:solidFill>
                  <a:srgbClr val="FFFFFF"/>
                </a:solidFill>
              </a:rPr>
              <a:t>전송되는 데이터의 경계가 존재하지 않는다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</a:rPr>
              <a:t>자신과 연결된 상대 소켓의 상태를 파악해가면서 데이터를 전송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데이터 손실 잘 안 </a:t>
            </a:r>
            <a:r>
              <a:rPr lang="ko-KR" altLang="en-US" sz="2000" dirty="0" err="1">
                <a:solidFill>
                  <a:srgbClr val="FFFFFF"/>
                </a:solidFill>
              </a:rPr>
              <a:t>일어남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818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1019BB-24A0-4778-A321-CB159CC4B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38231"/>
            <a:ext cx="10515598" cy="5438731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2. </a:t>
            </a:r>
            <a:r>
              <a:rPr lang="ko-KR" altLang="en-US" sz="2000" dirty="0">
                <a:solidFill>
                  <a:srgbClr val="FFFF00"/>
                </a:solidFill>
              </a:rPr>
              <a:t>비 연결지향형 소켓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socket </a:t>
            </a:r>
            <a:r>
              <a:rPr lang="ko-KR" altLang="en-US" sz="2000" dirty="0">
                <a:solidFill>
                  <a:srgbClr val="FFFFFF"/>
                </a:solidFill>
              </a:rPr>
              <a:t>함수의 두 번째 인자로 </a:t>
            </a:r>
            <a:r>
              <a:rPr lang="en-US" altLang="ko-KR" sz="2000" dirty="0">
                <a:solidFill>
                  <a:srgbClr val="FFFFFF"/>
                </a:solidFill>
              </a:rPr>
              <a:t>SOCK_DGRAM</a:t>
            </a:r>
            <a:r>
              <a:rPr lang="ko-KR" altLang="en-US" sz="2000" dirty="0">
                <a:solidFill>
                  <a:srgbClr val="FFFFFF"/>
                </a:solidFill>
              </a:rPr>
              <a:t>을 전달하면 비 연결지향형 소켓이 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00"/>
                </a:solidFill>
              </a:rPr>
              <a:t>특징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>
                <a:solidFill>
                  <a:srgbClr val="FFFFFF"/>
                </a:solidFill>
              </a:rPr>
              <a:t>1. </a:t>
            </a:r>
            <a:r>
              <a:rPr lang="ko-KR" altLang="en-US" sz="2000" dirty="0">
                <a:solidFill>
                  <a:srgbClr val="FFFFFF"/>
                </a:solidFill>
              </a:rPr>
              <a:t>전송된 순서에 상관없이 가장 빠른 전송을 지향한다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2. </a:t>
            </a:r>
            <a:r>
              <a:rPr lang="ko-KR" altLang="en-US" sz="2000" dirty="0">
                <a:solidFill>
                  <a:srgbClr val="FFFFFF"/>
                </a:solidFill>
              </a:rPr>
              <a:t>전송된 데이터는 손실의 우려가 있고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파손의 우려가 있다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3. </a:t>
            </a:r>
            <a:r>
              <a:rPr lang="ko-KR" altLang="en-US" sz="2000" dirty="0">
                <a:solidFill>
                  <a:srgbClr val="FFFFFF"/>
                </a:solidFill>
              </a:rPr>
              <a:t>전송되는 데이터의 경계가 존재한다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4. </a:t>
            </a:r>
            <a:r>
              <a:rPr lang="ko-KR" altLang="en-US" sz="2000" dirty="0">
                <a:solidFill>
                  <a:srgbClr val="FFFFFF"/>
                </a:solidFill>
              </a:rPr>
              <a:t>한번에 전송할 수 있는 데이터의 크기가 제한된다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547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B0C060-4859-4DCA-8558-5610CD186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229" y="620785"/>
            <a:ext cx="10766570" cy="5556177"/>
          </a:xfrm>
        </p:spPr>
        <p:txBody>
          <a:bodyPr>
            <a:normAutofit/>
          </a:bodyPr>
          <a:lstStyle/>
          <a:p>
            <a:endParaRPr lang="en-US" altLang="ko-KR" sz="205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ko-KR" sz="205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50" dirty="0">
                <a:solidFill>
                  <a:srgbClr val="FFFF00"/>
                </a:solidFill>
              </a:rPr>
              <a:t>"</a:t>
            </a:r>
            <a:r>
              <a:rPr lang="ko-KR" altLang="en-US" sz="2050" dirty="0">
                <a:solidFill>
                  <a:srgbClr val="FFFF00"/>
                </a:solidFill>
              </a:rPr>
              <a:t>하나의 프로토콜 체계 안에 데이터의 전송방식이 동일한 프로토콜이</a:t>
            </a:r>
            <a:r>
              <a:rPr lang="en-US" altLang="ko-KR" sz="2050" dirty="0">
                <a:solidFill>
                  <a:srgbClr val="FFFF00"/>
                </a:solidFill>
              </a:rPr>
              <a:t> </a:t>
            </a:r>
            <a:r>
              <a:rPr lang="ko-KR" altLang="en-US" sz="2050" dirty="0">
                <a:solidFill>
                  <a:srgbClr val="FFFF00"/>
                </a:solidFill>
              </a:rPr>
              <a:t>둘 이상 존재하는 경우</a:t>
            </a:r>
            <a:r>
              <a:rPr lang="en-US" altLang="ko-KR" sz="2050" dirty="0">
                <a:solidFill>
                  <a:srgbClr val="FFFF00"/>
                </a:solidFill>
              </a:rPr>
              <a:t>"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원래는</a:t>
            </a:r>
            <a:r>
              <a:rPr lang="en-US" altLang="ko-KR" sz="2000" dirty="0">
                <a:solidFill>
                  <a:srgbClr val="FFFFFF"/>
                </a:solidFill>
              </a:rPr>
              <a:t>  socket </a:t>
            </a:r>
            <a:r>
              <a:rPr lang="ko-KR" altLang="en-US" sz="2000" dirty="0">
                <a:solidFill>
                  <a:srgbClr val="FFFFFF"/>
                </a:solidFill>
              </a:rPr>
              <a:t>함수의 첫 번째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두 번째 인자를 통해서도 충분히 원하는 유형의 소켓을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 err="1">
                <a:solidFill>
                  <a:srgbClr val="FFFFFF"/>
                </a:solidFill>
              </a:rPr>
              <a:t>생성가능하지만</a:t>
            </a:r>
            <a:r>
              <a:rPr lang="ko-KR" altLang="en-US" sz="2000" dirty="0">
                <a:solidFill>
                  <a:srgbClr val="FFFFFF"/>
                </a:solidFill>
              </a:rPr>
              <a:t> 위 경우 </a:t>
            </a:r>
            <a:r>
              <a:rPr lang="ko-KR" altLang="en-US" sz="2000" dirty="0">
                <a:solidFill>
                  <a:srgbClr val="FFFF00"/>
                </a:solidFill>
              </a:rPr>
              <a:t>세 번째 인자가 필요</a:t>
            </a:r>
            <a:r>
              <a:rPr lang="en-US" altLang="ko-KR" sz="2000" dirty="0">
                <a:solidFill>
                  <a:srgbClr val="FFFF00"/>
                </a:solidFill>
              </a:rPr>
              <a:t>!!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즉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소켓의 데이터 전송방식은 같지만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그 안에서도 프로토콜이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다시 나뉘는 상황이 존재할 수 있기 때문에 이러한 상황에서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세 번째 인자를 통해 원하는 프로토콜 정보를 조금 더 구체화 해야함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987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19A64F-E8FC-42C1-9517-700018DA7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62731"/>
            <a:ext cx="10515598" cy="5514232"/>
          </a:xfrm>
        </p:spPr>
        <p:txBody>
          <a:bodyPr>
            <a:normAutofit lnSpcReduction="10000"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IP(Internet Protocol)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인터넷상에서 데이터를 송수신할 목적으로 컴퓨터에게 부여하는 값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IP</a:t>
            </a:r>
            <a:r>
              <a:rPr lang="ko-KR" altLang="en-US" sz="2000" dirty="0">
                <a:solidFill>
                  <a:srgbClr val="FFFFFF"/>
                </a:solidFill>
              </a:rPr>
              <a:t>는 데이터가 </a:t>
            </a:r>
            <a:r>
              <a:rPr lang="en-US" altLang="ko-KR" sz="2000" dirty="0">
                <a:solidFill>
                  <a:srgbClr val="FFFFFF"/>
                </a:solidFill>
              </a:rPr>
              <a:t>NIC(</a:t>
            </a:r>
            <a:r>
              <a:rPr lang="ko-KR" altLang="en-US" sz="2000" dirty="0">
                <a:solidFill>
                  <a:srgbClr val="FFFFFF"/>
                </a:solidFill>
              </a:rPr>
              <a:t>네트워크 인터페이스 카드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  <a:r>
              <a:rPr lang="ko-KR" altLang="en-US" sz="2000" dirty="0">
                <a:solidFill>
                  <a:srgbClr val="FFFFFF"/>
                </a:solidFill>
              </a:rPr>
              <a:t>를 통해 컴퓨터 내부로 전송하는데 사용됨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</a:t>
            </a:r>
            <a:r>
              <a:rPr lang="en-US" altLang="ko-KR" sz="2400" dirty="0">
                <a:solidFill>
                  <a:srgbClr val="FFFF00"/>
                </a:solidFill>
              </a:rPr>
              <a:t>NIC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네트워크 인터페이스 카드</a:t>
            </a:r>
            <a:r>
              <a:rPr lang="en-US" altLang="ko-KR" sz="2000" dirty="0">
                <a:solidFill>
                  <a:srgbClr val="FFFFFF"/>
                </a:solidFill>
              </a:rPr>
              <a:t>)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데이터 송수신장치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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데이터를 컴퓨터 내부로 전송하는데 사용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IP </a:t>
            </a:r>
            <a:r>
              <a:rPr lang="ko-KR" altLang="en-US" sz="2000" dirty="0">
                <a:solidFill>
                  <a:srgbClr val="FFFF00"/>
                </a:solidFill>
              </a:rPr>
              <a:t>주소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- IPv4     4byte </a:t>
            </a:r>
            <a:r>
              <a:rPr lang="ko-KR" altLang="en-US" sz="2000" dirty="0">
                <a:solidFill>
                  <a:srgbClr val="FFFFFF"/>
                </a:solidFill>
              </a:rPr>
              <a:t>주소체계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- IPv6   16byte </a:t>
            </a:r>
            <a:r>
              <a:rPr lang="ko-KR" altLang="en-US" sz="2000" dirty="0">
                <a:solidFill>
                  <a:srgbClr val="FFFFFF"/>
                </a:solidFill>
              </a:rPr>
              <a:t>주소체계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클래스 </a:t>
            </a:r>
            <a:r>
              <a:rPr lang="en-US" altLang="ko-KR" sz="2000" dirty="0">
                <a:solidFill>
                  <a:srgbClr val="FFFFFF"/>
                </a:solidFill>
              </a:rPr>
              <a:t>A </a:t>
            </a:r>
            <a:r>
              <a:rPr lang="ko-KR" altLang="en-US" sz="2000" dirty="0">
                <a:solidFill>
                  <a:srgbClr val="FFFFFF"/>
                </a:solidFill>
              </a:rPr>
              <a:t>첫 번째 바이트 범위 </a:t>
            </a:r>
            <a:r>
              <a:rPr lang="en-US" altLang="ko-KR" sz="2000" dirty="0">
                <a:solidFill>
                  <a:srgbClr val="FFFFFF"/>
                </a:solidFill>
              </a:rPr>
              <a:t>0~126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클래스 </a:t>
            </a:r>
            <a:r>
              <a:rPr lang="en-US" altLang="ko-KR" sz="2000" dirty="0">
                <a:solidFill>
                  <a:srgbClr val="FFFFFF"/>
                </a:solidFill>
              </a:rPr>
              <a:t>B </a:t>
            </a:r>
            <a:r>
              <a:rPr lang="ko-KR" altLang="en-US" sz="2000" dirty="0">
                <a:solidFill>
                  <a:srgbClr val="FFFFFF"/>
                </a:solidFill>
              </a:rPr>
              <a:t>첫 번째 바이트 범위 </a:t>
            </a:r>
            <a:r>
              <a:rPr lang="en-US" altLang="ko-KR" sz="2000" dirty="0">
                <a:solidFill>
                  <a:srgbClr val="FFFFFF"/>
                </a:solidFill>
              </a:rPr>
              <a:t>128~191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클래스 </a:t>
            </a:r>
            <a:r>
              <a:rPr lang="en-US" altLang="ko-KR" sz="2000" dirty="0">
                <a:solidFill>
                  <a:srgbClr val="FFFFFF"/>
                </a:solidFill>
              </a:rPr>
              <a:t>C </a:t>
            </a:r>
            <a:r>
              <a:rPr lang="ko-KR" altLang="en-US" sz="2000" dirty="0">
                <a:solidFill>
                  <a:srgbClr val="FFFFFF"/>
                </a:solidFill>
              </a:rPr>
              <a:t>첫 번째 바이트 범위 </a:t>
            </a:r>
            <a:r>
              <a:rPr lang="en-US" altLang="ko-KR" sz="2000" dirty="0">
                <a:solidFill>
                  <a:srgbClr val="FFFFFF"/>
                </a:solidFill>
              </a:rPr>
              <a:t>192~223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370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F904CF-CAFD-4963-B66E-8A4EFC6FE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63399"/>
            <a:ext cx="10515598" cy="5413564"/>
          </a:xfrm>
        </p:spPr>
        <p:txBody>
          <a:bodyPr>
            <a:normAutofit/>
          </a:bodyPr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400" dirty="0">
                <a:solidFill>
                  <a:srgbClr val="FFFF00"/>
                </a:solidFill>
              </a:rPr>
              <a:t>PORT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컴퓨터에 부여하는 값이 아닌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프로그램상에서 생성되는 소켓을 구분하기 위해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소켓에 부여되는 번호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하나의 운영체제 내에서 소켓을 구분하는 목적으로 사용되기 때문에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하나의 운영체제 내에서 동일한 </a:t>
            </a:r>
            <a:r>
              <a:rPr lang="en-US" altLang="ko-KR" sz="2000" dirty="0">
                <a:solidFill>
                  <a:srgbClr val="FFFFFF"/>
                </a:solidFill>
              </a:rPr>
              <a:t>PORT </a:t>
            </a:r>
            <a:r>
              <a:rPr lang="ko-KR" altLang="en-US" sz="2000" dirty="0">
                <a:solidFill>
                  <a:srgbClr val="FFFFFF"/>
                </a:solidFill>
              </a:rPr>
              <a:t>번호를 둘 이상의 소켓에 할당할 수 없음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운영체제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PORT </a:t>
            </a:r>
            <a:r>
              <a:rPr lang="ko-KR" altLang="en-US" sz="2000" dirty="0">
                <a:solidFill>
                  <a:srgbClr val="FFFFFF"/>
                </a:solidFill>
              </a:rPr>
              <a:t>번호 활용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NIC</a:t>
            </a:r>
            <a:r>
              <a:rPr lang="ko-KR" altLang="en-US" sz="2000" dirty="0">
                <a:solidFill>
                  <a:srgbClr val="FFFFFF"/>
                </a:solidFill>
              </a:rPr>
              <a:t>를 통해서 수신된 데이터 안에는 </a:t>
            </a:r>
            <a:r>
              <a:rPr lang="en-US" altLang="ko-KR" sz="2000" dirty="0">
                <a:solidFill>
                  <a:srgbClr val="FFFFFF"/>
                </a:solidFill>
              </a:rPr>
              <a:t>PORT </a:t>
            </a:r>
            <a:r>
              <a:rPr lang="ko-KR" altLang="en-US" sz="2000" dirty="0">
                <a:solidFill>
                  <a:srgbClr val="FFFFFF"/>
                </a:solidFill>
              </a:rPr>
              <a:t>번호가 새겨져 있음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정보를 참조해서 일치하는 </a:t>
            </a:r>
            <a:r>
              <a:rPr lang="en-US" altLang="ko-KR" sz="2000" dirty="0">
                <a:solidFill>
                  <a:srgbClr val="FFFFFF"/>
                </a:solidFill>
              </a:rPr>
              <a:t>PORT </a:t>
            </a:r>
            <a:r>
              <a:rPr lang="ko-KR" altLang="en-US" sz="2000" dirty="0">
                <a:solidFill>
                  <a:srgbClr val="FFFFFF"/>
                </a:solidFill>
              </a:rPr>
              <a:t>번호의 소켓에 데이터를 전달</a:t>
            </a:r>
          </a:p>
        </p:txBody>
      </p:sp>
    </p:spTree>
    <p:extLst>
      <p:ext uri="{BB962C8B-B14F-4D97-AF65-F5344CB8AC3E}">
        <p14:creationId xmlns:p14="http://schemas.microsoft.com/office/powerpoint/2010/main" val="1738303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B82F2E-CFC4-491A-8246-47442EA7B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62731"/>
            <a:ext cx="10515598" cy="5514232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네트워크 바이트 순서와 </a:t>
            </a:r>
            <a:r>
              <a:rPr lang="en-US" altLang="ko-KR" sz="2000" dirty="0">
                <a:solidFill>
                  <a:srgbClr val="FFFFFF"/>
                </a:solidFill>
              </a:rPr>
              <a:t>CPU</a:t>
            </a:r>
            <a:r>
              <a:rPr lang="ko-KR" altLang="en-US" sz="2000" dirty="0">
                <a:solidFill>
                  <a:srgbClr val="FFFFFF"/>
                </a:solidFill>
              </a:rPr>
              <a:t>가 데이터를 메모리에 저장하는 방식 </a:t>
            </a:r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1. </a:t>
            </a:r>
            <a:r>
              <a:rPr lang="ko-KR" altLang="en-US" sz="2000" dirty="0">
                <a:solidFill>
                  <a:srgbClr val="FFFF00"/>
                </a:solidFill>
              </a:rPr>
              <a:t>빅 </a:t>
            </a:r>
            <a:r>
              <a:rPr lang="ko-KR" altLang="en-US" sz="2000" dirty="0" err="1">
                <a:solidFill>
                  <a:srgbClr val="FFFF00"/>
                </a:solidFill>
              </a:rPr>
              <a:t>엔디안</a:t>
            </a:r>
            <a:endParaRPr lang="ko-KR" altLang="en-US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상위 바이트의 값을 작은 번지수에 저장하는 방식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2. </a:t>
            </a:r>
            <a:r>
              <a:rPr lang="ko-KR" altLang="en-US" sz="2000" dirty="0">
                <a:solidFill>
                  <a:srgbClr val="FFFF00"/>
                </a:solidFill>
              </a:rPr>
              <a:t>리틀 </a:t>
            </a:r>
            <a:r>
              <a:rPr lang="ko-KR" altLang="en-US" sz="2000" dirty="0" err="1">
                <a:solidFill>
                  <a:srgbClr val="FFFF00"/>
                </a:solidFill>
              </a:rPr>
              <a:t>엔디안</a:t>
            </a:r>
            <a:endParaRPr lang="ko-KR" altLang="en-US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상위 바이트의 값을 큰 번지수에 저장하는 방식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빅 </a:t>
            </a:r>
            <a:r>
              <a:rPr lang="en-US" altLang="ko-KR" sz="2000" dirty="0">
                <a:solidFill>
                  <a:srgbClr val="FFFFFF"/>
                </a:solidFill>
              </a:rPr>
              <a:t>0x12 0x34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0x1234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리틀 </a:t>
            </a:r>
            <a:r>
              <a:rPr lang="en-US" altLang="ko-KR" sz="2000" dirty="0">
                <a:solidFill>
                  <a:srgbClr val="FFFFFF"/>
                </a:solidFill>
              </a:rPr>
              <a:t>0x34 0x12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0x3412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이러한 문제점으로 인해 네트워크를 통해서 데이터를 전송할 때에는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통일된 기준으로 데이터를 전송하기로 약속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 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네트워크 바이트 순서</a:t>
            </a:r>
            <a:endParaRPr lang="ko-KR" altLang="en-US" sz="2000" dirty="0">
              <a:solidFill>
                <a:srgbClr val="FFFF00"/>
              </a:solidFill>
            </a:endParaRP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2052" name="Picture 4" descr="ë¹ìëìì ëí ì´ë¯¸ì§ ê²ìê²°ê³¼">
            <a:extLst>
              <a:ext uri="{FF2B5EF4-FFF2-40B4-BE49-F238E27FC236}">
                <a16:creationId xmlns:a16="http://schemas.microsoft.com/office/drawing/2014/main" id="{23450916-E536-473D-9713-76181B66A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2" y="1651056"/>
            <a:ext cx="3581399" cy="293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711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50D6F-33A5-4CDC-9760-F9B0DEF3C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29843"/>
            <a:ext cx="10515598" cy="54471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400" dirty="0">
                <a:solidFill>
                  <a:srgbClr val="FFFF00"/>
                </a:solidFill>
              </a:rPr>
              <a:t>데이터 전송 방법</a:t>
            </a:r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TCP </a:t>
            </a:r>
            <a:r>
              <a:rPr lang="ko-KR" altLang="en-US" sz="2000" dirty="0">
                <a:solidFill>
                  <a:srgbClr val="FFFFFF"/>
                </a:solidFill>
              </a:rPr>
              <a:t>소켓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스트림 기반 소켓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UDP </a:t>
            </a:r>
            <a:r>
              <a:rPr lang="ko-KR" altLang="en-US" sz="2000" dirty="0">
                <a:solidFill>
                  <a:srgbClr val="FFFFFF"/>
                </a:solidFill>
              </a:rPr>
              <a:t>소켓</a:t>
            </a:r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400" dirty="0">
                <a:solidFill>
                  <a:srgbClr val="FFFF00"/>
                </a:solidFill>
              </a:rPr>
              <a:t>TCP/IP </a:t>
            </a:r>
            <a:r>
              <a:rPr lang="ko-KR" altLang="en-US" sz="2400" dirty="0">
                <a:solidFill>
                  <a:srgbClr val="FFFF00"/>
                </a:solidFill>
              </a:rPr>
              <a:t>프로토콜 스택 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인터넷 기반의 효율적인 데이터 전송이라는 문제를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 작게 나눠서 계층화 시킨 것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1. Link </a:t>
            </a:r>
            <a:r>
              <a:rPr lang="ko-KR" altLang="en-US" sz="2000" dirty="0">
                <a:solidFill>
                  <a:srgbClr val="FFFFFF"/>
                </a:solidFill>
              </a:rPr>
              <a:t>계층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2. IP </a:t>
            </a:r>
            <a:r>
              <a:rPr lang="ko-KR" altLang="en-US" sz="2000" dirty="0">
                <a:solidFill>
                  <a:srgbClr val="FFFFFF"/>
                </a:solidFill>
              </a:rPr>
              <a:t>계층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3. TCP/UDP </a:t>
            </a:r>
            <a:r>
              <a:rPr lang="ko-KR" altLang="en-US" sz="2000" dirty="0">
                <a:solidFill>
                  <a:srgbClr val="FFFFFF"/>
                </a:solidFill>
              </a:rPr>
              <a:t>계층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4. Application </a:t>
            </a:r>
            <a:r>
              <a:rPr lang="ko-KR" altLang="en-US" sz="2000" dirty="0">
                <a:solidFill>
                  <a:srgbClr val="FFFFFF"/>
                </a:solidFill>
              </a:rPr>
              <a:t>계층</a:t>
            </a:r>
          </a:p>
        </p:txBody>
      </p:sp>
      <p:pic>
        <p:nvPicPr>
          <p:cNvPr id="3076" name="Picture 4" descr="TCP/IP íë¡í ì½ ì¤íì ëí ì´ë¯¸ì§ ê²ìê²°ê³¼">
            <a:extLst>
              <a:ext uri="{FF2B5EF4-FFF2-40B4-BE49-F238E27FC236}">
                <a16:creationId xmlns:a16="http://schemas.microsoft.com/office/drawing/2014/main" id="{9A1DDC2F-5D7D-45C6-A3DC-5ED7B2059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212" y="2381861"/>
            <a:ext cx="3969587" cy="3746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052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5B0C05-D4DE-41B2-83F2-47589576F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71119"/>
            <a:ext cx="10515598" cy="5855516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Link </a:t>
            </a:r>
            <a:r>
              <a:rPr lang="ko-KR" altLang="en-US" sz="2400" dirty="0">
                <a:solidFill>
                  <a:srgbClr val="FFFF00"/>
                </a:solidFill>
              </a:rPr>
              <a:t>계층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4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LINK</a:t>
            </a:r>
            <a:r>
              <a:rPr lang="ko-KR" altLang="en-US" sz="2000" dirty="0">
                <a:solidFill>
                  <a:srgbClr val="FFFFFF"/>
                </a:solidFill>
              </a:rPr>
              <a:t>계층은 물리적인 영역의 표준화에 결과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ko-KR" altLang="en-US" sz="2000" dirty="0">
                <a:solidFill>
                  <a:srgbClr val="FFFFFF"/>
                </a:solidFill>
              </a:rPr>
              <a:t>가장 기본이 되는 영역으로 </a:t>
            </a:r>
            <a:r>
              <a:rPr lang="en-US" altLang="ko-KR" sz="2000" dirty="0">
                <a:solidFill>
                  <a:srgbClr val="FFFFFF"/>
                </a:solidFill>
              </a:rPr>
              <a:t>LAN,WAN,MAN</a:t>
            </a:r>
            <a:r>
              <a:rPr lang="ko-KR" altLang="en-US" sz="2000" dirty="0">
                <a:solidFill>
                  <a:srgbClr val="FFFFFF"/>
                </a:solidFill>
              </a:rPr>
              <a:t>과 같은 네트워크 표준과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</a:t>
            </a:r>
            <a:r>
              <a:rPr lang="ko-KR" altLang="en-US" sz="2000" dirty="0">
                <a:solidFill>
                  <a:srgbClr val="FFFFFF"/>
                </a:solidFill>
              </a:rPr>
              <a:t>관련된 프로토콜을 정의하는 영역이다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ko-KR" altLang="en-US" sz="2000" dirty="0">
                <a:solidFill>
                  <a:srgbClr val="FFFFFF"/>
                </a:solidFill>
              </a:rPr>
              <a:t>두 호스트가 인터넷을 통해 데이터를 주고받기 위해 물리적인 연결이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</a:t>
            </a:r>
            <a:r>
              <a:rPr lang="ko-KR" altLang="en-US" sz="2000" dirty="0">
                <a:solidFill>
                  <a:srgbClr val="FFFFFF"/>
                </a:solidFill>
              </a:rPr>
              <a:t>존재해야 하는데 이 부분에 대한 표준을 </a:t>
            </a:r>
            <a:r>
              <a:rPr lang="en-US" altLang="ko-KR" sz="2000" dirty="0">
                <a:solidFill>
                  <a:srgbClr val="FFFFFF"/>
                </a:solidFill>
              </a:rPr>
              <a:t>LINK</a:t>
            </a:r>
            <a:r>
              <a:rPr lang="ko-KR" altLang="en-US" sz="2000" dirty="0">
                <a:solidFill>
                  <a:srgbClr val="FFFFFF"/>
                </a:solidFill>
              </a:rPr>
              <a:t>계층에서 담당함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400" dirty="0">
                <a:solidFill>
                  <a:srgbClr val="FFFF00"/>
                </a:solidFill>
              </a:rPr>
              <a:t>IP </a:t>
            </a:r>
            <a:r>
              <a:rPr lang="ko-KR" altLang="en-US" sz="2400" dirty="0">
                <a:solidFill>
                  <a:srgbClr val="FFFF00"/>
                </a:solidFill>
              </a:rPr>
              <a:t>계층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목적지로 데이터를 전송하기 위해서 거치는 경로를 결정하는 계층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2000" dirty="0">
                <a:solidFill>
                  <a:srgbClr val="FFFFFF"/>
                </a:solidFill>
              </a:rPr>
              <a:t>IP</a:t>
            </a:r>
            <a:r>
              <a:rPr lang="ko-KR" altLang="en-US" sz="2000" dirty="0">
                <a:solidFill>
                  <a:srgbClr val="FFFFFF"/>
                </a:solidFill>
              </a:rPr>
              <a:t>자체는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 err="1">
                <a:solidFill>
                  <a:srgbClr val="FFFF00"/>
                </a:solidFill>
              </a:rPr>
              <a:t>비연결</a:t>
            </a:r>
            <a:r>
              <a:rPr lang="ko-KR" altLang="en-US" sz="2000" dirty="0">
                <a:solidFill>
                  <a:srgbClr val="FFFF00"/>
                </a:solidFill>
              </a:rPr>
              <a:t> 지향적</a:t>
            </a:r>
            <a:r>
              <a:rPr lang="ko-KR" altLang="en-US" sz="2000" dirty="0">
                <a:solidFill>
                  <a:srgbClr val="FFFFFF"/>
                </a:solidFill>
              </a:rPr>
              <a:t>이며 신뢰할 수 없는 프로토콜입니다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ko-KR" altLang="en-US" sz="2000" dirty="0">
                <a:solidFill>
                  <a:srgbClr val="FFFFFF"/>
                </a:solidFill>
              </a:rPr>
              <a:t>데이터를 전송할 때마다 거쳐야 할 경로를 설정해 주지만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경로는 일정치 않고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혹시 데이터 전송 도중 경로상 문제가 발생하면 다른 경로를 선택해 주는데</a:t>
            </a:r>
            <a:r>
              <a:rPr lang="en-US" altLang="ko-KR" sz="2000" dirty="0">
                <a:solidFill>
                  <a:srgbClr val="FFFFFF"/>
                </a:solidFill>
              </a:rPr>
              <a:t>, 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이 과정에서 데이터가 손실되거나 오류가 발생하는 등의 문제가 발생한다고 해서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</a:t>
            </a:r>
            <a:r>
              <a:rPr lang="ko-KR" altLang="en-US" sz="2000" dirty="0">
                <a:solidFill>
                  <a:srgbClr val="FFFFFF"/>
                </a:solidFill>
              </a:rPr>
              <a:t>이를 해결해주지 않는다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00"/>
                </a:solidFill>
              </a:rPr>
              <a:t>즉</a:t>
            </a:r>
            <a:r>
              <a:rPr lang="en-US" altLang="ko-KR" sz="2000" dirty="0">
                <a:solidFill>
                  <a:srgbClr val="FFFF00"/>
                </a:solidFill>
              </a:rPr>
              <a:t>,</a:t>
            </a:r>
            <a:r>
              <a:rPr lang="ko-KR" altLang="en-US" sz="2000" dirty="0">
                <a:solidFill>
                  <a:srgbClr val="FFFF00"/>
                </a:solidFill>
              </a:rPr>
              <a:t> 오류발생에 대한 대비가 되어있지 않은 프로토콜이다</a:t>
            </a:r>
            <a:r>
              <a:rPr lang="en-US" altLang="ko-KR" sz="2000" dirty="0">
                <a:solidFill>
                  <a:srgbClr val="FFFF00"/>
                </a:solidFill>
              </a:rPr>
              <a:t>.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886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042C27-9D0C-42DC-B103-A7D4BEC73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29843"/>
            <a:ext cx="10515598" cy="5447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FFFF0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400" dirty="0">
                <a:solidFill>
                  <a:srgbClr val="FFFF00"/>
                </a:solidFill>
              </a:rPr>
              <a:t>  TCP/UDP </a:t>
            </a:r>
            <a:r>
              <a:rPr lang="ko-KR" altLang="en-US" sz="2400" dirty="0">
                <a:solidFill>
                  <a:srgbClr val="FFFF00"/>
                </a:solidFill>
              </a:rPr>
              <a:t>계층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FFFFFF"/>
                </a:solidFill>
              </a:rPr>
              <a:t>호스트 대 호스트의 데이터 송수신 방식을 약속한 것이 </a:t>
            </a:r>
            <a:r>
              <a:rPr lang="en-US" altLang="ko-KR" sz="2000" dirty="0">
                <a:solidFill>
                  <a:srgbClr val="FFFFFF"/>
                </a:solidFill>
              </a:rPr>
              <a:t>TCP/UDP</a:t>
            </a:r>
            <a:r>
              <a:rPr lang="ko-KR" altLang="en-US" sz="2000" dirty="0">
                <a:solidFill>
                  <a:srgbClr val="FFFFFF"/>
                </a:solidFill>
              </a:rPr>
              <a:t>이며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TCP</a:t>
            </a:r>
            <a:r>
              <a:rPr lang="ko-KR" altLang="en-US" sz="2000" dirty="0">
                <a:solidFill>
                  <a:srgbClr val="FFFFFF"/>
                </a:solidFill>
              </a:rPr>
              <a:t>는 확인절차를 걸쳐서 </a:t>
            </a:r>
            <a:r>
              <a:rPr lang="ko-KR" altLang="en-US" sz="2000" dirty="0">
                <a:solidFill>
                  <a:srgbClr val="FFFF00"/>
                </a:solidFill>
              </a:rPr>
              <a:t>신뢰성이 없는 </a:t>
            </a:r>
            <a:r>
              <a:rPr lang="en-US" altLang="ko-KR" sz="2000" dirty="0">
                <a:solidFill>
                  <a:srgbClr val="FFFF00"/>
                </a:solidFill>
              </a:rPr>
              <a:t>IP</a:t>
            </a:r>
            <a:r>
              <a:rPr lang="ko-KR" altLang="en-US" sz="2000" dirty="0">
                <a:solidFill>
                  <a:srgbClr val="FFFF00"/>
                </a:solidFill>
              </a:rPr>
              <a:t>에 신뢰성을 부여한 프로토콜</a:t>
            </a:r>
            <a:r>
              <a:rPr lang="ko-KR" altLang="en-US" sz="2000" dirty="0">
                <a:solidFill>
                  <a:srgbClr val="FFFFFF"/>
                </a:solidFill>
              </a:rPr>
              <a:t>이다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FFFFFF"/>
                </a:solidFill>
              </a:rPr>
              <a:t>데이터 전송을 위한 경로를 </a:t>
            </a:r>
            <a:r>
              <a:rPr lang="en-US" altLang="ko-KR" sz="2000" dirty="0">
                <a:solidFill>
                  <a:srgbClr val="FFFFFF"/>
                </a:solidFill>
              </a:rPr>
              <a:t>IP</a:t>
            </a:r>
            <a:r>
              <a:rPr lang="ko-KR" altLang="en-US" sz="2000" dirty="0">
                <a:solidFill>
                  <a:srgbClr val="FFFFFF"/>
                </a:solidFill>
              </a:rPr>
              <a:t>에서 설정해줬으므로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데이터를 전송하는 일을 함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dirty="0">
                <a:solidFill>
                  <a:srgbClr val="FFFFFF"/>
                </a:solidFill>
              </a:rPr>
              <a:t>TCP/UDP</a:t>
            </a:r>
            <a:r>
              <a:rPr lang="ko-KR" altLang="en-US" sz="2000" dirty="0">
                <a:solidFill>
                  <a:srgbClr val="FFFFFF"/>
                </a:solidFill>
              </a:rPr>
              <a:t>는 </a:t>
            </a:r>
            <a:r>
              <a:rPr lang="en-US" altLang="ko-KR" sz="2000" dirty="0">
                <a:solidFill>
                  <a:srgbClr val="FFFFFF"/>
                </a:solidFill>
              </a:rPr>
              <a:t>IP</a:t>
            </a:r>
            <a:r>
              <a:rPr lang="ko-KR" altLang="en-US" sz="2000" dirty="0">
                <a:solidFill>
                  <a:srgbClr val="FFFFFF"/>
                </a:solidFill>
              </a:rPr>
              <a:t>계층에서 알려준 정보를 바탕으로 데이터의 실제 송수신을 담당한다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2000" dirty="0">
                <a:solidFill>
                  <a:srgbClr val="FFFFFF"/>
                </a:solidFill>
              </a:rPr>
              <a:t> TCP</a:t>
            </a:r>
            <a:r>
              <a:rPr lang="ko-KR" altLang="en-US" sz="2000" dirty="0">
                <a:solidFill>
                  <a:srgbClr val="FFFFFF"/>
                </a:solidFill>
              </a:rPr>
              <a:t>프로토콜이 추가 된다면 </a:t>
            </a:r>
            <a:r>
              <a:rPr lang="ko-KR" altLang="en-US" sz="2000" dirty="0">
                <a:solidFill>
                  <a:srgbClr val="FFFF00"/>
                </a:solidFill>
              </a:rPr>
              <a:t>데이터를 송수신할 때 받았는지 확인절차를 거치기 때문에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  </a:t>
            </a:r>
            <a:r>
              <a:rPr lang="ko-KR" altLang="en-US" sz="2000" dirty="0">
                <a:solidFill>
                  <a:srgbClr val="FFFF00"/>
                </a:solidFill>
              </a:rPr>
              <a:t>신뢰성이 증가함</a:t>
            </a:r>
            <a:r>
              <a:rPr lang="en-US" altLang="ko-KR" sz="2000" dirty="0">
                <a:solidFill>
                  <a:srgbClr val="FFFF00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400" dirty="0">
                <a:solidFill>
                  <a:srgbClr val="FFFF00"/>
                </a:solidFill>
              </a:rPr>
              <a:t>  APPLICATION </a:t>
            </a:r>
            <a:r>
              <a:rPr lang="ko-KR" altLang="en-US" sz="2400" dirty="0">
                <a:solidFill>
                  <a:srgbClr val="FFFF00"/>
                </a:solidFill>
              </a:rPr>
              <a:t>계층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소켓을 이용해 무엇인가를 만드는 과정에서 프로그램의 성격에 따라 클라이언트와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서버 간의 데이터 송수신에 대한 약속들을 </a:t>
            </a:r>
            <a:r>
              <a:rPr lang="en-US" altLang="ko-KR" sz="2000" dirty="0">
                <a:solidFill>
                  <a:srgbClr val="FFFFFF"/>
                </a:solidFill>
              </a:rPr>
              <a:t>APPLICATION</a:t>
            </a:r>
            <a:r>
              <a:rPr lang="ko-KR" altLang="en-US" sz="2000" dirty="0">
                <a:solidFill>
                  <a:srgbClr val="FFFFFF"/>
                </a:solidFill>
              </a:rPr>
              <a:t>프로토콜이라고 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182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458BA5-4487-43F1-8C08-614EEF0D9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52338"/>
            <a:ext cx="10515598" cy="6191075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TCP </a:t>
            </a:r>
            <a:r>
              <a:rPr lang="ko-KR" altLang="en-US" sz="2400" dirty="0">
                <a:solidFill>
                  <a:srgbClr val="FFFF00"/>
                </a:solidFill>
              </a:rPr>
              <a:t>서버에서의 기본적인 함수호출 순서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400" dirty="0">
                <a:solidFill>
                  <a:srgbClr val="FFFF00"/>
                </a:solidFill>
              </a:rPr>
              <a:t> 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  </a:t>
            </a:r>
            <a:r>
              <a:rPr lang="en-US" altLang="ko-KR" sz="2000" dirty="0">
                <a:solidFill>
                  <a:srgbClr val="FFFFFF"/>
                </a:solidFill>
              </a:rPr>
              <a:t>listen() </a:t>
            </a:r>
            <a:r>
              <a:rPr lang="ko-KR" altLang="en-US" sz="2000" dirty="0">
                <a:solidFill>
                  <a:srgbClr val="FFFFFF"/>
                </a:solidFill>
              </a:rPr>
              <a:t>함수 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연결요청 대기상태</a:t>
            </a:r>
            <a:r>
              <a:rPr lang="en-US" altLang="ko-KR" sz="2000" dirty="0">
                <a:solidFill>
                  <a:srgbClr val="FFFFFF"/>
                </a:solidFill>
              </a:rPr>
              <a:t>) </a:t>
            </a:r>
            <a:r>
              <a:rPr lang="ko-KR" altLang="en-US" sz="2000" dirty="0">
                <a:solidFill>
                  <a:srgbClr val="FFFFFF"/>
                </a:solidFill>
              </a:rPr>
              <a:t>가 호출 되면 에서 문지기의 역할을 하는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서버 소켓이 만들어지고 </a:t>
            </a:r>
            <a:r>
              <a:rPr lang="en-US" altLang="ko-KR" sz="2000" dirty="0">
                <a:solidFill>
                  <a:srgbClr val="FFFFFF"/>
                </a:solidFill>
              </a:rPr>
              <a:t>listen </a:t>
            </a:r>
            <a:r>
              <a:rPr lang="ko-KR" altLang="en-US" sz="2000" dirty="0">
                <a:solidFill>
                  <a:srgbClr val="FFFFFF"/>
                </a:solidFill>
              </a:rPr>
              <a:t>함수의 두 번째 인자로 전달되는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정수의 크기에 해당하는 대기실이 만들어짐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 </a:t>
            </a:r>
            <a:r>
              <a:rPr lang="en-US" altLang="ko-KR" sz="2000" dirty="0">
                <a:solidFill>
                  <a:srgbClr val="FFFFFF"/>
                </a:solidFill>
              </a:rPr>
              <a:t>accept() </a:t>
            </a:r>
            <a:r>
              <a:rPr lang="ko-KR" altLang="en-US" sz="2000" dirty="0">
                <a:solidFill>
                  <a:srgbClr val="FFFFFF"/>
                </a:solidFill>
              </a:rPr>
              <a:t>함수는 연결 요청 하나를 꺼내서 새로운 소켓을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</a:t>
            </a:r>
            <a:r>
              <a:rPr lang="ko-KR" altLang="en-US" sz="2000" dirty="0">
                <a:solidFill>
                  <a:srgbClr val="FFFFFF"/>
                </a:solidFill>
              </a:rPr>
              <a:t>생성한 후 연결요청을 완료하는 역할을 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FFFFFF"/>
                </a:solidFill>
              </a:rPr>
              <a:t>새로운 소켓 만들고 연결 구성하면 생성된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소켓의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디스크립터를</a:t>
            </a:r>
            <a:r>
              <a:rPr lang="ko-KR" altLang="en-US" sz="2000" dirty="0">
                <a:solidFill>
                  <a:srgbClr val="FFFFFF"/>
                </a:solidFill>
              </a:rPr>
              <a:t> 반환함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클라이언트의 연결요청이 들어올 때까지 </a:t>
            </a:r>
            <a:r>
              <a:rPr lang="en-US" altLang="ko-KR" sz="2000" dirty="0">
                <a:solidFill>
                  <a:srgbClr val="FFFFFF"/>
                </a:solidFill>
              </a:rPr>
              <a:t>accept </a:t>
            </a:r>
            <a:r>
              <a:rPr lang="ko-KR" altLang="en-US" sz="2000" dirty="0">
                <a:solidFill>
                  <a:srgbClr val="FFFFFF"/>
                </a:solidFill>
              </a:rPr>
              <a:t>함수는 반환 </a:t>
            </a:r>
            <a:r>
              <a:rPr lang="en-US" altLang="ko-KR" sz="2000" dirty="0">
                <a:solidFill>
                  <a:srgbClr val="FFFFFF"/>
                </a:solidFill>
              </a:rPr>
              <a:t>x 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en-US" altLang="ko-KR" sz="2000" dirty="0">
                <a:solidFill>
                  <a:srgbClr val="FFFFFF"/>
                </a:solidFill>
              </a:rPr>
              <a:t> write </a:t>
            </a:r>
            <a:r>
              <a:rPr lang="ko-KR" altLang="en-US" sz="2000" dirty="0">
                <a:solidFill>
                  <a:srgbClr val="FFFFFF"/>
                </a:solidFill>
              </a:rPr>
              <a:t>함수 클라이언트에게 데이터를 전송 </a:t>
            </a: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dirty="0">
                <a:solidFill>
                  <a:srgbClr val="FFFFFF"/>
                </a:solidFill>
              </a:rPr>
              <a:t>close </a:t>
            </a:r>
            <a:r>
              <a:rPr lang="ko-KR" altLang="en-US" sz="2000" dirty="0">
                <a:solidFill>
                  <a:srgbClr val="FFFFFF"/>
                </a:solidFill>
              </a:rPr>
              <a:t>함수 연결을 끊음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4098" name="Picture 2" descr="TCP ìë²ììì ê¸°ë³¸ì ì¸ í¨ìí¸ì¶ ììì ëí ì´ë¯¸ì§ ê²ìê²°ê³¼">
            <a:extLst>
              <a:ext uri="{FF2B5EF4-FFF2-40B4-BE49-F238E27FC236}">
                <a16:creationId xmlns:a16="http://schemas.microsoft.com/office/drawing/2014/main" id="{11CA644C-04C8-4841-966D-F68B8008C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5683" y="1988661"/>
            <a:ext cx="3928629" cy="4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104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BD03AB-C1A4-4FBE-A81B-F43DC8B65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37562"/>
            <a:ext cx="10515598" cy="5977841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TCP </a:t>
            </a:r>
            <a:r>
              <a:rPr lang="ko-KR" altLang="en-US" sz="2400" dirty="0">
                <a:solidFill>
                  <a:srgbClr val="FFFF00"/>
                </a:solidFill>
              </a:rPr>
              <a:t>클라이언트 기본적인 함수호출 순서                </a:t>
            </a:r>
            <a:r>
              <a:rPr lang="en-US" altLang="ko-KR" sz="2400" dirty="0">
                <a:solidFill>
                  <a:srgbClr val="FFFF00"/>
                </a:solidFill>
              </a:rPr>
              <a:t>Iterative </a:t>
            </a:r>
            <a:r>
              <a:rPr lang="ko-KR" altLang="en-US" sz="2400" dirty="0">
                <a:solidFill>
                  <a:srgbClr val="FFFF00"/>
                </a:solidFill>
              </a:rPr>
              <a:t>기반의 서버</a:t>
            </a:r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socket -&gt; connect -&gt; read/write -&gt; close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클라이언트는 연결요청 과정에서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서버 구현과정과 조금 다르다 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5124" name="Picture 4" descr="TCP í´ë¼ì´ì¸í¸ììì ê¸°ë³¸ì ì¸ í¨ìí¸ì¶ ììì ëí ì´ë¯¸ì§ ê²ìê²°ê³¼">
            <a:extLst>
              <a:ext uri="{FF2B5EF4-FFF2-40B4-BE49-F238E27FC236}">
                <a16:creationId xmlns:a16="http://schemas.microsoft.com/office/drawing/2014/main" id="{C10B8B24-EAB6-4A22-BC7F-08D329483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89" y="2358171"/>
            <a:ext cx="4134195" cy="402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s://mblogthumb-phinf.pstatic.net/data12/2005/9/5/232/17_1-kittenjun.jpg?type=w210">
            <a:extLst>
              <a:ext uri="{FF2B5EF4-FFF2-40B4-BE49-F238E27FC236}">
                <a16:creationId xmlns:a16="http://schemas.microsoft.com/office/drawing/2014/main" id="{950DD193-DB06-4A19-99A6-921AAFDBC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275" y="1258107"/>
            <a:ext cx="3939193" cy="5120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578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858594-A1FE-4F8C-BC4F-55ED8C428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87897"/>
            <a:ext cx="10515598" cy="5489065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rgbClr val="FFFF00"/>
                </a:solidFill>
              </a:rPr>
              <a:t>에코서버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문자열 데이터를 </a:t>
            </a:r>
            <a:r>
              <a:rPr lang="ko-KR" altLang="en-US" sz="2000" dirty="0" err="1">
                <a:solidFill>
                  <a:srgbClr val="FFFFFF"/>
                </a:solidFill>
              </a:rPr>
              <a:t>에코시키는</a:t>
            </a:r>
            <a:r>
              <a:rPr lang="ko-KR" altLang="en-US" sz="2000" dirty="0">
                <a:solidFill>
                  <a:srgbClr val="FFFFFF"/>
                </a:solidFill>
              </a:rPr>
              <a:t> 서버  </a:t>
            </a:r>
            <a:r>
              <a:rPr lang="en-US" altLang="ko-KR" sz="2000" dirty="0">
                <a:solidFill>
                  <a:srgbClr val="FFFFFF"/>
                </a:solidFill>
              </a:rPr>
              <a:t>/ Iterative </a:t>
            </a:r>
            <a:r>
              <a:rPr lang="ko-KR" altLang="en-US" sz="2000" dirty="0">
                <a:solidFill>
                  <a:srgbClr val="FFFFFF"/>
                </a:solidFill>
              </a:rPr>
              <a:t> 형태로 동작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                 </a:t>
            </a:r>
          </a:p>
        </p:txBody>
      </p:sp>
      <p:pic>
        <p:nvPicPr>
          <p:cNvPr id="6148" name="Picture 4" descr="ìì½ìë²ì ëí ì´ë¯¸ì§ ê²ìê²°ê³¼">
            <a:extLst>
              <a:ext uri="{FF2B5EF4-FFF2-40B4-BE49-F238E27FC236}">
                <a16:creationId xmlns:a16="http://schemas.microsoft.com/office/drawing/2014/main" id="{78DEA0F6-B6A5-46E1-B183-61BDAE69B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10" y="1679510"/>
            <a:ext cx="6598381" cy="424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1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DA4DC6-B57A-4F67-B053-B62121D57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79509"/>
            <a:ext cx="10515598" cy="5497454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TCP </a:t>
            </a:r>
            <a:r>
              <a:rPr lang="ko-KR" altLang="en-US" sz="2400" dirty="0">
                <a:solidFill>
                  <a:srgbClr val="FFFF00"/>
                </a:solidFill>
              </a:rPr>
              <a:t>소켓에 존재하는 입출력 버퍼 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write </a:t>
            </a:r>
            <a:r>
              <a:rPr lang="ko-KR" altLang="en-US" sz="2000" dirty="0">
                <a:solidFill>
                  <a:srgbClr val="FFFFFF"/>
                </a:solidFill>
              </a:rPr>
              <a:t>함수가 호출되는 순간 데이터는 출력 버퍼로 이동하고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read </a:t>
            </a:r>
            <a:r>
              <a:rPr lang="ko-KR" altLang="en-US" sz="2000" dirty="0">
                <a:solidFill>
                  <a:srgbClr val="FFFFFF"/>
                </a:solidFill>
              </a:rPr>
              <a:t>함수가 호출되는 순간 입력 버퍼에 저장된 데이터를 읽어 들이게 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이를 통해 상대방은 </a:t>
            </a:r>
            <a:r>
              <a:rPr lang="en-US" altLang="ko-KR" sz="2000" dirty="0">
                <a:solidFill>
                  <a:srgbClr val="FFFFFF"/>
                </a:solidFill>
              </a:rPr>
              <a:t>read </a:t>
            </a:r>
            <a:r>
              <a:rPr lang="ko-KR" altLang="en-US" sz="2000" dirty="0">
                <a:solidFill>
                  <a:srgbClr val="FFFFFF"/>
                </a:solidFill>
              </a:rPr>
              <a:t>함수 호출을 통해서 입력 버퍼에 저장된 데이터를 읽게 되는 것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서로 대화를 주고받으면서 데이터를 송수신하기 때문에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버퍼가 차고 넘쳐서 데이터가 소멸되는 일이 </a:t>
            </a:r>
            <a:r>
              <a:rPr lang="en-US" altLang="ko-KR" sz="2000" dirty="0">
                <a:solidFill>
                  <a:srgbClr val="FFFFFF"/>
                </a:solidFill>
              </a:rPr>
              <a:t>TCP</a:t>
            </a:r>
            <a:r>
              <a:rPr lang="ko-KR" altLang="en-US" sz="2000" dirty="0">
                <a:solidFill>
                  <a:srgbClr val="FFFFFF"/>
                </a:solidFill>
              </a:rPr>
              <a:t>에서는 발생하지 않음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7170" name="Picture 2" descr="TCP ìì¼ì ì¡´ì¬íë ìì¶ë ¥ ë²í¼ì ëí ì´ë¯¸ì§ ê²ìê²°ê³¼">
            <a:extLst>
              <a:ext uri="{FF2B5EF4-FFF2-40B4-BE49-F238E27FC236}">
                <a16:creationId xmlns:a16="http://schemas.microsoft.com/office/drawing/2014/main" id="{19C91454-FE43-4881-8C6F-2AB23529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91" y="3680742"/>
            <a:ext cx="6317062" cy="214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389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151F69-02EE-421D-A49E-CE4FDCE6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05343"/>
            <a:ext cx="10515598" cy="5371619"/>
          </a:xfrm>
        </p:spPr>
        <p:txBody>
          <a:bodyPr>
            <a:normAutofit/>
          </a:bodyPr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400" dirty="0">
                <a:solidFill>
                  <a:srgbClr val="FFFF00"/>
                </a:solidFill>
              </a:rPr>
              <a:t>TCP </a:t>
            </a:r>
            <a:r>
              <a:rPr lang="ko-KR" altLang="en-US" sz="2400" dirty="0">
                <a:solidFill>
                  <a:srgbClr val="FFFF00"/>
                </a:solidFill>
              </a:rPr>
              <a:t>소켓의 생성에서 소멸의 과정까지 거치는 일을 나누면 </a:t>
            </a:r>
            <a:r>
              <a:rPr lang="en-US" altLang="ko-KR" sz="2400" dirty="0">
                <a:solidFill>
                  <a:srgbClr val="FFFF00"/>
                </a:solidFill>
              </a:rPr>
              <a:t>(</a:t>
            </a:r>
            <a:r>
              <a:rPr lang="ko-KR" altLang="en-US" sz="2400" dirty="0">
                <a:solidFill>
                  <a:srgbClr val="FFFF00"/>
                </a:solidFill>
              </a:rPr>
              <a:t>내부 동작원리</a:t>
            </a:r>
            <a:r>
              <a:rPr lang="en-US" altLang="ko-KR" sz="2400" dirty="0">
                <a:solidFill>
                  <a:srgbClr val="FFFF00"/>
                </a:solidFill>
              </a:rPr>
              <a:t>)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400" dirty="0">
                <a:solidFill>
                  <a:srgbClr val="FFFF00"/>
                </a:solidFill>
              </a:rPr>
              <a:t>1. </a:t>
            </a:r>
            <a:r>
              <a:rPr lang="ko-KR" altLang="en-US" sz="2400" dirty="0">
                <a:solidFill>
                  <a:srgbClr val="FFFF00"/>
                </a:solidFill>
              </a:rPr>
              <a:t>상대 소켓과의 연결 </a:t>
            </a:r>
            <a:endParaRPr lang="en-US" altLang="ko-KR" sz="2400" dirty="0">
              <a:solidFill>
                <a:srgbClr val="FFFF00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한 차례 씩 송수신한 패킷에서 볼 수 있듯이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TCP</a:t>
            </a:r>
            <a:r>
              <a:rPr lang="ko-KR" altLang="en-US" sz="2000" dirty="0">
                <a:solidFill>
                  <a:srgbClr val="FFFFFF"/>
                </a:solidFill>
              </a:rPr>
              <a:t>의 연결과정에서 패킷을 보낼 때에는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항상 번호를 부여함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SEQ</a:t>
            </a:r>
            <a:r>
              <a:rPr lang="ko-KR" altLang="en-US" sz="2000" dirty="0">
                <a:solidFill>
                  <a:srgbClr val="FFFFFF"/>
                </a:solidFill>
              </a:rPr>
              <a:t>의 번호를 알리기 위해 </a:t>
            </a:r>
            <a:r>
              <a:rPr lang="en-US" altLang="ko-KR" sz="2000" dirty="0">
                <a:solidFill>
                  <a:srgbClr val="FFFFFF"/>
                </a:solidFill>
              </a:rPr>
              <a:t>+1 </a:t>
            </a:r>
            <a:r>
              <a:rPr lang="ko-KR" altLang="en-US" sz="2000" dirty="0">
                <a:solidFill>
                  <a:srgbClr val="FFFFFF"/>
                </a:solidFill>
              </a:rPr>
              <a:t>해주는 것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데이터 송수신을 위한 준비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8196" name="Picture 4" descr="ìë ìì¼ê³¼ì ì°ê²°ì ëí ì´ë¯¸ì§ ê²ìê²°ê³¼">
            <a:extLst>
              <a:ext uri="{FF2B5EF4-FFF2-40B4-BE49-F238E27FC236}">
                <a16:creationId xmlns:a16="http://schemas.microsoft.com/office/drawing/2014/main" id="{E78FFB75-AF11-4E7E-8432-5B7134AFF5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12" r="49747" b="412"/>
          <a:stretch/>
        </p:blipFill>
        <p:spPr bwMode="auto">
          <a:xfrm>
            <a:off x="6631132" y="1751267"/>
            <a:ext cx="3581400" cy="4326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512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C0A376-5DB0-4D05-9155-4EBD44EF7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94945"/>
            <a:ext cx="10515598" cy="5482018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400" dirty="0">
                <a:solidFill>
                  <a:srgbClr val="FFFF00"/>
                </a:solidFill>
              </a:rPr>
              <a:t>2. </a:t>
            </a:r>
            <a:r>
              <a:rPr lang="ko-KR" altLang="en-US" sz="2400" dirty="0">
                <a:solidFill>
                  <a:srgbClr val="FFFF00"/>
                </a:solidFill>
              </a:rPr>
              <a:t>상대 소켓과의 데이터 송수신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ACK </a:t>
            </a:r>
            <a:r>
              <a:rPr lang="ko-KR" altLang="en-US" sz="2000" dirty="0">
                <a:solidFill>
                  <a:srgbClr val="FFFFFF"/>
                </a:solidFill>
              </a:rPr>
              <a:t>번호 </a:t>
            </a:r>
            <a:r>
              <a:rPr lang="en-US" altLang="ko-KR" sz="2000" dirty="0">
                <a:solidFill>
                  <a:srgbClr val="FFFFFF"/>
                </a:solidFill>
              </a:rPr>
              <a:t>= SEQ </a:t>
            </a:r>
            <a:r>
              <a:rPr lang="ko-KR" altLang="en-US" sz="2000" dirty="0">
                <a:solidFill>
                  <a:srgbClr val="FFFFFF"/>
                </a:solidFill>
              </a:rPr>
              <a:t>번호 </a:t>
            </a:r>
            <a:r>
              <a:rPr lang="en-US" altLang="ko-KR" sz="2000" dirty="0">
                <a:solidFill>
                  <a:srgbClr val="FFFFFF"/>
                </a:solidFill>
              </a:rPr>
              <a:t>+ </a:t>
            </a:r>
            <a:r>
              <a:rPr lang="ko-KR" altLang="en-US" sz="2000" dirty="0">
                <a:solidFill>
                  <a:srgbClr val="FFFFFF"/>
                </a:solidFill>
              </a:rPr>
              <a:t>전송된 바이트 크기 </a:t>
            </a:r>
            <a:r>
              <a:rPr lang="en-US" altLang="ko-KR" sz="2000" dirty="0">
                <a:solidFill>
                  <a:srgbClr val="FFFFFF"/>
                </a:solidFill>
              </a:rPr>
              <a:t>+ 1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만일 문제 발생으로 인해 데이터 전송을 하지 못했다면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TCP </a:t>
            </a:r>
            <a:r>
              <a:rPr lang="ko-KR" altLang="en-US" sz="2000" dirty="0">
                <a:solidFill>
                  <a:srgbClr val="FFFFFF"/>
                </a:solidFill>
              </a:rPr>
              <a:t>소켓은 </a:t>
            </a:r>
            <a:r>
              <a:rPr lang="en-US" altLang="ko-KR" sz="2000" dirty="0">
                <a:solidFill>
                  <a:srgbClr val="FFFFFF"/>
                </a:solidFill>
              </a:rPr>
              <a:t>ACK </a:t>
            </a:r>
            <a:r>
              <a:rPr lang="ko-KR" altLang="en-US" sz="2000" dirty="0">
                <a:solidFill>
                  <a:srgbClr val="FFFFFF"/>
                </a:solidFill>
              </a:rPr>
              <a:t>응답을 구하는 패킷 전송 시에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타이머를 동작 시켜 타이머가 시간을 다 했을 때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패킷을 재전송합니다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7" name="Picture 8" descr="ìë ìì¼ê³¼ì ë°ì´í° ì¡ìì ì ëí ì´ë¯¸ì§ ê²ìê²°ê³¼">
            <a:extLst>
              <a:ext uri="{FF2B5EF4-FFF2-40B4-BE49-F238E27FC236}">
                <a16:creationId xmlns:a16="http://schemas.microsoft.com/office/drawing/2014/main" id="{5A7A1888-B175-4766-8B28-15FEAF21E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171" y="1255118"/>
            <a:ext cx="3581400" cy="4436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4396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6F6F34-8F48-4B49-8593-AEA8656DF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49809"/>
            <a:ext cx="10515598" cy="5427154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00"/>
              </a:solidFill>
            </a:endParaRPr>
          </a:p>
          <a:p>
            <a:endParaRPr lang="en-US" altLang="ko-KR" sz="2000" dirty="0">
              <a:solidFill>
                <a:srgbClr val="FFFF00"/>
              </a:solidFill>
            </a:endParaRPr>
          </a:p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3. </a:t>
            </a:r>
            <a:r>
              <a:rPr lang="ko-KR" altLang="en-US" sz="2000" dirty="0">
                <a:solidFill>
                  <a:srgbClr val="FFFF00"/>
                </a:solidFill>
              </a:rPr>
              <a:t>상대 소켓과의 연결종료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상대방이 전송할 데이터가 남아있을 때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상호간에 </a:t>
            </a: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연결종료의 합의과정을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거쳐야 문제가 되지 않는다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패킷 안에 삽입되어 있는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FIN = </a:t>
            </a:r>
            <a:r>
              <a:rPr lang="ko-KR" altLang="en-US" sz="2000" dirty="0">
                <a:solidFill>
                  <a:srgbClr val="FFFFFF"/>
                </a:solidFill>
              </a:rPr>
              <a:t>종료를 알리는 메세지를 뜻함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9222" name="Picture 6" descr="ìë ìì¼ê³¼ì ë°ì´í° ì¡ìì 3. ìë ìì¼ê³¼ì ì°ê²°ì¢ë£ì ëí ì´ë¯¸ì§ ê²ìê²°ê³¼">
            <a:extLst>
              <a:ext uri="{FF2B5EF4-FFF2-40B4-BE49-F238E27FC236}">
                <a16:creationId xmlns:a16="http://schemas.microsoft.com/office/drawing/2014/main" id="{153A5C6D-5779-4CB8-93E1-9D4495B17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377" y="977456"/>
            <a:ext cx="5791256" cy="462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672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B7EB20-9018-46FA-B32A-94A1DF9DD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94945"/>
            <a:ext cx="10515598" cy="5482018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TCP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흐름제어 존재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데이터 손실 </a:t>
            </a:r>
            <a:r>
              <a:rPr lang="en-US" altLang="ko-KR" sz="2000" dirty="0">
                <a:solidFill>
                  <a:srgbClr val="FFFFFF"/>
                </a:solidFill>
              </a:rPr>
              <a:t>x , </a:t>
            </a:r>
            <a:r>
              <a:rPr lang="ko-KR" altLang="en-US" sz="2000" dirty="0">
                <a:solidFill>
                  <a:srgbClr val="FFFFFF"/>
                </a:solidFill>
              </a:rPr>
              <a:t>신뢰성 </a:t>
            </a:r>
            <a:r>
              <a:rPr lang="en-US" altLang="ko-KR" sz="2000" dirty="0">
                <a:solidFill>
                  <a:srgbClr val="FFFFFF"/>
                </a:solidFill>
              </a:rPr>
              <a:t>O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TCP </a:t>
            </a:r>
            <a:r>
              <a:rPr lang="ko-KR" altLang="en-US" sz="2000" dirty="0">
                <a:solidFill>
                  <a:srgbClr val="FFFFFF"/>
                </a:solidFill>
              </a:rPr>
              <a:t>서버는 클라이언트와 서버가 연결된 상태로 데이터를 송수신함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FFFFFF"/>
                </a:solidFill>
              </a:rPr>
              <a:t>서버에서 열 개의 클라이언트에게 서비스를 제공하려면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문지기의 역할을 하는 서버 소켓을 제외하고도 열 개의 소켓이 필요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2000" dirty="0">
                <a:solidFill>
                  <a:srgbClr val="FFFFFF"/>
                </a:solidFill>
              </a:rPr>
              <a:t>TCP </a:t>
            </a:r>
            <a:r>
              <a:rPr lang="ko-KR" altLang="en-US" sz="2000" dirty="0">
                <a:solidFill>
                  <a:srgbClr val="FFFFFF"/>
                </a:solidFill>
              </a:rPr>
              <a:t>소켓은 목적지에 해당하는 소켓과 연결된 상태이므로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주소 정보를 다로 추가하는 과정이 필요 </a:t>
            </a:r>
            <a:r>
              <a:rPr lang="en-US" altLang="ko-KR" sz="2000" dirty="0">
                <a:solidFill>
                  <a:srgbClr val="FFFFFF"/>
                </a:solidFill>
              </a:rPr>
              <a:t>X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ko-KR" altLang="en-US" sz="2000" dirty="0">
                <a:solidFill>
                  <a:srgbClr val="FFFFFF"/>
                </a:solidFill>
              </a:rPr>
              <a:t>송수신하는 데이터에 경계가 존재하지 않음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= </a:t>
            </a:r>
            <a:r>
              <a:rPr lang="ko-KR" altLang="en-US" sz="2000" dirty="0">
                <a:solidFill>
                  <a:srgbClr val="FFFFFF"/>
                </a:solidFill>
              </a:rPr>
              <a:t>호출하는 입출력함수와 호출횟수는 큰 의미를 지니고 있지 않다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454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4FC3FC-8895-4F11-8597-DBE19BBE5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94944"/>
            <a:ext cx="10515598" cy="5934456"/>
          </a:xfrm>
        </p:spPr>
        <p:txBody>
          <a:bodyPr>
            <a:normAutofit lnSpcReduction="10000"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UDP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중요 역할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호스트로 수신된 패킷을 </a:t>
            </a:r>
            <a:r>
              <a:rPr lang="en-US" altLang="ko-KR" sz="2000" dirty="0">
                <a:solidFill>
                  <a:srgbClr val="FFFFFF"/>
                </a:solidFill>
              </a:rPr>
              <a:t>PORT </a:t>
            </a:r>
            <a:r>
              <a:rPr lang="ko-KR" altLang="en-US" sz="2000" dirty="0">
                <a:solidFill>
                  <a:srgbClr val="FFFFFF"/>
                </a:solidFill>
              </a:rPr>
              <a:t>정보를 참조하여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최종 목적지인 </a:t>
            </a:r>
            <a:r>
              <a:rPr lang="en-US" altLang="ko-KR" sz="2000" dirty="0">
                <a:solidFill>
                  <a:srgbClr val="FFFFFF"/>
                </a:solidFill>
              </a:rPr>
              <a:t>UDP </a:t>
            </a:r>
            <a:r>
              <a:rPr lang="ko-KR" altLang="en-US" sz="2000" dirty="0">
                <a:solidFill>
                  <a:srgbClr val="FFFFFF"/>
                </a:solidFill>
              </a:rPr>
              <a:t>소켓에 전달하는 것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데이터 손실 가능 </a:t>
            </a:r>
            <a:r>
              <a:rPr lang="en-US" altLang="ko-KR" sz="2000" dirty="0">
                <a:solidFill>
                  <a:srgbClr val="FFFFFF"/>
                </a:solidFill>
              </a:rPr>
              <a:t>O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UDP </a:t>
            </a:r>
            <a:r>
              <a:rPr lang="ko-KR" altLang="en-US" sz="2000" dirty="0">
                <a:solidFill>
                  <a:srgbClr val="FFFFFF"/>
                </a:solidFill>
              </a:rPr>
              <a:t>서버는 </a:t>
            </a:r>
            <a:r>
              <a:rPr lang="en-US" altLang="ko-KR" sz="2000" dirty="0">
                <a:solidFill>
                  <a:srgbClr val="FFFFFF"/>
                </a:solidFill>
              </a:rPr>
              <a:t>TCP</a:t>
            </a:r>
            <a:r>
              <a:rPr lang="ko-KR" altLang="en-US" sz="2000" dirty="0">
                <a:solidFill>
                  <a:srgbClr val="FFFFFF"/>
                </a:solidFill>
              </a:rPr>
              <a:t>와 같이 클라이언트와 연결된 상태로 데이터를 송수신 하지 않음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listen </a:t>
            </a:r>
            <a:r>
              <a:rPr lang="ko-KR" altLang="en-US" sz="2000" dirty="0">
                <a:solidFill>
                  <a:srgbClr val="FFFFFF"/>
                </a:solidFill>
              </a:rPr>
              <a:t>또는 </a:t>
            </a:r>
            <a:r>
              <a:rPr lang="en-US" altLang="ko-KR" sz="2000" dirty="0">
                <a:solidFill>
                  <a:srgbClr val="FFFFFF"/>
                </a:solidFill>
              </a:rPr>
              <a:t>accept </a:t>
            </a:r>
            <a:r>
              <a:rPr lang="ko-KR" altLang="en-US" sz="2000" dirty="0">
                <a:solidFill>
                  <a:srgbClr val="FFFFFF"/>
                </a:solidFill>
              </a:rPr>
              <a:t>함수의 호출이 불필요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ko-KR" altLang="en-US" sz="2000" dirty="0">
                <a:solidFill>
                  <a:srgbClr val="FFFFFF"/>
                </a:solidFill>
              </a:rPr>
              <a:t> 서버</a:t>
            </a:r>
            <a:r>
              <a:rPr lang="en-US" altLang="ko-KR" sz="2000" dirty="0">
                <a:solidFill>
                  <a:srgbClr val="FFFFFF"/>
                </a:solidFill>
              </a:rPr>
              <a:t>,</a:t>
            </a:r>
            <a:r>
              <a:rPr lang="ko-KR" altLang="en-US" sz="2000" dirty="0">
                <a:solidFill>
                  <a:srgbClr val="FFFFFF"/>
                </a:solidFill>
              </a:rPr>
              <a:t> 클라이언트 둘 중 하나의 소켓만 있으면 둘 이상의 호스트와 통신이 가능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FFFFFF"/>
                </a:solidFill>
              </a:rPr>
              <a:t>목적지 주소정보를 요구함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  <a:r>
              <a:rPr lang="ko-KR" altLang="en-US" sz="2000" dirty="0">
                <a:solidFill>
                  <a:srgbClr val="FFFFFF"/>
                </a:solidFill>
              </a:rPr>
              <a:t>발신지가 일정하지 않아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발신지 정보를 얻을 수 있는 함수가 필요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dirty="0" err="1">
                <a:solidFill>
                  <a:srgbClr val="FFFFFF"/>
                </a:solidFill>
              </a:rPr>
              <a:t>sendto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 호출 시 </a:t>
            </a:r>
            <a:r>
              <a:rPr lang="en-US" altLang="ko-KR" sz="2000" dirty="0">
                <a:solidFill>
                  <a:srgbClr val="FFFFFF"/>
                </a:solidFill>
              </a:rPr>
              <a:t>IP</a:t>
            </a:r>
            <a:r>
              <a:rPr lang="ko-KR" altLang="en-US" sz="2000" dirty="0">
                <a:solidFill>
                  <a:srgbClr val="FFFFFF"/>
                </a:solidFill>
              </a:rPr>
              <a:t>와 </a:t>
            </a:r>
            <a:r>
              <a:rPr lang="en-US" altLang="ko-KR" sz="2000" dirty="0">
                <a:solidFill>
                  <a:srgbClr val="FFFFFF"/>
                </a:solidFill>
              </a:rPr>
              <a:t>PORT</a:t>
            </a:r>
            <a:r>
              <a:rPr lang="ko-KR" altLang="en-US" sz="2000" dirty="0">
                <a:solidFill>
                  <a:srgbClr val="FFFFFF"/>
                </a:solidFill>
              </a:rPr>
              <a:t>번호가 자동으로 할당되기 때문에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TCP</a:t>
            </a:r>
            <a:r>
              <a:rPr lang="ko-KR" altLang="en-US" sz="2000" dirty="0">
                <a:solidFill>
                  <a:srgbClr val="FFFFFF"/>
                </a:solidFill>
              </a:rPr>
              <a:t>와 달리 </a:t>
            </a:r>
            <a:r>
              <a:rPr lang="en-US" altLang="ko-KR" sz="2000" dirty="0">
                <a:solidFill>
                  <a:srgbClr val="FFFFFF"/>
                </a:solidFill>
              </a:rPr>
              <a:t>UDP</a:t>
            </a:r>
            <a:r>
              <a:rPr lang="ko-KR" altLang="en-US" sz="2000" dirty="0">
                <a:solidFill>
                  <a:srgbClr val="FFFFFF"/>
                </a:solidFill>
              </a:rPr>
              <a:t>의 클라이언트 프로그램에서는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</a:t>
            </a:r>
            <a:r>
              <a:rPr lang="ko-KR" altLang="en-US" sz="2000" dirty="0">
                <a:solidFill>
                  <a:srgbClr val="FFFFFF"/>
                </a:solidFill>
              </a:rPr>
              <a:t>주소 정보를 할당하는 별도의 과정이 필요가 없음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FFFFFF"/>
                </a:solidFill>
              </a:rPr>
              <a:t>송수신하는 데이터에 경계가 존재함</a:t>
            </a:r>
            <a:r>
              <a:rPr lang="en-US" altLang="ko-KR" sz="2000" dirty="0">
                <a:solidFill>
                  <a:srgbClr val="FFFFFF"/>
                </a:solidFill>
              </a:rPr>
              <a:t>. = </a:t>
            </a:r>
            <a:r>
              <a:rPr lang="ko-KR" altLang="en-US" sz="2000" dirty="0">
                <a:solidFill>
                  <a:srgbClr val="FFFFFF"/>
                </a:solidFill>
              </a:rPr>
              <a:t>입력함수의 호출횟수와 출력함수의 호출횟수가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</a:t>
            </a:r>
            <a:r>
              <a:rPr lang="ko-KR" altLang="en-US" sz="2000" dirty="0">
                <a:solidFill>
                  <a:srgbClr val="FFFFFF"/>
                </a:solidFill>
              </a:rPr>
              <a:t>완벽히 일치해야 송신된 데이터 전부를 수신 가능 </a:t>
            </a:r>
          </a:p>
        </p:txBody>
      </p:sp>
    </p:spTree>
    <p:extLst>
      <p:ext uri="{BB962C8B-B14F-4D97-AF65-F5344CB8AC3E}">
        <p14:creationId xmlns:p14="http://schemas.microsoft.com/office/powerpoint/2010/main" val="1996597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7F75AA-1CB7-4BE1-9946-637A90058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86384"/>
            <a:ext cx="10515598" cy="5687567"/>
          </a:xfrm>
        </p:spPr>
        <p:txBody>
          <a:bodyPr>
            <a:normAutofit lnSpcReduction="10000"/>
          </a:bodyPr>
          <a:lstStyle/>
          <a:p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 err="1">
                <a:solidFill>
                  <a:srgbClr val="FFFF00"/>
                </a:solidFill>
              </a:rPr>
              <a:t>U</a:t>
            </a:r>
            <a:r>
              <a:rPr lang="en-US" altLang="ko-KR" sz="2400" dirty="0" err="1">
                <a:solidFill>
                  <a:srgbClr val="FFFF00"/>
                </a:solidFill>
              </a:rPr>
              <a:t>nconnect</a:t>
            </a:r>
            <a:r>
              <a:rPr lang="en-US" altLang="ko-KR" sz="2400" dirty="0">
                <a:solidFill>
                  <a:srgbClr val="FFFF00"/>
                </a:solidFill>
              </a:rPr>
              <a:t> UDP </a:t>
            </a:r>
            <a:r>
              <a:rPr lang="ko-KR" altLang="en-US" sz="2400" dirty="0">
                <a:solidFill>
                  <a:srgbClr val="FFFF00"/>
                </a:solidFill>
              </a:rPr>
              <a:t>소켓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목적지 정보가 등록되어 있지 않은 소켓   </a:t>
            </a:r>
          </a:p>
          <a:p>
            <a:r>
              <a:rPr lang="ko-KR" altLang="en-US" sz="2400" dirty="0">
                <a:solidFill>
                  <a:srgbClr val="FFFF00"/>
                </a:solidFill>
              </a:rPr>
              <a:t> </a:t>
            </a:r>
            <a:r>
              <a:rPr lang="en-US" altLang="ko-KR" sz="2400" dirty="0">
                <a:solidFill>
                  <a:srgbClr val="FFFF00"/>
                </a:solidFill>
              </a:rPr>
              <a:t>connect UDP </a:t>
            </a:r>
            <a:r>
              <a:rPr lang="ko-KR" altLang="en-US" sz="2400" dirty="0">
                <a:solidFill>
                  <a:srgbClr val="FFFF00"/>
                </a:solidFill>
              </a:rPr>
              <a:t>소켓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목적지 정보가 등록되어 있는 소켓 </a:t>
            </a:r>
            <a:r>
              <a:rPr lang="en-US" altLang="ko-KR" sz="2000" dirty="0">
                <a:solidFill>
                  <a:srgbClr val="FFFFFF"/>
                </a:solidFill>
              </a:rPr>
              <a:t>(connect </a:t>
            </a:r>
            <a:r>
              <a:rPr lang="ko-KR" altLang="en-US" sz="2000" dirty="0">
                <a:solidFill>
                  <a:srgbClr val="FFFFFF"/>
                </a:solidFill>
              </a:rPr>
              <a:t>함수를 포함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en-US" altLang="ko-KR" sz="2400" dirty="0">
                <a:solidFill>
                  <a:srgbClr val="FFFF00"/>
                </a:solidFill>
              </a:rPr>
              <a:t>Half – Close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양방향으로 통신하고 있는 두 호스트에 </a:t>
            </a:r>
            <a:r>
              <a:rPr lang="en-US" altLang="ko-KR" sz="2000" dirty="0">
                <a:solidFill>
                  <a:srgbClr val="FFFFFF"/>
                </a:solidFill>
              </a:rPr>
              <a:t>Close </a:t>
            </a:r>
            <a:r>
              <a:rPr lang="ko-KR" altLang="en-US" sz="2000" dirty="0">
                <a:solidFill>
                  <a:srgbClr val="FFFFFF"/>
                </a:solidFill>
              </a:rPr>
              <a:t>함수가 호출 되면 연결을 종료하게 되는데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수신 도중 꼭 필요한 데이터를 받지 못하고 종료하게 되거나 또는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그 반대의 상황이 일어나게 되는 것을  방지 하기 위해 만들어 진 것 </a:t>
            </a:r>
            <a:r>
              <a:rPr lang="ko-KR" altLang="en-US" sz="2000" dirty="0">
                <a:solidFill>
                  <a:srgbClr val="FFFF00"/>
                </a:solidFill>
              </a:rPr>
              <a:t>즉</a:t>
            </a:r>
            <a:r>
              <a:rPr lang="en-US" altLang="ko-KR" sz="2000" dirty="0">
                <a:solidFill>
                  <a:srgbClr val="FFFF00"/>
                </a:solidFill>
              </a:rPr>
              <a:t>, </a:t>
            </a:r>
            <a:r>
              <a:rPr lang="ko-KR" altLang="en-US" sz="2000" dirty="0">
                <a:solidFill>
                  <a:srgbClr val="FFFF00"/>
                </a:solidFill>
              </a:rPr>
              <a:t>스트림의 반만 닫음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400" dirty="0">
                <a:solidFill>
                  <a:srgbClr val="FFFFFF"/>
                </a:solidFill>
              </a:rPr>
              <a:t>shutdown </a:t>
            </a:r>
            <a:r>
              <a:rPr lang="ko-KR" altLang="en-US" sz="2400" dirty="0">
                <a:solidFill>
                  <a:srgbClr val="FFFFFF"/>
                </a:solidFill>
              </a:rPr>
              <a:t>함수 사용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-SHUT_RD </a:t>
            </a:r>
            <a:r>
              <a:rPr lang="ko-KR" altLang="en-US" sz="2000" dirty="0">
                <a:solidFill>
                  <a:srgbClr val="FFFFFF"/>
                </a:solidFill>
              </a:rPr>
              <a:t>입력 스트림 종료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-SHUT_WR </a:t>
            </a:r>
            <a:r>
              <a:rPr lang="ko-KR" altLang="en-US" sz="2000" dirty="0">
                <a:solidFill>
                  <a:srgbClr val="FFFFFF"/>
                </a:solidFill>
              </a:rPr>
              <a:t>출력 스트림 종료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-SHUT_RDWR </a:t>
            </a:r>
            <a:r>
              <a:rPr lang="ko-KR" altLang="en-US" sz="2000" dirty="0">
                <a:solidFill>
                  <a:srgbClr val="FFFFFF"/>
                </a:solidFill>
              </a:rPr>
              <a:t>입출력 스트림 종료</a:t>
            </a:r>
          </a:p>
        </p:txBody>
      </p:sp>
    </p:spTree>
    <p:extLst>
      <p:ext uri="{BB962C8B-B14F-4D97-AF65-F5344CB8AC3E}">
        <p14:creationId xmlns:p14="http://schemas.microsoft.com/office/powerpoint/2010/main" val="672470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B1163-C1C1-424E-9C7D-0718657B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59536"/>
            <a:ext cx="10515598" cy="564184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Stream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두 소켓이 연결되어서 데이터의 송수신이 가능한 상태</a:t>
            </a:r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도메인 이름이란</a:t>
            </a:r>
            <a:r>
              <a:rPr lang="en-US" altLang="ko-KR" sz="2000" dirty="0">
                <a:solidFill>
                  <a:srgbClr val="FFFF00"/>
                </a:solidFill>
              </a:rPr>
              <a:t>?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도메인 이름은 넓은 의미로는 네트워크상에서 컴퓨터를 식별하는 호스트명을 가리키며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좁은 의미에서는 도메인 레지스트리에게서 등록된 이름을 의미한다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기억하기 쉽지 않은 </a:t>
            </a:r>
            <a:r>
              <a:rPr lang="en-US" altLang="ko-KR" sz="2000" dirty="0">
                <a:solidFill>
                  <a:srgbClr val="FFFFFF"/>
                </a:solidFill>
              </a:rPr>
              <a:t>IP</a:t>
            </a:r>
            <a:r>
              <a:rPr lang="ko-KR" altLang="en-US" sz="2000" dirty="0">
                <a:solidFill>
                  <a:srgbClr val="FFFFFF"/>
                </a:solidFill>
              </a:rPr>
              <a:t>주소의 형태로 서버의 주소정보를 기억하는 것은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사실상 불가능한 일이므로 </a:t>
            </a:r>
            <a:r>
              <a:rPr lang="en-US" altLang="ko-KR" sz="2000" dirty="0">
                <a:solidFill>
                  <a:srgbClr val="FFFFFF"/>
                </a:solidFill>
              </a:rPr>
              <a:t>IP </a:t>
            </a:r>
            <a:r>
              <a:rPr lang="ko-KR" altLang="en-US" sz="2000" dirty="0">
                <a:solidFill>
                  <a:srgbClr val="FFFFFF"/>
                </a:solidFill>
              </a:rPr>
              <a:t>주소를 대신하도록 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11268" name="Picture 4" descr="ìì¼ì ê¸°ë°ì¼ë¡ ìì±ëë ëê°ì ì¤í¸ë¦¼ì ëí ì´ë¯¸ì§ ê²ìê²°ê³¼">
            <a:extLst>
              <a:ext uri="{FF2B5EF4-FFF2-40B4-BE49-F238E27FC236}">
                <a16:creationId xmlns:a16="http://schemas.microsoft.com/office/drawing/2014/main" id="{999E524B-33D4-4EC5-802A-EC0D5B556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25" y="1786371"/>
            <a:ext cx="5954899" cy="219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533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086478-21C4-4C59-9E72-DEE01FD94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03504"/>
            <a:ext cx="10515598" cy="5925311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600" dirty="0">
                <a:solidFill>
                  <a:srgbClr val="FFFF00"/>
                </a:solidFill>
              </a:rPr>
              <a:t>DNS </a:t>
            </a:r>
            <a:r>
              <a:rPr lang="ko-KR" altLang="en-US" sz="2600" dirty="0">
                <a:solidFill>
                  <a:srgbClr val="FFFF00"/>
                </a:solidFill>
              </a:rPr>
              <a:t>서버</a:t>
            </a:r>
            <a:endParaRPr lang="en-US" altLang="ko-KR" sz="2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200" dirty="0">
                <a:solidFill>
                  <a:srgbClr val="FFFFFF"/>
                </a:solidFill>
              </a:rPr>
              <a:t>    </a:t>
            </a:r>
            <a:r>
              <a:rPr lang="en-US" altLang="ko-KR" sz="22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2200" dirty="0">
                <a:solidFill>
                  <a:srgbClr val="FFFFFF"/>
                </a:solidFill>
              </a:rPr>
              <a:t>IP</a:t>
            </a:r>
            <a:r>
              <a:rPr lang="ko-KR" altLang="en-US" sz="2200" dirty="0">
                <a:solidFill>
                  <a:srgbClr val="FFFFFF"/>
                </a:solidFill>
              </a:rPr>
              <a:t>주소와 도메인 이름 사이에서의 변환을 수행하는 시스템</a:t>
            </a:r>
          </a:p>
          <a:p>
            <a:pPr marL="0" indent="0">
              <a:buNone/>
            </a:pPr>
            <a:r>
              <a:rPr lang="ko-KR" altLang="en-US" sz="2200" dirty="0">
                <a:solidFill>
                  <a:srgbClr val="FFFFFF"/>
                </a:solidFill>
              </a:rPr>
              <a:t>   </a:t>
            </a:r>
            <a:r>
              <a:rPr lang="en-US" altLang="ko-KR" sz="22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ko-KR" altLang="en-US" sz="2200" dirty="0">
                <a:solidFill>
                  <a:srgbClr val="FFFFFF"/>
                </a:solidFill>
              </a:rPr>
              <a:t>계층적으로 관리되는 일종의 분산 데이터베이스 시스템</a:t>
            </a:r>
          </a:p>
          <a:p>
            <a:pPr marL="0" indent="0">
              <a:buNone/>
            </a:pPr>
            <a:r>
              <a:rPr lang="ko-KR" altLang="en-US" sz="2200" dirty="0">
                <a:solidFill>
                  <a:srgbClr val="FFFFFF"/>
                </a:solidFill>
              </a:rPr>
              <a:t>          디폴트 </a:t>
            </a:r>
            <a:r>
              <a:rPr lang="en-US" altLang="ko-KR" sz="2200" dirty="0">
                <a:solidFill>
                  <a:srgbClr val="FFFFFF"/>
                </a:solidFill>
              </a:rPr>
              <a:t>DNS</a:t>
            </a:r>
            <a:r>
              <a:rPr lang="ko-KR" altLang="en-US" sz="2200" dirty="0">
                <a:solidFill>
                  <a:srgbClr val="FFFFFF"/>
                </a:solidFill>
              </a:rPr>
              <a:t>서버가 모든 도메인의 </a:t>
            </a:r>
            <a:r>
              <a:rPr lang="en-US" altLang="ko-KR" sz="2200" dirty="0">
                <a:solidFill>
                  <a:srgbClr val="FFFFFF"/>
                </a:solidFill>
              </a:rPr>
              <a:t>IP </a:t>
            </a:r>
            <a:r>
              <a:rPr lang="ko-KR" altLang="en-US" sz="2200" dirty="0">
                <a:solidFill>
                  <a:srgbClr val="FFFFFF"/>
                </a:solidFill>
              </a:rPr>
              <a:t>주소를 알고 있지 않지만 </a:t>
            </a:r>
            <a:endParaRPr lang="en-US" altLang="ko-KR" sz="22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200" dirty="0">
                <a:solidFill>
                  <a:srgbClr val="FFFFFF"/>
                </a:solidFill>
              </a:rPr>
              <a:t>          </a:t>
            </a:r>
            <a:r>
              <a:rPr lang="ko-KR" altLang="en-US" sz="2200" dirty="0">
                <a:solidFill>
                  <a:srgbClr val="FFFFFF"/>
                </a:solidFill>
              </a:rPr>
              <a:t>다른 </a:t>
            </a:r>
            <a:r>
              <a:rPr lang="en-US" altLang="ko-KR" sz="2200" dirty="0">
                <a:solidFill>
                  <a:srgbClr val="FFFFFF"/>
                </a:solidFill>
              </a:rPr>
              <a:t>DNS </a:t>
            </a:r>
            <a:r>
              <a:rPr lang="ko-KR" altLang="en-US" sz="2200" dirty="0">
                <a:solidFill>
                  <a:srgbClr val="FFFFFF"/>
                </a:solidFill>
              </a:rPr>
              <a:t>서버에게 물어서라도 </a:t>
            </a:r>
            <a:r>
              <a:rPr lang="ko-KR" altLang="en-US" sz="2200" dirty="0" err="1">
                <a:solidFill>
                  <a:srgbClr val="FFFFFF"/>
                </a:solidFill>
              </a:rPr>
              <a:t>가르쳐줌</a:t>
            </a:r>
            <a:r>
              <a:rPr lang="en-US" altLang="ko-KR" sz="2200" dirty="0">
                <a:solidFill>
                  <a:srgbClr val="FFFFFF"/>
                </a:solidFill>
              </a:rPr>
              <a:t>.</a:t>
            </a:r>
          </a:p>
          <a:p>
            <a:r>
              <a:rPr lang="ko-KR" altLang="en-US" sz="2600" dirty="0">
                <a:solidFill>
                  <a:srgbClr val="FFFF00"/>
                </a:solidFill>
              </a:rPr>
              <a:t>과정  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ko-KR" altLang="en-US" sz="2200" dirty="0">
                <a:solidFill>
                  <a:srgbClr val="FFFFFF"/>
                </a:solidFill>
              </a:rPr>
              <a:t>디폴트 </a:t>
            </a:r>
            <a:r>
              <a:rPr lang="en-US" altLang="ko-KR" sz="2200" dirty="0">
                <a:solidFill>
                  <a:srgbClr val="FFFFFF"/>
                </a:solidFill>
              </a:rPr>
              <a:t>DNS </a:t>
            </a:r>
            <a:r>
              <a:rPr lang="ko-KR" altLang="en-US" sz="2200" dirty="0">
                <a:solidFill>
                  <a:srgbClr val="FFFFFF"/>
                </a:solidFill>
              </a:rPr>
              <a:t>서버가 자신이 모르는 </a:t>
            </a:r>
            <a:r>
              <a:rPr lang="ko-KR" altLang="en-US" sz="2200" dirty="0" err="1">
                <a:solidFill>
                  <a:srgbClr val="FFFFFF"/>
                </a:solidFill>
              </a:rPr>
              <a:t>정보에대한</a:t>
            </a:r>
            <a:r>
              <a:rPr lang="ko-KR" altLang="en-US" sz="2200" dirty="0">
                <a:solidFill>
                  <a:srgbClr val="FFFFFF"/>
                </a:solidFill>
              </a:rPr>
              <a:t> 요청이 들어오면 상위 계층에 있는 </a:t>
            </a:r>
            <a:endParaRPr lang="en-US" altLang="ko-KR" sz="22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200" dirty="0">
                <a:solidFill>
                  <a:srgbClr val="FFFFFF"/>
                </a:solidFill>
              </a:rPr>
              <a:t>    DNS </a:t>
            </a:r>
            <a:r>
              <a:rPr lang="ko-KR" altLang="en-US" sz="2200" dirty="0">
                <a:solidFill>
                  <a:srgbClr val="FFFFFF"/>
                </a:solidFill>
              </a:rPr>
              <a:t>서버에게 물어보는데  이런 식으로 계속 올라가다가 상위 계층은 </a:t>
            </a:r>
            <a:endParaRPr lang="en-US" altLang="ko-KR" sz="22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200" dirty="0">
                <a:solidFill>
                  <a:srgbClr val="FFFFFF"/>
                </a:solidFill>
              </a:rPr>
              <a:t>    다시 하위계층에 있는 </a:t>
            </a:r>
            <a:r>
              <a:rPr lang="en-US" altLang="ko-KR" sz="2200" dirty="0">
                <a:solidFill>
                  <a:srgbClr val="FFFFFF"/>
                </a:solidFill>
              </a:rPr>
              <a:t>DNS </a:t>
            </a:r>
            <a:r>
              <a:rPr lang="ko-KR" altLang="en-US" sz="2200" dirty="0">
                <a:solidFill>
                  <a:srgbClr val="FFFFFF"/>
                </a:solidFill>
              </a:rPr>
              <a:t>서버에게 다시 질문을 던져 </a:t>
            </a:r>
            <a:r>
              <a:rPr lang="en-US" altLang="ko-KR" sz="2200" dirty="0">
                <a:solidFill>
                  <a:srgbClr val="FFFFFF"/>
                </a:solidFill>
              </a:rPr>
              <a:t>IP</a:t>
            </a:r>
            <a:r>
              <a:rPr lang="ko-KR" altLang="en-US" sz="2200" dirty="0">
                <a:solidFill>
                  <a:srgbClr val="FFFFFF"/>
                </a:solidFill>
              </a:rPr>
              <a:t>를 얻어냄</a:t>
            </a:r>
            <a:r>
              <a:rPr lang="en-US" altLang="ko-KR" sz="22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600" dirty="0">
                <a:solidFill>
                  <a:srgbClr val="FFFF00"/>
                </a:solidFill>
              </a:rPr>
              <a:t>   </a:t>
            </a:r>
            <a:r>
              <a:rPr lang="ko-KR" altLang="en-US" sz="2600" dirty="0">
                <a:solidFill>
                  <a:srgbClr val="FFFF00"/>
                </a:solidFill>
              </a:rPr>
              <a:t>도메인 이름을 사용하는 이유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200" dirty="0">
                <a:solidFill>
                  <a:srgbClr val="FFFFFF"/>
                </a:solidFill>
              </a:rPr>
              <a:t>IP</a:t>
            </a:r>
            <a:r>
              <a:rPr lang="ko-KR" altLang="en-US" sz="2200" dirty="0">
                <a:solidFill>
                  <a:srgbClr val="FFFFFF"/>
                </a:solidFill>
              </a:rPr>
              <a:t>주소는 도메인 이름에 비해 상대적으로 변경의 확률이 높기 때문에 </a:t>
            </a:r>
            <a:endParaRPr lang="en-US" altLang="ko-KR" sz="22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200" dirty="0">
                <a:solidFill>
                  <a:srgbClr val="FFFFFF"/>
                </a:solidFill>
              </a:rPr>
              <a:t>   </a:t>
            </a:r>
            <a:r>
              <a:rPr lang="ko-KR" altLang="en-US" sz="2200" dirty="0">
                <a:solidFill>
                  <a:srgbClr val="FFFFFF"/>
                </a:solidFill>
              </a:rPr>
              <a:t>도메인 이름을 등록하고 나면 평생 유지가 가능하므로 이를 활용하면 </a:t>
            </a:r>
            <a:endParaRPr lang="en-US" altLang="ko-KR" sz="22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200" dirty="0">
                <a:solidFill>
                  <a:srgbClr val="FFFFFF"/>
                </a:solidFill>
              </a:rPr>
              <a:t>   </a:t>
            </a:r>
            <a:r>
              <a:rPr lang="ko-KR" altLang="en-US" sz="2200" dirty="0">
                <a:solidFill>
                  <a:srgbClr val="FFFFFF"/>
                </a:solidFill>
              </a:rPr>
              <a:t>프로그램이 실행될 때마다 도메인 이름을 근거로 </a:t>
            </a:r>
            <a:r>
              <a:rPr lang="en-US" altLang="ko-KR" sz="2200" dirty="0">
                <a:solidFill>
                  <a:srgbClr val="FFFFFF"/>
                </a:solidFill>
              </a:rPr>
              <a:t>IP</a:t>
            </a:r>
            <a:r>
              <a:rPr lang="ko-KR" altLang="en-US" sz="2200" dirty="0">
                <a:solidFill>
                  <a:srgbClr val="FFFFFF"/>
                </a:solidFill>
              </a:rPr>
              <a:t>주소를 얻어온 다음에 </a:t>
            </a:r>
            <a:endParaRPr lang="en-US" altLang="ko-KR" sz="22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200" dirty="0">
                <a:solidFill>
                  <a:srgbClr val="FFFFFF"/>
                </a:solidFill>
              </a:rPr>
              <a:t>   서버에 접속을 하게 되어 서버의 </a:t>
            </a:r>
            <a:r>
              <a:rPr lang="en-US" altLang="ko-KR" sz="2200" dirty="0">
                <a:solidFill>
                  <a:srgbClr val="FFFFFF"/>
                </a:solidFill>
              </a:rPr>
              <a:t>IP</a:t>
            </a:r>
            <a:r>
              <a:rPr lang="ko-KR" altLang="en-US" sz="2200" dirty="0">
                <a:solidFill>
                  <a:srgbClr val="FFFFFF"/>
                </a:solidFill>
              </a:rPr>
              <a:t>주소로 부터 클라이언트 프로그램은 자유로워 지기 때문</a:t>
            </a:r>
          </a:p>
        </p:txBody>
      </p:sp>
    </p:spTree>
    <p:extLst>
      <p:ext uri="{BB962C8B-B14F-4D97-AF65-F5344CB8AC3E}">
        <p14:creationId xmlns:p14="http://schemas.microsoft.com/office/powerpoint/2010/main" val="2098152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BAE827-BC37-43E0-B3DC-B7B5AA06F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576073"/>
            <a:ext cx="10515598" cy="5600890"/>
          </a:xfrm>
        </p:spPr>
        <p:txBody>
          <a:bodyPr>
            <a:normAutofit/>
          </a:bodyPr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소켓의 옵션과 입출력 버퍼의 크기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400" dirty="0"/>
              <a:t>   주소 할당 에러 발생</a:t>
            </a:r>
            <a:endParaRPr lang="en-US" altLang="ko-KR" sz="2400" dirty="0"/>
          </a:p>
          <a:p>
            <a:pPr marL="0" indent="0">
              <a:buNone/>
            </a:pPr>
            <a:endParaRPr lang="ko-KR" altLang="en-US" sz="2400" dirty="0"/>
          </a:p>
          <a:p>
            <a:pPr marL="0" indent="0">
              <a:buNone/>
            </a:pPr>
            <a:r>
              <a:rPr lang="ko-KR" altLang="en-US" sz="2400" dirty="0"/>
              <a:t>   </a:t>
            </a:r>
            <a:r>
              <a:rPr lang="en-US" altLang="ko-KR" sz="2400" dirty="0">
                <a:solidFill>
                  <a:srgbClr val="FFFF00"/>
                </a:solidFill>
              </a:rPr>
              <a:t>Time -wait </a:t>
            </a:r>
            <a:r>
              <a:rPr lang="ko-KR" altLang="en-US" sz="2400" dirty="0">
                <a:solidFill>
                  <a:srgbClr val="FFFF00"/>
                </a:solidFill>
              </a:rPr>
              <a:t>상태 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/>
              <a:t>   호스트 </a:t>
            </a:r>
            <a:r>
              <a:rPr lang="en-US" altLang="ko-KR" sz="2000" dirty="0"/>
              <a:t>A</a:t>
            </a:r>
            <a:r>
              <a:rPr lang="ko-KR" altLang="en-US" sz="2000" dirty="0"/>
              <a:t>가 호스트 </a:t>
            </a:r>
            <a:r>
              <a:rPr lang="en-US" altLang="ko-KR" sz="2000" dirty="0"/>
              <a:t>B</a:t>
            </a:r>
            <a:r>
              <a:rPr lang="ko-KR" altLang="en-US" sz="2000" dirty="0"/>
              <a:t>로 마지막 </a:t>
            </a:r>
            <a:r>
              <a:rPr lang="en-US" altLang="ko-KR" sz="2000" dirty="0"/>
              <a:t>ACK</a:t>
            </a:r>
            <a:r>
              <a:rPr lang="ko-KR" altLang="en-US" sz="2000" dirty="0"/>
              <a:t>메세지를 전송하고 나서 바로 소멸시켰다고 하면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마지막 </a:t>
            </a:r>
            <a:r>
              <a:rPr lang="en-US" altLang="ko-KR" sz="2000" dirty="0"/>
              <a:t>ACK</a:t>
            </a:r>
            <a:r>
              <a:rPr lang="ko-KR" altLang="en-US" sz="2000" dirty="0"/>
              <a:t>메세지가 호스트 </a:t>
            </a:r>
            <a:r>
              <a:rPr lang="en-US" altLang="ko-KR" sz="2000" dirty="0"/>
              <a:t>B</a:t>
            </a:r>
            <a:r>
              <a:rPr lang="ko-KR" altLang="en-US" sz="2000" dirty="0"/>
              <a:t>로 전달되지 못하고  중간에 소멸 되어 버립니다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호스트 </a:t>
            </a:r>
            <a:r>
              <a:rPr lang="en-US" altLang="ko-KR" sz="2000" dirty="0"/>
              <a:t>B</a:t>
            </a:r>
            <a:r>
              <a:rPr lang="ko-KR" altLang="en-US" sz="2000" dirty="0"/>
              <a:t>가 재 전송을 시도하더라도 </a:t>
            </a:r>
            <a:r>
              <a:rPr lang="en-US" altLang="ko-KR" sz="2000" dirty="0"/>
              <a:t>A</a:t>
            </a:r>
            <a:r>
              <a:rPr lang="ko-KR" altLang="en-US" sz="2000" dirty="0"/>
              <a:t>는 종료 상태이므로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결국 마지막 </a:t>
            </a:r>
            <a:r>
              <a:rPr lang="en-US" altLang="ko-KR" sz="2000" dirty="0"/>
              <a:t>ACK </a:t>
            </a:r>
            <a:r>
              <a:rPr lang="ko-KR" altLang="en-US" sz="2000" dirty="0"/>
              <a:t>메세지를 </a:t>
            </a:r>
            <a:r>
              <a:rPr lang="ko-KR" altLang="en-US" sz="2000" dirty="0" err="1"/>
              <a:t>못받게</a:t>
            </a:r>
            <a:r>
              <a:rPr lang="ko-KR" altLang="en-US" sz="2000" dirty="0"/>
              <a:t> 되는 상황이 발생하게 됩니다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이런 상황을 방지하기 위해 </a:t>
            </a:r>
            <a:r>
              <a:rPr lang="en-US" altLang="ko-KR" sz="2000" dirty="0"/>
              <a:t>Time -wait </a:t>
            </a:r>
            <a:r>
              <a:rPr lang="ko-KR" altLang="en-US" sz="2000" dirty="0"/>
              <a:t>타이머를 가동하여 전달 받지 못하였을 때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재가동하게 해서 정상적으로 전달을 마치고  종료할 수 있게 도움을 주는 역할을 합니다</a:t>
            </a:r>
            <a:r>
              <a:rPr lang="en-US" altLang="ko-KR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71068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21A5AC-81B8-4CA0-8D62-0F0322D47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31521"/>
            <a:ext cx="10515598" cy="544544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00"/>
                </a:solidFill>
              </a:rPr>
              <a:t>만일 네트워크 상황이 원활하지 못하면 </a:t>
            </a:r>
            <a:r>
              <a:rPr lang="en-US" altLang="ko-KR" sz="2000" dirty="0">
                <a:solidFill>
                  <a:srgbClr val="FFFFFF"/>
                </a:solidFill>
              </a:rPr>
              <a:t>Time -wait</a:t>
            </a:r>
            <a:r>
              <a:rPr lang="ko-KR" altLang="en-US" sz="2000" dirty="0">
                <a:solidFill>
                  <a:srgbClr val="FFFFFF"/>
                </a:solidFill>
              </a:rPr>
              <a:t>가 언제까지 지속될지 모르는 상황이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</a:rPr>
              <a:t>나타나게 되는데 이것은 소켓의 옵션 중에 </a:t>
            </a:r>
            <a:r>
              <a:rPr lang="en-US" altLang="ko-KR" sz="2000" dirty="0">
                <a:solidFill>
                  <a:srgbClr val="FFFFFF"/>
                </a:solidFill>
              </a:rPr>
              <a:t>SO_REUSEADDR</a:t>
            </a:r>
            <a:r>
              <a:rPr lang="ko-KR" altLang="en-US" sz="2000" dirty="0">
                <a:solidFill>
                  <a:srgbClr val="FFFFFF"/>
                </a:solidFill>
              </a:rPr>
              <a:t>의 디폴트 값을 </a:t>
            </a:r>
            <a:r>
              <a:rPr lang="en-US" altLang="ko-KR" sz="2000" dirty="0">
                <a:solidFill>
                  <a:srgbClr val="FFFFFF"/>
                </a:solidFill>
              </a:rPr>
              <a:t>1</a:t>
            </a:r>
            <a:r>
              <a:rPr lang="ko-KR" altLang="en-US" sz="2000" dirty="0">
                <a:solidFill>
                  <a:srgbClr val="FFFFFF"/>
                </a:solidFill>
              </a:rPr>
              <a:t>로 변경해주면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 해결해 줄 수 있습니다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00"/>
                </a:solidFill>
              </a:rPr>
              <a:t>Nagle </a:t>
            </a:r>
            <a:r>
              <a:rPr lang="ko-KR" altLang="en-US" sz="2000" dirty="0">
                <a:solidFill>
                  <a:srgbClr val="FFFF00"/>
                </a:solidFill>
              </a:rPr>
              <a:t>알고리즘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앞서 전송한 데이터에 대한 </a:t>
            </a:r>
            <a:r>
              <a:rPr lang="en-US" altLang="ko-KR" sz="2000" dirty="0">
                <a:solidFill>
                  <a:srgbClr val="FFFFFF"/>
                </a:solidFill>
              </a:rPr>
              <a:t>ACK </a:t>
            </a:r>
            <a:r>
              <a:rPr lang="ko-KR" altLang="en-US" sz="2000" dirty="0">
                <a:solidFill>
                  <a:srgbClr val="FFFFFF"/>
                </a:solidFill>
              </a:rPr>
              <a:t>메세지를 받아야만 다음 데이터를 전송하는 알고리즘</a:t>
            </a: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Nagle </a:t>
            </a:r>
            <a:r>
              <a:rPr lang="ko-KR" altLang="en-US" sz="2000" dirty="0">
                <a:solidFill>
                  <a:srgbClr val="FFFFFF"/>
                </a:solidFill>
              </a:rPr>
              <a:t>알고리즘을 사용하는 것 보다 데이터 전송이 빠를 경우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TCP_NODELAY</a:t>
            </a:r>
            <a:r>
              <a:rPr lang="ko-KR" altLang="en-US" sz="2000" dirty="0">
                <a:solidFill>
                  <a:srgbClr val="FFFFFF"/>
                </a:solidFill>
              </a:rPr>
              <a:t>를 </a:t>
            </a:r>
            <a:r>
              <a:rPr lang="en-US" altLang="ko-KR" sz="2000" dirty="0">
                <a:solidFill>
                  <a:srgbClr val="FFFFFF"/>
                </a:solidFill>
              </a:rPr>
              <a:t>1 (TRUE) </a:t>
            </a:r>
            <a:r>
              <a:rPr lang="ko-KR" altLang="en-US" sz="2000" dirty="0">
                <a:solidFill>
                  <a:srgbClr val="FFFFFF"/>
                </a:solidFill>
              </a:rPr>
              <a:t>로 변경해주면 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D6608D-66C2-4BBD-845C-5770C320F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764" y="3477822"/>
            <a:ext cx="2550427" cy="269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38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45AC53-164A-4D02-B010-B403321ED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22601"/>
            <a:ext cx="10515598" cy="4154361"/>
          </a:xfrm>
        </p:spPr>
        <p:txBody>
          <a:bodyPr>
            <a:normAutofit lnSpcReduction="10000"/>
          </a:bodyPr>
          <a:lstStyle/>
          <a:p>
            <a:r>
              <a:rPr lang="en-US" altLang="ko-KR" sz="2000" dirty="0">
                <a:hlinkClick r:id="rId2"/>
              </a:rPr>
              <a:t>https://christin2.tistory.com/entry/Chapter-04-TCP-%EA%B8%B0%EB%B0%98-%EC%84%9C%EB%B2%84%ED%81%B4%EB%9D%BC%EC%9D%B4%EC%96%B8%ED%8A%B8-1</a:t>
            </a:r>
            <a:endParaRPr lang="en-US" altLang="ko-KR" sz="2000" dirty="0"/>
          </a:p>
          <a:p>
            <a:r>
              <a:rPr lang="en-US" altLang="ko-KR" sz="2000" dirty="0">
                <a:hlinkClick r:id="rId3"/>
              </a:rPr>
              <a:t>https://taesun1114.tistory.com/entry/TCP-IP-%ED%94%84%EB%A1%9C%ED%86%A0%EC%BD%9C-%EC%8A%A4%ED%83%9D</a:t>
            </a:r>
            <a:endParaRPr lang="en-US" altLang="ko-KR" sz="2000" dirty="0"/>
          </a:p>
          <a:p>
            <a:r>
              <a:rPr lang="en-US" altLang="ko-KR" sz="2000" dirty="0">
                <a:hlinkClick r:id="rId4"/>
              </a:rPr>
              <a:t>https://m.blog.naver.com/PostView.nhn?blogId=kittenjun&amp;logNo=17026047&amp;proxyReferer=https%3A%2F%2Fwww.google.com%2F</a:t>
            </a:r>
            <a:endParaRPr lang="en-US" altLang="ko-KR" sz="2000" dirty="0"/>
          </a:p>
          <a:p>
            <a:r>
              <a:rPr lang="en-US" altLang="ko-KR" sz="2000" dirty="0">
                <a:hlinkClick r:id="rId5"/>
              </a:rPr>
              <a:t>https://ehclub.co.kr/1375</a:t>
            </a:r>
            <a:endParaRPr lang="en-US" altLang="ko-KR" sz="2000" dirty="0"/>
          </a:p>
          <a:p>
            <a:r>
              <a:rPr lang="en-US" altLang="ko-KR" sz="2000" dirty="0">
                <a:hlinkClick r:id="rId6"/>
              </a:rPr>
              <a:t>https://dbehdrhs.tistory.com/93</a:t>
            </a:r>
            <a:endParaRPr lang="en-US" altLang="ko-KR" sz="2000" dirty="0"/>
          </a:p>
          <a:p>
            <a:r>
              <a:rPr lang="en-US" altLang="ko-KR" sz="2000" dirty="0">
                <a:hlinkClick r:id="rId7"/>
              </a:rPr>
              <a:t>https://minwan1.github.io/2018/10/28/2018-10-28-TCP-IP-DATA-PROCESSING/</a:t>
            </a:r>
            <a:endParaRPr lang="en-US" altLang="ko-KR" sz="2000" dirty="0"/>
          </a:p>
          <a:p>
            <a:r>
              <a:rPr lang="en-US" altLang="ko-KR" sz="2000" dirty="0">
                <a:hlinkClick r:id="rId8"/>
              </a:rPr>
              <a:t>https://ingbeeni.tistory.com/entry/52-TCP%EC%9D%98-%EC%9D%B4%EB%A1%A0%EC%A0%81%EC%9D%B8-%EC%9D%B4%EC%95%BC%EA%B8%B0</a:t>
            </a:r>
            <a:endParaRPr lang="en-US" altLang="ko-KR" sz="2000" dirty="0"/>
          </a:p>
          <a:p>
            <a:r>
              <a:rPr lang="en-US" altLang="ko-KR" sz="2000" dirty="0">
                <a:hlinkClick r:id="rId9"/>
              </a:rPr>
              <a:t>https://koocci.github.io/network/2018/05/16/Network1.html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512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2103</Words>
  <Application>Microsoft Office PowerPoint</Application>
  <PresentationFormat>와이드스크린</PresentationFormat>
  <Paragraphs>311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맑은 고딕</vt:lpstr>
      <vt:lpstr>Arial</vt:lpstr>
      <vt:lpstr>Calibri</vt:lpstr>
      <vt:lpstr>Calibri Light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진일</dc:creator>
  <cp:lastModifiedBy>김 진일</cp:lastModifiedBy>
  <cp:revision>9</cp:revision>
  <dcterms:created xsi:type="dcterms:W3CDTF">2019-06-19T16:35:04Z</dcterms:created>
  <dcterms:modified xsi:type="dcterms:W3CDTF">2019-06-19T17:44:07Z</dcterms:modified>
</cp:coreProperties>
</file>