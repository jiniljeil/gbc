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8" r:id="rId12"/>
    <p:sldId id="269" r:id="rId13"/>
    <p:sldId id="270" r:id="rId14"/>
    <p:sldId id="267" r:id="rId15"/>
    <p:sldId id="271" r:id="rId16"/>
    <p:sldId id="272" r:id="rId17"/>
    <p:sldId id="274" r:id="rId18"/>
    <p:sldId id="273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C4670-801A-4A65-AF5D-990DB3BA0E68}" type="datetimeFigureOut">
              <a:rPr lang="ko-KR" altLang="en-US" smtClean="0"/>
              <a:t>2019-06-18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78E21-1F2E-40A1-A3D7-EBC8EAA6D5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4771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C4670-801A-4A65-AF5D-990DB3BA0E68}" type="datetimeFigureOut">
              <a:rPr lang="ko-KR" altLang="en-US" smtClean="0"/>
              <a:t>2019-06-18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78E21-1F2E-40A1-A3D7-EBC8EAA6D5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6210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C4670-801A-4A65-AF5D-990DB3BA0E68}" type="datetimeFigureOut">
              <a:rPr lang="ko-KR" altLang="en-US" smtClean="0"/>
              <a:t>2019-06-18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78E21-1F2E-40A1-A3D7-EBC8EAA6D5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7195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C4670-801A-4A65-AF5D-990DB3BA0E68}" type="datetimeFigureOut">
              <a:rPr lang="ko-KR" altLang="en-US" smtClean="0"/>
              <a:t>2019-06-18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78E21-1F2E-40A1-A3D7-EBC8EAA6D5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762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C4670-801A-4A65-AF5D-990DB3BA0E68}" type="datetimeFigureOut">
              <a:rPr lang="ko-KR" altLang="en-US" smtClean="0"/>
              <a:t>2019-06-18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78E21-1F2E-40A1-A3D7-EBC8EAA6D5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1095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C4670-801A-4A65-AF5D-990DB3BA0E68}" type="datetimeFigureOut">
              <a:rPr lang="ko-KR" altLang="en-US" smtClean="0"/>
              <a:t>2019-06-18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78E21-1F2E-40A1-A3D7-EBC8EAA6D5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0090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C4670-801A-4A65-AF5D-990DB3BA0E68}" type="datetimeFigureOut">
              <a:rPr lang="ko-KR" altLang="en-US" smtClean="0"/>
              <a:t>2019-06-18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78E21-1F2E-40A1-A3D7-EBC8EAA6D5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9724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C4670-801A-4A65-AF5D-990DB3BA0E68}" type="datetimeFigureOut">
              <a:rPr lang="ko-KR" altLang="en-US" smtClean="0"/>
              <a:t>2019-06-18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78E21-1F2E-40A1-A3D7-EBC8EAA6D5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1187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C4670-801A-4A65-AF5D-990DB3BA0E68}" type="datetimeFigureOut">
              <a:rPr lang="ko-KR" altLang="en-US" smtClean="0"/>
              <a:t>2019-06-18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78E21-1F2E-40A1-A3D7-EBC8EAA6D5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9743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C4670-801A-4A65-AF5D-990DB3BA0E68}" type="datetimeFigureOut">
              <a:rPr lang="ko-KR" altLang="en-US" smtClean="0"/>
              <a:t>2019-06-18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78E21-1F2E-40A1-A3D7-EBC8EAA6D5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419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C4670-801A-4A65-AF5D-990DB3BA0E68}" type="datetimeFigureOut">
              <a:rPr lang="ko-KR" altLang="en-US" smtClean="0"/>
              <a:t>2019-06-18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78E21-1F2E-40A1-A3D7-EBC8EAA6D5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409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6C4670-801A-4A65-AF5D-990DB3BA0E68}" type="datetimeFigureOut">
              <a:rPr lang="ko-KR" altLang="en-US" smtClean="0"/>
              <a:t>2019-06-18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F78E21-1F2E-40A1-A3D7-EBC8EAA6D5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95655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study-ccna.com/what-is-nat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23207CC6-EAA1-4BFF-A48A-DECAD8972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 3">
            <a:extLst>
              <a:ext uri="{FF2B5EF4-FFF2-40B4-BE49-F238E27FC236}">
                <a16:creationId xmlns:a16="http://schemas.microsoft.com/office/drawing/2014/main" id="{B234A3DD-923D-4166-8B19-7DD58990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6925" y="-479"/>
            <a:ext cx="9468701" cy="6858478"/>
          </a:xfrm>
          <a:custGeom>
            <a:avLst/>
            <a:gdLst>
              <a:gd name="connsiteX0" fmla="*/ 0 w 8078051"/>
              <a:gd name="connsiteY0" fmla="*/ 0 h 5829300"/>
              <a:gd name="connsiteX1" fmla="*/ 4453793 w 8078051"/>
              <a:gd name="connsiteY1" fmla="*/ 0 h 5829300"/>
              <a:gd name="connsiteX2" fmla="*/ 5363426 w 8078051"/>
              <a:gd name="connsiteY2" fmla="*/ 0 h 5829300"/>
              <a:gd name="connsiteX3" fmla="*/ 5368184 w 8078051"/>
              <a:gd name="connsiteY3" fmla="*/ 0 h 5829300"/>
              <a:gd name="connsiteX4" fmla="*/ 8078051 w 8078051"/>
              <a:gd name="connsiteY4" fmla="*/ 5829300 h 5829300"/>
              <a:gd name="connsiteX5" fmla="*/ 1743926 w 8078051"/>
              <a:gd name="connsiteY5" fmla="*/ 5829300 h 5829300"/>
              <a:gd name="connsiteX6" fmla="*/ 1744148 w 8078051"/>
              <a:gd name="connsiteY6" fmla="*/ 5828822 h 5829300"/>
              <a:gd name="connsiteX7" fmla="*/ 0 w 8078051"/>
              <a:gd name="connsiteY7" fmla="*/ 5828822 h 582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078051" h="5829300">
                <a:moveTo>
                  <a:pt x="0" y="0"/>
                </a:moveTo>
                <a:lnTo>
                  <a:pt x="4453793" y="0"/>
                </a:lnTo>
                <a:lnTo>
                  <a:pt x="5363426" y="0"/>
                </a:lnTo>
                <a:lnTo>
                  <a:pt x="5368184" y="0"/>
                </a:lnTo>
                <a:lnTo>
                  <a:pt x="8078051" y="5829300"/>
                </a:lnTo>
                <a:lnTo>
                  <a:pt x="1743926" y="5829300"/>
                </a:lnTo>
                <a:lnTo>
                  <a:pt x="1744148" y="5828822"/>
                </a:lnTo>
                <a:lnTo>
                  <a:pt x="0" y="5828822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 16">
            <a:extLst>
              <a:ext uri="{FF2B5EF4-FFF2-40B4-BE49-F238E27FC236}">
                <a16:creationId xmlns:a16="http://schemas.microsoft.com/office/drawing/2014/main" id="{F6ACA5AC-3C5D-4994-B40F-FC8349E4D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79"/>
            <a:ext cx="9324977" cy="6858479"/>
          </a:xfrm>
          <a:custGeom>
            <a:avLst/>
            <a:gdLst>
              <a:gd name="connsiteX0" fmla="*/ 1246925 w 9324977"/>
              <a:gd name="connsiteY0" fmla="*/ 0 h 6858479"/>
              <a:gd name="connsiteX1" fmla="*/ 5076797 w 9324977"/>
              <a:gd name="connsiteY1" fmla="*/ 0 h 6858479"/>
              <a:gd name="connsiteX2" fmla="*/ 6143025 w 9324977"/>
              <a:gd name="connsiteY2" fmla="*/ 0 h 6858479"/>
              <a:gd name="connsiteX3" fmla="*/ 6148602 w 9324977"/>
              <a:gd name="connsiteY3" fmla="*/ 0 h 6858479"/>
              <a:gd name="connsiteX4" fmla="*/ 9324977 w 9324977"/>
              <a:gd name="connsiteY4" fmla="*/ 6858478 h 6858479"/>
              <a:gd name="connsiteX5" fmla="*/ 3359025 w 9324977"/>
              <a:gd name="connsiteY5" fmla="*/ 6858478 h 6858479"/>
              <a:gd name="connsiteX6" fmla="*/ 3359025 w 9324977"/>
              <a:gd name="connsiteY6" fmla="*/ 6858479 h 6858479"/>
              <a:gd name="connsiteX7" fmla="*/ 0 w 9324977"/>
              <a:gd name="connsiteY7" fmla="*/ 6858479 h 6858479"/>
              <a:gd name="connsiteX8" fmla="*/ 0 w 9324977"/>
              <a:gd name="connsiteY8" fmla="*/ 479 h 6858479"/>
              <a:gd name="connsiteX9" fmla="*/ 1246925 w 9324977"/>
              <a:gd name="connsiteY9" fmla="*/ 479 h 6858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24977" h="6858479">
                <a:moveTo>
                  <a:pt x="1246925" y="0"/>
                </a:moveTo>
                <a:lnTo>
                  <a:pt x="5076797" y="0"/>
                </a:lnTo>
                <a:lnTo>
                  <a:pt x="6143025" y="0"/>
                </a:lnTo>
                <a:lnTo>
                  <a:pt x="6148602" y="0"/>
                </a:lnTo>
                <a:lnTo>
                  <a:pt x="9324977" y="6858478"/>
                </a:lnTo>
                <a:lnTo>
                  <a:pt x="3359025" y="6858478"/>
                </a:lnTo>
                <a:lnTo>
                  <a:pt x="3359025" y="6858479"/>
                </a:lnTo>
                <a:lnTo>
                  <a:pt x="0" y="6858479"/>
                </a:lnTo>
                <a:lnTo>
                  <a:pt x="0" y="479"/>
                </a:lnTo>
                <a:lnTo>
                  <a:pt x="1246925" y="479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206E995-F397-436D-89A4-47994D86AC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1" y="2600324"/>
            <a:ext cx="6405753" cy="3277961"/>
          </a:xfrm>
        </p:spPr>
        <p:txBody>
          <a:bodyPr anchor="t">
            <a:normAutofit/>
          </a:bodyPr>
          <a:lstStyle/>
          <a:p>
            <a:pPr algn="l"/>
            <a:r>
              <a:rPr lang="en-US" altLang="ko-KR" sz="5400" dirty="0"/>
              <a:t>GBC </a:t>
            </a:r>
            <a:br>
              <a:rPr lang="en-US" altLang="ko-KR" sz="5400" dirty="0"/>
            </a:br>
            <a:r>
              <a:rPr lang="en-US" altLang="ko-KR" sz="5400" dirty="0"/>
              <a:t>Network </a:t>
            </a:r>
            <a:br>
              <a:rPr lang="en-US" altLang="ko-KR" sz="5400" dirty="0"/>
            </a:br>
            <a:r>
              <a:rPr lang="en-US" altLang="ko-KR" sz="3000" dirty="0"/>
              <a:t>21900195 </a:t>
            </a:r>
            <a:r>
              <a:rPr lang="ko-KR" altLang="en-US" sz="3000" dirty="0"/>
              <a:t>김 진 일</a:t>
            </a:r>
          </a:p>
        </p:txBody>
      </p:sp>
    </p:spTree>
    <p:extLst>
      <p:ext uri="{BB962C8B-B14F-4D97-AF65-F5344CB8AC3E}">
        <p14:creationId xmlns:p14="http://schemas.microsoft.com/office/powerpoint/2010/main" val="833508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3207CC6-EAA1-4BFF-A48A-DECAD8972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B234A3DD-923D-4166-8B19-7DD58990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6925" y="-479"/>
            <a:ext cx="9468701" cy="6858478"/>
          </a:xfrm>
          <a:custGeom>
            <a:avLst/>
            <a:gdLst>
              <a:gd name="connsiteX0" fmla="*/ 0 w 8078051"/>
              <a:gd name="connsiteY0" fmla="*/ 0 h 5829300"/>
              <a:gd name="connsiteX1" fmla="*/ 4453793 w 8078051"/>
              <a:gd name="connsiteY1" fmla="*/ 0 h 5829300"/>
              <a:gd name="connsiteX2" fmla="*/ 5363426 w 8078051"/>
              <a:gd name="connsiteY2" fmla="*/ 0 h 5829300"/>
              <a:gd name="connsiteX3" fmla="*/ 5368184 w 8078051"/>
              <a:gd name="connsiteY3" fmla="*/ 0 h 5829300"/>
              <a:gd name="connsiteX4" fmla="*/ 8078051 w 8078051"/>
              <a:gd name="connsiteY4" fmla="*/ 5829300 h 5829300"/>
              <a:gd name="connsiteX5" fmla="*/ 1743926 w 8078051"/>
              <a:gd name="connsiteY5" fmla="*/ 5829300 h 5829300"/>
              <a:gd name="connsiteX6" fmla="*/ 1744148 w 8078051"/>
              <a:gd name="connsiteY6" fmla="*/ 5828822 h 5829300"/>
              <a:gd name="connsiteX7" fmla="*/ 0 w 8078051"/>
              <a:gd name="connsiteY7" fmla="*/ 5828822 h 582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078051" h="5829300">
                <a:moveTo>
                  <a:pt x="0" y="0"/>
                </a:moveTo>
                <a:lnTo>
                  <a:pt x="4453793" y="0"/>
                </a:lnTo>
                <a:lnTo>
                  <a:pt x="5363426" y="0"/>
                </a:lnTo>
                <a:lnTo>
                  <a:pt x="5368184" y="0"/>
                </a:lnTo>
                <a:lnTo>
                  <a:pt x="8078051" y="5829300"/>
                </a:lnTo>
                <a:lnTo>
                  <a:pt x="1743926" y="5829300"/>
                </a:lnTo>
                <a:lnTo>
                  <a:pt x="1744148" y="5828822"/>
                </a:lnTo>
                <a:lnTo>
                  <a:pt x="0" y="5828822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6">
            <a:extLst>
              <a:ext uri="{FF2B5EF4-FFF2-40B4-BE49-F238E27FC236}">
                <a16:creationId xmlns:a16="http://schemas.microsoft.com/office/drawing/2014/main" id="{F6ACA5AC-3C5D-4994-B40F-FC8349E4D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79"/>
            <a:ext cx="9324977" cy="6858479"/>
          </a:xfrm>
          <a:custGeom>
            <a:avLst/>
            <a:gdLst>
              <a:gd name="connsiteX0" fmla="*/ 1246925 w 9324977"/>
              <a:gd name="connsiteY0" fmla="*/ 0 h 6858479"/>
              <a:gd name="connsiteX1" fmla="*/ 5076797 w 9324977"/>
              <a:gd name="connsiteY1" fmla="*/ 0 h 6858479"/>
              <a:gd name="connsiteX2" fmla="*/ 6143025 w 9324977"/>
              <a:gd name="connsiteY2" fmla="*/ 0 h 6858479"/>
              <a:gd name="connsiteX3" fmla="*/ 6148602 w 9324977"/>
              <a:gd name="connsiteY3" fmla="*/ 0 h 6858479"/>
              <a:gd name="connsiteX4" fmla="*/ 9324977 w 9324977"/>
              <a:gd name="connsiteY4" fmla="*/ 6858478 h 6858479"/>
              <a:gd name="connsiteX5" fmla="*/ 3359025 w 9324977"/>
              <a:gd name="connsiteY5" fmla="*/ 6858478 h 6858479"/>
              <a:gd name="connsiteX6" fmla="*/ 3359025 w 9324977"/>
              <a:gd name="connsiteY6" fmla="*/ 6858479 h 6858479"/>
              <a:gd name="connsiteX7" fmla="*/ 0 w 9324977"/>
              <a:gd name="connsiteY7" fmla="*/ 6858479 h 6858479"/>
              <a:gd name="connsiteX8" fmla="*/ 0 w 9324977"/>
              <a:gd name="connsiteY8" fmla="*/ 479 h 6858479"/>
              <a:gd name="connsiteX9" fmla="*/ 1246925 w 9324977"/>
              <a:gd name="connsiteY9" fmla="*/ 479 h 6858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24977" h="6858479">
                <a:moveTo>
                  <a:pt x="1246925" y="0"/>
                </a:moveTo>
                <a:lnTo>
                  <a:pt x="5076797" y="0"/>
                </a:lnTo>
                <a:lnTo>
                  <a:pt x="6143025" y="0"/>
                </a:lnTo>
                <a:lnTo>
                  <a:pt x="6148602" y="0"/>
                </a:lnTo>
                <a:lnTo>
                  <a:pt x="9324977" y="6858478"/>
                </a:lnTo>
                <a:lnTo>
                  <a:pt x="3359025" y="6858478"/>
                </a:lnTo>
                <a:lnTo>
                  <a:pt x="3359025" y="6858479"/>
                </a:lnTo>
                <a:lnTo>
                  <a:pt x="0" y="6858479"/>
                </a:lnTo>
                <a:lnTo>
                  <a:pt x="0" y="479"/>
                </a:lnTo>
                <a:lnTo>
                  <a:pt x="1246925" y="479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4F1E628-7831-43F8-A0EC-00F388FCD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1" y="628154"/>
            <a:ext cx="6405753" cy="604299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latinLnBrk="0"/>
            <a:r>
              <a:rPr lang="ko-KR" altLang="en-US" sz="2400" kern="12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라우터</a:t>
            </a:r>
            <a:r>
              <a:rPr lang="ko-KR" altLang="en-US" sz="2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br>
              <a:rPr lang="en-US" altLang="ko-KR" sz="2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altLang="ko-KR" sz="2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“</a:t>
            </a:r>
            <a:r>
              <a:rPr lang="ko-KR" altLang="en-US" sz="2000" dirty="0"/>
              <a:t>지능을 가진 경로 </a:t>
            </a:r>
            <a:r>
              <a:rPr lang="ko-KR" altLang="en-US" sz="2000" dirty="0" err="1"/>
              <a:t>배정기</a:t>
            </a:r>
            <a:r>
              <a:rPr lang="en-US" altLang="ko-KR" sz="2000" dirty="0"/>
              <a:t>“</a:t>
            </a:r>
            <a:br>
              <a:rPr lang="en-US" altLang="ko-KR" sz="2000" dirty="0"/>
            </a:br>
            <a:br>
              <a:rPr lang="en-US" altLang="ko-KR" sz="2000" dirty="0"/>
            </a:br>
            <a:r>
              <a:rPr lang="en-US" altLang="ko-KR" sz="2000" dirty="0"/>
              <a:t>-</a:t>
            </a:r>
            <a:r>
              <a:rPr lang="ko-KR" altLang="en-US" sz="2000" dirty="0"/>
              <a:t>자신이 가야 할 길을 자동으로 찾아서 갈 수 있는 능력을 가진 것을 말함</a:t>
            </a:r>
            <a:r>
              <a:rPr lang="en-US" altLang="ko-KR" sz="2000" dirty="0"/>
              <a:t>.</a:t>
            </a:r>
            <a:br>
              <a:rPr lang="en-US" altLang="ko-KR" sz="2000" dirty="0"/>
            </a:br>
            <a:br>
              <a:rPr lang="en-US" altLang="ko-KR" sz="2000" dirty="0"/>
            </a:br>
            <a:r>
              <a:rPr lang="ko-KR" altLang="en-US" sz="2400" dirty="0">
                <a:solidFill>
                  <a:srgbClr val="FFFF00"/>
                </a:solidFill>
              </a:rPr>
              <a:t>라우터의 능력 </a:t>
            </a:r>
            <a:r>
              <a:rPr lang="en-US" altLang="ko-KR" sz="2000" dirty="0"/>
              <a:t>: </a:t>
            </a:r>
            <a:r>
              <a:rPr lang="ko-KR" altLang="en-US" sz="2000" dirty="0"/>
              <a:t>데이터를 목적지까지 가장 빠르고 효율적인 길을 스스로 찾아 안내해 주는 능력을 지님</a:t>
            </a:r>
            <a:r>
              <a:rPr lang="en-US" altLang="ko-KR" sz="2000" dirty="0"/>
              <a:t>.</a:t>
            </a:r>
            <a:br>
              <a:rPr lang="en-US" altLang="ko-KR" sz="2000" dirty="0"/>
            </a:br>
            <a:br>
              <a:rPr lang="en-US" altLang="ko-KR" sz="2000" dirty="0"/>
            </a:br>
            <a:r>
              <a:rPr lang="ko-KR" altLang="en-US" sz="2400" dirty="0">
                <a:solidFill>
                  <a:srgbClr val="FFFF00"/>
                </a:solidFill>
              </a:rPr>
              <a:t>라우터의 역할</a:t>
            </a:r>
            <a:br>
              <a:rPr lang="ko-KR" altLang="en-US" sz="2000" dirty="0"/>
            </a:br>
            <a:r>
              <a:rPr lang="en-US" altLang="ko-KR" sz="2200" dirty="0">
                <a:solidFill>
                  <a:srgbClr val="FFFF00"/>
                </a:solidFill>
              </a:rPr>
              <a:t>1. Path Determination (</a:t>
            </a:r>
            <a:r>
              <a:rPr lang="ko-KR" altLang="en-US" sz="2200" dirty="0">
                <a:solidFill>
                  <a:srgbClr val="FFFF00"/>
                </a:solidFill>
              </a:rPr>
              <a:t>경로 결정</a:t>
            </a:r>
            <a:r>
              <a:rPr lang="en-US" altLang="ko-KR" sz="2200" dirty="0">
                <a:solidFill>
                  <a:srgbClr val="FFFF00"/>
                </a:solidFill>
              </a:rPr>
              <a:t>)</a:t>
            </a:r>
            <a:br>
              <a:rPr lang="en-US" altLang="ko-KR" sz="2000" dirty="0"/>
            </a:br>
            <a:br>
              <a:rPr lang="en-US" altLang="ko-KR" sz="2000" dirty="0"/>
            </a:br>
            <a:r>
              <a:rPr lang="en-US" altLang="ko-KR" sz="2000" dirty="0"/>
              <a:t> </a:t>
            </a:r>
            <a:r>
              <a:rPr lang="ko-KR" altLang="en-US" sz="2000" dirty="0"/>
              <a:t>데이터 패킷이 목적지까지 갈 수 있는 길을 검사하고 어떤 길로 가는 것이 가장 적절한지 결정 </a:t>
            </a:r>
            <a:br>
              <a:rPr lang="en-US" altLang="ko-KR" sz="2000" dirty="0"/>
            </a:br>
            <a:br>
              <a:rPr lang="en-US" altLang="ko-KR" sz="2000" dirty="0"/>
            </a:br>
            <a:r>
              <a:rPr lang="en-US" altLang="ko-KR" sz="2200" dirty="0">
                <a:solidFill>
                  <a:srgbClr val="FFFF00"/>
                </a:solidFill>
              </a:rPr>
              <a:t>2. Switching (</a:t>
            </a:r>
            <a:r>
              <a:rPr lang="ko-KR" altLang="en-US" sz="2200" dirty="0">
                <a:solidFill>
                  <a:srgbClr val="FFFF00"/>
                </a:solidFill>
              </a:rPr>
              <a:t>스위칭</a:t>
            </a:r>
            <a:r>
              <a:rPr lang="en-US" altLang="ko-KR" sz="2200" dirty="0">
                <a:solidFill>
                  <a:srgbClr val="FFFF00"/>
                </a:solidFill>
              </a:rPr>
              <a:t>)</a:t>
            </a:r>
            <a:br>
              <a:rPr lang="en-US" altLang="ko-KR" sz="2200" dirty="0">
                <a:solidFill>
                  <a:srgbClr val="FFFF00"/>
                </a:solidFill>
              </a:rPr>
            </a:br>
            <a:r>
              <a:rPr lang="en-US" altLang="ko-KR" sz="2000" dirty="0"/>
              <a:t> </a:t>
            </a:r>
            <a:r>
              <a:rPr lang="ko-KR" altLang="en-US" sz="2000" dirty="0"/>
              <a:t>길이 결정되면 그 쪽으로 데이터 패킷을 </a:t>
            </a:r>
            <a:r>
              <a:rPr lang="ko-KR" altLang="en-US" sz="2000" dirty="0" err="1"/>
              <a:t>스위칭해준다</a:t>
            </a:r>
            <a:br>
              <a:rPr lang="en-US" altLang="ko-KR" sz="2000" dirty="0"/>
            </a:br>
            <a:br>
              <a:rPr lang="en-US" altLang="ko-KR" sz="2000" dirty="0"/>
            </a:br>
            <a:r>
              <a:rPr lang="ko-KR" altLang="en-US" sz="2000" dirty="0"/>
              <a:t>▪ 가장 좋은 경로를 결정하기 위해서 </a:t>
            </a:r>
            <a:r>
              <a:rPr lang="ko-KR" altLang="en-US" sz="2000" dirty="0">
                <a:solidFill>
                  <a:srgbClr val="FFFF00"/>
                </a:solidFill>
              </a:rPr>
              <a:t>라우팅 알고리즘</a:t>
            </a:r>
            <a:r>
              <a:rPr lang="ko-KR" altLang="en-US" sz="2000" dirty="0"/>
              <a:t>을 사용하고 라우팅 테이블을 만들어서 관리함</a:t>
            </a:r>
            <a:r>
              <a:rPr lang="en-US" altLang="ko-KR" sz="2000" dirty="0"/>
              <a:t>.</a:t>
            </a:r>
            <a:br>
              <a:rPr lang="en-US" altLang="ko-KR" sz="2000" dirty="0"/>
            </a:br>
            <a:br>
              <a:rPr lang="en-US" altLang="ko-KR" sz="2000" dirty="0"/>
            </a:br>
            <a:r>
              <a:rPr lang="en-US" altLang="ko-KR" sz="2000" dirty="0"/>
              <a:t>▪ </a:t>
            </a:r>
            <a:r>
              <a:rPr lang="ko-KR" altLang="en-US" sz="2000" dirty="0"/>
              <a:t>시스코에서는 라우터에 들어가는 소프트웨어를    </a:t>
            </a:r>
            <a:r>
              <a:rPr lang="en-US" altLang="ko-KR" sz="2000" dirty="0"/>
              <a:t>IOS(Internetwork Operation System)</a:t>
            </a:r>
            <a:r>
              <a:rPr lang="ko-KR" altLang="en-US" sz="2000" dirty="0" err="1"/>
              <a:t>라한다</a:t>
            </a:r>
            <a:endParaRPr lang="en-US" altLang="ko-KR" sz="2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82756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3207CC6-EAA1-4BFF-A48A-DECAD8972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B234A3DD-923D-4166-8B19-7DD58990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6925" y="-479"/>
            <a:ext cx="9468701" cy="6858478"/>
          </a:xfrm>
          <a:custGeom>
            <a:avLst/>
            <a:gdLst>
              <a:gd name="connsiteX0" fmla="*/ 0 w 8078051"/>
              <a:gd name="connsiteY0" fmla="*/ 0 h 5829300"/>
              <a:gd name="connsiteX1" fmla="*/ 4453793 w 8078051"/>
              <a:gd name="connsiteY1" fmla="*/ 0 h 5829300"/>
              <a:gd name="connsiteX2" fmla="*/ 5363426 w 8078051"/>
              <a:gd name="connsiteY2" fmla="*/ 0 h 5829300"/>
              <a:gd name="connsiteX3" fmla="*/ 5368184 w 8078051"/>
              <a:gd name="connsiteY3" fmla="*/ 0 h 5829300"/>
              <a:gd name="connsiteX4" fmla="*/ 8078051 w 8078051"/>
              <a:gd name="connsiteY4" fmla="*/ 5829300 h 5829300"/>
              <a:gd name="connsiteX5" fmla="*/ 1743926 w 8078051"/>
              <a:gd name="connsiteY5" fmla="*/ 5829300 h 5829300"/>
              <a:gd name="connsiteX6" fmla="*/ 1744148 w 8078051"/>
              <a:gd name="connsiteY6" fmla="*/ 5828822 h 5829300"/>
              <a:gd name="connsiteX7" fmla="*/ 0 w 8078051"/>
              <a:gd name="connsiteY7" fmla="*/ 5828822 h 582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078051" h="5829300">
                <a:moveTo>
                  <a:pt x="0" y="0"/>
                </a:moveTo>
                <a:lnTo>
                  <a:pt x="4453793" y="0"/>
                </a:lnTo>
                <a:lnTo>
                  <a:pt x="5363426" y="0"/>
                </a:lnTo>
                <a:lnTo>
                  <a:pt x="5368184" y="0"/>
                </a:lnTo>
                <a:lnTo>
                  <a:pt x="8078051" y="5829300"/>
                </a:lnTo>
                <a:lnTo>
                  <a:pt x="1743926" y="5829300"/>
                </a:lnTo>
                <a:lnTo>
                  <a:pt x="1744148" y="5828822"/>
                </a:lnTo>
                <a:lnTo>
                  <a:pt x="0" y="5828822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6">
            <a:extLst>
              <a:ext uri="{FF2B5EF4-FFF2-40B4-BE49-F238E27FC236}">
                <a16:creationId xmlns:a16="http://schemas.microsoft.com/office/drawing/2014/main" id="{F6ACA5AC-3C5D-4994-B40F-FC8349E4D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79"/>
            <a:ext cx="9324977" cy="6858479"/>
          </a:xfrm>
          <a:custGeom>
            <a:avLst/>
            <a:gdLst>
              <a:gd name="connsiteX0" fmla="*/ 1246925 w 9324977"/>
              <a:gd name="connsiteY0" fmla="*/ 0 h 6858479"/>
              <a:gd name="connsiteX1" fmla="*/ 5076797 w 9324977"/>
              <a:gd name="connsiteY1" fmla="*/ 0 h 6858479"/>
              <a:gd name="connsiteX2" fmla="*/ 6143025 w 9324977"/>
              <a:gd name="connsiteY2" fmla="*/ 0 h 6858479"/>
              <a:gd name="connsiteX3" fmla="*/ 6148602 w 9324977"/>
              <a:gd name="connsiteY3" fmla="*/ 0 h 6858479"/>
              <a:gd name="connsiteX4" fmla="*/ 9324977 w 9324977"/>
              <a:gd name="connsiteY4" fmla="*/ 6858478 h 6858479"/>
              <a:gd name="connsiteX5" fmla="*/ 3359025 w 9324977"/>
              <a:gd name="connsiteY5" fmla="*/ 6858478 h 6858479"/>
              <a:gd name="connsiteX6" fmla="*/ 3359025 w 9324977"/>
              <a:gd name="connsiteY6" fmla="*/ 6858479 h 6858479"/>
              <a:gd name="connsiteX7" fmla="*/ 0 w 9324977"/>
              <a:gd name="connsiteY7" fmla="*/ 6858479 h 6858479"/>
              <a:gd name="connsiteX8" fmla="*/ 0 w 9324977"/>
              <a:gd name="connsiteY8" fmla="*/ 479 h 6858479"/>
              <a:gd name="connsiteX9" fmla="*/ 1246925 w 9324977"/>
              <a:gd name="connsiteY9" fmla="*/ 479 h 6858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24977" h="6858479">
                <a:moveTo>
                  <a:pt x="1246925" y="0"/>
                </a:moveTo>
                <a:lnTo>
                  <a:pt x="5076797" y="0"/>
                </a:lnTo>
                <a:lnTo>
                  <a:pt x="6143025" y="0"/>
                </a:lnTo>
                <a:lnTo>
                  <a:pt x="6148602" y="0"/>
                </a:lnTo>
                <a:lnTo>
                  <a:pt x="9324977" y="6858478"/>
                </a:lnTo>
                <a:lnTo>
                  <a:pt x="3359025" y="6858478"/>
                </a:lnTo>
                <a:lnTo>
                  <a:pt x="3359025" y="6858479"/>
                </a:lnTo>
                <a:lnTo>
                  <a:pt x="0" y="6858479"/>
                </a:lnTo>
                <a:lnTo>
                  <a:pt x="0" y="479"/>
                </a:lnTo>
                <a:lnTo>
                  <a:pt x="1246925" y="479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80E01B0-AEC1-460A-86C5-EF4E399AD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1" y="620201"/>
            <a:ext cx="6405753" cy="6035041"/>
          </a:xfrm>
        </p:spPr>
        <p:txBody>
          <a:bodyPr vert="horz" lIns="91440" tIns="45720" rIns="91440" bIns="45720" rtlCol="0" anchor="t">
            <a:normAutofit/>
          </a:bodyPr>
          <a:lstStyle/>
          <a:p>
            <a:pPr latinLnBrk="0"/>
            <a:r>
              <a:rPr lang="ko-KR" altLang="en-US" sz="2000" dirty="0"/>
              <a:t>인터페이스 라우터에 나와있는 접속 가능한 포트 </a:t>
            </a:r>
            <a:r>
              <a:rPr lang="en-US" altLang="ko-KR" sz="2000" dirty="0"/>
              <a:t>(Ethernet Serial) </a:t>
            </a:r>
            <a:br>
              <a:rPr lang="en-US" altLang="ko-KR" sz="2000" dirty="0"/>
            </a:br>
            <a:r>
              <a:rPr lang="en-US" altLang="ko-KR" sz="2000" dirty="0"/>
              <a:t>- Ethernet : </a:t>
            </a:r>
            <a:r>
              <a:rPr lang="ko-KR" altLang="en-US" sz="2000" dirty="0"/>
              <a:t>내부 네트워크 </a:t>
            </a:r>
            <a:r>
              <a:rPr lang="ko-KR" altLang="en-US" sz="2000" dirty="0" err="1"/>
              <a:t>접속시</a:t>
            </a:r>
            <a:r>
              <a:rPr lang="ko-KR" altLang="en-US" sz="2000" dirty="0"/>
              <a:t> 사용 </a:t>
            </a:r>
            <a:br>
              <a:rPr lang="en-US" altLang="ko-KR" sz="2000" dirty="0"/>
            </a:br>
            <a:r>
              <a:rPr lang="en-US" altLang="ko-KR" sz="2000" dirty="0"/>
              <a:t>- Serial </a:t>
            </a:r>
            <a:r>
              <a:rPr lang="ko-KR" altLang="en-US" sz="2000" dirty="0"/>
              <a:t>포트</a:t>
            </a:r>
            <a:r>
              <a:rPr lang="en-US" altLang="ko-KR" sz="2000" dirty="0"/>
              <a:t>: WAN </a:t>
            </a:r>
            <a:r>
              <a:rPr lang="ko-KR" altLang="en-US" sz="2000" dirty="0"/>
              <a:t>접속을 위한 포트 </a:t>
            </a:r>
            <a:r>
              <a:rPr lang="en-US" altLang="ko-KR" sz="2000" dirty="0"/>
              <a:t>DSU/CSU </a:t>
            </a:r>
            <a:r>
              <a:rPr lang="ko-KR" altLang="en-US" sz="2000" dirty="0"/>
              <a:t>와 연결</a:t>
            </a:r>
            <a:br>
              <a:rPr lang="en-US" altLang="ko-KR" sz="2000" dirty="0"/>
            </a:br>
            <a:br>
              <a:rPr lang="en-US" altLang="ko-KR" sz="2000" dirty="0"/>
            </a:br>
            <a:r>
              <a:rPr lang="en-US" altLang="ko-KR" sz="2000" dirty="0">
                <a:solidFill>
                  <a:srgbClr val="FFFF00"/>
                </a:solidFill>
              </a:rPr>
              <a:t>Ethernet Port:</a:t>
            </a:r>
            <a:r>
              <a:rPr lang="en-US" altLang="ko-KR" sz="2000" dirty="0"/>
              <a:t>  </a:t>
            </a:r>
            <a:r>
              <a:rPr lang="ko-KR" altLang="en-US" sz="2000" dirty="0"/>
              <a:t>내부 네트워크 즉 랜을 위한 접속 포트</a:t>
            </a:r>
            <a:br>
              <a:rPr lang="en-US" altLang="ko-KR" sz="2000" dirty="0"/>
            </a:br>
            <a:br>
              <a:rPr lang="en-US" altLang="ko-KR" sz="2000" dirty="0"/>
            </a:br>
            <a:r>
              <a:rPr lang="en-US" altLang="ko-KR" sz="2000" dirty="0">
                <a:solidFill>
                  <a:srgbClr val="FFFF00"/>
                </a:solidFill>
              </a:rPr>
              <a:t>Serial Port</a:t>
            </a:r>
            <a:r>
              <a:rPr lang="en-US" altLang="ko-KR" sz="2000" dirty="0"/>
              <a:t>: </a:t>
            </a:r>
            <a:r>
              <a:rPr lang="ko-KR" altLang="en-US" sz="2000" dirty="0"/>
              <a:t>외부 네트워크 인터넷 또는 원격지 접속을 위한 포트로 </a:t>
            </a:r>
            <a:r>
              <a:rPr lang="en-US" altLang="ko-KR" sz="2000" dirty="0"/>
              <a:t>DSU/CSU </a:t>
            </a:r>
            <a:r>
              <a:rPr lang="ko-KR" altLang="en-US" sz="2000" dirty="0"/>
              <a:t>와 연결</a:t>
            </a:r>
            <a:br>
              <a:rPr lang="en-US" altLang="ko-KR" sz="2000" dirty="0"/>
            </a:br>
            <a:br>
              <a:rPr lang="en-US" altLang="ko-KR" sz="2000" dirty="0"/>
            </a:br>
            <a:r>
              <a:rPr lang="en-US" altLang="ko-KR" sz="2000" dirty="0">
                <a:solidFill>
                  <a:srgbClr val="FFFF00"/>
                </a:solidFill>
              </a:rPr>
              <a:t>■ </a:t>
            </a:r>
            <a:r>
              <a:rPr lang="ko-KR" altLang="en-US" sz="2000" dirty="0" err="1">
                <a:solidFill>
                  <a:srgbClr val="FFFF00"/>
                </a:solidFill>
              </a:rPr>
              <a:t>라우티드</a:t>
            </a:r>
            <a:r>
              <a:rPr lang="ko-KR" altLang="en-US" sz="2000" dirty="0">
                <a:solidFill>
                  <a:srgbClr val="FFFF00"/>
                </a:solidFill>
              </a:rPr>
              <a:t> 프로토콜 </a:t>
            </a:r>
            <a:br>
              <a:rPr lang="en-US" altLang="ko-KR" sz="2000" dirty="0"/>
            </a:br>
            <a:r>
              <a:rPr lang="en-US" altLang="ko-KR" sz="2000" dirty="0"/>
              <a:t>     </a:t>
            </a:r>
            <a:br>
              <a:rPr lang="en-US" altLang="ko-KR" sz="2000" dirty="0"/>
            </a:br>
            <a:r>
              <a:rPr lang="en-US" altLang="ko-KR" sz="2000" dirty="0"/>
              <a:t>     </a:t>
            </a:r>
            <a:r>
              <a:rPr lang="ko-KR" altLang="en-US" sz="2000" dirty="0"/>
              <a:t>라</a:t>
            </a:r>
            <a:r>
              <a:rPr lang="ko-KR" altLang="en-US" sz="1900" dirty="0"/>
              <a:t>우팅을 당하는 프로토콜</a:t>
            </a:r>
            <a:br>
              <a:rPr lang="en-US" altLang="ko-KR" sz="1900" dirty="0"/>
            </a:br>
            <a:r>
              <a:rPr lang="en-US" altLang="ko-KR" sz="1900" dirty="0"/>
              <a:t>      ex) (TCP/IP, Apple Talk, IPX )</a:t>
            </a:r>
            <a:br>
              <a:rPr lang="en-US" altLang="ko-KR" sz="2000" dirty="0"/>
            </a:br>
            <a:r>
              <a:rPr lang="ko-KR" altLang="en-US" sz="2000" dirty="0">
                <a:solidFill>
                  <a:srgbClr val="FFFF00"/>
                </a:solidFill>
              </a:rPr>
              <a:t>■ 라우팅 프로토콜 </a:t>
            </a:r>
            <a:br>
              <a:rPr lang="en-US" altLang="ko-KR" sz="2000" dirty="0"/>
            </a:br>
            <a:br>
              <a:rPr lang="en-US" altLang="ko-KR" sz="2000" dirty="0"/>
            </a:br>
            <a:r>
              <a:rPr lang="ko-KR" altLang="en-US" sz="2000" dirty="0" err="1"/>
              <a:t>라우티드</a:t>
            </a:r>
            <a:r>
              <a:rPr lang="ko-KR" altLang="en-US" sz="2000" dirty="0"/>
              <a:t> 프로토콜들에게 목적지까지 가장 좋은 길을 갈 수 있게 해주는 역할 </a:t>
            </a:r>
            <a:br>
              <a:rPr lang="en-US" altLang="ko-KR" sz="2000" dirty="0"/>
            </a:br>
            <a:r>
              <a:rPr lang="en-US" altLang="ko-KR" sz="2000" dirty="0"/>
              <a:t>▪ RIP, IGRP, OSPF, EIGRP . </a:t>
            </a:r>
            <a:r>
              <a:rPr lang="ko-KR" altLang="en-US" sz="2000" dirty="0"/>
              <a:t>등이 있다 </a:t>
            </a:r>
            <a:br>
              <a:rPr lang="en-US" altLang="ko-KR" sz="2000" dirty="0"/>
            </a:br>
            <a:br>
              <a:rPr lang="en-US" altLang="ko-KR" sz="2000" dirty="0"/>
            </a:br>
            <a:r>
              <a:rPr lang="ko-KR" altLang="en-US" sz="2000" dirty="0"/>
              <a:t>▪ 라우팅 </a:t>
            </a:r>
            <a:r>
              <a:rPr lang="ko-KR" altLang="en-US" sz="2000" dirty="0" err="1"/>
              <a:t>알고리즘이라고도</a:t>
            </a:r>
            <a:r>
              <a:rPr lang="ko-KR" altLang="en-US" sz="2000" dirty="0"/>
              <a:t> 한다</a:t>
            </a:r>
            <a:r>
              <a:rPr lang="en-US" altLang="ko-KR" sz="2000" dirty="0"/>
              <a:t>. </a:t>
            </a:r>
            <a:endParaRPr lang="en-US" altLang="ko-KR" sz="2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62598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3207CC6-EAA1-4BFF-A48A-DECAD8972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B234A3DD-923D-4166-8B19-7DD58990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6925" y="-479"/>
            <a:ext cx="9468701" cy="6858478"/>
          </a:xfrm>
          <a:custGeom>
            <a:avLst/>
            <a:gdLst>
              <a:gd name="connsiteX0" fmla="*/ 0 w 8078051"/>
              <a:gd name="connsiteY0" fmla="*/ 0 h 5829300"/>
              <a:gd name="connsiteX1" fmla="*/ 4453793 w 8078051"/>
              <a:gd name="connsiteY1" fmla="*/ 0 h 5829300"/>
              <a:gd name="connsiteX2" fmla="*/ 5363426 w 8078051"/>
              <a:gd name="connsiteY2" fmla="*/ 0 h 5829300"/>
              <a:gd name="connsiteX3" fmla="*/ 5368184 w 8078051"/>
              <a:gd name="connsiteY3" fmla="*/ 0 h 5829300"/>
              <a:gd name="connsiteX4" fmla="*/ 8078051 w 8078051"/>
              <a:gd name="connsiteY4" fmla="*/ 5829300 h 5829300"/>
              <a:gd name="connsiteX5" fmla="*/ 1743926 w 8078051"/>
              <a:gd name="connsiteY5" fmla="*/ 5829300 h 5829300"/>
              <a:gd name="connsiteX6" fmla="*/ 1744148 w 8078051"/>
              <a:gd name="connsiteY6" fmla="*/ 5828822 h 5829300"/>
              <a:gd name="connsiteX7" fmla="*/ 0 w 8078051"/>
              <a:gd name="connsiteY7" fmla="*/ 5828822 h 582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078051" h="5829300">
                <a:moveTo>
                  <a:pt x="0" y="0"/>
                </a:moveTo>
                <a:lnTo>
                  <a:pt x="4453793" y="0"/>
                </a:lnTo>
                <a:lnTo>
                  <a:pt x="5363426" y="0"/>
                </a:lnTo>
                <a:lnTo>
                  <a:pt x="5368184" y="0"/>
                </a:lnTo>
                <a:lnTo>
                  <a:pt x="8078051" y="5829300"/>
                </a:lnTo>
                <a:lnTo>
                  <a:pt x="1743926" y="5829300"/>
                </a:lnTo>
                <a:lnTo>
                  <a:pt x="1744148" y="5828822"/>
                </a:lnTo>
                <a:lnTo>
                  <a:pt x="0" y="5828822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6">
            <a:extLst>
              <a:ext uri="{FF2B5EF4-FFF2-40B4-BE49-F238E27FC236}">
                <a16:creationId xmlns:a16="http://schemas.microsoft.com/office/drawing/2014/main" id="{F6ACA5AC-3C5D-4994-B40F-FC8349E4D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79"/>
            <a:ext cx="9324977" cy="6858479"/>
          </a:xfrm>
          <a:custGeom>
            <a:avLst/>
            <a:gdLst>
              <a:gd name="connsiteX0" fmla="*/ 1246925 w 9324977"/>
              <a:gd name="connsiteY0" fmla="*/ 0 h 6858479"/>
              <a:gd name="connsiteX1" fmla="*/ 5076797 w 9324977"/>
              <a:gd name="connsiteY1" fmla="*/ 0 h 6858479"/>
              <a:gd name="connsiteX2" fmla="*/ 6143025 w 9324977"/>
              <a:gd name="connsiteY2" fmla="*/ 0 h 6858479"/>
              <a:gd name="connsiteX3" fmla="*/ 6148602 w 9324977"/>
              <a:gd name="connsiteY3" fmla="*/ 0 h 6858479"/>
              <a:gd name="connsiteX4" fmla="*/ 9324977 w 9324977"/>
              <a:gd name="connsiteY4" fmla="*/ 6858478 h 6858479"/>
              <a:gd name="connsiteX5" fmla="*/ 3359025 w 9324977"/>
              <a:gd name="connsiteY5" fmla="*/ 6858478 h 6858479"/>
              <a:gd name="connsiteX6" fmla="*/ 3359025 w 9324977"/>
              <a:gd name="connsiteY6" fmla="*/ 6858479 h 6858479"/>
              <a:gd name="connsiteX7" fmla="*/ 0 w 9324977"/>
              <a:gd name="connsiteY7" fmla="*/ 6858479 h 6858479"/>
              <a:gd name="connsiteX8" fmla="*/ 0 w 9324977"/>
              <a:gd name="connsiteY8" fmla="*/ 479 h 6858479"/>
              <a:gd name="connsiteX9" fmla="*/ 1246925 w 9324977"/>
              <a:gd name="connsiteY9" fmla="*/ 479 h 6858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24977" h="6858479">
                <a:moveTo>
                  <a:pt x="1246925" y="0"/>
                </a:moveTo>
                <a:lnTo>
                  <a:pt x="5076797" y="0"/>
                </a:lnTo>
                <a:lnTo>
                  <a:pt x="6143025" y="0"/>
                </a:lnTo>
                <a:lnTo>
                  <a:pt x="6148602" y="0"/>
                </a:lnTo>
                <a:lnTo>
                  <a:pt x="9324977" y="6858478"/>
                </a:lnTo>
                <a:lnTo>
                  <a:pt x="3359025" y="6858478"/>
                </a:lnTo>
                <a:lnTo>
                  <a:pt x="3359025" y="6858479"/>
                </a:lnTo>
                <a:lnTo>
                  <a:pt x="0" y="6858479"/>
                </a:lnTo>
                <a:lnTo>
                  <a:pt x="0" y="479"/>
                </a:lnTo>
                <a:lnTo>
                  <a:pt x="1246925" y="479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D25FC90-B828-4335-9804-6C65BAE1E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1" y="970059"/>
            <a:ext cx="6405753" cy="5470497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latinLnBrk="0"/>
            <a:r>
              <a:rPr lang="ko-KR" altLang="en-US" sz="2000" dirty="0">
                <a:solidFill>
                  <a:srgbClr val="FFFF00"/>
                </a:solidFill>
              </a:rPr>
              <a:t>라우팅 알고리즘</a:t>
            </a:r>
            <a:br>
              <a:rPr lang="en-US" altLang="ko-KR" sz="2000" dirty="0"/>
            </a:br>
            <a:br>
              <a:rPr lang="en-US" altLang="ko-KR" sz="2000" dirty="0">
                <a:solidFill>
                  <a:srgbClr val="FFFF00"/>
                </a:solidFill>
              </a:rPr>
            </a:br>
            <a:r>
              <a:rPr lang="en-US" altLang="ko-KR" sz="2000" dirty="0">
                <a:solidFill>
                  <a:srgbClr val="FFFF00"/>
                </a:solidFill>
              </a:rPr>
              <a:t> </a:t>
            </a:r>
            <a:r>
              <a:rPr lang="ko-KR" altLang="en-US" sz="2000" dirty="0"/>
              <a:t>자신의 라우팅 테이블을 가지고 있으면서 자기가 찾아갈 경로에 대한 정보를 이곳에 </a:t>
            </a:r>
            <a:r>
              <a:rPr lang="ko-KR" altLang="en-US" sz="2000" dirty="0" err="1"/>
              <a:t>기억해둠</a:t>
            </a:r>
            <a:r>
              <a:rPr lang="en-US" altLang="ko-KR" sz="2000" dirty="0"/>
              <a:t>.</a:t>
            </a:r>
            <a:br>
              <a:rPr lang="en-US" altLang="ko-KR" sz="2000" dirty="0"/>
            </a:br>
            <a:br>
              <a:rPr lang="en-US" altLang="ko-KR" sz="2000" dirty="0"/>
            </a:br>
            <a:br>
              <a:rPr lang="en-US" altLang="ko-KR" sz="2000" dirty="0">
                <a:solidFill>
                  <a:srgbClr val="FFFF00"/>
                </a:solidFill>
              </a:rPr>
            </a:br>
            <a:r>
              <a:rPr lang="en-US" altLang="ko-KR" sz="2000" dirty="0">
                <a:solidFill>
                  <a:srgbClr val="FFFF00"/>
                </a:solidFill>
              </a:rPr>
              <a:t>* </a:t>
            </a:r>
            <a:r>
              <a:rPr lang="ko-KR" altLang="en-US" sz="2000" dirty="0" err="1">
                <a:solidFill>
                  <a:srgbClr val="FFFF00"/>
                </a:solidFill>
              </a:rPr>
              <a:t>스태틱</a:t>
            </a:r>
            <a:r>
              <a:rPr lang="ko-KR" altLang="en-US" sz="2000" dirty="0">
                <a:solidFill>
                  <a:srgbClr val="FFFF00"/>
                </a:solidFill>
              </a:rPr>
              <a:t> 라우팅 프로토콜 </a:t>
            </a:r>
            <a:r>
              <a:rPr lang="en-US" altLang="ko-KR" sz="2000" dirty="0">
                <a:solidFill>
                  <a:srgbClr val="FFFF00"/>
                </a:solidFill>
              </a:rPr>
              <a:t>(Static) </a:t>
            </a:r>
            <a:br>
              <a:rPr lang="en-US" altLang="ko-KR" sz="2000" dirty="0"/>
            </a:br>
            <a:r>
              <a:rPr lang="en-US" altLang="ko-KR" sz="2000" dirty="0"/>
              <a:t>▪ </a:t>
            </a:r>
            <a:r>
              <a:rPr lang="ko-KR" altLang="en-US" sz="2000" dirty="0"/>
              <a:t>라우터에 사람이 일일이 경로를 입력해줌</a:t>
            </a:r>
            <a:r>
              <a:rPr lang="en-US" altLang="ko-KR" sz="2000" dirty="0"/>
              <a:t>. </a:t>
            </a:r>
            <a:br>
              <a:rPr lang="en-US" altLang="ko-KR" sz="2000" dirty="0"/>
            </a:br>
            <a:br>
              <a:rPr lang="en-US" altLang="ko-KR" sz="2000" dirty="0"/>
            </a:br>
            <a:r>
              <a:rPr lang="en-US" altLang="ko-KR" sz="2000" dirty="0"/>
              <a:t>▪ </a:t>
            </a:r>
            <a:r>
              <a:rPr lang="ko-KR" altLang="en-US" sz="2000" dirty="0"/>
              <a:t>속도 빠르고 보안에 강함 메모리도</a:t>
            </a:r>
            <a:r>
              <a:rPr lang="en-US" altLang="ko-KR" sz="2000" dirty="0"/>
              <a:t> </a:t>
            </a:r>
            <a:r>
              <a:rPr lang="ko-KR" altLang="en-US" sz="2000" dirty="0"/>
              <a:t>적게 </a:t>
            </a:r>
            <a:r>
              <a:rPr lang="ko-KR" altLang="en-US" sz="2000" dirty="0" err="1"/>
              <a:t>듬</a:t>
            </a:r>
            <a:r>
              <a:rPr lang="ko-KR" altLang="en-US" sz="2000" dirty="0"/>
              <a:t> </a:t>
            </a:r>
            <a:r>
              <a:rPr lang="en-US" altLang="ko-KR" sz="2000" dirty="0"/>
              <a:t>.</a:t>
            </a:r>
            <a:br>
              <a:rPr lang="en-US" altLang="ko-KR" sz="2000" dirty="0"/>
            </a:br>
            <a:r>
              <a:rPr lang="en-US" altLang="ko-KR" sz="2000" dirty="0"/>
              <a:t> </a:t>
            </a:r>
            <a:br>
              <a:rPr lang="en-US" altLang="ko-KR" sz="2000" dirty="0"/>
            </a:br>
            <a:r>
              <a:rPr lang="en-US" altLang="ko-KR" sz="2000" dirty="0"/>
              <a:t>▪ </a:t>
            </a:r>
            <a:r>
              <a:rPr lang="ko-KR" altLang="en-US" sz="2000" dirty="0"/>
              <a:t>손수 작업해서 번거로울 뿐 아니라 한 번 잘못되면 큰일이 발생 </a:t>
            </a:r>
            <a:br>
              <a:rPr lang="en-US" altLang="ko-KR" sz="2000" dirty="0"/>
            </a:br>
            <a:br>
              <a:rPr lang="en-US" altLang="ko-KR" sz="2000" dirty="0"/>
            </a:br>
            <a:br>
              <a:rPr lang="en-US" altLang="ko-KR" sz="2000" dirty="0"/>
            </a:br>
            <a:r>
              <a:rPr lang="en-US" altLang="ko-KR" sz="2000" dirty="0">
                <a:solidFill>
                  <a:srgbClr val="FFFF00"/>
                </a:solidFill>
              </a:rPr>
              <a:t>* </a:t>
            </a:r>
            <a:r>
              <a:rPr lang="ko-KR" altLang="en-US" sz="2000" dirty="0">
                <a:solidFill>
                  <a:srgbClr val="FFFF00"/>
                </a:solidFill>
              </a:rPr>
              <a:t>다이나믹 라우팅 프로토콜 </a:t>
            </a:r>
            <a:r>
              <a:rPr lang="en-US" altLang="ko-KR" sz="2000" dirty="0">
                <a:solidFill>
                  <a:srgbClr val="FFFF00"/>
                </a:solidFill>
              </a:rPr>
              <a:t>(Dynamic)</a:t>
            </a:r>
            <a:r>
              <a:rPr lang="en-US" altLang="ko-KR" sz="2000" dirty="0"/>
              <a:t> </a:t>
            </a:r>
            <a:br>
              <a:rPr lang="en-US" altLang="ko-KR" sz="2000" dirty="0"/>
            </a:br>
            <a:r>
              <a:rPr lang="en-US" altLang="ko-KR" sz="2000" dirty="0"/>
              <a:t>▪ </a:t>
            </a:r>
            <a:r>
              <a:rPr lang="ko-KR" altLang="en-US" sz="2000" dirty="0"/>
              <a:t>자기 판단에 따라 지정하여 편리하다 </a:t>
            </a:r>
            <a:br>
              <a:rPr lang="en-US" altLang="ko-KR" sz="2000" dirty="0"/>
            </a:br>
            <a:br>
              <a:rPr lang="en-US" altLang="ko-KR" sz="2000" dirty="0"/>
            </a:br>
            <a:r>
              <a:rPr lang="ko-KR" altLang="en-US" sz="2000" dirty="0"/>
              <a:t>▪ 라우터에 부담을 주고 속도가 </a:t>
            </a:r>
            <a:r>
              <a:rPr lang="en-US" altLang="ko-KR" sz="2000" dirty="0"/>
              <a:t>Static </a:t>
            </a:r>
            <a:r>
              <a:rPr lang="ko-KR" altLang="en-US" sz="2000" dirty="0"/>
              <a:t>에 비해 느리다</a:t>
            </a:r>
            <a:r>
              <a:rPr lang="en-US" altLang="ko-KR" sz="2000" dirty="0"/>
              <a:t>.</a:t>
            </a:r>
            <a:br>
              <a:rPr lang="en-US" altLang="ko-KR" sz="2000" dirty="0"/>
            </a:br>
            <a:r>
              <a:rPr lang="en-US" altLang="ko-KR" sz="2000" dirty="0"/>
              <a:t>	▪ RIP, IGRP, OSPF, EIGRP </a:t>
            </a:r>
            <a:endParaRPr lang="en-US" altLang="ko-KR" sz="2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3051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3207CC6-EAA1-4BFF-A48A-DECAD8972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B234A3DD-923D-4166-8B19-7DD58990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6925" y="-479"/>
            <a:ext cx="9468701" cy="6858478"/>
          </a:xfrm>
          <a:custGeom>
            <a:avLst/>
            <a:gdLst>
              <a:gd name="connsiteX0" fmla="*/ 0 w 8078051"/>
              <a:gd name="connsiteY0" fmla="*/ 0 h 5829300"/>
              <a:gd name="connsiteX1" fmla="*/ 4453793 w 8078051"/>
              <a:gd name="connsiteY1" fmla="*/ 0 h 5829300"/>
              <a:gd name="connsiteX2" fmla="*/ 5363426 w 8078051"/>
              <a:gd name="connsiteY2" fmla="*/ 0 h 5829300"/>
              <a:gd name="connsiteX3" fmla="*/ 5368184 w 8078051"/>
              <a:gd name="connsiteY3" fmla="*/ 0 h 5829300"/>
              <a:gd name="connsiteX4" fmla="*/ 8078051 w 8078051"/>
              <a:gd name="connsiteY4" fmla="*/ 5829300 h 5829300"/>
              <a:gd name="connsiteX5" fmla="*/ 1743926 w 8078051"/>
              <a:gd name="connsiteY5" fmla="*/ 5829300 h 5829300"/>
              <a:gd name="connsiteX6" fmla="*/ 1744148 w 8078051"/>
              <a:gd name="connsiteY6" fmla="*/ 5828822 h 5829300"/>
              <a:gd name="connsiteX7" fmla="*/ 0 w 8078051"/>
              <a:gd name="connsiteY7" fmla="*/ 5828822 h 582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078051" h="5829300">
                <a:moveTo>
                  <a:pt x="0" y="0"/>
                </a:moveTo>
                <a:lnTo>
                  <a:pt x="4453793" y="0"/>
                </a:lnTo>
                <a:lnTo>
                  <a:pt x="5363426" y="0"/>
                </a:lnTo>
                <a:lnTo>
                  <a:pt x="5368184" y="0"/>
                </a:lnTo>
                <a:lnTo>
                  <a:pt x="8078051" y="5829300"/>
                </a:lnTo>
                <a:lnTo>
                  <a:pt x="1743926" y="5829300"/>
                </a:lnTo>
                <a:lnTo>
                  <a:pt x="1744148" y="5828822"/>
                </a:lnTo>
                <a:lnTo>
                  <a:pt x="0" y="5828822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6">
            <a:extLst>
              <a:ext uri="{FF2B5EF4-FFF2-40B4-BE49-F238E27FC236}">
                <a16:creationId xmlns:a16="http://schemas.microsoft.com/office/drawing/2014/main" id="{F6ACA5AC-3C5D-4994-B40F-FC8349E4D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79"/>
            <a:ext cx="9324977" cy="6858479"/>
          </a:xfrm>
          <a:custGeom>
            <a:avLst/>
            <a:gdLst>
              <a:gd name="connsiteX0" fmla="*/ 1246925 w 9324977"/>
              <a:gd name="connsiteY0" fmla="*/ 0 h 6858479"/>
              <a:gd name="connsiteX1" fmla="*/ 5076797 w 9324977"/>
              <a:gd name="connsiteY1" fmla="*/ 0 h 6858479"/>
              <a:gd name="connsiteX2" fmla="*/ 6143025 w 9324977"/>
              <a:gd name="connsiteY2" fmla="*/ 0 h 6858479"/>
              <a:gd name="connsiteX3" fmla="*/ 6148602 w 9324977"/>
              <a:gd name="connsiteY3" fmla="*/ 0 h 6858479"/>
              <a:gd name="connsiteX4" fmla="*/ 9324977 w 9324977"/>
              <a:gd name="connsiteY4" fmla="*/ 6858478 h 6858479"/>
              <a:gd name="connsiteX5" fmla="*/ 3359025 w 9324977"/>
              <a:gd name="connsiteY5" fmla="*/ 6858478 h 6858479"/>
              <a:gd name="connsiteX6" fmla="*/ 3359025 w 9324977"/>
              <a:gd name="connsiteY6" fmla="*/ 6858479 h 6858479"/>
              <a:gd name="connsiteX7" fmla="*/ 0 w 9324977"/>
              <a:gd name="connsiteY7" fmla="*/ 6858479 h 6858479"/>
              <a:gd name="connsiteX8" fmla="*/ 0 w 9324977"/>
              <a:gd name="connsiteY8" fmla="*/ 479 h 6858479"/>
              <a:gd name="connsiteX9" fmla="*/ 1246925 w 9324977"/>
              <a:gd name="connsiteY9" fmla="*/ 479 h 6858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24977" h="6858479">
                <a:moveTo>
                  <a:pt x="1246925" y="0"/>
                </a:moveTo>
                <a:lnTo>
                  <a:pt x="5076797" y="0"/>
                </a:lnTo>
                <a:lnTo>
                  <a:pt x="6143025" y="0"/>
                </a:lnTo>
                <a:lnTo>
                  <a:pt x="6148602" y="0"/>
                </a:lnTo>
                <a:lnTo>
                  <a:pt x="9324977" y="6858478"/>
                </a:lnTo>
                <a:lnTo>
                  <a:pt x="3359025" y="6858478"/>
                </a:lnTo>
                <a:lnTo>
                  <a:pt x="3359025" y="6858479"/>
                </a:lnTo>
                <a:lnTo>
                  <a:pt x="0" y="6858479"/>
                </a:lnTo>
                <a:lnTo>
                  <a:pt x="0" y="479"/>
                </a:lnTo>
                <a:lnTo>
                  <a:pt x="1246925" y="479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0BD02FB-DE6B-42BA-A2DD-F9EE64BE0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1" y="691763"/>
            <a:ext cx="6405753" cy="60429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latinLnBrk="0"/>
            <a:r>
              <a:rPr lang="ko-KR" altLang="en-US" sz="2000" dirty="0">
                <a:solidFill>
                  <a:srgbClr val="FFFF00"/>
                </a:solidFill>
              </a:rPr>
              <a:t>라우팅 테이블 </a:t>
            </a:r>
            <a:br>
              <a:rPr lang="en-US" altLang="ko-KR" sz="2000" dirty="0"/>
            </a:br>
            <a:br>
              <a:rPr lang="en-US" altLang="ko-KR" sz="2000" dirty="0"/>
            </a:br>
            <a:r>
              <a:rPr lang="ko-KR" altLang="en-US" sz="2000" dirty="0"/>
              <a:t>▪ 라우터는 라우팅 테이블이라는 경로에 대한 지도 정보를 유지함 </a:t>
            </a:r>
            <a:br>
              <a:rPr lang="en-US" altLang="ko-KR" sz="2000" dirty="0"/>
            </a:br>
            <a:br>
              <a:rPr lang="en-US" altLang="ko-KR" sz="2000" dirty="0"/>
            </a:br>
            <a:r>
              <a:rPr lang="ko-KR" altLang="en-US" sz="2000" dirty="0"/>
              <a:t>▪ </a:t>
            </a:r>
            <a:r>
              <a:rPr lang="en-US" altLang="ko-KR" sz="2000" dirty="0"/>
              <a:t>RAM</a:t>
            </a:r>
            <a:r>
              <a:rPr lang="ko-KR" altLang="en-US" sz="2000" dirty="0"/>
              <a:t>에 올라가기 때문에 파워가 꺼지면 소멸 </a:t>
            </a:r>
            <a:br>
              <a:rPr lang="en-US" altLang="ko-KR" sz="2000" dirty="0"/>
            </a:br>
            <a:br>
              <a:rPr lang="en-US" altLang="ko-KR" sz="2000" dirty="0"/>
            </a:br>
            <a:r>
              <a:rPr lang="en-US" altLang="ko-KR" sz="2000" dirty="0">
                <a:solidFill>
                  <a:srgbClr val="FFFF00"/>
                </a:solidFill>
              </a:rPr>
              <a:t>AS(Autonomous System)</a:t>
            </a:r>
            <a:br>
              <a:rPr lang="en-US" altLang="ko-KR" sz="2000" dirty="0">
                <a:solidFill>
                  <a:srgbClr val="FFFF00"/>
                </a:solidFill>
              </a:rPr>
            </a:br>
            <a:br>
              <a:rPr lang="en-US" altLang="ko-KR" sz="2000" dirty="0">
                <a:solidFill>
                  <a:srgbClr val="FFFF00"/>
                </a:solidFill>
              </a:rPr>
            </a:br>
            <a:r>
              <a:rPr lang="en-US" altLang="ko-KR" sz="2000" dirty="0"/>
              <a:t> ▪ </a:t>
            </a:r>
            <a:r>
              <a:rPr lang="ko-KR" altLang="en-US" sz="2000" dirty="0"/>
              <a:t>하나의 네트워크 관리자에 의해서 관리되는 라우터들의 집단 </a:t>
            </a:r>
            <a:br>
              <a:rPr lang="en-US" altLang="ko-KR" sz="2000" dirty="0"/>
            </a:br>
            <a:br>
              <a:rPr lang="en-US" altLang="ko-KR" sz="2000" dirty="0"/>
            </a:br>
            <a:r>
              <a:rPr lang="en-US" altLang="ko-KR" sz="2000" dirty="0"/>
              <a:t>▪ </a:t>
            </a:r>
            <a:r>
              <a:rPr lang="ko-KR" altLang="en-US" sz="2000" dirty="0"/>
              <a:t>라우터를 라는 그룹으로 묶는 이유는 라우터 정보를 효율적으로 관리하기 위함 </a:t>
            </a:r>
            <a:r>
              <a:rPr lang="en-US" altLang="ko-KR" sz="2000" dirty="0"/>
              <a:t> </a:t>
            </a:r>
            <a:br>
              <a:rPr lang="en-US" altLang="ko-KR" sz="2000" dirty="0"/>
            </a:br>
            <a:br>
              <a:rPr lang="en-US" altLang="ko-KR" sz="2000" dirty="0"/>
            </a:br>
            <a:r>
              <a:rPr lang="en-US" altLang="ko-KR" sz="2000" dirty="0"/>
              <a:t>▪ </a:t>
            </a:r>
            <a:r>
              <a:rPr lang="ko-KR" altLang="en-US" sz="2000" dirty="0"/>
              <a:t>외부 즉  </a:t>
            </a:r>
            <a:r>
              <a:rPr lang="en-US" altLang="ko-KR" sz="2000" dirty="0"/>
              <a:t>AS </a:t>
            </a:r>
            <a:r>
              <a:rPr lang="ko-KR" altLang="en-US" sz="2000" dirty="0"/>
              <a:t>밖으로 나갈 때는 문지기 라우터에게 정보를 물어보고 밖 </a:t>
            </a:r>
            <a:r>
              <a:rPr lang="en-US" altLang="ko-KR" sz="2000" dirty="0"/>
              <a:t>(</a:t>
            </a:r>
            <a:r>
              <a:rPr lang="ko-KR" altLang="en-US" sz="2000" dirty="0"/>
              <a:t>인터넷</a:t>
            </a:r>
            <a:r>
              <a:rPr lang="en-US" altLang="ko-KR" sz="2000" dirty="0"/>
              <a:t>)</a:t>
            </a:r>
            <a:r>
              <a:rPr lang="ko-KR" altLang="en-US" sz="2000" dirty="0"/>
              <a:t> 으로 나감</a:t>
            </a:r>
            <a:r>
              <a:rPr lang="en-US" altLang="ko-KR" sz="2000" dirty="0"/>
              <a:t>.</a:t>
            </a:r>
            <a:br>
              <a:rPr lang="en-US" altLang="ko-KR" sz="2000" dirty="0"/>
            </a:br>
            <a:br>
              <a:rPr lang="en-US" altLang="ko-KR" sz="2000" dirty="0"/>
            </a:br>
            <a:r>
              <a:rPr lang="en-US" altLang="ko-KR" sz="2000" dirty="0"/>
              <a:t>AS </a:t>
            </a:r>
            <a:r>
              <a:rPr lang="ko-KR" altLang="en-US" sz="2000" dirty="0"/>
              <a:t>내부 사용 라우팅 프로토콜 </a:t>
            </a:r>
            <a:r>
              <a:rPr lang="en-US" altLang="ko-KR" sz="2000" dirty="0"/>
              <a:t>(IGP) : RIP, IGRP, EIGRP, OSPF </a:t>
            </a:r>
            <a:br>
              <a:rPr lang="en-US" altLang="ko-KR" sz="2000" dirty="0"/>
            </a:br>
            <a:r>
              <a:rPr lang="en-US" altLang="ko-KR" sz="2000" dirty="0"/>
              <a:t>AS</a:t>
            </a:r>
            <a:r>
              <a:rPr lang="ko-KR" altLang="en-US" sz="2000" dirty="0"/>
              <a:t> 외부 사용 라우팅 프로토콜 </a:t>
            </a:r>
            <a:r>
              <a:rPr lang="en-US" altLang="ko-KR" sz="2000" dirty="0"/>
              <a:t>(EGP) : EGP, BGP </a:t>
            </a:r>
            <a:endParaRPr lang="en-US" altLang="ko-KR" sz="2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43201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3207CC6-EAA1-4BFF-A48A-DECAD8972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B234A3DD-923D-4166-8B19-7DD58990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6925" y="-479"/>
            <a:ext cx="9468701" cy="6858478"/>
          </a:xfrm>
          <a:custGeom>
            <a:avLst/>
            <a:gdLst>
              <a:gd name="connsiteX0" fmla="*/ 0 w 8078051"/>
              <a:gd name="connsiteY0" fmla="*/ 0 h 5829300"/>
              <a:gd name="connsiteX1" fmla="*/ 4453793 w 8078051"/>
              <a:gd name="connsiteY1" fmla="*/ 0 h 5829300"/>
              <a:gd name="connsiteX2" fmla="*/ 5363426 w 8078051"/>
              <a:gd name="connsiteY2" fmla="*/ 0 h 5829300"/>
              <a:gd name="connsiteX3" fmla="*/ 5368184 w 8078051"/>
              <a:gd name="connsiteY3" fmla="*/ 0 h 5829300"/>
              <a:gd name="connsiteX4" fmla="*/ 8078051 w 8078051"/>
              <a:gd name="connsiteY4" fmla="*/ 5829300 h 5829300"/>
              <a:gd name="connsiteX5" fmla="*/ 1743926 w 8078051"/>
              <a:gd name="connsiteY5" fmla="*/ 5829300 h 5829300"/>
              <a:gd name="connsiteX6" fmla="*/ 1744148 w 8078051"/>
              <a:gd name="connsiteY6" fmla="*/ 5828822 h 5829300"/>
              <a:gd name="connsiteX7" fmla="*/ 0 w 8078051"/>
              <a:gd name="connsiteY7" fmla="*/ 5828822 h 582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078051" h="5829300">
                <a:moveTo>
                  <a:pt x="0" y="0"/>
                </a:moveTo>
                <a:lnTo>
                  <a:pt x="4453793" y="0"/>
                </a:lnTo>
                <a:lnTo>
                  <a:pt x="5363426" y="0"/>
                </a:lnTo>
                <a:lnTo>
                  <a:pt x="5368184" y="0"/>
                </a:lnTo>
                <a:lnTo>
                  <a:pt x="8078051" y="5829300"/>
                </a:lnTo>
                <a:lnTo>
                  <a:pt x="1743926" y="5829300"/>
                </a:lnTo>
                <a:lnTo>
                  <a:pt x="1744148" y="5828822"/>
                </a:lnTo>
                <a:lnTo>
                  <a:pt x="0" y="5828822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6">
            <a:extLst>
              <a:ext uri="{FF2B5EF4-FFF2-40B4-BE49-F238E27FC236}">
                <a16:creationId xmlns:a16="http://schemas.microsoft.com/office/drawing/2014/main" id="{F6ACA5AC-3C5D-4994-B40F-FC8349E4D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79"/>
            <a:ext cx="9324977" cy="6858479"/>
          </a:xfrm>
          <a:custGeom>
            <a:avLst/>
            <a:gdLst>
              <a:gd name="connsiteX0" fmla="*/ 1246925 w 9324977"/>
              <a:gd name="connsiteY0" fmla="*/ 0 h 6858479"/>
              <a:gd name="connsiteX1" fmla="*/ 5076797 w 9324977"/>
              <a:gd name="connsiteY1" fmla="*/ 0 h 6858479"/>
              <a:gd name="connsiteX2" fmla="*/ 6143025 w 9324977"/>
              <a:gd name="connsiteY2" fmla="*/ 0 h 6858479"/>
              <a:gd name="connsiteX3" fmla="*/ 6148602 w 9324977"/>
              <a:gd name="connsiteY3" fmla="*/ 0 h 6858479"/>
              <a:gd name="connsiteX4" fmla="*/ 9324977 w 9324977"/>
              <a:gd name="connsiteY4" fmla="*/ 6858478 h 6858479"/>
              <a:gd name="connsiteX5" fmla="*/ 3359025 w 9324977"/>
              <a:gd name="connsiteY5" fmla="*/ 6858478 h 6858479"/>
              <a:gd name="connsiteX6" fmla="*/ 3359025 w 9324977"/>
              <a:gd name="connsiteY6" fmla="*/ 6858479 h 6858479"/>
              <a:gd name="connsiteX7" fmla="*/ 0 w 9324977"/>
              <a:gd name="connsiteY7" fmla="*/ 6858479 h 6858479"/>
              <a:gd name="connsiteX8" fmla="*/ 0 w 9324977"/>
              <a:gd name="connsiteY8" fmla="*/ 479 h 6858479"/>
              <a:gd name="connsiteX9" fmla="*/ 1246925 w 9324977"/>
              <a:gd name="connsiteY9" fmla="*/ 479 h 6858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24977" h="6858479">
                <a:moveTo>
                  <a:pt x="1246925" y="0"/>
                </a:moveTo>
                <a:lnTo>
                  <a:pt x="5076797" y="0"/>
                </a:lnTo>
                <a:lnTo>
                  <a:pt x="6143025" y="0"/>
                </a:lnTo>
                <a:lnTo>
                  <a:pt x="6148602" y="0"/>
                </a:lnTo>
                <a:lnTo>
                  <a:pt x="9324977" y="6858478"/>
                </a:lnTo>
                <a:lnTo>
                  <a:pt x="3359025" y="6858478"/>
                </a:lnTo>
                <a:lnTo>
                  <a:pt x="3359025" y="6858479"/>
                </a:lnTo>
                <a:lnTo>
                  <a:pt x="0" y="6858479"/>
                </a:lnTo>
                <a:lnTo>
                  <a:pt x="0" y="479"/>
                </a:lnTo>
                <a:lnTo>
                  <a:pt x="1246925" y="479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ACC56A5-6CE0-4DBB-84B0-8D861075A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1" y="628154"/>
            <a:ext cx="6405753" cy="57249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latinLnBrk="0"/>
            <a:r>
              <a:rPr lang="en-US" altLang="ko-KR" sz="2400" dirty="0" err="1">
                <a:solidFill>
                  <a:srgbClr val="FFFF00"/>
                </a:solidFill>
              </a:rPr>
              <a:t>Disatance</a:t>
            </a:r>
            <a:r>
              <a:rPr lang="en-US" altLang="ko-KR" sz="2400" dirty="0">
                <a:solidFill>
                  <a:srgbClr val="FFFF00"/>
                </a:solidFill>
              </a:rPr>
              <a:t> Vector </a:t>
            </a:r>
            <a:br>
              <a:rPr lang="en-US" altLang="ko-KR" sz="2000" dirty="0"/>
            </a:br>
            <a:br>
              <a:rPr lang="en-US" altLang="ko-KR" sz="2000" dirty="0"/>
            </a:br>
            <a:r>
              <a:rPr lang="en-US" altLang="ko-KR" sz="2000" dirty="0"/>
              <a:t>▪ </a:t>
            </a:r>
            <a:r>
              <a:rPr lang="ko-KR" altLang="en-US" sz="2000" dirty="0"/>
              <a:t>거리와 방향만을 유지 이웃 라우터와 주기적으로 라우팅 테이블을 교환 </a:t>
            </a:r>
            <a:br>
              <a:rPr lang="en-US" altLang="ko-KR" sz="2000" dirty="0"/>
            </a:br>
            <a:br>
              <a:rPr lang="en-US" altLang="ko-KR" sz="2000" dirty="0"/>
            </a:br>
            <a:r>
              <a:rPr lang="en-US" altLang="ko-KR" sz="2000" dirty="0"/>
              <a:t>▪ </a:t>
            </a:r>
            <a:r>
              <a:rPr lang="ko-KR" altLang="en-US" sz="2000" dirty="0"/>
              <a:t>메모리가 적게 들고 구성이 쉽지만 링크 변동시에 인식 시간이 길고 네트워크 크기에 제한을 둠</a:t>
            </a:r>
            <a:r>
              <a:rPr lang="en-US" altLang="ko-KR" sz="2000" dirty="0"/>
              <a:t>.</a:t>
            </a:r>
            <a:br>
              <a:rPr lang="en-US" altLang="ko-KR" sz="2000" dirty="0"/>
            </a:br>
            <a:br>
              <a:rPr lang="en-US" altLang="ko-KR" sz="2000" dirty="0"/>
            </a:br>
            <a:r>
              <a:rPr lang="en-US" altLang="ko-KR" sz="2400" dirty="0">
                <a:solidFill>
                  <a:srgbClr val="FFFF00"/>
                </a:solidFill>
              </a:rPr>
              <a:t>Link State </a:t>
            </a:r>
            <a:br>
              <a:rPr lang="en-US" altLang="ko-KR" sz="2400" dirty="0">
                <a:solidFill>
                  <a:srgbClr val="FFFF00"/>
                </a:solidFill>
              </a:rPr>
            </a:br>
            <a:br>
              <a:rPr lang="en-US" altLang="ko-KR" sz="2000" dirty="0"/>
            </a:br>
            <a:r>
              <a:rPr lang="en-US" altLang="ko-KR" sz="2000" dirty="0"/>
              <a:t>▪ </a:t>
            </a:r>
            <a:r>
              <a:rPr lang="ko-KR" altLang="en-US" sz="2000" dirty="0"/>
              <a:t>한 목적지까지의 모든 경로 정보를 알고 있기 때문에 링크 변동에 따른 인식이 빠르다 </a:t>
            </a:r>
            <a:br>
              <a:rPr lang="en-US" altLang="ko-KR" sz="2000" dirty="0"/>
            </a:br>
            <a:br>
              <a:rPr lang="en-US" altLang="ko-KR" sz="2000" dirty="0"/>
            </a:br>
            <a:r>
              <a:rPr lang="ko-KR" altLang="en-US" sz="2000" dirty="0"/>
              <a:t>▪ 라우팅 테이블의 교환 주기가 길다 </a:t>
            </a:r>
            <a:br>
              <a:rPr lang="en-US" altLang="ko-KR" sz="2000" dirty="0"/>
            </a:br>
            <a:br>
              <a:rPr lang="en-US" altLang="ko-KR" sz="2000" dirty="0"/>
            </a:br>
            <a:r>
              <a:rPr lang="ko-KR" altLang="en-US" sz="2000" dirty="0"/>
              <a:t>▪ 링크 변동이 일어난 라우팅 테이블만 교환하기 때문에 트래픽이 적다</a:t>
            </a:r>
            <a:r>
              <a:rPr lang="en-US" altLang="ko-KR" sz="2000" dirty="0"/>
              <a:t>. </a:t>
            </a:r>
            <a:br>
              <a:rPr lang="en-US" altLang="ko-KR" sz="2000" dirty="0"/>
            </a:br>
            <a:br>
              <a:rPr lang="en-US" altLang="ko-KR" sz="2000" dirty="0"/>
            </a:br>
            <a:r>
              <a:rPr lang="en-US" altLang="ko-KR" sz="2000" dirty="0"/>
              <a:t>▪ </a:t>
            </a:r>
            <a:r>
              <a:rPr lang="ko-KR" altLang="en-US" sz="2000" dirty="0"/>
              <a:t>대형 네트워크에 적합하지만 메모리의 소모나 </a:t>
            </a:r>
            <a:r>
              <a:rPr lang="en-US" altLang="ko-KR" sz="2000" dirty="0"/>
              <a:t>, CPU </a:t>
            </a:r>
            <a:r>
              <a:rPr lang="ko-KR" altLang="en-US" sz="2000" dirty="0"/>
              <a:t>의 로드가 많다 </a:t>
            </a:r>
            <a:r>
              <a:rPr lang="en-US" altLang="ko-KR" sz="2000" dirty="0"/>
              <a:t>.</a:t>
            </a:r>
            <a:endParaRPr lang="en-US" altLang="ko-KR" sz="2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08503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3207CC6-EAA1-4BFF-A48A-DECAD8972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B234A3DD-923D-4166-8B19-7DD58990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6925" y="-479"/>
            <a:ext cx="9468701" cy="6858478"/>
          </a:xfrm>
          <a:custGeom>
            <a:avLst/>
            <a:gdLst>
              <a:gd name="connsiteX0" fmla="*/ 0 w 8078051"/>
              <a:gd name="connsiteY0" fmla="*/ 0 h 5829300"/>
              <a:gd name="connsiteX1" fmla="*/ 4453793 w 8078051"/>
              <a:gd name="connsiteY1" fmla="*/ 0 h 5829300"/>
              <a:gd name="connsiteX2" fmla="*/ 5363426 w 8078051"/>
              <a:gd name="connsiteY2" fmla="*/ 0 h 5829300"/>
              <a:gd name="connsiteX3" fmla="*/ 5368184 w 8078051"/>
              <a:gd name="connsiteY3" fmla="*/ 0 h 5829300"/>
              <a:gd name="connsiteX4" fmla="*/ 8078051 w 8078051"/>
              <a:gd name="connsiteY4" fmla="*/ 5829300 h 5829300"/>
              <a:gd name="connsiteX5" fmla="*/ 1743926 w 8078051"/>
              <a:gd name="connsiteY5" fmla="*/ 5829300 h 5829300"/>
              <a:gd name="connsiteX6" fmla="*/ 1744148 w 8078051"/>
              <a:gd name="connsiteY6" fmla="*/ 5828822 h 5829300"/>
              <a:gd name="connsiteX7" fmla="*/ 0 w 8078051"/>
              <a:gd name="connsiteY7" fmla="*/ 5828822 h 582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078051" h="5829300">
                <a:moveTo>
                  <a:pt x="0" y="0"/>
                </a:moveTo>
                <a:lnTo>
                  <a:pt x="4453793" y="0"/>
                </a:lnTo>
                <a:lnTo>
                  <a:pt x="5363426" y="0"/>
                </a:lnTo>
                <a:lnTo>
                  <a:pt x="5368184" y="0"/>
                </a:lnTo>
                <a:lnTo>
                  <a:pt x="8078051" y="5829300"/>
                </a:lnTo>
                <a:lnTo>
                  <a:pt x="1743926" y="5829300"/>
                </a:lnTo>
                <a:lnTo>
                  <a:pt x="1744148" y="5828822"/>
                </a:lnTo>
                <a:lnTo>
                  <a:pt x="0" y="5828822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6">
            <a:extLst>
              <a:ext uri="{FF2B5EF4-FFF2-40B4-BE49-F238E27FC236}">
                <a16:creationId xmlns:a16="http://schemas.microsoft.com/office/drawing/2014/main" id="{F6ACA5AC-3C5D-4994-B40F-FC8349E4D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79"/>
            <a:ext cx="9324977" cy="6858479"/>
          </a:xfrm>
          <a:custGeom>
            <a:avLst/>
            <a:gdLst>
              <a:gd name="connsiteX0" fmla="*/ 1246925 w 9324977"/>
              <a:gd name="connsiteY0" fmla="*/ 0 h 6858479"/>
              <a:gd name="connsiteX1" fmla="*/ 5076797 w 9324977"/>
              <a:gd name="connsiteY1" fmla="*/ 0 h 6858479"/>
              <a:gd name="connsiteX2" fmla="*/ 6143025 w 9324977"/>
              <a:gd name="connsiteY2" fmla="*/ 0 h 6858479"/>
              <a:gd name="connsiteX3" fmla="*/ 6148602 w 9324977"/>
              <a:gd name="connsiteY3" fmla="*/ 0 h 6858479"/>
              <a:gd name="connsiteX4" fmla="*/ 9324977 w 9324977"/>
              <a:gd name="connsiteY4" fmla="*/ 6858478 h 6858479"/>
              <a:gd name="connsiteX5" fmla="*/ 3359025 w 9324977"/>
              <a:gd name="connsiteY5" fmla="*/ 6858478 h 6858479"/>
              <a:gd name="connsiteX6" fmla="*/ 3359025 w 9324977"/>
              <a:gd name="connsiteY6" fmla="*/ 6858479 h 6858479"/>
              <a:gd name="connsiteX7" fmla="*/ 0 w 9324977"/>
              <a:gd name="connsiteY7" fmla="*/ 6858479 h 6858479"/>
              <a:gd name="connsiteX8" fmla="*/ 0 w 9324977"/>
              <a:gd name="connsiteY8" fmla="*/ 479 h 6858479"/>
              <a:gd name="connsiteX9" fmla="*/ 1246925 w 9324977"/>
              <a:gd name="connsiteY9" fmla="*/ 479 h 6858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24977" h="6858479">
                <a:moveTo>
                  <a:pt x="1246925" y="0"/>
                </a:moveTo>
                <a:lnTo>
                  <a:pt x="5076797" y="0"/>
                </a:lnTo>
                <a:lnTo>
                  <a:pt x="6143025" y="0"/>
                </a:lnTo>
                <a:lnTo>
                  <a:pt x="6148602" y="0"/>
                </a:lnTo>
                <a:lnTo>
                  <a:pt x="9324977" y="6858478"/>
                </a:lnTo>
                <a:lnTo>
                  <a:pt x="3359025" y="6858478"/>
                </a:lnTo>
                <a:lnTo>
                  <a:pt x="3359025" y="6858479"/>
                </a:lnTo>
                <a:lnTo>
                  <a:pt x="0" y="6858479"/>
                </a:lnTo>
                <a:lnTo>
                  <a:pt x="0" y="479"/>
                </a:lnTo>
                <a:lnTo>
                  <a:pt x="1246925" y="479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C19D65F-6DC4-4202-B740-F25578531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1" y="755374"/>
            <a:ext cx="6405753" cy="5597718"/>
          </a:xfrm>
        </p:spPr>
        <p:txBody>
          <a:bodyPr vert="horz" lIns="91440" tIns="45720" rIns="91440" bIns="45720" rtlCol="0" anchor="t">
            <a:normAutofit/>
          </a:bodyPr>
          <a:lstStyle/>
          <a:p>
            <a:pPr latinLnBrk="0"/>
            <a:r>
              <a:rPr lang="en-US" altLang="ko-KR" sz="2000" dirty="0">
                <a:solidFill>
                  <a:srgbClr val="FFFF00"/>
                </a:solidFill>
              </a:rPr>
              <a:t>CDP(Cisco Discovery Protocol) </a:t>
            </a:r>
            <a:br>
              <a:rPr lang="en-US" altLang="ko-KR" sz="2000" dirty="0">
                <a:solidFill>
                  <a:srgbClr val="FFFF00"/>
                </a:solidFill>
              </a:rPr>
            </a:br>
            <a:br>
              <a:rPr lang="en-US" altLang="ko-KR" sz="2000" dirty="0"/>
            </a:br>
            <a:r>
              <a:rPr lang="ko-KR" altLang="en-US" sz="2000" dirty="0"/>
              <a:t>시스코 에 연결된 장비를 찾아내는 역할을 함</a:t>
            </a:r>
            <a:r>
              <a:rPr lang="en-US" altLang="ko-KR" sz="2000" dirty="0"/>
              <a:t>.</a:t>
            </a:r>
            <a:br>
              <a:rPr lang="en-US" altLang="ko-KR" sz="2000" dirty="0"/>
            </a:br>
            <a:br>
              <a:rPr lang="en-US" altLang="ko-KR" sz="2000" dirty="0"/>
            </a:br>
            <a:r>
              <a:rPr lang="en-US" altLang="ko-KR" sz="2000" dirty="0"/>
              <a:t>▪ </a:t>
            </a:r>
            <a:r>
              <a:rPr lang="ko-KR" altLang="en-US" sz="2000" dirty="0"/>
              <a:t>장비의 이름과 같은 확인 정보 </a:t>
            </a:r>
            <a:br>
              <a:rPr lang="en-US" altLang="ko-KR" sz="2000" dirty="0"/>
            </a:br>
            <a:br>
              <a:rPr lang="en-US" altLang="ko-KR" sz="2000" dirty="0"/>
            </a:br>
            <a:br>
              <a:rPr lang="en-US" altLang="ko-KR" sz="1000" dirty="0"/>
            </a:br>
            <a:r>
              <a:rPr lang="ko-KR" altLang="en-US" sz="2000" dirty="0"/>
              <a:t>▪ </a:t>
            </a:r>
            <a:r>
              <a:rPr lang="en-US" altLang="ko-KR" sz="2000" dirty="0"/>
              <a:t>IP</a:t>
            </a:r>
            <a:r>
              <a:rPr lang="ko-KR" altLang="en-US" sz="2000" dirty="0"/>
              <a:t>주소와 같은 주소 정보 </a:t>
            </a:r>
            <a:br>
              <a:rPr lang="en-US" altLang="ko-KR" sz="2000" dirty="0"/>
            </a:br>
            <a:br>
              <a:rPr lang="en-US" altLang="ko-KR" sz="2000" dirty="0"/>
            </a:br>
            <a:br>
              <a:rPr lang="en-US" altLang="ko-KR" sz="1000" dirty="0"/>
            </a:br>
            <a:r>
              <a:rPr lang="ko-KR" altLang="en-US" sz="2000" dirty="0"/>
              <a:t>▪ 접속 포트에 대한 정보 </a:t>
            </a:r>
            <a:br>
              <a:rPr lang="en-US" altLang="ko-KR" sz="2000" dirty="0"/>
            </a:br>
            <a:br>
              <a:rPr lang="en-US" altLang="ko-KR" sz="2000" dirty="0"/>
            </a:br>
            <a:br>
              <a:rPr lang="en-US" altLang="ko-KR" sz="1000" dirty="0"/>
            </a:br>
            <a:r>
              <a:rPr lang="ko-KR" altLang="en-US" sz="2000" dirty="0"/>
              <a:t>▪ 접속 장비의 기능에 대한 정보 </a:t>
            </a:r>
            <a:br>
              <a:rPr lang="en-US" altLang="ko-KR" sz="2000" dirty="0"/>
            </a:br>
            <a:br>
              <a:rPr lang="en-US" altLang="ko-KR" sz="2000" dirty="0"/>
            </a:br>
            <a:br>
              <a:rPr lang="en-US" altLang="ko-KR" sz="1000" dirty="0"/>
            </a:br>
            <a:r>
              <a:rPr lang="ko-KR" altLang="en-US" sz="2000" dirty="0"/>
              <a:t>▪ 접속 장의 하드웨어 사양</a:t>
            </a:r>
            <a:br>
              <a:rPr lang="en-US" altLang="ko-KR" sz="2000" dirty="0"/>
            </a:br>
            <a:br>
              <a:rPr lang="en-US" altLang="ko-KR" sz="2000" dirty="0"/>
            </a:br>
            <a:endParaRPr lang="en-US" altLang="ko-KR" sz="2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85623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3207CC6-EAA1-4BFF-A48A-DECAD8972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B234A3DD-923D-4166-8B19-7DD58990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6925" y="-479"/>
            <a:ext cx="9468701" cy="6858478"/>
          </a:xfrm>
          <a:custGeom>
            <a:avLst/>
            <a:gdLst>
              <a:gd name="connsiteX0" fmla="*/ 0 w 8078051"/>
              <a:gd name="connsiteY0" fmla="*/ 0 h 5829300"/>
              <a:gd name="connsiteX1" fmla="*/ 4453793 w 8078051"/>
              <a:gd name="connsiteY1" fmla="*/ 0 h 5829300"/>
              <a:gd name="connsiteX2" fmla="*/ 5363426 w 8078051"/>
              <a:gd name="connsiteY2" fmla="*/ 0 h 5829300"/>
              <a:gd name="connsiteX3" fmla="*/ 5368184 w 8078051"/>
              <a:gd name="connsiteY3" fmla="*/ 0 h 5829300"/>
              <a:gd name="connsiteX4" fmla="*/ 8078051 w 8078051"/>
              <a:gd name="connsiteY4" fmla="*/ 5829300 h 5829300"/>
              <a:gd name="connsiteX5" fmla="*/ 1743926 w 8078051"/>
              <a:gd name="connsiteY5" fmla="*/ 5829300 h 5829300"/>
              <a:gd name="connsiteX6" fmla="*/ 1744148 w 8078051"/>
              <a:gd name="connsiteY6" fmla="*/ 5828822 h 5829300"/>
              <a:gd name="connsiteX7" fmla="*/ 0 w 8078051"/>
              <a:gd name="connsiteY7" fmla="*/ 5828822 h 582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078051" h="5829300">
                <a:moveTo>
                  <a:pt x="0" y="0"/>
                </a:moveTo>
                <a:lnTo>
                  <a:pt x="4453793" y="0"/>
                </a:lnTo>
                <a:lnTo>
                  <a:pt x="5363426" y="0"/>
                </a:lnTo>
                <a:lnTo>
                  <a:pt x="5368184" y="0"/>
                </a:lnTo>
                <a:lnTo>
                  <a:pt x="8078051" y="5829300"/>
                </a:lnTo>
                <a:lnTo>
                  <a:pt x="1743926" y="5829300"/>
                </a:lnTo>
                <a:lnTo>
                  <a:pt x="1744148" y="5828822"/>
                </a:lnTo>
                <a:lnTo>
                  <a:pt x="0" y="5828822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6">
            <a:extLst>
              <a:ext uri="{FF2B5EF4-FFF2-40B4-BE49-F238E27FC236}">
                <a16:creationId xmlns:a16="http://schemas.microsoft.com/office/drawing/2014/main" id="{F6ACA5AC-3C5D-4994-B40F-FC8349E4D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79"/>
            <a:ext cx="9324977" cy="6858479"/>
          </a:xfrm>
          <a:custGeom>
            <a:avLst/>
            <a:gdLst>
              <a:gd name="connsiteX0" fmla="*/ 1246925 w 9324977"/>
              <a:gd name="connsiteY0" fmla="*/ 0 h 6858479"/>
              <a:gd name="connsiteX1" fmla="*/ 5076797 w 9324977"/>
              <a:gd name="connsiteY1" fmla="*/ 0 h 6858479"/>
              <a:gd name="connsiteX2" fmla="*/ 6143025 w 9324977"/>
              <a:gd name="connsiteY2" fmla="*/ 0 h 6858479"/>
              <a:gd name="connsiteX3" fmla="*/ 6148602 w 9324977"/>
              <a:gd name="connsiteY3" fmla="*/ 0 h 6858479"/>
              <a:gd name="connsiteX4" fmla="*/ 9324977 w 9324977"/>
              <a:gd name="connsiteY4" fmla="*/ 6858478 h 6858479"/>
              <a:gd name="connsiteX5" fmla="*/ 3359025 w 9324977"/>
              <a:gd name="connsiteY5" fmla="*/ 6858478 h 6858479"/>
              <a:gd name="connsiteX6" fmla="*/ 3359025 w 9324977"/>
              <a:gd name="connsiteY6" fmla="*/ 6858479 h 6858479"/>
              <a:gd name="connsiteX7" fmla="*/ 0 w 9324977"/>
              <a:gd name="connsiteY7" fmla="*/ 6858479 h 6858479"/>
              <a:gd name="connsiteX8" fmla="*/ 0 w 9324977"/>
              <a:gd name="connsiteY8" fmla="*/ 479 h 6858479"/>
              <a:gd name="connsiteX9" fmla="*/ 1246925 w 9324977"/>
              <a:gd name="connsiteY9" fmla="*/ 479 h 6858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24977" h="6858479">
                <a:moveTo>
                  <a:pt x="1246925" y="0"/>
                </a:moveTo>
                <a:lnTo>
                  <a:pt x="5076797" y="0"/>
                </a:lnTo>
                <a:lnTo>
                  <a:pt x="6143025" y="0"/>
                </a:lnTo>
                <a:lnTo>
                  <a:pt x="6148602" y="0"/>
                </a:lnTo>
                <a:lnTo>
                  <a:pt x="9324977" y="6858478"/>
                </a:lnTo>
                <a:lnTo>
                  <a:pt x="3359025" y="6858478"/>
                </a:lnTo>
                <a:lnTo>
                  <a:pt x="3359025" y="6858479"/>
                </a:lnTo>
                <a:lnTo>
                  <a:pt x="0" y="6858479"/>
                </a:lnTo>
                <a:lnTo>
                  <a:pt x="0" y="479"/>
                </a:lnTo>
                <a:lnTo>
                  <a:pt x="1246925" y="479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A773536-9381-48AC-B8E7-7E892C7FE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1" y="540689"/>
            <a:ext cx="6405753" cy="5876013"/>
          </a:xfrm>
        </p:spPr>
        <p:txBody>
          <a:bodyPr vert="horz" lIns="91440" tIns="45720" rIns="91440" bIns="45720" rtlCol="0" anchor="t">
            <a:normAutofit/>
          </a:bodyPr>
          <a:lstStyle/>
          <a:p>
            <a:pPr latinLnBrk="0"/>
            <a:r>
              <a:rPr lang="ko-KR" altLang="en-US" sz="2000" dirty="0" err="1">
                <a:solidFill>
                  <a:srgbClr val="FFFF00"/>
                </a:solidFill>
              </a:rPr>
              <a:t>핑과</a:t>
            </a:r>
            <a:r>
              <a:rPr lang="ko-KR" altLang="en-US" sz="2000" dirty="0">
                <a:solidFill>
                  <a:srgbClr val="FFFF00"/>
                </a:solidFill>
              </a:rPr>
              <a:t> </a:t>
            </a:r>
            <a:r>
              <a:rPr lang="ko-KR" altLang="en-US" sz="2000" dirty="0" err="1">
                <a:solidFill>
                  <a:srgbClr val="FFFF00"/>
                </a:solidFill>
              </a:rPr>
              <a:t>트레이스</a:t>
            </a:r>
            <a:r>
              <a:rPr lang="ko-KR" altLang="en-US" sz="2000" dirty="0">
                <a:solidFill>
                  <a:srgbClr val="FFFF00"/>
                </a:solidFill>
              </a:rPr>
              <a:t> </a:t>
            </a:r>
            <a:br>
              <a:rPr lang="en-US" altLang="ko-KR" sz="2000" dirty="0"/>
            </a:br>
            <a:br>
              <a:rPr lang="en-US" altLang="ko-KR" sz="2000" dirty="0"/>
            </a:br>
            <a:r>
              <a:rPr lang="ko-KR" altLang="en-US" sz="2000" dirty="0"/>
              <a:t>▪ 라우터를 구성한 후 네트워크의 연결에 이상이 없는지를 테스트하기 위함 </a:t>
            </a:r>
            <a:br>
              <a:rPr lang="en-US" altLang="ko-KR" sz="2000" dirty="0"/>
            </a:br>
            <a:br>
              <a:rPr lang="en-US" altLang="ko-KR" sz="2000" dirty="0"/>
            </a:br>
            <a:r>
              <a:rPr lang="ko-KR" altLang="en-US" sz="2000" dirty="0"/>
              <a:t>▪ 일반 </a:t>
            </a:r>
            <a:r>
              <a:rPr lang="en-US" altLang="ko-KR" sz="2000" dirty="0"/>
              <a:t>PC </a:t>
            </a:r>
            <a:r>
              <a:rPr lang="ko-KR" altLang="en-US" sz="2000" dirty="0"/>
              <a:t>를 사용하는 경우에도 인터넷 연결이 잘 되었는지 </a:t>
            </a:r>
            <a:r>
              <a:rPr lang="ko-KR" altLang="en-US" sz="2000" dirty="0" err="1"/>
              <a:t>확인할때</a:t>
            </a:r>
            <a:r>
              <a:rPr lang="ko-KR" altLang="en-US" sz="2000" dirty="0"/>
              <a:t> 사용함 </a:t>
            </a:r>
            <a:r>
              <a:rPr lang="en-US" altLang="ko-KR" sz="2000" dirty="0"/>
              <a:t>. </a:t>
            </a:r>
            <a:br>
              <a:rPr lang="en-US" altLang="ko-KR" sz="2000" dirty="0"/>
            </a:br>
            <a:br>
              <a:rPr lang="en-US" altLang="ko-KR" sz="2000" dirty="0"/>
            </a:br>
            <a:r>
              <a:rPr lang="en-US" altLang="ko-KR" sz="2000" dirty="0"/>
              <a:t>- </a:t>
            </a:r>
            <a:r>
              <a:rPr lang="ko-KR" altLang="en-US" sz="2000" dirty="0"/>
              <a:t>단순형 </a:t>
            </a:r>
            <a:r>
              <a:rPr lang="ko-KR" altLang="en-US" sz="2000" dirty="0" err="1"/>
              <a:t>핑을</a:t>
            </a:r>
            <a:r>
              <a:rPr lang="ko-KR" altLang="en-US" sz="2000" dirty="0"/>
              <a:t> </a:t>
            </a:r>
            <a:r>
              <a:rPr lang="ko-KR" altLang="en-US" sz="2000" dirty="0" err="1"/>
              <a:t>사용했을때</a:t>
            </a:r>
            <a:r>
              <a:rPr lang="ko-KR" altLang="en-US" sz="2000" dirty="0"/>
              <a:t> 출발지 주소는 라우터를 떠나는 쪽 인터페이스로 자동으로 잡힌다 </a:t>
            </a:r>
            <a:r>
              <a:rPr lang="en-US" altLang="ko-KR" sz="2000" dirty="0"/>
              <a:t>.</a:t>
            </a:r>
            <a:br>
              <a:rPr lang="en-US" altLang="ko-KR" sz="2000" dirty="0"/>
            </a:br>
            <a:br>
              <a:rPr lang="en-US" altLang="ko-KR" sz="2000" dirty="0"/>
            </a:br>
            <a:r>
              <a:rPr lang="ko-KR" altLang="en-US" sz="2000" dirty="0"/>
              <a:t>출발지주소를 변경하려면 반드시 확장형 </a:t>
            </a:r>
            <a:r>
              <a:rPr lang="ko-KR" altLang="en-US" sz="2000" dirty="0" err="1"/>
              <a:t>핑을</a:t>
            </a:r>
            <a:r>
              <a:rPr lang="ko-KR" altLang="en-US" sz="2000" dirty="0"/>
              <a:t> 사용해야한다</a:t>
            </a:r>
            <a:r>
              <a:rPr lang="en-US" altLang="ko-KR" sz="2000" dirty="0"/>
              <a:t>. </a:t>
            </a:r>
            <a:br>
              <a:rPr lang="en-US" altLang="ko-KR" sz="2000" dirty="0"/>
            </a:br>
            <a:br>
              <a:rPr lang="en-US" altLang="ko-KR" sz="2000" dirty="0"/>
            </a:br>
            <a:r>
              <a:rPr lang="en-US" altLang="ko-KR" sz="2000" dirty="0">
                <a:solidFill>
                  <a:srgbClr val="FFFF00"/>
                </a:solidFill>
              </a:rPr>
              <a:t>(Trace) </a:t>
            </a:r>
            <a:r>
              <a:rPr lang="en-US" altLang="ko-KR" sz="2000" dirty="0"/>
              <a:t>: </a:t>
            </a:r>
            <a:r>
              <a:rPr lang="ko-KR" altLang="en-US" sz="2000" dirty="0"/>
              <a:t>목적지까지의 경로를 분석해 주는 기능 </a:t>
            </a:r>
            <a:br>
              <a:rPr lang="en-US" altLang="ko-KR" sz="2000" dirty="0"/>
            </a:br>
            <a:br>
              <a:rPr lang="en-US" altLang="ko-KR" sz="2000" dirty="0"/>
            </a:br>
            <a:r>
              <a:rPr lang="en-US" altLang="ko-KR" sz="2000" dirty="0"/>
              <a:t>TTL</a:t>
            </a:r>
            <a:r>
              <a:rPr lang="ko-KR" altLang="en-US" sz="2000" dirty="0"/>
              <a:t>값을 하나 씩 증가시키면서 돌아오는 에러 메시지를 보고 경로를 확인하는 기능을 제공</a:t>
            </a:r>
            <a:endParaRPr lang="en-US" altLang="ko-KR" sz="2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63518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F3CBD4-30DD-4422-9F56-94D38A581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2168"/>
            <a:ext cx="10515600" cy="5778631"/>
          </a:xfrm>
        </p:spPr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라우팅 프로토콜과의 한판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ko-KR" altLang="en-US" dirty="0"/>
              <a:t>  </a:t>
            </a:r>
            <a:r>
              <a:rPr lang="ko-KR" altLang="en-US" sz="2400" dirty="0">
                <a:solidFill>
                  <a:srgbClr val="FFFF00"/>
                </a:solidFill>
              </a:rPr>
              <a:t>■ </a:t>
            </a:r>
            <a:r>
              <a:rPr lang="en-US" altLang="ko-KR" sz="2400" dirty="0">
                <a:solidFill>
                  <a:srgbClr val="FFFF00"/>
                </a:solidFill>
              </a:rPr>
              <a:t>RIP(Routing Information Protocol) </a:t>
            </a:r>
          </a:p>
          <a:p>
            <a:pPr marL="0" indent="0">
              <a:buNone/>
            </a:pPr>
            <a:r>
              <a:rPr lang="en-US" altLang="ko-KR" sz="2000" dirty="0"/>
              <a:t> </a:t>
            </a:r>
          </a:p>
          <a:p>
            <a:pPr marL="0" indent="0">
              <a:buNone/>
            </a:pPr>
            <a:r>
              <a:rPr lang="en-US" altLang="ko-KR" sz="2000" dirty="0"/>
              <a:t> ▪ </a:t>
            </a:r>
            <a:r>
              <a:rPr lang="ko-KR" altLang="en-US" sz="2000" dirty="0"/>
              <a:t>라우팅 프로토콜이다</a:t>
            </a:r>
            <a:r>
              <a:rPr lang="en-US" altLang="ko-KR" sz="2000" dirty="0"/>
              <a:t>. </a:t>
            </a:r>
          </a:p>
          <a:p>
            <a:pPr marL="0" indent="0">
              <a:buNone/>
            </a:pPr>
            <a:r>
              <a:rPr lang="en-US" altLang="ko-KR" sz="2000" dirty="0"/>
              <a:t> ▪ </a:t>
            </a:r>
            <a:r>
              <a:rPr lang="ko-KR" altLang="en-US" sz="2000" dirty="0"/>
              <a:t>다이나믹 프로토콜이다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</a:t>
            </a:r>
            <a:r>
              <a:rPr lang="ko-KR" altLang="en-US" sz="2000" dirty="0"/>
              <a:t>▪ </a:t>
            </a:r>
            <a:r>
              <a:rPr lang="ko-KR" altLang="en-US" sz="2000" dirty="0" err="1"/>
              <a:t>내부용</a:t>
            </a:r>
            <a:r>
              <a:rPr lang="ko-KR" altLang="en-US" sz="2000" dirty="0"/>
              <a:t> 라우팅 프로토콜 이다 </a:t>
            </a:r>
            <a:r>
              <a:rPr lang="en-US" altLang="ko-KR" sz="2000" dirty="0"/>
              <a:t>(IGP) </a:t>
            </a:r>
          </a:p>
          <a:p>
            <a:pPr marL="0" indent="0">
              <a:buNone/>
            </a:pPr>
            <a:r>
              <a:rPr lang="en-US" altLang="ko-KR" sz="2000" dirty="0"/>
              <a:t> ▪ </a:t>
            </a:r>
            <a:r>
              <a:rPr lang="ko-KR" altLang="en-US" sz="2000" dirty="0"/>
              <a:t>거리 와 방향 으로 길을 찾아가는 </a:t>
            </a:r>
            <a:r>
              <a:rPr lang="ko-KR" altLang="en-US" sz="2000" dirty="0" err="1"/>
              <a:t>디스턴스</a:t>
            </a:r>
            <a:r>
              <a:rPr lang="ko-KR" altLang="en-US" sz="2000" dirty="0"/>
              <a:t> 벡터 알고리즘이다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▪ RIP </a:t>
            </a:r>
            <a:r>
              <a:rPr lang="ko-KR" altLang="en-US" sz="2000" dirty="0"/>
              <a:t>라우팅 프로토콜에서 라우터가 좋은 길을 결정할 때 기준이 되는 요소는 홉 카운트이다 </a:t>
            </a:r>
            <a:r>
              <a:rPr lang="en-US" altLang="ko-KR" sz="2000" dirty="0"/>
              <a:t>(Hop) </a:t>
            </a:r>
          </a:p>
          <a:p>
            <a:pPr marL="0" indent="0">
              <a:buNone/>
            </a:pPr>
            <a:r>
              <a:rPr lang="en-US" altLang="ko-KR" sz="2000" dirty="0"/>
              <a:t> ▪ RIP </a:t>
            </a:r>
            <a:r>
              <a:rPr lang="ko-KR" altLang="en-US" sz="2000" dirty="0"/>
              <a:t>라우팅 프로토콜에서 최대한 갈 수 있는 홉 카운트의 거리는  </a:t>
            </a:r>
            <a:r>
              <a:rPr lang="en-US" altLang="ko-KR" sz="2000" dirty="0"/>
              <a:t>15</a:t>
            </a:r>
            <a:r>
              <a:rPr lang="ko-KR" altLang="en-US" sz="2000" dirty="0"/>
              <a:t>개까지 가능 </a:t>
            </a:r>
            <a:r>
              <a:rPr lang="en-US" altLang="ko-KR" sz="2000" dirty="0"/>
              <a:t>16</a:t>
            </a:r>
            <a:r>
              <a:rPr lang="ko-KR" altLang="en-US" sz="2000" dirty="0"/>
              <a:t>개부터는 도착불가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</a:t>
            </a:r>
            <a:r>
              <a:rPr lang="ko-KR" altLang="en-US" sz="2000" dirty="0"/>
              <a:t>▪ 디폴트 업데이트 주기는 </a:t>
            </a:r>
            <a:r>
              <a:rPr lang="en-US" altLang="ko-KR" sz="2000" dirty="0"/>
              <a:t>30</a:t>
            </a:r>
            <a:r>
              <a:rPr lang="ko-KR" altLang="en-US" sz="2000" dirty="0"/>
              <a:t>초</a:t>
            </a:r>
            <a:r>
              <a:rPr lang="en-US" altLang="ko-KR" sz="2000" dirty="0"/>
              <a:t> </a:t>
            </a:r>
          </a:p>
          <a:p>
            <a:pPr marL="0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14889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230E52-D4C0-4CA7-A098-3E50DA641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37563"/>
            <a:ext cx="10515600" cy="5539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>
                <a:solidFill>
                  <a:srgbClr val="FFFF00"/>
                </a:solidFill>
              </a:rPr>
              <a:t>■ </a:t>
            </a:r>
            <a:r>
              <a:rPr lang="en-US" altLang="ko-KR" sz="2000" dirty="0">
                <a:solidFill>
                  <a:srgbClr val="FFFF00"/>
                </a:solidFill>
              </a:rPr>
              <a:t>RIP</a:t>
            </a:r>
            <a:r>
              <a:rPr lang="ko-KR" altLang="en-US" sz="2000" dirty="0">
                <a:solidFill>
                  <a:srgbClr val="FFFF00"/>
                </a:solidFill>
              </a:rPr>
              <a:t>는 표준 라우팅 프로토콜이고 라우터의 메모리를 적게 사용하는 장점도 가지고있다</a:t>
            </a:r>
            <a:r>
              <a:rPr lang="en-US" altLang="ko-KR" sz="2000" dirty="0">
                <a:solidFill>
                  <a:srgbClr val="FFFF00"/>
                </a:solidFill>
              </a:rPr>
              <a:t>. </a:t>
            </a:r>
          </a:p>
          <a:p>
            <a:pPr marL="0" indent="0">
              <a:buNone/>
            </a:pPr>
            <a:endParaRPr lang="en-US" altLang="ko-KR" sz="2000" dirty="0">
              <a:solidFill>
                <a:srgbClr val="FFFF00"/>
              </a:solidFill>
            </a:endParaRPr>
          </a:p>
          <a:p>
            <a:pPr>
              <a:buFontTx/>
              <a:buChar char="-"/>
            </a:pPr>
            <a:r>
              <a:rPr lang="ko-KR" altLang="en-US" sz="2000" dirty="0"/>
              <a:t>최적의 경로를 찾는 방법이 가장 단순하고 가장 낮은 홉 카운트가 가장 좋은 경로라고 결정한다</a:t>
            </a:r>
            <a:r>
              <a:rPr lang="en-US" altLang="ko-KR" sz="2000" dirty="0"/>
              <a:t>. </a:t>
            </a:r>
          </a:p>
          <a:p>
            <a:pPr>
              <a:buFontTx/>
              <a:buChar char="-"/>
            </a:pPr>
            <a:r>
              <a:rPr lang="ko-KR" altLang="en-US" sz="2000" dirty="0"/>
              <a:t>경로 선택을 오로지 홉 카운트에 의존하기 때문에 속도나 회선의 신뢰도 그리고 회선의 로드 등을 </a:t>
            </a:r>
            <a:r>
              <a:rPr lang="en-US" altLang="ko-KR" sz="2000" dirty="0"/>
              <a:t>, </a:t>
            </a:r>
            <a:r>
              <a:rPr lang="ko-KR" altLang="en-US" sz="2000" dirty="0"/>
              <a:t>확인불가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-  </a:t>
            </a:r>
            <a:r>
              <a:rPr lang="ko-KR" altLang="en-US" sz="2000" dirty="0"/>
              <a:t>자신의 라우터에서 </a:t>
            </a:r>
            <a:r>
              <a:rPr lang="en-US" altLang="ko-KR" sz="2000" dirty="0"/>
              <a:t>15 </a:t>
            </a:r>
            <a:r>
              <a:rPr lang="ko-KR" altLang="en-US" sz="2000" dirty="0"/>
              <a:t>개 이상의 라우터를 거치는 목적지의 경우 </a:t>
            </a:r>
            <a:r>
              <a:rPr lang="en-US" altLang="ko-KR" sz="2000" dirty="0"/>
              <a:t>(</a:t>
            </a:r>
            <a:r>
              <a:rPr lang="ko-KR" altLang="en-US" sz="2000" dirty="0"/>
              <a:t>갈 수 없음</a:t>
            </a:r>
            <a:r>
              <a:rPr lang="en-US" altLang="ko-KR" sz="2000" dirty="0"/>
              <a:t>)</a:t>
            </a:r>
            <a:r>
              <a:rPr lang="ko-KR" altLang="en-US" sz="2000" dirty="0"/>
              <a:t> 로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</a:t>
            </a:r>
            <a:r>
              <a:rPr lang="ko-KR" altLang="en-US" sz="2000" dirty="0" err="1"/>
              <a:t>정의해버리기</a:t>
            </a:r>
            <a:r>
              <a:rPr lang="ko-KR" altLang="en-US" sz="2000" dirty="0"/>
              <a:t> 때문에 커다란 네트워크상에서 사용하는데 무리가 따른다</a:t>
            </a:r>
            <a:r>
              <a:rPr lang="en-US" altLang="ko-KR" sz="2000" dirty="0"/>
              <a:t>. </a:t>
            </a:r>
          </a:p>
          <a:p>
            <a:pPr>
              <a:buFontTx/>
              <a:buChar char="-"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>
                <a:solidFill>
                  <a:srgbClr val="FFFF00"/>
                </a:solidFill>
              </a:rPr>
              <a:t>* </a:t>
            </a:r>
            <a:r>
              <a:rPr lang="ko-KR" altLang="en-US" sz="2000" dirty="0">
                <a:solidFill>
                  <a:srgbClr val="FFFF00"/>
                </a:solidFill>
              </a:rPr>
              <a:t>아직 </a:t>
            </a:r>
            <a:r>
              <a:rPr lang="en-US" altLang="ko-KR" sz="2000" dirty="0">
                <a:solidFill>
                  <a:srgbClr val="FFFF00"/>
                </a:solidFill>
              </a:rPr>
              <a:t>RIP </a:t>
            </a:r>
            <a:r>
              <a:rPr lang="ko-KR" altLang="en-US" sz="2000" dirty="0">
                <a:solidFill>
                  <a:srgbClr val="FFFF00"/>
                </a:solidFill>
              </a:rPr>
              <a:t>를 사용하는 이유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>
              <a:buFontTx/>
              <a:buChar char="-"/>
            </a:pPr>
            <a:r>
              <a:rPr lang="ko-KR" altLang="en-US" sz="2000" dirty="0"/>
              <a:t> 소규모 네트워크 상에서는 효율성이 좋고 라우터의 메모리를 적게 차지하고 구성이 간편하고 모든 라우터에서 지원하는 표준 라우팅 </a:t>
            </a:r>
            <a:r>
              <a:rPr lang="ko-KR" altLang="en-US" sz="2000" dirty="0" err="1"/>
              <a:t>프로토콜이기도하다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708720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D00622-850D-4A46-B2EB-5601EBCE35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4950"/>
            <a:ext cx="10515600" cy="5682013"/>
          </a:xfrm>
        </p:spPr>
        <p:txBody>
          <a:bodyPr>
            <a:normAutofit/>
          </a:bodyPr>
          <a:lstStyle/>
          <a:p>
            <a:r>
              <a:rPr lang="en-US" altLang="ko-KR" sz="2000" dirty="0">
                <a:solidFill>
                  <a:srgbClr val="FFFF00"/>
                </a:solidFill>
              </a:rPr>
              <a:t>Back to Back </a:t>
            </a:r>
            <a:r>
              <a:rPr lang="ko-KR" altLang="en-US" sz="2000" dirty="0">
                <a:solidFill>
                  <a:srgbClr val="FFFF00"/>
                </a:solidFill>
              </a:rPr>
              <a:t>구성 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>
              <a:buFontTx/>
              <a:buChar char="-"/>
            </a:pPr>
            <a:r>
              <a:rPr lang="ko-KR" altLang="en-US" sz="2000" dirty="0"/>
              <a:t>라우터와 라우터를 서로 직접 연결하면서 마치 전용선 구간에서 연결한 것처럼 만드는 기술</a:t>
            </a:r>
            <a:endParaRPr lang="en-US" altLang="ko-KR" sz="2000" dirty="0"/>
          </a:p>
          <a:p>
            <a:pPr>
              <a:buFontTx/>
              <a:buChar char="-"/>
            </a:pPr>
            <a:r>
              <a:rPr lang="ko-KR" altLang="en-US" sz="2000" dirty="0"/>
              <a:t>라우터 대 라우터를 </a:t>
            </a:r>
            <a:r>
              <a:rPr lang="en-US" altLang="ko-KR" sz="2000" dirty="0"/>
              <a:t>- V.35 </a:t>
            </a:r>
            <a:r>
              <a:rPr lang="ko-KR" altLang="en-US" sz="2000" dirty="0"/>
              <a:t>케이블만을 가지고 서로 연결하는 것</a:t>
            </a:r>
            <a:endParaRPr lang="en-US" altLang="ko-KR" sz="2000" dirty="0"/>
          </a:p>
          <a:p>
            <a:pPr>
              <a:buFontTx/>
              <a:buChar char="-"/>
            </a:pPr>
            <a:r>
              <a:rPr lang="ko-KR" altLang="en-US" sz="2000" dirty="0"/>
              <a:t>두 라우터 중 하나는 </a:t>
            </a:r>
            <a:r>
              <a:rPr lang="en-US" altLang="ko-KR" sz="2000" dirty="0"/>
              <a:t>DTE</a:t>
            </a:r>
            <a:r>
              <a:rPr lang="ko-KR" altLang="en-US" sz="2000" dirty="0"/>
              <a:t>로 하나는 </a:t>
            </a:r>
            <a:r>
              <a:rPr lang="en-US" altLang="ko-KR" sz="2000" dirty="0"/>
              <a:t>DCE</a:t>
            </a:r>
            <a:r>
              <a:rPr lang="ko-KR" altLang="en-US" sz="2000" dirty="0"/>
              <a:t>로 동작해야 한다</a:t>
            </a:r>
            <a:r>
              <a:rPr lang="en-US" altLang="ko-KR" sz="2000" dirty="0"/>
              <a:t>.</a:t>
            </a:r>
          </a:p>
          <a:p>
            <a:pPr>
              <a:buFontTx/>
              <a:buChar char="-"/>
            </a:pPr>
            <a:endParaRPr lang="en-US" altLang="ko-KR" sz="2000" dirty="0"/>
          </a:p>
          <a:p>
            <a:pPr>
              <a:buFontTx/>
              <a:buChar char="-"/>
            </a:pPr>
            <a:r>
              <a:rPr lang="en-US" altLang="ko-KR" sz="2000" dirty="0"/>
              <a:t>RIP </a:t>
            </a:r>
            <a:r>
              <a:rPr lang="ko-KR" altLang="en-US" sz="2000" dirty="0"/>
              <a:t>환경에서 라우터는 </a:t>
            </a:r>
            <a:r>
              <a:rPr lang="en-US" altLang="ko-KR" sz="2000" dirty="0"/>
              <a:t>30</a:t>
            </a:r>
            <a:r>
              <a:rPr lang="ko-KR" altLang="en-US" sz="2000" dirty="0" err="1"/>
              <a:t>초동안</a:t>
            </a:r>
            <a:r>
              <a:rPr lang="ko-KR" altLang="en-US" sz="2000" dirty="0"/>
              <a:t> 업데이트 정보를 받지 못했다면 </a:t>
            </a:r>
            <a:r>
              <a:rPr lang="en-US" altLang="ko-KR" sz="2000" dirty="0"/>
              <a:t>180</a:t>
            </a:r>
            <a:r>
              <a:rPr lang="ko-KR" altLang="en-US" sz="2000" dirty="0"/>
              <a:t>초 동안은 기다리는데 </a:t>
            </a:r>
            <a:r>
              <a:rPr lang="en-US" altLang="ko-KR" sz="2000" dirty="0"/>
              <a:t>6</a:t>
            </a:r>
            <a:r>
              <a:rPr lang="ko-KR" altLang="en-US" sz="2000" dirty="0"/>
              <a:t>번 이 시간을 </a:t>
            </a:r>
            <a:r>
              <a:rPr lang="en-US" altLang="ko-KR" sz="2000" dirty="0"/>
              <a:t>Invalid time </a:t>
            </a:r>
            <a:r>
              <a:rPr lang="ko-KR" altLang="en-US" sz="2000" dirty="0" err="1"/>
              <a:t>이라하고</a:t>
            </a:r>
            <a:r>
              <a:rPr lang="ko-KR" altLang="en-US" sz="2000" dirty="0"/>
              <a:t> 초가 지나도 업데이트가 오지 않으면 </a:t>
            </a:r>
            <a:r>
              <a:rPr lang="en-US" altLang="ko-KR" sz="2000" dirty="0"/>
              <a:t>Hold down </a:t>
            </a:r>
            <a:r>
              <a:rPr lang="ko-KR" altLang="en-US" sz="2000" dirty="0"/>
              <a:t>상태로 들어간다</a:t>
            </a:r>
            <a:r>
              <a:rPr lang="en-US" altLang="ko-KR" sz="2000" dirty="0"/>
              <a:t>.</a:t>
            </a:r>
          </a:p>
          <a:p>
            <a:pPr>
              <a:buFontTx/>
              <a:buChar char="-"/>
            </a:pPr>
            <a:r>
              <a:rPr lang="ko-KR" altLang="en-US" sz="2000" dirty="0"/>
              <a:t>이때부터 라우터는 상대편이 </a:t>
            </a:r>
            <a:r>
              <a:rPr lang="ko-KR" altLang="en-US" sz="2000" dirty="0" err="1"/>
              <a:t>다운됐을</a:t>
            </a:r>
            <a:r>
              <a:rPr lang="ko-KR" altLang="en-US" sz="2000" dirty="0"/>
              <a:t> 거라고 판단하고 </a:t>
            </a:r>
            <a:r>
              <a:rPr lang="en-US" altLang="ko-KR" sz="2000" dirty="0"/>
              <a:t>possibly down </a:t>
            </a:r>
            <a:r>
              <a:rPr lang="ko-KR" altLang="en-US" sz="2000" dirty="0"/>
              <a:t>이라는 메시지를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/>
              <a:t>라우팅 테이블 에 보여준다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그리고도 </a:t>
            </a:r>
            <a:r>
              <a:rPr lang="en-US" altLang="ko-KR" sz="2000" dirty="0"/>
              <a:t>1 </a:t>
            </a:r>
            <a:r>
              <a:rPr lang="ko-KR" altLang="en-US" sz="2000" dirty="0"/>
              <a:t>분 동안 상대로부터 연락이 없으면 경로가 죽었다고 판단하고 이 경로에 대한 정보를 지워 버리게 되는데 그 시간을 </a:t>
            </a:r>
            <a:r>
              <a:rPr lang="en-US" altLang="ko-KR" sz="2000" dirty="0"/>
              <a:t>flush time </a:t>
            </a:r>
            <a:r>
              <a:rPr lang="ko-KR" altLang="en-US" sz="2000" dirty="0"/>
              <a:t>이라고 부른다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498324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5EEB55-FAC5-4292-B6B2-AFC1CF929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3064"/>
            <a:ext cx="10515600" cy="5463899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solidFill>
                  <a:srgbClr val="FFFF00"/>
                </a:solidFill>
              </a:rPr>
              <a:t>Distance - Vector</a:t>
            </a:r>
            <a:r>
              <a:rPr lang="ko-KR" altLang="en-US" sz="2400" dirty="0">
                <a:solidFill>
                  <a:srgbClr val="FFFF00"/>
                </a:solidFill>
              </a:rPr>
              <a:t>의 문제점</a:t>
            </a:r>
            <a:endParaRPr lang="en-US" altLang="ko-KR" sz="2400" dirty="0">
              <a:solidFill>
                <a:srgbClr val="FFFF00"/>
              </a:solidFill>
            </a:endParaRPr>
          </a:p>
          <a:p>
            <a:pPr>
              <a:buFontTx/>
              <a:buChar char="-"/>
            </a:pPr>
            <a:r>
              <a:rPr lang="ko-KR" altLang="en-US" sz="2000" dirty="0"/>
              <a:t>한번 배운 라우팅 테이블을 계속 전달하기 때문에 업데이트가 모든 네트워크에 전달되는 시간</a:t>
            </a:r>
            <a:r>
              <a:rPr lang="en-US" altLang="ko-KR" sz="2000" dirty="0"/>
              <a:t>(Convergence Time) </a:t>
            </a:r>
            <a:r>
              <a:rPr lang="ko-KR" altLang="en-US" sz="2000" dirty="0"/>
              <a:t>이 많이 걸린다 이것 때문에 </a:t>
            </a:r>
            <a:r>
              <a:rPr lang="ko-KR" altLang="en-US" sz="2000" dirty="0" err="1"/>
              <a:t>루핑이</a:t>
            </a:r>
            <a:r>
              <a:rPr lang="ko-KR" altLang="en-US" sz="2000" dirty="0"/>
              <a:t> 발생할 수 있다</a:t>
            </a:r>
            <a:r>
              <a:rPr lang="en-US" altLang="ko-KR" sz="2000" dirty="0"/>
              <a:t>. </a:t>
            </a:r>
          </a:p>
          <a:p>
            <a:pPr>
              <a:buFontTx/>
              <a:buChar char="-"/>
            </a:pPr>
            <a:endParaRPr lang="en-US" altLang="ko-KR" sz="2000" dirty="0"/>
          </a:p>
          <a:p>
            <a:pPr>
              <a:buFontTx/>
              <a:buChar char="-"/>
            </a:pPr>
            <a:r>
              <a:rPr lang="ko-KR" altLang="en-US" sz="2000" dirty="0" err="1"/>
              <a:t>예를들어</a:t>
            </a:r>
            <a:r>
              <a:rPr lang="ko-KR" altLang="en-US" sz="2000" dirty="0"/>
              <a:t> 업데이트 주기가 </a:t>
            </a:r>
            <a:r>
              <a:rPr lang="en-US" altLang="ko-KR" sz="2000" dirty="0"/>
              <a:t>30</a:t>
            </a:r>
            <a:r>
              <a:rPr lang="ko-KR" altLang="en-US" sz="2000" dirty="0"/>
              <a:t>초이면 라우터 </a:t>
            </a:r>
            <a:r>
              <a:rPr lang="en-US" altLang="ko-KR" sz="2000" dirty="0"/>
              <a:t>A</a:t>
            </a:r>
            <a:r>
              <a:rPr lang="ko-KR" altLang="en-US" sz="2000" dirty="0"/>
              <a:t>는 </a:t>
            </a:r>
            <a:r>
              <a:rPr lang="en-US" altLang="ko-KR" sz="2000" dirty="0"/>
              <a:t>30</a:t>
            </a:r>
            <a:r>
              <a:rPr lang="ko-KR" altLang="en-US" sz="2000" dirty="0"/>
              <a:t>초 후에 변경된 라우팅 테이블을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/>
              <a:t>라우터 </a:t>
            </a:r>
            <a:r>
              <a:rPr lang="en-US" altLang="ko-KR" sz="2000" dirty="0"/>
              <a:t>B</a:t>
            </a:r>
            <a:r>
              <a:rPr lang="ko-KR" altLang="en-US" sz="2000" dirty="0"/>
              <a:t>에게 보내고 라우터 </a:t>
            </a:r>
            <a:r>
              <a:rPr lang="en-US" altLang="ko-KR" sz="2000" dirty="0"/>
              <a:t>B</a:t>
            </a:r>
            <a:r>
              <a:rPr lang="ko-KR" altLang="en-US" sz="2000" dirty="0"/>
              <a:t>는 다시 </a:t>
            </a:r>
            <a:r>
              <a:rPr lang="en-US" altLang="ko-KR" sz="2000" dirty="0"/>
              <a:t>30</a:t>
            </a:r>
            <a:r>
              <a:rPr lang="ko-KR" altLang="en-US" sz="2000" dirty="0"/>
              <a:t>초 후에 라우터 </a:t>
            </a:r>
            <a:r>
              <a:rPr lang="en-US" altLang="ko-KR" sz="2000" dirty="0"/>
              <a:t>C</a:t>
            </a:r>
            <a:r>
              <a:rPr lang="ko-KR" altLang="en-US" sz="2000" dirty="0"/>
              <a:t>에게 보내기 때문에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/>
              <a:t>라우터 </a:t>
            </a:r>
            <a:r>
              <a:rPr lang="en-US" altLang="ko-KR" sz="2000" dirty="0"/>
              <a:t>C</a:t>
            </a:r>
            <a:r>
              <a:rPr lang="ko-KR" altLang="en-US" sz="2000" dirty="0"/>
              <a:t>는 라우터 </a:t>
            </a:r>
            <a:r>
              <a:rPr lang="en-US" altLang="ko-KR" sz="2000" dirty="0"/>
              <a:t>A</a:t>
            </a:r>
            <a:r>
              <a:rPr lang="ko-KR" altLang="en-US" sz="2000" dirty="0"/>
              <a:t>가 라우팅 테이블</a:t>
            </a:r>
            <a:r>
              <a:rPr lang="en-US" altLang="ko-KR" sz="2000" dirty="0"/>
              <a:t> </a:t>
            </a:r>
            <a:r>
              <a:rPr lang="ko-KR" altLang="en-US" sz="2000" dirty="0"/>
              <a:t>변화를 인지한지 </a:t>
            </a:r>
            <a:r>
              <a:rPr lang="en-US" altLang="ko-KR" sz="2000" dirty="0"/>
              <a:t>60 </a:t>
            </a:r>
            <a:r>
              <a:rPr lang="ko-KR" altLang="en-US" sz="2000" dirty="0" err="1"/>
              <a:t>초후에</a:t>
            </a:r>
            <a:r>
              <a:rPr lang="ko-KR" altLang="en-US" sz="2000" dirty="0"/>
              <a:t> </a:t>
            </a:r>
            <a:r>
              <a:rPr lang="ko-KR" altLang="en-US" sz="2000" dirty="0" err="1"/>
              <a:t>알수</a:t>
            </a:r>
            <a:r>
              <a:rPr lang="ko-KR" altLang="en-US" sz="2000" dirty="0"/>
              <a:t> </a:t>
            </a:r>
            <a:r>
              <a:rPr lang="ko-KR" altLang="en-US" sz="2000" dirty="0" err="1"/>
              <a:t>있게된다</a:t>
            </a:r>
            <a:r>
              <a:rPr lang="ko-KR" altLang="en-US" sz="2000" dirty="0"/>
              <a:t> 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-  </a:t>
            </a:r>
            <a:r>
              <a:rPr lang="ko-KR" altLang="en-US" sz="2000" dirty="0"/>
              <a:t>만약 라우터 </a:t>
            </a:r>
            <a:r>
              <a:rPr lang="en-US" altLang="ko-KR" sz="2000" dirty="0"/>
              <a:t>C</a:t>
            </a:r>
            <a:r>
              <a:rPr lang="ko-KR" altLang="en-US" sz="2000" dirty="0"/>
              <a:t>뒤에 또 다른 라우터가 있다면 네트워크 변화를 인지하는데 많은 시간이 걸려 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  </a:t>
            </a:r>
            <a:r>
              <a:rPr lang="ko-KR" altLang="en-US" sz="2000" dirty="0" err="1"/>
              <a:t>루핑이</a:t>
            </a:r>
            <a:r>
              <a:rPr lang="ko-KR" altLang="en-US" sz="2000" dirty="0"/>
              <a:t> 발생하게 되고 라우터가 제대로 </a:t>
            </a:r>
            <a:r>
              <a:rPr lang="ko-KR" altLang="en-US" sz="2000" dirty="0" err="1"/>
              <a:t>라우팅정보를</a:t>
            </a:r>
            <a:r>
              <a:rPr lang="ko-KR" altLang="en-US" sz="2000" dirty="0"/>
              <a:t> 가지지도 못하고 업데이트도 </a:t>
            </a:r>
            <a:r>
              <a:rPr lang="ko-KR" altLang="en-US" sz="2000" dirty="0" err="1"/>
              <a:t>느려짐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237994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088185-43A0-4570-9652-56FB22171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9174"/>
            <a:ext cx="10515600" cy="5547789"/>
          </a:xfrm>
        </p:spPr>
        <p:txBody>
          <a:bodyPr/>
          <a:lstStyle/>
          <a:p>
            <a:r>
              <a:rPr lang="ko-KR" altLang="en-US" dirty="0" err="1">
                <a:solidFill>
                  <a:srgbClr val="FFFF00"/>
                </a:solidFill>
              </a:rPr>
              <a:t>루핑</a:t>
            </a:r>
            <a:r>
              <a:rPr lang="ko-KR" altLang="en-US" dirty="0">
                <a:solidFill>
                  <a:srgbClr val="FFFF00"/>
                </a:solidFill>
              </a:rPr>
              <a:t> 방지법</a:t>
            </a:r>
            <a:endParaRPr lang="en-US" altLang="ko-KR" dirty="0">
              <a:solidFill>
                <a:srgbClr val="FFFF00"/>
              </a:solidFill>
            </a:endParaRPr>
          </a:p>
          <a:p>
            <a:pPr marL="457200" indent="-457200">
              <a:buAutoNum type="arabicPeriod"/>
            </a:pPr>
            <a:r>
              <a:rPr lang="en-US" altLang="ko-KR" sz="2400" dirty="0"/>
              <a:t>Maximum Hop Count</a:t>
            </a:r>
          </a:p>
          <a:p>
            <a:pPr marL="457200" indent="-457200">
              <a:buAutoNum type="arabicPeriod"/>
            </a:pPr>
            <a:endParaRPr lang="en-US" altLang="ko-KR" sz="2400" dirty="0"/>
          </a:p>
          <a:p>
            <a:pPr marL="457200" indent="-457200">
              <a:buAutoNum type="arabicPeriod"/>
            </a:pPr>
            <a:r>
              <a:rPr lang="en-US" altLang="ko-KR" sz="2400" dirty="0"/>
              <a:t>Hold down Timer</a:t>
            </a:r>
          </a:p>
          <a:p>
            <a:pPr marL="457200" indent="-457200">
              <a:buAutoNum type="arabicPeriod"/>
            </a:pPr>
            <a:endParaRPr lang="en-US" altLang="ko-KR" sz="2400" dirty="0"/>
          </a:p>
          <a:p>
            <a:pPr marL="457200" indent="-457200">
              <a:buAutoNum type="arabicPeriod"/>
            </a:pPr>
            <a:r>
              <a:rPr lang="ko-KR" altLang="en-US" sz="2400" dirty="0" err="1"/>
              <a:t>스플릿</a:t>
            </a:r>
            <a:r>
              <a:rPr lang="ko-KR" altLang="en-US" sz="2400" dirty="0"/>
              <a:t> </a:t>
            </a:r>
            <a:r>
              <a:rPr lang="ko-KR" altLang="en-US" sz="2400" dirty="0" err="1"/>
              <a:t>호라이즌</a:t>
            </a:r>
            <a:r>
              <a:rPr lang="en-US" altLang="ko-KR" sz="2400" dirty="0"/>
              <a:t>(Split Horizon) </a:t>
            </a:r>
          </a:p>
          <a:p>
            <a:pPr marL="457200" indent="-457200">
              <a:buAutoNum type="arabicPeriod"/>
            </a:pPr>
            <a:endParaRPr lang="en-US" altLang="ko-KR" sz="2400" dirty="0"/>
          </a:p>
          <a:p>
            <a:pPr marL="457200" indent="-457200">
              <a:buAutoNum type="arabicPeriod"/>
            </a:pPr>
            <a:r>
              <a:rPr lang="ko-KR" altLang="en-US" sz="2400" dirty="0" err="1"/>
              <a:t>라우트</a:t>
            </a:r>
            <a:r>
              <a:rPr lang="ko-KR" altLang="en-US" sz="2400" dirty="0"/>
              <a:t> </a:t>
            </a:r>
            <a:r>
              <a:rPr lang="ko-KR" altLang="en-US" sz="2400" dirty="0" err="1"/>
              <a:t>포이즈닝</a:t>
            </a:r>
            <a:r>
              <a:rPr lang="en-US" altLang="ko-KR" sz="2400" dirty="0"/>
              <a:t>(Route Poisoning) :</a:t>
            </a:r>
          </a:p>
          <a:p>
            <a:pPr marL="457200" indent="-457200">
              <a:buAutoNum type="arabicPeriod"/>
            </a:pPr>
            <a:endParaRPr lang="en-US" altLang="ko-KR" sz="2400" dirty="0"/>
          </a:p>
          <a:p>
            <a:pPr marL="457200" indent="-457200">
              <a:buAutoNum type="arabicPeriod"/>
            </a:pPr>
            <a:r>
              <a:rPr lang="ko-KR" altLang="en-US" sz="2400" dirty="0" err="1"/>
              <a:t>포이즌</a:t>
            </a:r>
            <a:r>
              <a:rPr lang="ko-KR" altLang="en-US" sz="2400" dirty="0"/>
              <a:t> </a:t>
            </a:r>
            <a:r>
              <a:rPr lang="ko-KR" altLang="en-US" sz="2400" dirty="0" err="1"/>
              <a:t>리버스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32100035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3D13F1-0565-4289-AFF0-5E4082F2F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8840"/>
            <a:ext cx="10515600" cy="5931017"/>
          </a:xfrm>
        </p:spPr>
        <p:txBody>
          <a:bodyPr/>
          <a:lstStyle/>
          <a:p>
            <a:r>
              <a:rPr lang="en-US" altLang="ko-KR" dirty="0">
                <a:solidFill>
                  <a:srgbClr val="FFFF00"/>
                </a:solidFill>
              </a:rPr>
              <a:t>1. Maximum Hop Count </a:t>
            </a:r>
          </a:p>
          <a:p>
            <a:pPr marL="0" indent="0">
              <a:buNone/>
            </a:pPr>
            <a:r>
              <a:rPr lang="ko-KR" altLang="en-US" sz="2000" dirty="0"/>
              <a:t>    최대 홉 카운트를 </a:t>
            </a:r>
            <a:r>
              <a:rPr lang="en-US" altLang="ko-KR" sz="2000" dirty="0"/>
              <a:t>15</a:t>
            </a:r>
            <a:r>
              <a:rPr lang="ko-KR" altLang="en-US" sz="2000" dirty="0"/>
              <a:t>로 규정하여 넘어가면 </a:t>
            </a:r>
            <a:r>
              <a:rPr lang="en-US" altLang="ko-KR" sz="2000" dirty="0"/>
              <a:t>unreachable</a:t>
            </a:r>
            <a:r>
              <a:rPr lang="ko-KR" altLang="en-US" sz="2000" dirty="0"/>
              <a:t>로 간주하고 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flush time</a:t>
            </a:r>
            <a:r>
              <a:rPr lang="ko-KR" altLang="en-US" sz="2000" dirty="0"/>
              <a:t>이 지난 후에 라우팅 테이블에서 삭제함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en-US" altLang="ko-KR" sz="2000" dirty="0"/>
              <a:t>    15 </a:t>
            </a:r>
            <a:r>
              <a:rPr lang="ko-KR" altLang="en-US" sz="2000" dirty="0"/>
              <a:t>홉을 넘는 경로에는 도달할 수 없기 때문에</a:t>
            </a:r>
            <a:r>
              <a:rPr lang="en-US" altLang="ko-KR" sz="2000" dirty="0"/>
              <a:t> </a:t>
            </a:r>
            <a:r>
              <a:rPr lang="ko-KR" altLang="en-US" sz="2000" dirty="0"/>
              <a:t>네트워크의 규모가 커질 경우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    치명적인 약점을 지님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en-US" altLang="ko-KR" sz="2000" dirty="0">
              <a:solidFill>
                <a:srgbClr val="FFFF00"/>
              </a:solidFill>
            </a:endParaRPr>
          </a:p>
          <a:p>
            <a:r>
              <a:rPr lang="en-US" altLang="ko-KR" dirty="0">
                <a:solidFill>
                  <a:srgbClr val="FFFF00"/>
                </a:solidFill>
              </a:rPr>
              <a:t>2.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rgbClr val="FFFF00"/>
                </a:solidFill>
              </a:rPr>
              <a:t>Hold down Timer</a:t>
            </a:r>
          </a:p>
          <a:p>
            <a:r>
              <a:rPr lang="ko-KR" altLang="en-US" sz="2000" dirty="0"/>
              <a:t>한 네트워크가 다운되면 </a:t>
            </a:r>
            <a:r>
              <a:rPr lang="ko-KR" altLang="en-US" sz="2000" dirty="0" err="1"/>
              <a:t>물려있는</a:t>
            </a:r>
            <a:r>
              <a:rPr lang="ko-KR" altLang="en-US" sz="2000" dirty="0"/>
              <a:t> 라우터가 다른 라우터에게 </a:t>
            </a:r>
            <a:r>
              <a:rPr lang="en-US" altLang="ko-KR" sz="2000" dirty="0"/>
              <a:t>down</a:t>
            </a:r>
            <a:r>
              <a:rPr lang="ko-KR" altLang="en-US" sz="2000" dirty="0"/>
              <a:t>사실을 알리고 그 정보를 받은 라우터는 다운된 네트워크에 대한 </a:t>
            </a:r>
            <a:r>
              <a:rPr lang="en-US" altLang="ko-KR" sz="2000" dirty="0">
                <a:solidFill>
                  <a:srgbClr val="FFFF00"/>
                </a:solidFill>
              </a:rPr>
              <a:t>Hold down</a:t>
            </a:r>
            <a:r>
              <a:rPr lang="ko-KR" altLang="en-US" sz="2000" dirty="0">
                <a:solidFill>
                  <a:srgbClr val="FFFF00"/>
                </a:solidFill>
              </a:rPr>
              <a:t>타이머를 시작</a:t>
            </a:r>
            <a:r>
              <a:rPr lang="ko-KR" altLang="en-US" sz="2000" dirty="0"/>
              <a:t>한다 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ko-KR" altLang="en-US" sz="2000" dirty="0"/>
              <a:t>    외부에서 해당 네트워크에 대한 라우팅 경로 정보를 </a:t>
            </a:r>
            <a:r>
              <a:rPr lang="ko-KR" altLang="en-US" sz="2000" dirty="0" err="1"/>
              <a:t>받았을때</a:t>
            </a:r>
            <a:r>
              <a:rPr lang="ko-KR" altLang="en-US" sz="2000" dirty="0"/>
              <a:t> 원래 값보다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>
                <a:solidFill>
                  <a:srgbClr val="FFFF00"/>
                </a:solidFill>
              </a:rPr>
              <a:t>큰 값이 들어오면 무조건 무시 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/>
              <a:t>    Hold down</a:t>
            </a:r>
            <a:r>
              <a:rPr lang="ko-KR" altLang="en-US" sz="2000" dirty="0"/>
              <a:t>카운터가 종료되거나 목적지에 대한 새로운 경로가 가지고있는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 err="1"/>
              <a:t>메트릭과</a:t>
            </a:r>
            <a:r>
              <a:rPr lang="ko-KR" altLang="en-US" sz="2000" dirty="0"/>
              <a:t> 같거나 좋은 경로이면 업데이트를 받아들임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Hold down</a:t>
            </a:r>
            <a:r>
              <a:rPr lang="ko-KR" altLang="en-US" sz="2000" dirty="0"/>
              <a:t>타이머는 어떤 경로가 죽었다고 판단하면 일정 시간이 지난 다음에 바꾸는 식이다</a:t>
            </a:r>
            <a:r>
              <a:rPr lang="en-US" altLang="ko-KR" sz="2000" dirty="0"/>
              <a:t>.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7315328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2226BB-AC38-4658-8698-E773B4FC1A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04674"/>
            <a:ext cx="10515600" cy="5413565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solidFill>
                  <a:srgbClr val="FFFF00"/>
                </a:solidFill>
              </a:rPr>
              <a:t>3. </a:t>
            </a:r>
            <a:r>
              <a:rPr lang="ko-KR" altLang="en-US" sz="2400" dirty="0" err="1">
                <a:solidFill>
                  <a:srgbClr val="FFFF00"/>
                </a:solidFill>
              </a:rPr>
              <a:t>스플릿</a:t>
            </a:r>
            <a:r>
              <a:rPr lang="ko-KR" altLang="en-US" sz="2400" dirty="0">
                <a:solidFill>
                  <a:srgbClr val="FFFF00"/>
                </a:solidFill>
              </a:rPr>
              <a:t> </a:t>
            </a:r>
            <a:r>
              <a:rPr lang="ko-KR" altLang="en-US" sz="2400" dirty="0" err="1">
                <a:solidFill>
                  <a:srgbClr val="FFFF00"/>
                </a:solidFill>
              </a:rPr>
              <a:t>호라이즌</a:t>
            </a:r>
            <a:r>
              <a:rPr lang="en-US" altLang="ko-KR" sz="2400" dirty="0">
                <a:solidFill>
                  <a:srgbClr val="FFFF00"/>
                </a:solidFill>
              </a:rPr>
              <a:t>(Split Horizon)</a:t>
            </a:r>
          </a:p>
          <a:p>
            <a:pPr marL="0" indent="0">
              <a:buNone/>
            </a:pPr>
            <a:r>
              <a:rPr lang="ko-KR" altLang="en-US" sz="2000" dirty="0"/>
              <a:t>    라우팅 정보가 들어온 곳으로는 같은 정보를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/>
              <a:t>내보낼 수 없다는 의미 두 라우터 간의 </a:t>
            </a:r>
            <a:r>
              <a:rPr lang="ko-KR" altLang="en-US" sz="2000" dirty="0" err="1"/>
              <a:t>루핑만을</a:t>
            </a:r>
            <a:r>
              <a:rPr lang="ko-KR" altLang="en-US" sz="2000" dirty="0"/>
              <a:t> 막기 위해서 만들어진 기술이다</a:t>
            </a:r>
            <a:r>
              <a:rPr lang="en-US" altLang="ko-KR" sz="2000" dirty="0"/>
              <a:t>. </a:t>
            </a:r>
            <a:endParaRPr lang="ko-KR" altLang="en-US" sz="2000" dirty="0"/>
          </a:p>
          <a:p>
            <a:endParaRPr lang="en-US" altLang="ko-KR" sz="2000" dirty="0">
              <a:solidFill>
                <a:srgbClr val="FFFF00"/>
              </a:solidFill>
            </a:endParaRPr>
          </a:p>
          <a:p>
            <a:r>
              <a:rPr lang="en-US" altLang="ko-KR" sz="2400" dirty="0">
                <a:solidFill>
                  <a:srgbClr val="FFFF00"/>
                </a:solidFill>
              </a:rPr>
              <a:t>4. </a:t>
            </a:r>
            <a:r>
              <a:rPr lang="ko-KR" altLang="en-US" sz="2400" dirty="0" err="1">
                <a:solidFill>
                  <a:srgbClr val="FFFF00"/>
                </a:solidFill>
              </a:rPr>
              <a:t>라우트</a:t>
            </a:r>
            <a:r>
              <a:rPr lang="ko-KR" altLang="en-US" sz="2400" dirty="0">
                <a:solidFill>
                  <a:srgbClr val="FFFF00"/>
                </a:solidFill>
              </a:rPr>
              <a:t> </a:t>
            </a:r>
            <a:r>
              <a:rPr lang="ko-KR" altLang="en-US" sz="2400" dirty="0" err="1">
                <a:solidFill>
                  <a:srgbClr val="FFFF00"/>
                </a:solidFill>
              </a:rPr>
              <a:t>포이즈닝</a:t>
            </a:r>
            <a:r>
              <a:rPr lang="en-US" altLang="ko-KR" sz="2400" dirty="0">
                <a:solidFill>
                  <a:srgbClr val="FFFF00"/>
                </a:solidFill>
              </a:rPr>
              <a:t>(Route Poisoning) </a:t>
            </a:r>
          </a:p>
          <a:p>
            <a:pPr marL="0" indent="0">
              <a:buNone/>
            </a:pPr>
            <a:r>
              <a:rPr lang="en-US" altLang="ko-KR" sz="2400" dirty="0">
                <a:solidFill>
                  <a:srgbClr val="FFFF00"/>
                </a:solidFill>
              </a:rPr>
              <a:t>   </a:t>
            </a:r>
            <a:r>
              <a:rPr lang="ko-KR" altLang="en-US" sz="2000" dirty="0"/>
              <a:t>네트워크가 다운되면 </a:t>
            </a:r>
            <a:r>
              <a:rPr lang="ko-KR" altLang="en-US" sz="2000" dirty="0" err="1"/>
              <a:t>메트릭</a:t>
            </a:r>
            <a:r>
              <a:rPr lang="ko-KR" altLang="en-US" sz="2000" dirty="0"/>
              <a:t> 값을 으로 </a:t>
            </a:r>
            <a:r>
              <a:rPr lang="en-US" altLang="ko-KR" sz="2000" dirty="0"/>
              <a:t>16(</a:t>
            </a:r>
            <a:r>
              <a:rPr lang="ko-KR" altLang="en-US" sz="2000" dirty="0"/>
              <a:t>사용</a:t>
            </a:r>
            <a:r>
              <a:rPr lang="en-US" altLang="ko-KR" sz="2000" dirty="0"/>
              <a:t>X)</a:t>
            </a:r>
            <a:r>
              <a:rPr lang="ko-KR" altLang="en-US" sz="2000" dirty="0"/>
              <a:t>으로 변경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   </a:t>
            </a:r>
            <a:r>
              <a:rPr lang="ko-KR" altLang="en-US" sz="2000" dirty="0" err="1"/>
              <a:t>이런식으로</a:t>
            </a:r>
            <a:r>
              <a:rPr lang="ko-KR" altLang="en-US" sz="2000" dirty="0"/>
              <a:t> 다운된 네트워크를 먼저 무한대치로 바꾸어서 라우팅 테이블에서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</a:t>
            </a:r>
            <a:r>
              <a:rPr lang="ko-KR" altLang="en-US" sz="2000" dirty="0"/>
              <a:t>지워버렸다가 잘못된 라우팅 정보를 받는 일을 미리 막을 수 있는 효과를 나타낸다 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en-US" altLang="ko-KR" sz="2000" dirty="0">
              <a:solidFill>
                <a:srgbClr val="FFFF00"/>
              </a:solidFill>
            </a:endParaRPr>
          </a:p>
          <a:p>
            <a:r>
              <a:rPr lang="en-US" altLang="ko-KR" sz="2400" dirty="0">
                <a:solidFill>
                  <a:srgbClr val="FFFF00"/>
                </a:solidFill>
              </a:rPr>
              <a:t>5.</a:t>
            </a:r>
            <a:r>
              <a:rPr lang="ko-KR" altLang="en-US" sz="2400" dirty="0"/>
              <a:t> </a:t>
            </a:r>
            <a:r>
              <a:rPr lang="ko-KR" altLang="en-US" sz="2400" dirty="0" err="1">
                <a:solidFill>
                  <a:srgbClr val="FFFF00"/>
                </a:solidFill>
              </a:rPr>
              <a:t>포이즌</a:t>
            </a:r>
            <a:r>
              <a:rPr lang="ko-KR" altLang="en-US" sz="2400" dirty="0">
                <a:solidFill>
                  <a:srgbClr val="FFFF00"/>
                </a:solidFill>
              </a:rPr>
              <a:t> </a:t>
            </a:r>
            <a:r>
              <a:rPr lang="ko-KR" altLang="en-US" sz="2400" dirty="0" err="1">
                <a:solidFill>
                  <a:srgbClr val="FFFF00"/>
                </a:solidFill>
              </a:rPr>
              <a:t>리버스</a:t>
            </a:r>
            <a:r>
              <a:rPr lang="ko-KR" altLang="en-US" sz="2400" dirty="0">
                <a:solidFill>
                  <a:srgbClr val="FFFF00"/>
                </a:solidFill>
              </a:rPr>
              <a:t> </a:t>
            </a:r>
            <a:endParaRPr lang="en-US" altLang="ko-KR" sz="2400" dirty="0"/>
          </a:p>
          <a:p>
            <a:pPr marL="0" indent="0">
              <a:buNone/>
            </a:pPr>
            <a:r>
              <a:rPr lang="ko-KR" altLang="en-US" sz="2000" dirty="0"/>
              <a:t>   </a:t>
            </a:r>
            <a:r>
              <a:rPr lang="ko-KR" altLang="en-US" sz="2000" dirty="0" err="1"/>
              <a:t>스플릿</a:t>
            </a:r>
            <a:r>
              <a:rPr lang="ko-KR" altLang="en-US" sz="2000" dirty="0"/>
              <a:t> </a:t>
            </a:r>
            <a:r>
              <a:rPr lang="ko-KR" altLang="en-US" sz="2000" dirty="0" err="1"/>
              <a:t>호라이즌의</a:t>
            </a:r>
            <a:r>
              <a:rPr lang="ko-KR" altLang="en-US" sz="2000" dirty="0"/>
              <a:t> 변형 </a:t>
            </a:r>
            <a:r>
              <a:rPr lang="ko-KR" altLang="en-US" sz="2000" dirty="0" err="1"/>
              <a:t>포이즌</a:t>
            </a:r>
            <a:r>
              <a:rPr lang="ko-KR" altLang="en-US" sz="2000" dirty="0"/>
              <a:t> </a:t>
            </a:r>
            <a:r>
              <a:rPr lang="ko-KR" altLang="en-US" sz="2000" dirty="0" err="1"/>
              <a:t>리버스</a:t>
            </a:r>
            <a:r>
              <a:rPr lang="ko-KR" altLang="en-US" sz="2000" dirty="0"/>
              <a:t> 업데이트를 사용한 </a:t>
            </a:r>
            <a:r>
              <a:rPr lang="ko-KR" altLang="en-US" sz="2000" dirty="0" err="1"/>
              <a:t>스플릿</a:t>
            </a:r>
            <a:r>
              <a:rPr lang="ko-KR" altLang="en-US" sz="2000" dirty="0"/>
              <a:t> </a:t>
            </a:r>
            <a:r>
              <a:rPr lang="ko-KR" altLang="en-US" sz="2000" dirty="0" err="1"/>
              <a:t>호라이즌</a:t>
            </a:r>
            <a:r>
              <a:rPr lang="ko-KR" altLang="en-US" sz="2000" dirty="0"/>
              <a:t> 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</a:t>
            </a:r>
            <a:r>
              <a:rPr lang="ko-KR" altLang="en-US" sz="2000" dirty="0"/>
              <a:t>라우팅 정보를 되돌려 보내기는 하되 이 값을 무한대 값으로 쓰는 방식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0778105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A2712A-C32D-434E-931A-6896B2626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0785"/>
            <a:ext cx="10515600" cy="5556178"/>
          </a:xfrm>
        </p:spPr>
        <p:txBody>
          <a:bodyPr/>
          <a:lstStyle/>
          <a:p>
            <a:r>
              <a:rPr lang="en-US" altLang="ko-KR" sz="2400" dirty="0">
                <a:solidFill>
                  <a:srgbClr val="FFFF00"/>
                </a:solidFill>
              </a:rPr>
              <a:t>IGRP(Interior Gateway Routing Protocol) 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sz="2000" dirty="0"/>
              <a:t>▪ RIP</a:t>
            </a:r>
            <a:r>
              <a:rPr lang="ko-KR" altLang="en-US" sz="2000" dirty="0"/>
              <a:t>처럼 라우팅 프로토콜이다 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 ▪ 다이나믹 프로토콜이다 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 ▪ </a:t>
            </a:r>
            <a:r>
              <a:rPr lang="ko-KR" altLang="en-US" sz="2000" dirty="0" err="1"/>
              <a:t>내부용</a:t>
            </a:r>
            <a:r>
              <a:rPr lang="ko-KR" altLang="en-US" sz="2000" dirty="0"/>
              <a:t> 라우팅 프로토콜 이다 </a:t>
            </a:r>
            <a:r>
              <a:rPr lang="en-US" altLang="ko-KR" sz="2000" dirty="0"/>
              <a:t>(IGP) </a:t>
            </a:r>
          </a:p>
          <a:p>
            <a:pPr marL="0" indent="0">
              <a:buNone/>
            </a:pPr>
            <a:r>
              <a:rPr lang="en-US" altLang="ko-KR" sz="2000" dirty="0"/>
              <a:t> ▪ </a:t>
            </a:r>
            <a:r>
              <a:rPr lang="ko-KR" altLang="en-US" sz="2000" dirty="0" err="1"/>
              <a:t>디스턴스</a:t>
            </a:r>
            <a:r>
              <a:rPr lang="ko-KR" altLang="en-US" sz="2000" dirty="0"/>
              <a:t> 벡터 알고리즘이다 거리와 방향으로 길을 찾는 프로토콜 </a:t>
            </a:r>
            <a:r>
              <a:rPr lang="en-US" altLang="ko-KR" sz="2000" dirty="0"/>
              <a:t>. </a:t>
            </a:r>
          </a:p>
          <a:p>
            <a:pPr marL="0" indent="0">
              <a:buNone/>
            </a:pPr>
            <a:r>
              <a:rPr lang="en-US" altLang="ko-KR" sz="2000" dirty="0"/>
              <a:t> ▪ </a:t>
            </a:r>
            <a:r>
              <a:rPr lang="ko-KR" altLang="en-US" sz="2000" dirty="0"/>
              <a:t>시스코에서 만들어낸 프로토콜이므로 </a:t>
            </a:r>
            <a:r>
              <a:rPr lang="ko-KR" altLang="en-US" sz="2000" dirty="0">
                <a:solidFill>
                  <a:srgbClr val="FFFF00"/>
                </a:solidFill>
              </a:rPr>
              <a:t>시스코 라우터에서만 사용이 가능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 ▪ </a:t>
            </a:r>
            <a:r>
              <a:rPr lang="en-US" altLang="ko-KR" sz="2000" dirty="0"/>
              <a:t>5</a:t>
            </a:r>
            <a:r>
              <a:rPr lang="ko-KR" altLang="en-US" sz="2000" dirty="0"/>
              <a:t>가지 요인을 가지고 가장 좋은 경로를 선택한다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(RIP</a:t>
            </a:r>
            <a:r>
              <a:rPr lang="ko-KR" altLang="en-US" sz="2000" dirty="0"/>
              <a:t>와는 달리 경로 선택에 있어서 지능적임</a:t>
            </a:r>
            <a:r>
              <a:rPr lang="en-US" altLang="ko-KR" sz="2000" dirty="0"/>
              <a:t>.)</a:t>
            </a:r>
          </a:p>
          <a:p>
            <a:pPr marL="0" indent="0">
              <a:buNone/>
            </a:pPr>
            <a:r>
              <a:rPr lang="en-US" altLang="ko-KR" sz="2000" dirty="0"/>
              <a:t> </a:t>
            </a:r>
          </a:p>
          <a:p>
            <a:pPr marL="0" indent="0">
              <a:buNone/>
            </a:pPr>
            <a:r>
              <a:rPr lang="en-US" altLang="ko-KR" sz="2000" dirty="0"/>
              <a:t>▪ </a:t>
            </a:r>
            <a:r>
              <a:rPr lang="en-US" altLang="ko-KR" sz="2000" dirty="0">
                <a:solidFill>
                  <a:srgbClr val="FFFF00"/>
                </a:solidFill>
              </a:rPr>
              <a:t>90</a:t>
            </a:r>
            <a:r>
              <a:rPr lang="ko-KR" altLang="en-US" sz="2000" dirty="0">
                <a:solidFill>
                  <a:srgbClr val="FFFF00"/>
                </a:solidFill>
              </a:rPr>
              <a:t>초에 한 번씩 라우팅 테이블의 업데이트</a:t>
            </a:r>
            <a:r>
              <a:rPr lang="ko-KR" altLang="en-US" sz="2000" dirty="0"/>
              <a:t>가</a:t>
            </a:r>
            <a:r>
              <a:rPr lang="ko-KR" altLang="en-US" sz="2000" dirty="0">
                <a:solidFill>
                  <a:srgbClr val="FFFF00"/>
                </a:solidFill>
              </a:rPr>
              <a:t> </a:t>
            </a:r>
            <a:r>
              <a:rPr lang="ko-KR" altLang="en-US" sz="2000" dirty="0"/>
              <a:t>발생 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▪ 최대 홉 카운트로 큰 네트워크의 적용에도 문제가 없음</a:t>
            </a:r>
          </a:p>
        </p:txBody>
      </p:sp>
    </p:spTree>
    <p:extLst>
      <p:ext uri="{BB962C8B-B14F-4D97-AF65-F5344CB8AC3E}">
        <p14:creationId xmlns:p14="http://schemas.microsoft.com/office/powerpoint/2010/main" val="802161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75FE99-1D1B-4E18-85F8-2D67F8921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5618"/>
            <a:ext cx="10515600" cy="5581345"/>
          </a:xfrm>
        </p:spPr>
        <p:txBody>
          <a:bodyPr/>
          <a:lstStyle/>
          <a:p>
            <a:r>
              <a:rPr lang="en-US" altLang="ko-KR" sz="2400" dirty="0">
                <a:solidFill>
                  <a:srgbClr val="FFFF00"/>
                </a:solidFill>
              </a:rPr>
              <a:t>OSPF </a:t>
            </a:r>
            <a:r>
              <a:rPr lang="ko-KR" altLang="en-US" sz="2400" dirty="0">
                <a:solidFill>
                  <a:srgbClr val="FFFF00"/>
                </a:solidFill>
              </a:rPr>
              <a:t>라우팅 프로토콜</a:t>
            </a:r>
            <a:endParaRPr lang="en-US" altLang="ko-KR" sz="24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400" dirty="0">
                <a:solidFill>
                  <a:srgbClr val="FFFF00"/>
                </a:solidFill>
              </a:rPr>
              <a:t> </a:t>
            </a:r>
            <a:r>
              <a:rPr lang="ko-KR" altLang="en-US" sz="2400" dirty="0">
                <a:solidFill>
                  <a:srgbClr val="FFFF00"/>
                </a:solidFill>
              </a:rPr>
              <a:t>  </a:t>
            </a:r>
            <a:r>
              <a:rPr lang="en-US" altLang="ko-KR" sz="2400" dirty="0"/>
              <a:t>OSPF </a:t>
            </a:r>
            <a:r>
              <a:rPr lang="ko-KR" altLang="en-US" sz="2400" dirty="0"/>
              <a:t>는 </a:t>
            </a:r>
            <a:r>
              <a:rPr lang="en-US" altLang="ko-KR" sz="2400" dirty="0"/>
              <a:t>IP </a:t>
            </a:r>
            <a:r>
              <a:rPr lang="ko-KR" altLang="en-US" sz="2400" dirty="0"/>
              <a:t>패킷 안에 프로토콜 넘버 </a:t>
            </a:r>
            <a:r>
              <a:rPr lang="en-US" altLang="ko-KR" sz="2400" dirty="0"/>
              <a:t>89(</a:t>
            </a:r>
            <a:r>
              <a:rPr lang="ko-KR" altLang="en-US" sz="2400" dirty="0"/>
              <a:t>십진수</a:t>
            </a:r>
            <a:r>
              <a:rPr lang="en-US" altLang="ko-KR" sz="2400" dirty="0"/>
              <a:t>)</a:t>
            </a:r>
            <a:r>
              <a:rPr lang="ko-KR" altLang="en-US" sz="2400" dirty="0"/>
              <a:t> 로 </a:t>
            </a:r>
            <a:r>
              <a:rPr lang="ko-KR" altLang="en-US" sz="2400" dirty="0" err="1"/>
              <a:t>들어가게됨</a:t>
            </a:r>
            <a:r>
              <a:rPr lang="en-US" altLang="ko-KR" sz="2400" dirty="0"/>
              <a:t>. </a:t>
            </a:r>
            <a:r>
              <a:rPr lang="ko-KR" altLang="en-US" sz="2400" dirty="0"/>
              <a:t> </a:t>
            </a: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▪ </a:t>
            </a:r>
            <a:r>
              <a:rPr lang="en-US" altLang="ko-KR" sz="2400" dirty="0">
                <a:solidFill>
                  <a:srgbClr val="FFFF00"/>
                </a:solidFill>
              </a:rPr>
              <a:t>Convergence time</a:t>
            </a:r>
          </a:p>
          <a:p>
            <a:pPr marL="0" indent="0">
              <a:buNone/>
            </a:pPr>
            <a:r>
              <a:rPr lang="en-US" altLang="ko-KR" sz="2400" dirty="0"/>
              <a:t>   </a:t>
            </a:r>
            <a:r>
              <a:rPr lang="ko-KR" altLang="en-US" sz="2400" dirty="0"/>
              <a:t>라우터 간에 서로 변경된 정보를 주고받는데 걸리는 시간 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   OSPF</a:t>
            </a:r>
            <a:r>
              <a:rPr lang="ko-KR" altLang="en-US" sz="2400" dirty="0"/>
              <a:t>는 어떤 변화가 생길 때 바로 전달이 가능하여 </a:t>
            </a:r>
            <a:r>
              <a:rPr lang="en-US" altLang="ko-KR" sz="2400" dirty="0"/>
              <a:t>RIP</a:t>
            </a:r>
            <a:r>
              <a:rPr lang="ko-KR" altLang="en-US" sz="2400" dirty="0"/>
              <a:t>에 비해 훨씬 빠르다</a:t>
            </a: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▪ </a:t>
            </a:r>
            <a:r>
              <a:rPr lang="en-US" altLang="ko-KR" sz="2400" dirty="0">
                <a:solidFill>
                  <a:srgbClr val="FFFF00"/>
                </a:solidFill>
              </a:rPr>
              <a:t>VLSM</a:t>
            </a:r>
            <a:r>
              <a:rPr lang="ko-KR" altLang="en-US" sz="2400" dirty="0">
                <a:solidFill>
                  <a:srgbClr val="FFFF00"/>
                </a:solidFill>
              </a:rPr>
              <a:t>을</a:t>
            </a:r>
            <a:r>
              <a:rPr lang="ko-KR" altLang="en-US" sz="2400" dirty="0"/>
              <a:t> 확실하게 지원하여 </a:t>
            </a:r>
            <a:r>
              <a:rPr lang="en-US" altLang="ko-KR" sz="2400" dirty="0"/>
              <a:t>IP</a:t>
            </a:r>
            <a:r>
              <a:rPr lang="ko-KR" altLang="en-US" sz="2400" dirty="0"/>
              <a:t>주소 효과적 사용 라우팅 테이블을 줄이는 효과</a:t>
            </a: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ko-KR" altLang="en-US" sz="2000" dirty="0"/>
              <a:t>   </a:t>
            </a:r>
            <a:r>
              <a:rPr lang="ko-KR" altLang="en-US" sz="2000" dirty="0">
                <a:solidFill>
                  <a:srgbClr val="FFFF00"/>
                </a:solidFill>
              </a:rPr>
              <a:t>네트워크 크기제한이 없다</a:t>
            </a:r>
            <a:r>
              <a:rPr lang="ko-KR" altLang="en-US" sz="2000" dirty="0"/>
              <a:t>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15</a:t>
            </a:r>
            <a:r>
              <a:rPr lang="ko-KR" altLang="en-US" sz="2000" dirty="0"/>
              <a:t>개의 라우터를 건너는 것이 가능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▪ </a:t>
            </a:r>
            <a:r>
              <a:rPr lang="ko-KR" altLang="en-US" sz="2000" dirty="0">
                <a:solidFill>
                  <a:srgbClr val="FFFF00"/>
                </a:solidFill>
              </a:rPr>
              <a:t>네트워크 대역폭 활용측면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ko-KR" altLang="en-US" sz="2000" dirty="0"/>
              <a:t> 변화가 있을 때만 정보가 날아가고 멀티캐스트로 날아가기 때문에 실용적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15224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93D8F4-497F-45B1-80FA-629A87B65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6895"/>
            <a:ext cx="10515600" cy="5640068"/>
          </a:xfrm>
        </p:spPr>
        <p:txBody>
          <a:bodyPr/>
          <a:lstStyle/>
          <a:p>
            <a:r>
              <a:rPr lang="en-US" altLang="ko-KR" dirty="0">
                <a:solidFill>
                  <a:srgbClr val="FFFF00"/>
                </a:solidFill>
              </a:rPr>
              <a:t>OSPF</a:t>
            </a:r>
            <a:r>
              <a:rPr lang="ko-KR" altLang="en-US" dirty="0">
                <a:solidFill>
                  <a:srgbClr val="FFFF00"/>
                </a:solidFill>
              </a:rPr>
              <a:t>적용 토폴로지 </a:t>
            </a:r>
            <a:endParaRPr lang="en-US" altLang="ko-KR" dirty="0">
              <a:solidFill>
                <a:srgbClr val="FFFF00"/>
              </a:solidFill>
            </a:endParaRPr>
          </a:p>
          <a:p>
            <a:endParaRPr lang="en-US" altLang="ko-KR" dirty="0">
              <a:solidFill>
                <a:srgbClr val="FFFF00"/>
              </a:solidFill>
            </a:endParaRPr>
          </a:p>
          <a:p>
            <a:pPr>
              <a:buFontTx/>
              <a:buChar char="-"/>
            </a:pPr>
            <a:r>
              <a:rPr lang="ko-KR" altLang="en-US" sz="2400" dirty="0" err="1">
                <a:solidFill>
                  <a:srgbClr val="FFFF00"/>
                </a:solidFill>
              </a:rPr>
              <a:t>브로드캐스트</a:t>
            </a:r>
            <a:r>
              <a:rPr lang="ko-KR" altLang="en-US" sz="2400" dirty="0">
                <a:solidFill>
                  <a:srgbClr val="FFFF00"/>
                </a:solidFill>
              </a:rPr>
              <a:t> </a:t>
            </a:r>
            <a:r>
              <a:rPr lang="ko-KR" altLang="en-US" sz="2400" dirty="0" err="1">
                <a:solidFill>
                  <a:srgbClr val="FFFF00"/>
                </a:solidFill>
              </a:rPr>
              <a:t>멀티액세스</a:t>
            </a:r>
            <a:r>
              <a:rPr lang="ko-KR" altLang="en-US" sz="2400" dirty="0">
                <a:solidFill>
                  <a:srgbClr val="FFFF00"/>
                </a:solidFill>
              </a:rPr>
              <a:t> 토폴로지 </a:t>
            </a:r>
            <a:endParaRPr lang="en-US" altLang="ko-KR" sz="2400" dirty="0">
              <a:solidFill>
                <a:srgbClr val="FFFF00"/>
              </a:solidFill>
            </a:endParaRPr>
          </a:p>
          <a:p>
            <a:pPr>
              <a:buFontTx/>
              <a:buChar char="-"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2000" dirty="0"/>
              <a:t>   </a:t>
            </a:r>
            <a:r>
              <a:rPr lang="ko-KR" altLang="en-US" sz="2000" dirty="0"/>
              <a:t>네트워크에 두 개 이상의 라우터가 연결되는 경우로 하나의 메시지를 내보내면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</a:t>
            </a:r>
            <a:r>
              <a:rPr lang="ko-KR" altLang="en-US" sz="2000" dirty="0"/>
              <a:t>이 네트워크 상에 있는 모든 녀석들이 정보를 받을 수 있는 구조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 </a:t>
            </a:r>
            <a:endParaRPr lang="en-US" altLang="ko-KR" sz="2000" dirty="0"/>
          </a:p>
          <a:p>
            <a:pPr>
              <a:buFontTx/>
              <a:buChar char="-"/>
            </a:pPr>
            <a:r>
              <a:rPr lang="ko-KR" altLang="en-US" sz="2400" dirty="0">
                <a:solidFill>
                  <a:srgbClr val="FFFF00"/>
                </a:solidFill>
              </a:rPr>
              <a:t>포인트 투 포인트 토폴로지 </a:t>
            </a:r>
            <a:endParaRPr lang="en-US" altLang="ko-KR" sz="24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/>
              <a:t>네트워크에 한 쌍의 라우터만 존재하는 경우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- </a:t>
            </a:r>
            <a:r>
              <a:rPr lang="en-US" altLang="ko-KR" sz="2400" dirty="0">
                <a:solidFill>
                  <a:srgbClr val="FFFF00"/>
                </a:solidFill>
              </a:rPr>
              <a:t>NBMA (Non Broadcast Multi-access.)</a:t>
            </a:r>
            <a:r>
              <a:rPr lang="en-US" altLang="ko-KR" sz="2000" dirty="0"/>
              <a:t> </a:t>
            </a:r>
            <a:r>
              <a:rPr lang="ko-KR" altLang="en-US" sz="2000" dirty="0">
                <a:solidFill>
                  <a:srgbClr val="FFFF00"/>
                </a:solidFill>
              </a:rPr>
              <a:t>토폴로지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>
              <a:buFontTx/>
              <a:buChar char="-"/>
            </a:pPr>
            <a:r>
              <a:rPr lang="ko-KR" altLang="en-US" sz="2000" dirty="0"/>
              <a:t> 네트워크에 두 개 이상의 라우터가 연결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 </a:t>
            </a:r>
            <a:r>
              <a:rPr lang="ko-KR" altLang="en-US" sz="2000" dirty="0" err="1"/>
              <a:t>브로드캐스트</a:t>
            </a:r>
            <a:r>
              <a:rPr lang="ko-KR" altLang="en-US" sz="2000" dirty="0"/>
              <a:t> 능력은 없음</a:t>
            </a:r>
          </a:p>
        </p:txBody>
      </p:sp>
    </p:spTree>
    <p:extLst>
      <p:ext uri="{BB962C8B-B14F-4D97-AF65-F5344CB8AC3E}">
        <p14:creationId xmlns:p14="http://schemas.microsoft.com/office/powerpoint/2010/main" val="39762156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835DE7-4FC4-4269-800B-19756B5F5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2396"/>
            <a:ext cx="10515600" cy="5564567"/>
          </a:xfrm>
        </p:spPr>
        <p:txBody>
          <a:bodyPr/>
          <a:lstStyle/>
          <a:p>
            <a:r>
              <a:rPr lang="en-US" altLang="ko-KR" dirty="0">
                <a:solidFill>
                  <a:srgbClr val="FFFF00"/>
                </a:solidFill>
              </a:rPr>
              <a:t>OSPF (DR BDR)</a:t>
            </a:r>
          </a:p>
          <a:p>
            <a:r>
              <a:rPr lang="en-US" altLang="ko-KR" sz="2000" dirty="0"/>
              <a:t>OSPF </a:t>
            </a:r>
            <a:r>
              <a:rPr lang="ko-KR" altLang="en-US" sz="2000" dirty="0"/>
              <a:t>세그먼트에서는 각 라우터들이 </a:t>
            </a:r>
            <a:r>
              <a:rPr lang="en-US" altLang="ko-KR" sz="2000" dirty="0"/>
              <a:t>OSPF</a:t>
            </a:r>
            <a:r>
              <a:rPr lang="ko-KR" altLang="en-US" sz="2000" dirty="0"/>
              <a:t>에 참여하게 되면 </a:t>
            </a:r>
            <a:r>
              <a:rPr lang="en-US" altLang="ko-KR" sz="2000" dirty="0"/>
              <a:t>DR</a:t>
            </a:r>
            <a:r>
              <a:rPr lang="ko-KR" altLang="en-US" sz="2000" dirty="0"/>
              <a:t>과 </a:t>
            </a:r>
            <a:r>
              <a:rPr lang="en-US" altLang="ko-KR" sz="2000" dirty="0"/>
              <a:t>BDR</a:t>
            </a:r>
            <a:r>
              <a:rPr lang="ko-KR" altLang="en-US" sz="2000" dirty="0"/>
              <a:t>에게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</a:t>
            </a:r>
            <a:r>
              <a:rPr lang="ko-KR" altLang="en-US" sz="2000" dirty="0"/>
              <a:t>자신의 </a:t>
            </a:r>
            <a:r>
              <a:rPr lang="en-US" altLang="ko-KR" sz="2000" dirty="0"/>
              <a:t>Link state</a:t>
            </a:r>
            <a:r>
              <a:rPr lang="ko-KR" altLang="en-US" sz="2000" dirty="0"/>
              <a:t>를 알리는데 그 이유는 모든 라우터들과 </a:t>
            </a:r>
            <a:r>
              <a:rPr lang="en-US" altLang="ko-KR" sz="2000" dirty="0"/>
              <a:t>Link state</a:t>
            </a:r>
            <a:r>
              <a:rPr lang="ko-KR" altLang="en-US" sz="2000" dirty="0"/>
              <a:t>를 교환할 경우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</a:t>
            </a:r>
            <a:r>
              <a:rPr lang="ko-KR" altLang="en-US" sz="2000" dirty="0"/>
              <a:t> 발생하는 트래픽을 줄이고 </a:t>
            </a:r>
            <a:r>
              <a:rPr lang="en-US" altLang="ko-KR" sz="2000" dirty="0"/>
              <a:t>Link state</a:t>
            </a:r>
            <a:r>
              <a:rPr lang="ko-KR" altLang="en-US" sz="2000" dirty="0"/>
              <a:t>의 </a:t>
            </a:r>
            <a:r>
              <a:rPr lang="ko-KR" altLang="en-US" sz="2000" dirty="0" err="1"/>
              <a:t>일치성</a:t>
            </a:r>
            <a:r>
              <a:rPr lang="ko-KR" altLang="en-US" sz="2000" dirty="0"/>
              <a:t> 를 제대로 관리하기 위해서이다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DR BDR </a:t>
            </a:r>
            <a:r>
              <a:rPr lang="ko-KR" altLang="en-US" sz="2000" dirty="0"/>
              <a:t>은 라우터 </a:t>
            </a:r>
            <a:r>
              <a:rPr lang="en-US" altLang="ko-KR" sz="2000" dirty="0"/>
              <a:t>ID</a:t>
            </a:r>
            <a:r>
              <a:rPr lang="ko-KR" altLang="en-US" sz="2000" dirty="0"/>
              <a:t>와 라우터의 </a:t>
            </a:r>
            <a:r>
              <a:rPr lang="en-US" altLang="ko-KR" sz="2000" dirty="0"/>
              <a:t>Priority</a:t>
            </a:r>
            <a:r>
              <a:rPr lang="ko-KR" altLang="en-US" sz="2000" dirty="0"/>
              <a:t> 를 가지고 선출된다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 </a:t>
            </a:r>
            <a:r>
              <a:rPr lang="en-US" altLang="ko-KR" sz="2000" dirty="0"/>
              <a:t>- Priority </a:t>
            </a:r>
            <a:r>
              <a:rPr lang="ko-KR" altLang="en-US" sz="2000" dirty="0"/>
              <a:t>로 선출하는데 </a:t>
            </a:r>
            <a:r>
              <a:rPr lang="ko-KR" altLang="en-US" sz="2000" dirty="0" err="1"/>
              <a:t>디폴트값은</a:t>
            </a:r>
            <a:r>
              <a:rPr lang="ko-KR" altLang="en-US" sz="2000" dirty="0"/>
              <a:t> </a:t>
            </a:r>
            <a:r>
              <a:rPr lang="en-US" altLang="ko-KR" sz="2000" dirty="0"/>
              <a:t>1 </a:t>
            </a:r>
            <a:r>
              <a:rPr lang="ko-KR" altLang="en-US" sz="2000" dirty="0"/>
              <a:t>이고 이 값이 큰 쪽이 </a:t>
            </a:r>
            <a:r>
              <a:rPr lang="en-US" altLang="ko-KR" sz="2000" dirty="0"/>
              <a:t>DR</a:t>
            </a:r>
            <a:r>
              <a:rPr lang="ko-KR" altLang="en-US" sz="2000" dirty="0"/>
              <a:t>이 되고 작은 쪽은 </a:t>
            </a:r>
            <a:r>
              <a:rPr lang="en-US" altLang="ko-KR" sz="2000" dirty="0"/>
              <a:t>BDR</a:t>
            </a:r>
            <a:r>
              <a:rPr lang="ko-KR" altLang="en-US" sz="2000" dirty="0"/>
              <a:t>이 된다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en-US" altLang="ko-KR" sz="2000" dirty="0"/>
              <a:t> - Priority </a:t>
            </a:r>
            <a:r>
              <a:rPr lang="ko-KR" altLang="en-US" sz="2000" dirty="0"/>
              <a:t>가 같으면 라우터 </a:t>
            </a:r>
            <a:r>
              <a:rPr lang="en-US" altLang="ko-KR" sz="2000" dirty="0"/>
              <a:t>ID</a:t>
            </a:r>
            <a:r>
              <a:rPr lang="ko-KR" altLang="en-US" sz="2000" dirty="0"/>
              <a:t> 가 큰 것이 </a:t>
            </a:r>
            <a:r>
              <a:rPr lang="en-US" altLang="ko-KR" sz="2000" dirty="0"/>
              <a:t>DR</a:t>
            </a:r>
            <a:r>
              <a:rPr lang="ko-KR" altLang="en-US" sz="2000" dirty="0"/>
              <a:t> 작은 것이 </a:t>
            </a:r>
            <a:r>
              <a:rPr lang="en-US" altLang="ko-KR" sz="2000" dirty="0"/>
              <a:t>BDR</a:t>
            </a:r>
            <a:r>
              <a:rPr lang="ko-KR" altLang="en-US" sz="2000" dirty="0"/>
              <a:t> 로 선정</a:t>
            </a:r>
          </a:p>
        </p:txBody>
      </p:sp>
    </p:spTree>
    <p:extLst>
      <p:ext uri="{BB962C8B-B14F-4D97-AF65-F5344CB8AC3E}">
        <p14:creationId xmlns:p14="http://schemas.microsoft.com/office/powerpoint/2010/main" val="20482574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05CB6F-E1A2-4D4B-BD80-D16C4FF0A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365" y="1020282"/>
            <a:ext cx="10515600" cy="4351338"/>
          </a:xfrm>
        </p:spPr>
        <p:txBody>
          <a:bodyPr/>
          <a:lstStyle/>
          <a:p>
            <a:r>
              <a:rPr lang="en-US" altLang="ko-KR" dirty="0">
                <a:solidFill>
                  <a:srgbClr val="FFFF00"/>
                </a:solidFill>
              </a:rPr>
              <a:t>NAT</a:t>
            </a:r>
          </a:p>
          <a:p>
            <a:pPr marL="0" indent="0">
              <a:buNone/>
            </a:pPr>
            <a:r>
              <a:rPr lang="en-US" altLang="ko-KR" dirty="0">
                <a:solidFill>
                  <a:srgbClr val="FFFF00"/>
                </a:solidFill>
              </a:rPr>
              <a:t>  </a:t>
            </a:r>
            <a:r>
              <a:rPr lang="ko-KR" altLang="en-US" sz="2000" dirty="0"/>
              <a:t>한쪽 </a:t>
            </a:r>
            <a:r>
              <a:rPr lang="ko-KR" altLang="en-US" sz="2000" dirty="0" err="1"/>
              <a:t>네터워크의</a:t>
            </a:r>
            <a:r>
              <a:rPr lang="ko-KR" altLang="en-US" sz="2000" dirty="0"/>
              <a:t> </a:t>
            </a:r>
            <a:r>
              <a:rPr lang="en-US" altLang="ko-KR" sz="2000" dirty="0"/>
              <a:t>IP</a:t>
            </a:r>
            <a:r>
              <a:rPr lang="ko-KR" altLang="en-US" sz="2000" dirty="0"/>
              <a:t>주소가 다른 네트워크로 넘어갈 때 변환이 되어서 넘어가는 것</a:t>
            </a:r>
          </a:p>
        </p:txBody>
      </p:sp>
      <p:pic>
        <p:nvPicPr>
          <p:cNvPr id="1026" name="Picture 2" descr="nat example">
            <a:extLst>
              <a:ext uri="{FF2B5EF4-FFF2-40B4-BE49-F238E27FC236}">
                <a16:creationId xmlns:a16="http://schemas.microsoft.com/office/drawing/2014/main" id="{4133AD41-64BD-4122-B384-04EFB0882D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9815" y="2472011"/>
            <a:ext cx="6210712" cy="3432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13F31845-4AC1-496F-8F2C-3196C5F42774}"/>
              </a:ext>
            </a:extLst>
          </p:cNvPr>
          <p:cNvSpPr/>
          <p:nvPr/>
        </p:nvSpPr>
        <p:spPr>
          <a:xfrm>
            <a:off x="3692258" y="6130147"/>
            <a:ext cx="36162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hlinkClick r:id="rId3"/>
              </a:rPr>
              <a:t>https://study-ccna.com/what-is-nat/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6325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239</TotalTime>
  <Words>1006</Words>
  <Application>Microsoft Office PowerPoint</Application>
  <PresentationFormat>와이드스크린</PresentationFormat>
  <Paragraphs>132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맑은 고딕</vt:lpstr>
      <vt:lpstr>Arial</vt:lpstr>
      <vt:lpstr>Calibri</vt:lpstr>
      <vt:lpstr>Calibri Light</vt:lpstr>
      <vt:lpstr>Office Theme</vt:lpstr>
      <vt:lpstr>GBC  Network  21900195 김 진 일</vt:lpstr>
      <vt:lpstr>라우터  “지능을 가진 경로 배정기“  -자신이 가야 할 길을 자동으로 찾아서 갈 수 있는 능력을 가진 것을 말함.  라우터의 능력 : 데이터를 목적지까지 가장 빠르고 효율적인 길을 스스로 찾아 안내해 주는 능력을 지님.  라우터의 역할 1. Path Determination (경로 결정)   데이터 패킷이 목적지까지 갈 수 있는 길을 검사하고 어떤 길로 가는 것이 가장 적절한지 결정   2. Switching (스위칭)  길이 결정되면 그 쪽으로 데이터 패킷을 스위칭해준다  ▪ 가장 좋은 경로를 결정하기 위해서 라우팅 알고리즘을 사용하고 라우팅 테이블을 만들어서 관리함.  ▪ 시스코에서는 라우터에 들어가는 소프트웨어를    IOS(Internetwork Operation System)라한다</vt:lpstr>
      <vt:lpstr>인터페이스 라우터에 나와있는 접속 가능한 포트 (Ethernet Serial)  - Ethernet : 내부 네트워크 접속시 사용  - Serial 포트: WAN 접속을 위한 포트 DSU/CSU 와 연결  Ethernet Port:  내부 네트워크 즉 랜을 위한 접속 포트  Serial Port: 외부 네트워크 인터넷 또는 원격지 접속을 위한 포트로 DSU/CSU 와 연결  ■ 라우티드 프로토콜             라우팅을 당하는 프로토콜       ex) (TCP/IP, Apple Talk, IPX ) ■ 라우팅 프로토콜   라우티드 프로토콜들에게 목적지까지 가장 좋은 길을 갈 수 있게 해주는 역할  ▪ RIP, IGRP, OSPF, EIGRP . 등이 있다   ▪ 라우팅 알고리즘이라고도 한다. </vt:lpstr>
      <vt:lpstr>라우팅 알고리즘   자신의 라우팅 테이블을 가지고 있으면서 자기가 찾아갈 경로에 대한 정보를 이곳에 기억해둠.   * 스태틱 라우팅 프로토콜 (Static)  ▪ 라우터에 사람이 일일이 경로를 입력해줌.   ▪ 속도 빠르고 보안에 강함 메모리도 적게 듬 .   ▪ 손수 작업해서 번거로울 뿐 아니라 한 번 잘못되면 큰일이 발생    * 다이나믹 라우팅 프로토콜 (Dynamic)  ▪ 자기 판단에 따라 지정하여 편리하다   ▪ 라우터에 부담을 주고 속도가 Static 에 비해 느리다.  ▪ RIP, IGRP, OSPF, EIGRP </vt:lpstr>
      <vt:lpstr>라우팅 테이블   ▪ 라우터는 라우팅 테이블이라는 경로에 대한 지도 정보를 유지함   ▪ RAM에 올라가기 때문에 파워가 꺼지면 소멸   AS(Autonomous System)   ▪ 하나의 네트워크 관리자에 의해서 관리되는 라우터들의 집단   ▪ 라우터를 라는 그룹으로 묶는 이유는 라우터 정보를 효율적으로 관리하기 위함    ▪ 외부 즉  AS 밖으로 나갈 때는 문지기 라우터에게 정보를 물어보고 밖 (인터넷) 으로 나감.  AS 내부 사용 라우팅 프로토콜 (IGP) : RIP, IGRP, EIGRP, OSPF  AS 외부 사용 라우팅 프로토콜 (EGP) : EGP, BGP </vt:lpstr>
      <vt:lpstr>Disatance Vector   ▪ 거리와 방향만을 유지 이웃 라우터와 주기적으로 라우팅 테이블을 교환   ▪ 메모리가 적게 들고 구성이 쉽지만 링크 변동시에 인식 시간이 길고 네트워크 크기에 제한을 둠.  Link State   ▪ 한 목적지까지의 모든 경로 정보를 알고 있기 때문에 링크 변동에 따른 인식이 빠르다   ▪ 라우팅 테이블의 교환 주기가 길다   ▪ 링크 변동이 일어난 라우팅 테이블만 교환하기 때문에 트래픽이 적다.   ▪ 대형 네트워크에 적합하지만 메모리의 소모나 , CPU 의 로드가 많다 .</vt:lpstr>
      <vt:lpstr>CDP(Cisco Discovery Protocol)   시스코 에 연결된 장비를 찾아내는 역할을 함.  ▪ 장비의 이름과 같은 확인 정보    ▪ IP주소와 같은 주소 정보    ▪ 접속 포트에 대한 정보    ▪ 접속 장비의 기능에 대한 정보    ▪ 접속 장의 하드웨어 사양  </vt:lpstr>
      <vt:lpstr>핑과 트레이스   ▪ 라우터를 구성한 후 네트워크의 연결에 이상이 없는지를 테스트하기 위함   ▪ 일반 PC 를 사용하는 경우에도 인터넷 연결이 잘 되었는지 확인할때 사용함 .   - 단순형 핑을 사용했을때 출발지 주소는 라우터를 떠나는 쪽 인터페이스로 자동으로 잡힌다 .  출발지주소를 변경하려면 반드시 확장형 핑을 사용해야한다.   (Trace) : 목적지까지의 경로를 분석해 주는 기능   TTL값을 하나 씩 증가시키면서 돌아오는 에러 메시지를 보고 경로를 확인하는 기능을 제공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 진일</dc:creator>
  <cp:lastModifiedBy>김 진일</cp:lastModifiedBy>
  <cp:revision>20</cp:revision>
  <dcterms:created xsi:type="dcterms:W3CDTF">2019-06-18T04:49:08Z</dcterms:created>
  <dcterms:modified xsi:type="dcterms:W3CDTF">2019-06-18T08:48:26Z</dcterms:modified>
</cp:coreProperties>
</file>