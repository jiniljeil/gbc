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8B3748-425E-43F3-B417-C2690060B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488C5D-2253-4DE4-B0BC-CE48C6F93A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2CC6-27D1-4F6C-BE76-26C57EF1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217C13-4269-4D4E-A093-08B5DD51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F972F6-C1D6-4E23-96A6-C6E7A09B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560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C2858-AE48-4CFE-A9A5-C147A1AF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B45BF4-813F-4BF9-AC62-3D385DF44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DD4AC-E985-4E55-A874-425DB514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0731F5-6B40-4381-8862-67C3D7D2C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4E3D6C-9D2D-4B07-B445-BE428E2F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23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70AD0-1917-4770-8BB4-92BD440EE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C6A468-9CF7-49D1-AEAF-E19EA7CC8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44763-2F7F-4002-B45B-EDA4A567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D58382-C4FE-40B8-B491-CD515FDE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093899-143B-43F8-9BE7-B2BC31FB4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64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816FD1-3BC5-4EB9-A64D-F926F521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76365-1CB3-4C2F-BE62-4011CCF0F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CD6A69-502A-4E2F-BD59-4D2A977AA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FA575C-A005-4C88-99C3-17A99FB5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38F06-1252-4137-A92C-A7AFE574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8410D-90C2-4A56-BE9A-E38C37B9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376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8C266-D063-4212-BC39-2F3173EDB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343DE5-7840-4748-9678-460D49086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B0FBEA-F46F-4267-886B-BB83A7BCA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9F1297-5E6D-46AA-A653-72C8D8403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989A62-4B0E-4EF6-B5A2-CF8049D90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C15BA2-037F-45CF-9CD8-C16CEF160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6C38A76-C461-4523-A5C3-DBE34A7E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E38C0E-E019-4B54-AC52-5E7AFF84E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7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CFE8C-7A6A-414F-82B5-059A0EE8D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1D6580-7F63-4923-AD09-1FC9DEBFB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324C3D-B8E5-4B8A-A53C-D1E283A0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ADC127-69E3-4C2F-92A1-B0BB67511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28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B873CB-86D9-43E6-A95D-08F813D0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42D354-A21D-47AD-923B-0A25A3A2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E310CA-CFA9-447E-92D5-386CE5A53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22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EFD2C-E92B-4A1E-A940-76937B83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F56D3-566D-4E8A-A11A-C1AD79115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7A78EF-4516-4CE1-801F-6E12FB893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7B2327-F0D5-4BB6-AA86-5EFE818E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4E4049-F9FA-43E9-9EFC-AF25F0B9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798373-CBD6-49BC-85CA-CC9FBE565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5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A33504-13FD-42D7-9854-893D5D642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3784F6-06E3-44D1-B30A-6B87F23A0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2363E4-F71B-41CD-87C3-0A33D532A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6444A3-869D-4824-809C-8DA40CB3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78CB31-B05A-4B97-8095-1427F76D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9079EC-D361-46DA-8CE4-68872CA1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78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CE269F-7D20-4BD0-9D09-18905C29D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5EE7AC-9D9C-4F39-A386-EB425CED8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3DCDC3-C2F8-4E3B-B99C-D097C5972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A44D38-A9C6-4284-8994-055AC7452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2AA15-A4F3-4E2B-AC01-43CE2EA6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85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AF193A7-3C97-4CC4-AB30-440131FCB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E79772-51E7-437C-9330-239CD2AD1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18D2A-04CB-4E25-82A3-D29EBE42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4293FA-A28E-4DA9-B023-AAAE3328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9467BE-28F8-4445-8EFE-DE17AB83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10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04D067-4CA5-49B7-8679-41097810F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FEF864-A661-4D62-A486-0B927B0FE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6499D3-E2C8-4BE5-A927-8AA39DBC2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8B0F4A-75BE-466B-A2E0-98B4B6D0E9FD}" type="datetimeFigureOut">
              <a:rPr lang="ko-KR" altLang="en-US" smtClean="0"/>
              <a:t>2019-06-18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5B4230-2BAB-4216-A1B3-87C1191D0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5FF8F4-4A38-45A9-8BB8-0F05E63F1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84AA6-0CB6-4EFC-8CA7-077E710BC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237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9DDC9-4DC1-4950-BD54-8DB7A58392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GBC</a:t>
            </a:r>
            <a:br>
              <a:rPr lang="en-US" altLang="ko-KR" dirty="0"/>
            </a:br>
            <a:r>
              <a:rPr lang="en-US" altLang="ko-KR" dirty="0"/>
              <a:t>Network 10,11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2CB2C7-E69C-4331-9198-21078E21F7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21900195 </a:t>
            </a:r>
            <a:r>
              <a:rPr lang="ko-KR" altLang="en-US" dirty="0"/>
              <a:t>김 진 일</a:t>
            </a:r>
          </a:p>
        </p:txBody>
      </p:sp>
    </p:spTree>
    <p:extLst>
      <p:ext uri="{BB962C8B-B14F-4D97-AF65-F5344CB8AC3E}">
        <p14:creationId xmlns:p14="http://schemas.microsoft.com/office/powerpoint/2010/main" val="2014272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49B90-CBD0-4A2E-AA1F-6988D3CB9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229"/>
            <a:ext cx="10515600" cy="5589734"/>
          </a:xfrm>
        </p:spPr>
        <p:txBody>
          <a:bodyPr/>
          <a:lstStyle/>
          <a:p>
            <a:r>
              <a:rPr lang="en-US" altLang="ko-KR" dirty="0"/>
              <a:t>10.</a:t>
            </a:r>
            <a:r>
              <a:rPr lang="ko-KR" altLang="en-US" dirty="0"/>
              <a:t> 세상은 넓고 네트워킹은 계속된다</a:t>
            </a:r>
            <a:r>
              <a:rPr lang="en-US" altLang="ko-KR" dirty="0"/>
              <a:t>.</a:t>
            </a:r>
          </a:p>
          <a:p>
            <a:r>
              <a:rPr lang="en-US" altLang="ko-KR" sz="2400" dirty="0">
                <a:solidFill>
                  <a:schemeClr val="accent4"/>
                </a:solidFill>
              </a:rPr>
              <a:t>WAN</a:t>
            </a:r>
            <a:r>
              <a:rPr lang="ko-KR" altLang="en-US" sz="2400" dirty="0"/>
              <a:t>이란</a:t>
            </a:r>
            <a:r>
              <a:rPr lang="en-US" altLang="ko-KR" sz="2400" dirty="0"/>
              <a:t>?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sz="2000" dirty="0"/>
              <a:t>넓은 지역의 네트워킹에서도 중간에 통신 회사를 통해서 네트워킹을 구축할 때 사용 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chemeClr val="accent4"/>
                </a:solidFill>
              </a:rPr>
              <a:t>WAN</a:t>
            </a:r>
            <a:r>
              <a:rPr lang="ko-KR" altLang="en-US" sz="2400" dirty="0">
                <a:solidFill>
                  <a:schemeClr val="accent4"/>
                </a:solidFill>
              </a:rPr>
              <a:t>의 구현 방법</a:t>
            </a:r>
            <a:endParaRPr lang="en-US" altLang="ko-KR" sz="24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sz="2400" dirty="0"/>
              <a:t>1. </a:t>
            </a:r>
            <a:r>
              <a:rPr lang="ko-KR" altLang="en-US" sz="2400" dirty="0"/>
              <a:t>전용선 방식</a:t>
            </a:r>
            <a:r>
              <a:rPr lang="en-US" altLang="ko-KR" sz="2400" dirty="0"/>
              <a:t> 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2. </a:t>
            </a:r>
            <a:r>
              <a:rPr lang="ko-KR" altLang="en-US" sz="2400" dirty="0"/>
              <a:t>회선 스위칭 방식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3. </a:t>
            </a:r>
            <a:r>
              <a:rPr lang="ko-KR" altLang="en-US" sz="2400" dirty="0"/>
              <a:t>패킷 스위칭 방식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072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769CF-85F9-4078-9244-36758A17F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0116"/>
            <a:ext cx="10515600" cy="6031685"/>
          </a:xfrm>
        </p:spPr>
        <p:txBody>
          <a:bodyPr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>
                <a:solidFill>
                  <a:schemeClr val="accent4"/>
                </a:solidFill>
              </a:rPr>
              <a:t>1. </a:t>
            </a:r>
            <a:r>
              <a:rPr lang="ko-KR" altLang="en-US" sz="2000" dirty="0">
                <a:solidFill>
                  <a:schemeClr val="accent4"/>
                </a:solidFill>
              </a:rPr>
              <a:t>전용선 방식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전화국 같은 통신사업자에게 통신회선을 임대 받아서 쓰는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/>
              <a:t>이미 설치해 놓은 회선 중 하나를 우리는 돈을 내고 대여해서 사용하는 것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r>
              <a:rPr lang="en-US" altLang="ko-KR" sz="2000" dirty="0">
                <a:solidFill>
                  <a:schemeClr val="accent4"/>
                </a:solidFill>
              </a:rPr>
              <a:t>2. </a:t>
            </a:r>
            <a:r>
              <a:rPr lang="ko-KR" altLang="en-US" sz="2000" dirty="0">
                <a:solidFill>
                  <a:schemeClr val="accent4"/>
                </a:solidFill>
              </a:rPr>
              <a:t>회선 스위칭 방식 </a:t>
            </a:r>
            <a:r>
              <a:rPr lang="en-US" altLang="ko-KR" sz="2000" dirty="0">
                <a:solidFill>
                  <a:schemeClr val="accent4"/>
                </a:solidFill>
              </a:rPr>
              <a:t>(Circuit Switched)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자신이 통신을 하는 순간에만 자신에게 필요한 회선을 열어주고 통신이 끝나면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회수하는 방식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chemeClr val="accent4"/>
                </a:solidFill>
              </a:rPr>
              <a:t>3. </a:t>
            </a:r>
            <a:r>
              <a:rPr lang="ko-KR" altLang="en-US" sz="2000" dirty="0">
                <a:solidFill>
                  <a:schemeClr val="accent4"/>
                </a:solidFill>
              </a:rPr>
              <a:t>패킷 스위칭 방식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패킷 하나하나가 나누어서 통신회선을 타고 목적지까지 전달되는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>
                <a:sym typeface="Wingdings" panose="05000000000000000000" pitchFamily="2" charset="2"/>
              </a:rPr>
              <a:t>통신회선을 다른 사람들과 나눠서 쓰는 방식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+Virtual Circuit 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 </a:t>
            </a:r>
            <a:r>
              <a:rPr lang="ko-KR" altLang="en-US" sz="2000" dirty="0">
                <a:sym typeface="Wingdings" panose="05000000000000000000" pitchFamily="2" charset="2"/>
              </a:rPr>
              <a:t>자신에게 배정된 회선이 없는데 마치 있는 것 처럼 통신하는 방식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ex) </a:t>
            </a:r>
            <a:r>
              <a:rPr lang="ko-KR" altLang="en-US" sz="2000" dirty="0">
                <a:sym typeface="Wingdings" panose="05000000000000000000" pitchFamily="2" charset="2"/>
              </a:rPr>
              <a:t>프레임 릴레이 </a:t>
            </a:r>
            <a:r>
              <a:rPr lang="en-US" altLang="ko-KR" sz="2000" dirty="0">
                <a:sym typeface="Wingdings" panose="05000000000000000000" pitchFamily="2" charset="2"/>
              </a:rPr>
              <a:t>, ATM , X25 </a:t>
            </a:r>
            <a:r>
              <a:rPr lang="ko-KR" altLang="en-US" sz="2000" dirty="0">
                <a:sym typeface="Wingdings" panose="05000000000000000000" pitchFamily="2" charset="2"/>
              </a:rPr>
              <a:t>등 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19269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8B96D1-0E6F-4559-9998-6FAFD7CE7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8840"/>
            <a:ext cx="10515600" cy="5514233"/>
          </a:xfrm>
        </p:spPr>
        <p:txBody>
          <a:bodyPr>
            <a:normAutofit/>
          </a:bodyPr>
          <a:lstStyle/>
          <a:p>
            <a:r>
              <a:rPr lang="en-US" altLang="ko-KR" dirty="0"/>
              <a:t>11. </a:t>
            </a:r>
            <a:r>
              <a:rPr lang="ko-KR" altLang="en-US" dirty="0"/>
              <a:t>선이 없는 세상</a:t>
            </a:r>
            <a:r>
              <a:rPr lang="en-US" altLang="ko-KR" dirty="0"/>
              <a:t>, </a:t>
            </a:r>
            <a:r>
              <a:rPr lang="ko-KR" altLang="en-US" dirty="0"/>
              <a:t>무선으로의 여행</a:t>
            </a:r>
            <a:endParaRPr lang="en-US" altLang="ko-KR" dirty="0"/>
          </a:p>
          <a:p>
            <a:r>
              <a:rPr lang="ko-KR" altLang="en-US" sz="2400" dirty="0">
                <a:solidFill>
                  <a:schemeClr val="accent4"/>
                </a:solidFill>
              </a:rPr>
              <a:t>무선 네트워킹</a:t>
            </a:r>
            <a:endParaRPr lang="en-US" altLang="ko-KR" sz="24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ko-KR" altLang="en-US" sz="2000" dirty="0"/>
              <a:t>신호를 전하는 케이블 대신에 무선</a:t>
            </a:r>
            <a:r>
              <a:rPr lang="en-US" altLang="ko-KR" sz="2000" dirty="0"/>
              <a:t>(</a:t>
            </a:r>
            <a:r>
              <a:rPr lang="ko-KR" altLang="en-US" sz="2000" dirty="0"/>
              <a:t>전파</a:t>
            </a:r>
            <a:r>
              <a:rPr lang="en-US" altLang="ko-KR" sz="2000" dirty="0"/>
              <a:t>)</a:t>
            </a:r>
            <a:r>
              <a:rPr lang="ko-KR" altLang="en-US" sz="2000" dirty="0"/>
              <a:t>을 이용하는 통신 네트워크</a:t>
            </a:r>
            <a:endParaRPr lang="en-US" altLang="ko-KR" sz="2000" dirty="0"/>
          </a:p>
          <a:p>
            <a:r>
              <a:rPr lang="en-US" altLang="ko-KR" sz="2400" dirty="0">
                <a:solidFill>
                  <a:schemeClr val="accent4"/>
                </a:solidFill>
              </a:rPr>
              <a:t>AP(Access Point)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ko-KR" altLang="en-US" sz="2000" dirty="0"/>
              <a:t>유선과 무선을 서로 연결해주는 역할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400" dirty="0"/>
              <a:t> </a:t>
            </a:r>
            <a:r>
              <a:rPr lang="ko-KR" altLang="en-US" sz="2400" dirty="0">
                <a:solidFill>
                  <a:schemeClr val="accent4"/>
                </a:solidFill>
              </a:rPr>
              <a:t>무선 랜 통신 방식</a:t>
            </a:r>
            <a:endParaRPr lang="en-US" altLang="ko-KR" sz="24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n-US" altLang="ko-KR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1. Radio wave</a:t>
            </a:r>
            <a:r>
              <a:rPr lang="ko-KR" altLang="en-US" sz="2000" dirty="0"/>
              <a:t>를 들어보는 방법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2. </a:t>
            </a:r>
            <a:r>
              <a:rPr lang="ko-KR" altLang="en-US" sz="2000" dirty="0" err="1"/>
              <a:t>랜덤한</a:t>
            </a:r>
            <a:r>
              <a:rPr lang="ko-KR" altLang="en-US" sz="2000" dirty="0"/>
              <a:t> 시간동안 기다리는 방법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3. </a:t>
            </a:r>
            <a:r>
              <a:rPr lang="ko-KR" altLang="en-US" sz="2000" dirty="0"/>
              <a:t>시간이 지난 후 다시 들어보는 방법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4. </a:t>
            </a:r>
            <a:r>
              <a:rPr lang="ko-KR" altLang="en-US" sz="2000" dirty="0"/>
              <a:t>전송 후 </a:t>
            </a:r>
            <a:r>
              <a:rPr lang="en-US" altLang="ko-KR" sz="2000" dirty="0"/>
              <a:t>ACK</a:t>
            </a:r>
            <a:r>
              <a:rPr lang="ko-KR" altLang="en-US" sz="2000" dirty="0"/>
              <a:t>를 기다리는 방법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677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C937FC-E099-4602-8E31-C78A4888F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9174"/>
            <a:ext cx="10515600" cy="5547789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랜에서의 두 가지 모드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/>
              <a:t>  1. </a:t>
            </a:r>
            <a:r>
              <a:rPr lang="en-US" altLang="ko-KR" sz="2000" dirty="0">
                <a:solidFill>
                  <a:schemeClr val="accent4"/>
                </a:solidFill>
              </a:rPr>
              <a:t>Ad Hoc </a:t>
            </a:r>
            <a:r>
              <a:rPr lang="ko-KR" altLang="en-US" sz="2000" dirty="0">
                <a:solidFill>
                  <a:schemeClr val="accent4"/>
                </a:solidFill>
              </a:rPr>
              <a:t>모드 </a:t>
            </a:r>
            <a:r>
              <a:rPr lang="en-US" altLang="ko-KR" sz="2000" dirty="0"/>
              <a:t>= “</a:t>
            </a:r>
            <a:r>
              <a:rPr lang="ko-KR" altLang="en-US" sz="2000" dirty="0"/>
              <a:t>임시변통의</a:t>
            </a:r>
            <a:r>
              <a:rPr lang="en-US" altLang="ko-KR" sz="2000" dirty="0"/>
              <a:t>”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무선 네트워크에 꼭 필요하다는 </a:t>
            </a:r>
            <a:r>
              <a:rPr lang="en-US" altLang="ko-KR" sz="2000" dirty="0"/>
              <a:t>AP</a:t>
            </a:r>
            <a:r>
              <a:rPr lang="ko-KR" altLang="en-US" sz="2000" dirty="0"/>
              <a:t>를 사용하지 않고 </a:t>
            </a:r>
            <a:r>
              <a:rPr lang="en-US" altLang="ko-KR" sz="2000" dirty="0"/>
              <a:t>PC</a:t>
            </a:r>
            <a:r>
              <a:rPr lang="ko-KR" altLang="en-US" sz="2000" dirty="0"/>
              <a:t>에 무선 랜 카드만을 꽂아서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임시변통으로 통신하는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2. </a:t>
            </a:r>
            <a:r>
              <a:rPr lang="en-US" altLang="ko-KR" sz="2000" dirty="0">
                <a:solidFill>
                  <a:schemeClr val="accent4"/>
                </a:solidFill>
              </a:rPr>
              <a:t>Infrastructure </a:t>
            </a:r>
            <a:r>
              <a:rPr lang="ko-KR" altLang="en-US" sz="2000" dirty="0">
                <a:solidFill>
                  <a:schemeClr val="accent4"/>
                </a:solidFill>
              </a:rPr>
              <a:t>모드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 AP</a:t>
            </a:r>
            <a:r>
              <a:rPr lang="ko-KR" altLang="en-US" sz="2000" dirty="0"/>
              <a:t>를 사용해서 무선 통신을 함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무선 랜 카드가 장착된 </a:t>
            </a:r>
            <a:r>
              <a:rPr lang="en-US" altLang="ko-KR" sz="2000" dirty="0"/>
              <a:t>PC</a:t>
            </a:r>
            <a:r>
              <a:rPr lang="ko-KR" altLang="en-US" sz="2000" dirty="0"/>
              <a:t>는 데이터를 </a:t>
            </a:r>
            <a:r>
              <a:rPr lang="en-US" altLang="ko-KR" sz="2000" dirty="0"/>
              <a:t>AP</a:t>
            </a:r>
            <a:r>
              <a:rPr lang="ko-KR" altLang="en-US" sz="2000" dirty="0"/>
              <a:t>에 전달하고 </a:t>
            </a:r>
            <a:r>
              <a:rPr lang="en-US" altLang="ko-KR" sz="2000" dirty="0"/>
              <a:t>,AP</a:t>
            </a:r>
            <a:r>
              <a:rPr lang="ko-KR" altLang="en-US" sz="2000" dirty="0"/>
              <a:t>가 이 데이터를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상대의 </a:t>
            </a:r>
            <a:r>
              <a:rPr lang="en-US" altLang="ko-KR" sz="2000" dirty="0"/>
              <a:t>PC</a:t>
            </a:r>
            <a:r>
              <a:rPr lang="ko-KR" altLang="en-US" sz="2000" dirty="0"/>
              <a:t>에 전달 해주는 방식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*AP</a:t>
            </a:r>
            <a:r>
              <a:rPr lang="ko-KR" altLang="en-US" sz="2000" dirty="0"/>
              <a:t>의 역할은 유선 네트워크에서의 허브와 비슷하다 볼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 이유 </a:t>
            </a:r>
            <a:r>
              <a:rPr lang="en-US" altLang="ko-KR" sz="2000" dirty="0"/>
              <a:t>: </a:t>
            </a:r>
            <a:r>
              <a:rPr lang="ko-KR" altLang="en-US" sz="2000" dirty="0"/>
              <a:t>허브처럼 어느 한 순간에는 어느 한 녀석과만 통신이 가능하기 때문</a:t>
            </a: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50920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0B0D7D-58E5-42CC-A185-B3DF0B7D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8172"/>
            <a:ext cx="10515600" cy="5698791"/>
          </a:xfrm>
        </p:spPr>
        <p:txBody>
          <a:bodyPr/>
          <a:lstStyle/>
          <a:p>
            <a:r>
              <a:rPr lang="en-US" altLang="ko-KR" dirty="0"/>
              <a:t>Infrastructure </a:t>
            </a:r>
            <a:r>
              <a:rPr lang="ko-KR" altLang="en-US" dirty="0"/>
              <a:t>모드</a:t>
            </a:r>
            <a:endParaRPr lang="en-US" altLang="ko-KR" dirty="0"/>
          </a:p>
          <a:p>
            <a:r>
              <a:rPr lang="en-US" altLang="ko-KR" sz="2000" dirty="0">
                <a:solidFill>
                  <a:schemeClr val="accent4"/>
                </a:solidFill>
              </a:rPr>
              <a:t>BBS(Basic Service Set)</a:t>
            </a:r>
          </a:p>
          <a:p>
            <a:pPr marL="0" indent="0">
              <a:buNone/>
            </a:pPr>
            <a:r>
              <a:rPr lang="en-US" altLang="ko-KR" sz="2000" dirty="0"/>
              <a:t>  AP</a:t>
            </a:r>
            <a:r>
              <a:rPr lang="ko-KR" altLang="en-US" sz="2000" dirty="0"/>
              <a:t> </a:t>
            </a:r>
            <a:r>
              <a:rPr lang="en-US" altLang="ko-KR" sz="2000" dirty="0"/>
              <a:t>1</a:t>
            </a:r>
            <a:r>
              <a:rPr lang="ko-KR" altLang="en-US" sz="2000" dirty="0"/>
              <a:t>대를 이용해서 무선 랜을 구성하는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주로 가정에서 사용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>
                <a:solidFill>
                  <a:schemeClr val="accent4"/>
                </a:solidFill>
              </a:rPr>
              <a:t>ESS(Extended Service Set)</a:t>
            </a:r>
          </a:p>
          <a:p>
            <a:pPr marL="0" indent="0">
              <a:buNone/>
            </a:pPr>
            <a:r>
              <a:rPr lang="en-US" altLang="ko-KR" sz="2000" dirty="0"/>
              <a:t>  AP </a:t>
            </a:r>
            <a:r>
              <a:rPr lang="ko-KR" altLang="en-US" sz="2000" dirty="0" err="1"/>
              <a:t>여러대를</a:t>
            </a:r>
            <a:r>
              <a:rPr lang="ko-KR" altLang="en-US" sz="2000" dirty="0"/>
              <a:t> 이용해서 무선 랜을 구성하는 방식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주로 회사에서 사용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여러 개의 </a:t>
            </a:r>
            <a:r>
              <a:rPr lang="en-US" altLang="ko-KR" sz="2000" dirty="0"/>
              <a:t>AP</a:t>
            </a:r>
            <a:r>
              <a:rPr lang="ko-KR" altLang="en-US" sz="2000" dirty="0"/>
              <a:t>를 하나의 무선 랜에서 사용해야 하므로 서로 다른 주파수를 사용하도록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구성하기 위해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주파수간에</a:t>
            </a:r>
            <a:r>
              <a:rPr lang="ko-KR" altLang="en-US" sz="2000" dirty="0"/>
              <a:t> 간섭이 발생하지 않는 영역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>
                <a:sym typeface="Wingdings" panose="05000000000000000000" pitchFamily="2" charset="2"/>
              </a:rPr>
              <a:t></a:t>
            </a:r>
            <a:r>
              <a:rPr lang="ko-KR" altLang="en-US" sz="2000" dirty="0">
                <a:sym typeface="Wingdings" panose="05000000000000000000" pitchFamily="2" charset="2"/>
              </a:rPr>
              <a:t> </a:t>
            </a:r>
            <a:r>
              <a:rPr lang="ko-KR" altLang="en-US" sz="2000" dirty="0" err="1">
                <a:solidFill>
                  <a:schemeClr val="accent4"/>
                </a:solidFill>
                <a:sym typeface="Wingdings" panose="05000000000000000000" pitchFamily="2" charset="2"/>
              </a:rPr>
              <a:t>비중첩</a:t>
            </a:r>
            <a:r>
              <a:rPr lang="ko-KR" altLang="en-US" sz="2000" dirty="0">
                <a:solidFill>
                  <a:schemeClr val="accent4"/>
                </a:solidFill>
                <a:sym typeface="Wingdings" panose="05000000000000000000" pitchFamily="2" charset="2"/>
              </a:rPr>
              <a:t> 채널 사용</a:t>
            </a:r>
            <a:endParaRPr lang="en-US" altLang="ko-KR" sz="2000" dirty="0">
              <a:solidFill>
                <a:schemeClr val="accent4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chemeClr val="accent4"/>
                </a:solidFill>
              </a:rPr>
              <a:t>+IBSS</a:t>
            </a:r>
          </a:p>
          <a:p>
            <a:pPr marL="0" indent="0">
              <a:buNone/>
            </a:pPr>
            <a:r>
              <a:rPr lang="en-US" altLang="ko-KR" sz="2000" dirty="0">
                <a:solidFill>
                  <a:schemeClr val="accent4"/>
                </a:solidFill>
              </a:rPr>
              <a:t>  Independent BBS </a:t>
            </a:r>
            <a:r>
              <a:rPr lang="en-US" altLang="ko-KR" sz="2000" dirty="0">
                <a:solidFill>
                  <a:schemeClr val="accent4"/>
                </a:solidFill>
                <a:sym typeface="Wingdings" panose="05000000000000000000" pitchFamily="2" charset="2"/>
              </a:rPr>
              <a:t> Ad Hoc </a:t>
            </a:r>
            <a:r>
              <a:rPr lang="ko-KR" altLang="en-US" sz="2000" dirty="0">
                <a:solidFill>
                  <a:schemeClr val="accent4"/>
                </a:solidFill>
                <a:sym typeface="Wingdings" panose="05000000000000000000" pitchFamily="2" charset="2"/>
              </a:rPr>
              <a:t>모드에서 제공되는 </a:t>
            </a:r>
            <a:r>
              <a:rPr lang="en-US" altLang="ko-KR" sz="2000" dirty="0">
                <a:solidFill>
                  <a:schemeClr val="accent4"/>
                </a:solidFill>
                <a:sym typeface="Wingdings" panose="05000000000000000000" pitchFamily="2" charset="2"/>
              </a:rPr>
              <a:t>Service Set </a:t>
            </a:r>
            <a:r>
              <a:rPr lang="ko-KR" altLang="en-US" sz="2000" dirty="0">
                <a:solidFill>
                  <a:schemeClr val="accent4"/>
                </a:solidFill>
                <a:sym typeface="Wingdings" panose="05000000000000000000" pitchFamily="2" charset="2"/>
              </a:rPr>
              <a:t>을 말함</a:t>
            </a:r>
            <a:r>
              <a:rPr lang="en-US" altLang="ko-KR" sz="2000" dirty="0">
                <a:solidFill>
                  <a:schemeClr val="accent4"/>
                </a:solidFill>
                <a:sym typeface="Wingdings" panose="05000000000000000000" pitchFamily="2" charset="2"/>
              </a:rPr>
              <a:t>.</a:t>
            </a:r>
            <a:endParaRPr lang="en-US" altLang="ko-KR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81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DC189B-F687-4828-968A-6BB71172E0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2730"/>
            <a:ext cx="10515600" cy="5514233"/>
          </a:xfrm>
        </p:spPr>
        <p:txBody>
          <a:bodyPr/>
          <a:lstStyle/>
          <a:p>
            <a:r>
              <a:rPr lang="ko-KR" altLang="en-US" dirty="0"/>
              <a:t>무선 랜의 통신 표준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최대속도와 지원 속도를 나누는 이유 </a:t>
            </a:r>
            <a:r>
              <a:rPr lang="en-US" altLang="ko-KR" sz="2000" dirty="0"/>
              <a:t>: </a:t>
            </a:r>
            <a:r>
              <a:rPr lang="ko-KR" altLang="en-US" sz="2000" dirty="0"/>
              <a:t>주파수의 세기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</a:t>
            </a:r>
          </a:p>
          <a:p>
            <a:pPr marL="0" indent="0">
              <a:buNone/>
            </a:pPr>
            <a:r>
              <a:rPr lang="en-US" altLang="ko-KR" sz="2000" dirty="0"/>
              <a:t>  ex) </a:t>
            </a:r>
            <a:r>
              <a:rPr lang="ko-KR" altLang="en-US" sz="2000" dirty="0"/>
              <a:t>노트북이 </a:t>
            </a:r>
            <a:r>
              <a:rPr lang="en-US" altLang="ko-KR" sz="2000" dirty="0"/>
              <a:t>AP</a:t>
            </a:r>
            <a:r>
              <a:rPr lang="ko-KR" altLang="en-US" sz="2000" dirty="0"/>
              <a:t>와 멀리 떨어져 있을 경우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전파의 세기가 약해져서 통신이 됐다가 안됐다가 하는 문제가 발생하는데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  </a:t>
            </a:r>
            <a:r>
              <a:rPr lang="ko-KR" altLang="en-US" sz="2000" dirty="0"/>
              <a:t>이런 경우 속도를 낮추어 주면 통신이 가능해집니다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</a:p>
        </p:txBody>
      </p:sp>
      <p:pic>
        <p:nvPicPr>
          <p:cNvPr id="1028" name="Picture 4" descr="ë¬´ì  ëì íµì  íì¤ì ëí ì´ë¯¸ì§ ê²ìê²°ê³¼">
            <a:extLst>
              <a:ext uri="{FF2B5EF4-FFF2-40B4-BE49-F238E27FC236}">
                <a16:creationId xmlns:a16="http://schemas.microsoft.com/office/drawing/2014/main" id="{0ADEFDE7-2A61-4DD0-8A9D-CD7A4A3A2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27" y="1386568"/>
            <a:ext cx="543877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887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283D15-DFE3-4BB4-A36A-C93779AB8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4675"/>
            <a:ext cx="10515600" cy="5472288"/>
          </a:xfrm>
        </p:spPr>
        <p:txBody>
          <a:bodyPr/>
          <a:lstStyle/>
          <a:p>
            <a:r>
              <a:rPr lang="ko-KR" altLang="en-US" dirty="0"/>
              <a:t>무선 통신에서의 인코딩 </a:t>
            </a:r>
            <a:r>
              <a:rPr lang="en-US" altLang="ko-KR" dirty="0"/>
              <a:t>3</a:t>
            </a:r>
            <a:r>
              <a:rPr lang="ko-KR" altLang="en-US" dirty="0"/>
              <a:t>가지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ko-KR" altLang="en-US" sz="2000" dirty="0"/>
              <a:t>인코딩 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데이터를 무선 신호로 바꾸는 과정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1. </a:t>
            </a:r>
            <a:r>
              <a:rPr lang="en-US" altLang="ko-KR" sz="2000" dirty="0">
                <a:solidFill>
                  <a:schemeClr val="accent4"/>
                </a:solidFill>
              </a:rPr>
              <a:t>FHSS (Frequency Hopping Spread Spectrum)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무선</a:t>
            </a:r>
            <a:r>
              <a:rPr lang="en-US" altLang="ko-KR" sz="2000" dirty="0"/>
              <a:t> </a:t>
            </a:r>
            <a:r>
              <a:rPr lang="ko-KR" altLang="en-US" sz="2000" dirty="0"/>
              <a:t>신호를 많은 주파수 채널로 빠르게 바꿔가면서 전송하는 방식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2. </a:t>
            </a:r>
            <a:r>
              <a:rPr lang="en-US" altLang="ko-KR" sz="2000" dirty="0">
                <a:solidFill>
                  <a:schemeClr val="accent4"/>
                </a:solidFill>
              </a:rPr>
              <a:t>DSSS (Direct</a:t>
            </a:r>
            <a:r>
              <a:rPr lang="ko-KR" altLang="en-US" sz="2000" dirty="0">
                <a:solidFill>
                  <a:schemeClr val="accent4"/>
                </a:solidFill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</a:rPr>
              <a:t>Sequence</a:t>
            </a:r>
            <a:r>
              <a:rPr lang="ko-KR" altLang="en-US" sz="2000" dirty="0">
                <a:solidFill>
                  <a:schemeClr val="accent4"/>
                </a:solidFill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</a:rPr>
              <a:t>Spread</a:t>
            </a:r>
            <a:r>
              <a:rPr lang="ko-KR" altLang="en-US" sz="2000" dirty="0">
                <a:solidFill>
                  <a:schemeClr val="accent4"/>
                </a:solidFill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</a:rPr>
              <a:t>Spectrum)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여러 개의 채널 중에서 하나를 잡고 계속 그 채널로만 전송을 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신호를 매우 작은 전력으로 넓은 대역으로 전송하기 때문에 잡음에 영향을 적게 받고</a:t>
            </a:r>
            <a:r>
              <a:rPr lang="en-US" altLang="ko-KR" sz="2000" dirty="0"/>
              <a:t>,</a:t>
            </a:r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낮은 전력 사용으로 다른 통신에 영향을 덜 주며</a:t>
            </a:r>
            <a:r>
              <a:rPr lang="en-US" altLang="ko-KR" sz="2000" dirty="0"/>
              <a:t>, </a:t>
            </a:r>
            <a:r>
              <a:rPr lang="ko-KR" altLang="en-US" sz="2000" dirty="0"/>
              <a:t>보안에도 우수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3. </a:t>
            </a:r>
            <a:r>
              <a:rPr lang="en-US" altLang="ko-KR" sz="2000" dirty="0">
                <a:solidFill>
                  <a:schemeClr val="accent4"/>
                </a:solidFill>
              </a:rPr>
              <a:t>OFDM (Orthogonal Frequency Division Multiplexing)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하나의 시그널을 여러 개의 주파수로 나누어 보내는 방식</a:t>
            </a:r>
          </a:p>
        </p:txBody>
      </p:sp>
    </p:spTree>
    <p:extLst>
      <p:ext uri="{BB962C8B-B14F-4D97-AF65-F5344CB8AC3E}">
        <p14:creationId xmlns:p14="http://schemas.microsoft.com/office/powerpoint/2010/main" val="77846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2228D5-6DD2-4D1E-8A11-4F532DBD9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37562"/>
            <a:ext cx="10515600" cy="5679347"/>
          </a:xfrm>
        </p:spPr>
        <p:txBody>
          <a:bodyPr/>
          <a:lstStyle/>
          <a:p>
            <a:r>
              <a:rPr lang="en-US" altLang="ko-KR" dirty="0">
                <a:solidFill>
                  <a:schemeClr val="accent4"/>
                </a:solidFill>
              </a:rPr>
              <a:t>SSID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무선</a:t>
            </a:r>
            <a:r>
              <a:rPr lang="en-US" altLang="ko-KR" sz="2000" dirty="0"/>
              <a:t> </a:t>
            </a:r>
            <a:r>
              <a:rPr lang="ko-KR" altLang="en-US" sz="2000" dirty="0"/>
              <a:t>네트워크에서 사용하는 이름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길이 </a:t>
            </a:r>
            <a:r>
              <a:rPr lang="en-US" altLang="ko-KR" sz="2000" dirty="0"/>
              <a:t>: 32byte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같은 무선 네트워크 안에 있는 무선 장비들은 모두 같은 </a:t>
            </a:r>
            <a:r>
              <a:rPr lang="en-US" altLang="ko-KR" sz="2000" dirty="0"/>
              <a:t>SSID</a:t>
            </a:r>
            <a:r>
              <a:rPr lang="ko-KR" altLang="en-US" sz="2000" dirty="0"/>
              <a:t>를 가져야함</a:t>
            </a:r>
            <a:r>
              <a:rPr lang="en-US" altLang="ko-KR" sz="2000" dirty="0"/>
              <a:t>. 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무선 네트워크 문제점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근처에 있으면 누구든 무선 네트워크에 들어올 수 있다</a:t>
            </a:r>
            <a:r>
              <a:rPr lang="en-US" altLang="ko-KR" sz="2000" dirty="0"/>
              <a:t>.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en-US" altLang="ko-KR" sz="2000" dirty="0">
                <a:sym typeface="Wingdings" panose="05000000000000000000" pitchFamily="2" charset="2"/>
              </a:rPr>
              <a:t> </a:t>
            </a:r>
            <a:r>
              <a:rPr lang="ko-KR" altLang="en-US" sz="2000" dirty="0">
                <a:solidFill>
                  <a:schemeClr val="accent4"/>
                </a:solidFill>
                <a:sym typeface="Wingdings" panose="05000000000000000000" pitchFamily="2" charset="2"/>
              </a:rPr>
              <a:t>보안</a:t>
            </a:r>
            <a:r>
              <a:rPr lang="ko-KR" altLang="en-US" sz="2000" dirty="0">
                <a:sym typeface="Wingdings" panose="05000000000000000000" pitchFamily="2" charset="2"/>
              </a:rPr>
              <a:t>이 중요해짐</a:t>
            </a:r>
            <a:r>
              <a:rPr lang="en-US" altLang="ko-KR" sz="2000" dirty="0">
                <a:sym typeface="Wingdings" panose="05000000000000000000" pitchFamily="2" charset="2"/>
              </a:rPr>
              <a:t> !!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</a:t>
            </a:r>
            <a:r>
              <a:rPr lang="en-US" altLang="ko-KR" sz="2000" dirty="0">
                <a:solidFill>
                  <a:schemeClr val="accent4"/>
                </a:solidFill>
                <a:sym typeface="Wingdings" panose="05000000000000000000" pitchFamily="2" charset="2"/>
              </a:rPr>
              <a:t>SSID Cloaking </a:t>
            </a: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SSID</a:t>
            </a:r>
            <a:r>
              <a:rPr lang="ko-KR" altLang="en-US" sz="2000" dirty="0">
                <a:sym typeface="Wingdings" panose="05000000000000000000" pitchFamily="2" charset="2"/>
              </a:rPr>
              <a:t>를 아무나 못 보게 하기 위해 </a:t>
            </a:r>
            <a:r>
              <a:rPr lang="en-US" altLang="ko-KR" sz="2000" dirty="0">
                <a:sym typeface="Wingdings" panose="05000000000000000000" pitchFamily="2" charset="2"/>
              </a:rPr>
              <a:t>SSID</a:t>
            </a:r>
            <a:r>
              <a:rPr lang="ko-KR" altLang="en-US" sz="2000" dirty="0">
                <a:sym typeface="Wingdings" panose="05000000000000000000" pitchFamily="2" charset="2"/>
              </a:rPr>
              <a:t>의 </a:t>
            </a:r>
            <a:r>
              <a:rPr lang="en-US" altLang="ko-KR" sz="2000" dirty="0">
                <a:sym typeface="Wingdings" panose="05000000000000000000" pitchFamily="2" charset="2"/>
              </a:rPr>
              <a:t>Broadcast</a:t>
            </a:r>
            <a:r>
              <a:rPr lang="ko-KR" altLang="en-US" sz="2000" dirty="0">
                <a:sym typeface="Wingdings" panose="05000000000000000000" pitchFamily="2" charset="2"/>
              </a:rPr>
              <a:t>를 막는 것</a:t>
            </a:r>
            <a:endParaRPr lang="en-US" altLang="ko-KR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 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50712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69883F-6F05-41E7-85A9-F222AA8BD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396"/>
            <a:ext cx="10515600" cy="5564567"/>
          </a:xfrm>
        </p:spPr>
        <p:txBody>
          <a:bodyPr/>
          <a:lstStyle/>
          <a:p>
            <a:r>
              <a:rPr lang="ko-KR" altLang="en-US" dirty="0"/>
              <a:t>네트워크 인증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2000" dirty="0"/>
              <a:t>1. </a:t>
            </a:r>
            <a:r>
              <a:rPr lang="ko-KR" altLang="en-US" sz="2000" dirty="0"/>
              <a:t>개방모드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통신이 </a:t>
            </a:r>
            <a:r>
              <a:rPr lang="en-US" altLang="ko-KR" sz="2000" dirty="0"/>
              <a:t>SSID</a:t>
            </a:r>
            <a:r>
              <a:rPr lang="ko-KR" altLang="en-US" sz="2000" dirty="0"/>
              <a:t>만 맞으면 바로 시작되는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2. </a:t>
            </a:r>
            <a:r>
              <a:rPr lang="ko-KR" altLang="en-US" sz="2000" dirty="0"/>
              <a:t>공유모드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미리 나누어 준 </a:t>
            </a:r>
            <a:r>
              <a:rPr lang="en-US" altLang="ko-KR" sz="2000" dirty="0"/>
              <a:t>Key</a:t>
            </a:r>
            <a:r>
              <a:rPr lang="ko-KR" altLang="en-US" sz="2000" dirty="0"/>
              <a:t>값을 비교해서 그 키가 맞았을 때 비로소 통신을 시작 하는 방식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</a:t>
            </a:r>
            <a:r>
              <a:rPr lang="ko-KR" altLang="en-US" sz="2400" dirty="0"/>
              <a:t>무선 네트워크에서의 보안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보안에 자주 쓰이는 용어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1. Authentication (</a:t>
            </a:r>
            <a:r>
              <a:rPr lang="ko-KR" altLang="en-US" sz="2000" dirty="0"/>
              <a:t>인증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ko-KR" altLang="en-US" sz="2000" dirty="0" err="1"/>
              <a:t>어딘가에</a:t>
            </a:r>
            <a:r>
              <a:rPr lang="ko-KR" altLang="en-US" sz="2000" dirty="0"/>
              <a:t> 접속하고자 할 때 이 장비에게 접속을 허가할 건지 아닌지 결정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2. Encryption (</a:t>
            </a:r>
            <a:r>
              <a:rPr lang="ko-KR" altLang="en-US" sz="2000" dirty="0"/>
              <a:t>암호화</a:t>
            </a:r>
            <a:r>
              <a:rPr lang="en-US" altLang="ko-KR" sz="2000" dirty="0"/>
              <a:t>) </a:t>
            </a:r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ko-KR" altLang="en-US" sz="2000" dirty="0"/>
              <a:t>누가 훔쳐보는 걸 방지하기 위해 데이터 자체를 암호화하는 것</a:t>
            </a:r>
          </a:p>
        </p:txBody>
      </p:sp>
    </p:spTree>
    <p:extLst>
      <p:ext uri="{BB962C8B-B14F-4D97-AF65-F5344CB8AC3E}">
        <p14:creationId xmlns:p14="http://schemas.microsoft.com/office/powerpoint/2010/main" val="1696341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43A10-B28A-47C0-A36E-3D3658BD7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5284"/>
            <a:ext cx="10515600" cy="5631679"/>
          </a:xfrm>
        </p:spPr>
        <p:txBody>
          <a:bodyPr>
            <a:normAutofit/>
          </a:bodyPr>
          <a:lstStyle/>
          <a:p>
            <a:endParaRPr lang="en-US" altLang="ko-KR" sz="2400"/>
          </a:p>
          <a:p>
            <a:r>
              <a:rPr lang="ko-KR" altLang="en-US" sz="2400"/>
              <a:t>맨 </a:t>
            </a:r>
            <a:r>
              <a:rPr lang="ko-KR" altLang="en-US" sz="2400" dirty="0"/>
              <a:t>처음 무선 네트워크에 사용된 보안 표준 </a:t>
            </a:r>
            <a:r>
              <a:rPr lang="en-US" altLang="ko-KR" sz="2400" dirty="0"/>
              <a:t>: </a:t>
            </a:r>
            <a:r>
              <a:rPr lang="en-US" altLang="ko-KR" sz="2400" dirty="0">
                <a:solidFill>
                  <a:schemeClr val="accent4"/>
                </a:solidFill>
              </a:rPr>
              <a:t>WEP</a:t>
            </a:r>
          </a:p>
          <a:p>
            <a:pPr marL="0" indent="0">
              <a:buNone/>
            </a:pPr>
            <a:r>
              <a:rPr lang="en-US" altLang="ko-KR" sz="2400" dirty="0"/>
              <a:t>  Key </a:t>
            </a:r>
            <a:r>
              <a:rPr lang="ko-KR" altLang="en-US" sz="2400" dirty="0"/>
              <a:t>값이 같을 경우에만 접속을 허락하는 방식 </a:t>
            </a:r>
            <a:r>
              <a:rPr lang="en-US" altLang="ko-KR" sz="2400" dirty="0">
                <a:sym typeface="Wingdings" panose="05000000000000000000" pitchFamily="2" charset="2"/>
              </a:rPr>
              <a:t> </a:t>
            </a:r>
            <a:r>
              <a:rPr lang="ko-KR" altLang="en-US" sz="2400" dirty="0">
                <a:sym typeface="Wingdings" panose="05000000000000000000" pitchFamily="2" charset="2"/>
              </a:rPr>
              <a:t>취약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en-US" altLang="ko-KR" sz="2400" dirty="0">
                <a:solidFill>
                  <a:schemeClr val="accent4"/>
                </a:solidFill>
              </a:rPr>
              <a:t>802.1X </a:t>
            </a:r>
            <a:r>
              <a:rPr lang="ko-KR" altLang="en-US" sz="2400" dirty="0">
                <a:solidFill>
                  <a:schemeClr val="accent4"/>
                </a:solidFill>
              </a:rPr>
              <a:t>사용자 인증 방식</a:t>
            </a:r>
            <a:endParaRPr lang="en-US" altLang="ko-KR" sz="24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en-US" altLang="ko-KR" sz="2000" dirty="0"/>
              <a:t>Username </a:t>
            </a:r>
            <a:r>
              <a:rPr lang="ko-KR" altLang="en-US" sz="2000" dirty="0"/>
              <a:t>과 </a:t>
            </a:r>
            <a:r>
              <a:rPr lang="en-US" altLang="ko-KR" sz="2000" dirty="0"/>
              <a:t>Password</a:t>
            </a:r>
            <a:r>
              <a:rPr lang="ko-KR" altLang="en-US" sz="2000" dirty="0"/>
              <a:t>를 이용한 방식 </a:t>
            </a:r>
            <a:r>
              <a:rPr lang="en-US" altLang="ko-KR" sz="2000" dirty="0">
                <a:sym typeface="Wingdings" panose="05000000000000000000" pitchFamily="2" charset="2"/>
              </a:rPr>
              <a:t> </a:t>
            </a:r>
            <a:r>
              <a:rPr lang="en-US" altLang="ko-KR" sz="2000" dirty="0">
                <a:solidFill>
                  <a:schemeClr val="accent4"/>
                </a:solidFill>
              </a:rPr>
              <a:t>(TKIP </a:t>
            </a:r>
            <a:r>
              <a:rPr lang="ko-KR" altLang="en-US" sz="2000" dirty="0">
                <a:solidFill>
                  <a:schemeClr val="accent4"/>
                </a:solidFill>
              </a:rPr>
              <a:t>방식사용</a:t>
            </a:r>
            <a:r>
              <a:rPr lang="en-US" altLang="ko-KR" sz="2000" dirty="0">
                <a:solidFill>
                  <a:schemeClr val="accent4"/>
                </a:solidFill>
              </a:rPr>
              <a:t>)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2400" dirty="0"/>
              <a:t>  </a:t>
            </a:r>
            <a:r>
              <a:rPr lang="en-US" altLang="ko-KR" sz="2400" dirty="0">
                <a:solidFill>
                  <a:schemeClr val="accent4"/>
                </a:solidFill>
              </a:rPr>
              <a:t>WPA </a:t>
            </a:r>
          </a:p>
          <a:p>
            <a:pPr marL="0" indent="0">
              <a:buNone/>
            </a:pPr>
            <a:r>
              <a:rPr lang="en-US" altLang="ko-KR" sz="2400" dirty="0">
                <a:solidFill>
                  <a:schemeClr val="accent4"/>
                </a:solidFill>
              </a:rPr>
              <a:t>  </a:t>
            </a:r>
            <a:r>
              <a:rPr lang="ko-KR" altLang="en-US" sz="2000" dirty="0"/>
              <a:t>위 방식들을 도입했으며</a:t>
            </a:r>
            <a:r>
              <a:rPr lang="en-US" altLang="ko-KR" sz="2000" dirty="0"/>
              <a:t>, </a:t>
            </a:r>
            <a:r>
              <a:rPr lang="ko-KR" altLang="en-US" sz="2000" dirty="0"/>
              <a:t>기존의 </a:t>
            </a:r>
            <a:r>
              <a:rPr lang="en-US" altLang="ko-KR" sz="2000" dirty="0"/>
              <a:t>Static </a:t>
            </a:r>
            <a:r>
              <a:rPr lang="ko-KR" altLang="en-US" sz="2000" dirty="0"/>
              <a:t>키만 사용하던 방식에 </a:t>
            </a:r>
            <a:r>
              <a:rPr lang="en-US" altLang="ko-KR" sz="2000" dirty="0"/>
              <a:t>Dynamic </a:t>
            </a:r>
            <a:r>
              <a:rPr lang="ko-KR" altLang="en-US" sz="2000" dirty="0"/>
              <a:t>키 방식을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추가하여 무선 네트워크에 접속할 때 키 값이 자동으로 바뀌는 방식 </a:t>
            </a:r>
            <a:r>
              <a:rPr lang="en-US" altLang="ko-KR" sz="2000" dirty="0">
                <a:sym typeface="Wingdings" panose="05000000000000000000" pitchFamily="2" charset="2"/>
              </a:rPr>
              <a:t> </a:t>
            </a:r>
            <a:r>
              <a:rPr lang="en-US" altLang="ko-KR" sz="2000" dirty="0">
                <a:solidFill>
                  <a:schemeClr val="accent4"/>
                </a:solidFill>
              </a:rPr>
              <a:t>(TKIP </a:t>
            </a:r>
            <a:r>
              <a:rPr lang="ko-KR" altLang="en-US" sz="2000" dirty="0">
                <a:solidFill>
                  <a:schemeClr val="accent4"/>
                </a:solidFill>
              </a:rPr>
              <a:t>방식사용</a:t>
            </a:r>
            <a:r>
              <a:rPr lang="en-US" altLang="ko-KR" sz="2000" dirty="0">
                <a:solidFill>
                  <a:schemeClr val="accent4"/>
                </a:solidFill>
              </a:rPr>
              <a:t>)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</a:t>
            </a:r>
          </a:p>
          <a:p>
            <a:pPr marL="0" indent="0">
              <a:buNone/>
            </a:pPr>
            <a:r>
              <a:rPr lang="en-US" altLang="ko-KR" sz="2000" dirty="0"/>
              <a:t>  </a:t>
            </a:r>
            <a:r>
              <a:rPr lang="ko-KR" altLang="en-US" sz="2000" dirty="0"/>
              <a:t>무선 랜 보안 방식 </a:t>
            </a:r>
            <a:r>
              <a:rPr lang="en-US" altLang="ko-KR" sz="2000" dirty="0"/>
              <a:t>: </a:t>
            </a:r>
            <a:r>
              <a:rPr lang="en-US" altLang="ko-KR" sz="2000" dirty="0">
                <a:solidFill>
                  <a:schemeClr val="accent4"/>
                </a:solidFill>
              </a:rPr>
              <a:t>802. 11i </a:t>
            </a:r>
            <a:r>
              <a:rPr lang="en-US" altLang="ko-KR" sz="2000" dirty="0">
                <a:sym typeface="Wingdings" panose="05000000000000000000" pitchFamily="2" charset="2"/>
              </a:rPr>
              <a:t></a:t>
            </a:r>
            <a:r>
              <a:rPr lang="en-US" altLang="ko-KR" sz="2000" dirty="0">
                <a:solidFill>
                  <a:schemeClr val="accent4"/>
                </a:solidFill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chemeClr val="accent4"/>
                </a:solidFill>
              </a:rPr>
              <a:t>AES(Advanced Encryption Standard) </a:t>
            </a:r>
            <a:r>
              <a:rPr lang="ko-KR" altLang="en-US" sz="2000" dirty="0">
                <a:solidFill>
                  <a:schemeClr val="accent4"/>
                </a:solidFill>
              </a:rPr>
              <a:t>방식 사용</a:t>
            </a:r>
            <a:endParaRPr lang="en-US" altLang="ko-KR" sz="2000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altLang="ko-KR" sz="2000" dirty="0">
                <a:solidFill>
                  <a:schemeClr val="accent4"/>
                </a:solidFill>
              </a:rPr>
              <a:t>  </a:t>
            </a:r>
            <a:endParaRPr lang="ko-KR" altLang="en-US" sz="20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81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773</Words>
  <Application>Microsoft Office PowerPoint</Application>
  <PresentationFormat>와이드스크린</PresentationFormat>
  <Paragraphs>127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Wingdings</vt:lpstr>
      <vt:lpstr>Office 테마</vt:lpstr>
      <vt:lpstr>GBC Network 10,11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GBC Network 10,11</dc:title>
  <dc:creator>김 진일</dc:creator>
  <cp:lastModifiedBy>김 진일</cp:lastModifiedBy>
  <cp:revision>10</cp:revision>
  <dcterms:created xsi:type="dcterms:W3CDTF">2019-06-18T13:24:08Z</dcterms:created>
  <dcterms:modified xsi:type="dcterms:W3CDTF">2019-06-18T14:42:02Z</dcterms:modified>
</cp:coreProperties>
</file>