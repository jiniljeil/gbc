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6" r:id="rId1"/>
    <p:sldMasterId id="2147483658" r:id="rId2"/>
  </p:sldMasterIdLst>
  <p:sldIdLst>
    <p:sldId id="257" r:id="rId3"/>
    <p:sldId id="258" r:id="rId4"/>
    <p:sldId id="264" r:id="rId5"/>
    <p:sldId id="277" r:id="rId6"/>
    <p:sldId id="276" r:id="rId7"/>
    <p:sldId id="275" r:id="rId8"/>
    <p:sldId id="279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63" r:id="rId19"/>
    <p:sldId id="278" r:id="rId20"/>
  </p:sldIdLst>
  <p:sldSz cx="12192000" cy="6858000"/>
  <p:notesSz cx="6858000" cy="9144000"/>
  <p:embeddedFontLst>
    <p:embeddedFont>
      <p:font typeface="Yu Gothic" panose="020B0400000000000000" pitchFamily="34" charset="-128"/>
      <p:regular r:id="rId21"/>
      <p:bold r:id="rId22"/>
    </p:embeddedFont>
    <p:embeddedFont>
      <p:font typeface="Yu Gothic UI" panose="020B0500000000000000" pitchFamily="34" charset="-128"/>
      <p:regular r:id="rId23"/>
      <p:bold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휴먼둥근헤드라인" panose="02030504000101010101" pitchFamily="18" charset="-127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진일" initials="김진" lastIdx="0" clrIdx="0">
    <p:extLst>
      <p:ext uri="{19B8F6BF-5375-455C-9EA6-DF929625EA0E}">
        <p15:presenceInfo xmlns:p15="http://schemas.microsoft.com/office/powerpoint/2012/main" userId="8e647f38373ac9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436"/>
    <a:srgbClr val="222222"/>
    <a:srgbClr val="BD4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,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50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94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876300" y="117753"/>
            <a:ext cx="763480" cy="480041"/>
            <a:chOff x="2789068" y="2050742"/>
            <a:chExt cx="763480" cy="480041"/>
          </a:xfrm>
        </p:grpSpPr>
        <p:sp>
          <p:nvSpPr>
            <p:cNvPr id="3" name="이등변 삼각형 2"/>
            <p:cNvSpPr/>
            <p:nvPr/>
          </p:nvSpPr>
          <p:spPr>
            <a:xfrm flipV="1">
              <a:off x="2789068" y="2050742"/>
              <a:ext cx="763480" cy="470516"/>
            </a:xfrm>
            <a:prstGeom prst="triangle">
              <a:avLst/>
            </a:prstGeom>
            <a:solidFill>
              <a:srgbClr val="F15A3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BD4B36"/>
                </a:solidFill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flipH="1" flipV="1">
              <a:off x="2789068" y="2059183"/>
              <a:ext cx="381740" cy="471600"/>
            </a:xfrm>
            <a:prstGeom prst="rtTriangle">
              <a:avLst/>
            </a:prstGeom>
            <a:solidFill>
              <a:srgbClr val="F15A3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BD4B36"/>
                </a:solidFill>
              </a:endParaRPr>
            </a:p>
          </p:txBody>
        </p:sp>
      </p:grpSp>
      <p:grpSp>
        <p:nvGrpSpPr>
          <p:cNvPr id="5" name="그룹 4"/>
          <p:cNvGrpSpPr/>
          <p:nvPr userDrawn="1"/>
        </p:nvGrpSpPr>
        <p:grpSpPr>
          <a:xfrm>
            <a:off x="112820" y="117753"/>
            <a:ext cx="763480" cy="480041"/>
            <a:chOff x="2025588" y="2050742"/>
            <a:chExt cx="763480" cy="480041"/>
          </a:xfrm>
        </p:grpSpPr>
        <p:sp>
          <p:nvSpPr>
            <p:cNvPr id="6" name="이등변 삼각형 5"/>
            <p:cNvSpPr/>
            <p:nvPr/>
          </p:nvSpPr>
          <p:spPr>
            <a:xfrm flipV="1">
              <a:off x="2025588" y="2050742"/>
              <a:ext cx="763480" cy="470516"/>
            </a:xfrm>
            <a:prstGeom prst="triangle">
              <a:avLst/>
            </a:prstGeom>
            <a:solidFill>
              <a:srgbClr val="19373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1B3436"/>
                </a:solidFill>
              </a:endParaRPr>
            </a:p>
          </p:txBody>
        </p:sp>
        <p:sp>
          <p:nvSpPr>
            <p:cNvPr id="7" name="직각 삼각형 6"/>
            <p:cNvSpPr/>
            <p:nvPr/>
          </p:nvSpPr>
          <p:spPr>
            <a:xfrm flipH="1" flipV="1">
              <a:off x="2025588" y="2059183"/>
              <a:ext cx="381740" cy="471600"/>
            </a:xfrm>
            <a:prstGeom prst="rtTriangle">
              <a:avLst/>
            </a:prstGeom>
            <a:solidFill>
              <a:srgbClr val="19373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1B3436"/>
                </a:solidFill>
              </a:endParaRPr>
            </a:p>
          </p:txBody>
        </p:sp>
      </p:grpSp>
      <p:grpSp>
        <p:nvGrpSpPr>
          <p:cNvPr id="8" name="그룹 7"/>
          <p:cNvGrpSpPr/>
          <p:nvPr userDrawn="1"/>
        </p:nvGrpSpPr>
        <p:grpSpPr>
          <a:xfrm>
            <a:off x="10552220" y="6269731"/>
            <a:ext cx="763480" cy="471600"/>
            <a:chOff x="11162190" y="6214765"/>
            <a:chExt cx="763480" cy="471600"/>
          </a:xfrm>
        </p:grpSpPr>
        <p:sp>
          <p:nvSpPr>
            <p:cNvPr id="9" name="이등변 삼각형 8"/>
            <p:cNvSpPr/>
            <p:nvPr/>
          </p:nvSpPr>
          <p:spPr>
            <a:xfrm>
              <a:off x="11162190" y="6215849"/>
              <a:ext cx="763480" cy="470516"/>
            </a:xfrm>
            <a:prstGeom prst="triangle">
              <a:avLst/>
            </a:prstGeom>
            <a:solidFill>
              <a:srgbClr val="F15A3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각 삼각형 9"/>
            <p:cNvSpPr/>
            <p:nvPr/>
          </p:nvSpPr>
          <p:spPr>
            <a:xfrm>
              <a:off x="11543930" y="6214765"/>
              <a:ext cx="381740" cy="471600"/>
            </a:xfrm>
            <a:prstGeom prst="rtTriangle">
              <a:avLst/>
            </a:prstGeom>
            <a:solidFill>
              <a:srgbClr val="F15A3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 userDrawn="1"/>
        </p:nvGrpSpPr>
        <p:grpSpPr>
          <a:xfrm>
            <a:off x="11315700" y="6269731"/>
            <a:ext cx="763480" cy="471600"/>
            <a:chOff x="10398710" y="6214765"/>
            <a:chExt cx="763480" cy="471600"/>
          </a:xfrm>
        </p:grpSpPr>
        <p:sp>
          <p:nvSpPr>
            <p:cNvPr id="12" name="이등변 삼각형 11"/>
            <p:cNvSpPr/>
            <p:nvPr/>
          </p:nvSpPr>
          <p:spPr>
            <a:xfrm>
              <a:off x="10398710" y="6215849"/>
              <a:ext cx="763480" cy="470516"/>
            </a:xfrm>
            <a:prstGeom prst="triangle">
              <a:avLst/>
            </a:prstGeom>
            <a:solidFill>
              <a:srgbClr val="19373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각 삼각형 12"/>
            <p:cNvSpPr/>
            <p:nvPr/>
          </p:nvSpPr>
          <p:spPr>
            <a:xfrm>
              <a:off x="10780450" y="6214765"/>
              <a:ext cx="381740" cy="471600"/>
            </a:xfrm>
            <a:prstGeom prst="rtTriangle">
              <a:avLst/>
            </a:prstGeom>
            <a:solidFill>
              <a:srgbClr val="19373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30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292351" y="265054"/>
            <a:ext cx="1091150" cy="343034"/>
            <a:chOff x="5365806" y="117753"/>
            <a:chExt cx="1526960" cy="480041"/>
          </a:xfrm>
        </p:grpSpPr>
        <p:grpSp>
          <p:nvGrpSpPr>
            <p:cNvPr id="15" name="그룹 14"/>
            <p:cNvGrpSpPr/>
            <p:nvPr/>
          </p:nvGrpSpPr>
          <p:grpSpPr>
            <a:xfrm>
              <a:off x="6129286" y="117753"/>
              <a:ext cx="763480" cy="480041"/>
              <a:chOff x="2789068" y="2050742"/>
              <a:chExt cx="763480" cy="480041"/>
            </a:xfrm>
          </p:grpSpPr>
          <p:sp>
            <p:nvSpPr>
              <p:cNvPr id="19" name="이등변 삼각형 18"/>
              <p:cNvSpPr/>
              <p:nvPr/>
            </p:nvSpPr>
            <p:spPr>
              <a:xfrm flipV="1">
                <a:off x="2789068" y="2050742"/>
                <a:ext cx="763480" cy="470516"/>
              </a:xfrm>
              <a:prstGeom prst="triangle">
                <a:avLst/>
              </a:prstGeom>
              <a:solidFill>
                <a:srgbClr val="F15A3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각 삼각형 19"/>
              <p:cNvSpPr/>
              <p:nvPr/>
            </p:nvSpPr>
            <p:spPr>
              <a:xfrm flipH="1" flipV="1">
                <a:off x="2789068" y="2059183"/>
                <a:ext cx="381740" cy="471600"/>
              </a:xfrm>
              <a:prstGeom prst="rtTriangle">
                <a:avLst/>
              </a:prstGeom>
              <a:solidFill>
                <a:srgbClr val="F15A3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5365806" y="117753"/>
              <a:ext cx="763480" cy="480041"/>
              <a:chOff x="2025588" y="2050742"/>
              <a:chExt cx="763480" cy="480041"/>
            </a:xfrm>
          </p:grpSpPr>
          <p:sp>
            <p:nvSpPr>
              <p:cNvPr id="17" name="이등변 삼각형 16"/>
              <p:cNvSpPr/>
              <p:nvPr/>
            </p:nvSpPr>
            <p:spPr>
              <a:xfrm flipV="1">
                <a:off x="2025588" y="2050742"/>
                <a:ext cx="763480" cy="470516"/>
              </a:xfrm>
              <a:prstGeom prst="triangle">
                <a:avLst/>
              </a:prstGeom>
              <a:solidFill>
                <a:srgbClr val="193739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각 삼각형 17"/>
              <p:cNvSpPr/>
              <p:nvPr/>
            </p:nvSpPr>
            <p:spPr>
              <a:xfrm flipH="1" flipV="1">
                <a:off x="2025588" y="2059183"/>
                <a:ext cx="381740" cy="471600"/>
              </a:xfrm>
              <a:prstGeom prst="rtTriangle">
                <a:avLst/>
              </a:prstGeom>
              <a:solidFill>
                <a:srgbClr val="193739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1" name="그룹 20"/>
          <p:cNvGrpSpPr/>
          <p:nvPr userDrawn="1"/>
        </p:nvGrpSpPr>
        <p:grpSpPr>
          <a:xfrm rot="10800000">
            <a:off x="10941301" y="6361054"/>
            <a:ext cx="1091150" cy="343034"/>
            <a:chOff x="5365806" y="117753"/>
            <a:chExt cx="1526960" cy="480041"/>
          </a:xfrm>
        </p:grpSpPr>
        <p:grpSp>
          <p:nvGrpSpPr>
            <p:cNvPr id="22" name="그룹 21"/>
            <p:cNvGrpSpPr/>
            <p:nvPr/>
          </p:nvGrpSpPr>
          <p:grpSpPr>
            <a:xfrm>
              <a:off x="6129286" y="117753"/>
              <a:ext cx="763480" cy="480041"/>
              <a:chOff x="2789068" y="2050742"/>
              <a:chExt cx="763480" cy="480041"/>
            </a:xfrm>
          </p:grpSpPr>
          <p:sp>
            <p:nvSpPr>
              <p:cNvPr id="26" name="이등변 삼각형 25"/>
              <p:cNvSpPr/>
              <p:nvPr/>
            </p:nvSpPr>
            <p:spPr>
              <a:xfrm flipV="1">
                <a:off x="2789068" y="2050742"/>
                <a:ext cx="763480" cy="470516"/>
              </a:xfrm>
              <a:prstGeom prst="triangle">
                <a:avLst/>
              </a:prstGeom>
              <a:solidFill>
                <a:srgbClr val="F15A3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각 삼각형 26"/>
              <p:cNvSpPr/>
              <p:nvPr/>
            </p:nvSpPr>
            <p:spPr>
              <a:xfrm flipH="1" flipV="1">
                <a:off x="2789068" y="2059183"/>
                <a:ext cx="381740" cy="471600"/>
              </a:xfrm>
              <a:prstGeom prst="rtTriangle">
                <a:avLst/>
              </a:prstGeom>
              <a:solidFill>
                <a:srgbClr val="F15A3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>
              <a:off x="5365806" y="117753"/>
              <a:ext cx="763480" cy="480041"/>
              <a:chOff x="2025588" y="2050742"/>
              <a:chExt cx="763480" cy="480041"/>
            </a:xfrm>
          </p:grpSpPr>
          <p:sp>
            <p:nvSpPr>
              <p:cNvPr id="24" name="이등변 삼각형 23"/>
              <p:cNvSpPr/>
              <p:nvPr/>
            </p:nvSpPr>
            <p:spPr>
              <a:xfrm flipV="1">
                <a:off x="2025588" y="2050742"/>
                <a:ext cx="763480" cy="470516"/>
              </a:xfrm>
              <a:prstGeom prst="triangle">
                <a:avLst/>
              </a:prstGeom>
              <a:solidFill>
                <a:srgbClr val="193739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각 삼각형 24"/>
              <p:cNvSpPr/>
              <p:nvPr/>
            </p:nvSpPr>
            <p:spPr>
              <a:xfrm flipH="1" flipV="1">
                <a:off x="2025588" y="2059183"/>
                <a:ext cx="381740" cy="471600"/>
              </a:xfrm>
              <a:prstGeom prst="rtTriangle">
                <a:avLst/>
              </a:prstGeom>
              <a:solidFill>
                <a:srgbClr val="193739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174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m.blog.naver.com/chlalsdud61/220744988172" TargetMode="External"/><Relationship Id="rId3" Type="http://schemas.openxmlformats.org/officeDocument/2006/relationships/hyperlink" Target="https://languidafternoon.tistory.com/entry/CH022%EB%84%A4%ED%8A%B8%EC%9B%8C%ED%81%AC%EA%B3%BC-%EC%BC%80%EC%9D%B4%EB%B8%94-%EA%B7%B8%EB%A6%AC%EA%B3%A0-%EC%B9%9C%EA%B5%AC%EB%93%A4%EC%9D%B4%EB%8D%94%EB%84%B7%EC%9D%80-%EC%9D%B8%ED%84%B0%EB%84%B7%EC%9D%98-%EC%B9%9C%EA%B5%AC" TargetMode="External"/><Relationship Id="rId7" Type="http://schemas.openxmlformats.org/officeDocument/2006/relationships/hyperlink" Target="https://sonofgodcom.wordpress.com/2017/11/09/%EB%B3%B4%EC%95%88%EA%B3%B5%EB%B6%80-5%EA%B0%95-osi-7-%EA%B3%84%EC%B8%B5/" TargetMode="External"/><Relationship Id="rId2" Type="http://schemas.openxmlformats.org/officeDocument/2006/relationships/hyperlink" Target="https://ddungkill.tistory.com/19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oomini.tistory.com/54" TargetMode="External"/><Relationship Id="rId5" Type="http://schemas.openxmlformats.org/officeDocument/2006/relationships/hyperlink" Target="https://smarttechrom.blogspot.com/2016/02/arp.html" TargetMode="External"/><Relationship Id="rId4" Type="http://schemas.openxmlformats.org/officeDocument/2006/relationships/hyperlink" Target="http://westcoastcomm.com/difference-utp-stp-cable/" TargetMode="External"/><Relationship Id="rId9" Type="http://schemas.openxmlformats.org/officeDocument/2006/relationships/hyperlink" Target="https://linkhub.tistory.com/1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78774" y="4426393"/>
            <a:ext cx="272572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pc="3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2190195 </a:t>
            </a:r>
            <a:r>
              <a:rPr lang="ko-KR" altLang="en-US" spc="300" dirty="0">
                <a:solidFill>
                  <a:schemeClr val="bg1"/>
                </a:solidFill>
                <a:latin typeface="Yu Gothic" panose="020B0400000000000000" pitchFamily="34" charset="-128"/>
                <a:ea typeface="나눔스퀘어 Light" panose="020B0600000101010101" pitchFamily="50" charset="-127"/>
              </a:rPr>
              <a:t>김 진 일</a:t>
            </a:r>
            <a:endParaRPr lang="en-US" altLang="ko-KR" spc="3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31474" y="3136613"/>
            <a:ext cx="2133533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3200" b="1" spc="3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Network</a:t>
            </a:r>
            <a:endParaRPr lang="ko-KR" altLang="en-US" sz="3200" b="1" spc="300" dirty="0">
              <a:solidFill>
                <a:srgbClr val="FF0000"/>
              </a:solidFill>
              <a:latin typeface="Yu Gothic UI" panose="020B0500000000000000" pitchFamily="34" charset="-128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32146" y="3136613"/>
            <a:ext cx="527710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3200" b="1" spc="300" dirty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+</a:t>
            </a:r>
            <a:endParaRPr lang="ko-KR" altLang="en-US" sz="3200" b="1" spc="300" dirty="0">
              <a:solidFill>
                <a:srgbClr val="FF0000"/>
              </a:solidFill>
              <a:latin typeface="Yu Gothic" panose="020B0400000000000000" pitchFamily="34" charset="-128"/>
              <a:ea typeface="나눔스퀘어 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6993" y="3136613"/>
            <a:ext cx="130356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3200" b="1" spc="300" dirty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2,3,4</a:t>
            </a:r>
            <a:endParaRPr lang="ko-KR" altLang="en-US" sz="3200" b="1" spc="300" dirty="0">
              <a:solidFill>
                <a:srgbClr val="FF0000"/>
              </a:solidFill>
              <a:latin typeface="Yu Gothic" panose="020B0400000000000000" pitchFamily="34" charset="-128"/>
              <a:ea typeface="나눔스퀘어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15276" y="2428727"/>
            <a:ext cx="1292341" cy="7078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ko-KR" sz="4000" spc="1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GBC</a:t>
            </a:r>
          </a:p>
        </p:txBody>
      </p:sp>
    </p:spTree>
    <p:extLst>
      <p:ext uri="{BB962C8B-B14F-4D97-AF65-F5344CB8AC3E}">
        <p14:creationId xmlns:p14="http://schemas.microsoft.com/office/powerpoint/2010/main" val="295379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18309" y="1801973"/>
            <a:ext cx="354129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spc="3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1. </a:t>
            </a:r>
            <a:r>
              <a:rPr lang="ko-KR" altLang="en-US" sz="2400" spc="300" dirty="0">
                <a:solidFill>
                  <a:schemeClr val="bg1"/>
                </a:solidFill>
                <a:latin typeface="Yu Gothic" panose="020B0400000000000000" pitchFamily="34" charset="-128"/>
                <a:ea typeface="나눔스퀘어 Light" panose="020B0600000101010101" pitchFamily="50" charset="-127"/>
              </a:rPr>
              <a:t>네트워크와 케이블</a:t>
            </a:r>
            <a:endParaRPr lang="en-US" altLang="ko-KR" sz="2400" spc="3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8309" y="787695"/>
            <a:ext cx="108234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200" b="1" spc="300" dirty="0">
                <a:solidFill>
                  <a:srgbClr val="00B0F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목차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287" y="2822625"/>
            <a:ext cx="181834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400" spc="1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TCP/IP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2FD52-47BC-487F-99AE-12FA53036587}"/>
              </a:ext>
            </a:extLst>
          </p:cNvPr>
          <p:cNvSpPr txBox="1"/>
          <p:nvPr/>
        </p:nvSpPr>
        <p:spPr>
          <a:xfrm>
            <a:off x="918309" y="3843277"/>
            <a:ext cx="2979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</a:t>
            </a:r>
            <a:r>
              <a:rPr lang="ko-KR" altLang="en-US" sz="2400" dirty="0">
                <a:solidFill>
                  <a:schemeClr val="bg1"/>
                </a:solidFill>
                <a:latin typeface="Yu Gothic" panose="020B0400000000000000" pitchFamily="34" charset="-128"/>
              </a:rPr>
              <a:t>네트워크장비들</a:t>
            </a:r>
          </a:p>
        </p:txBody>
      </p:sp>
    </p:spTree>
    <p:extLst>
      <p:ext uri="{BB962C8B-B14F-4D97-AF65-F5344CB8AC3E}">
        <p14:creationId xmlns:p14="http://schemas.microsoft.com/office/powerpoint/2010/main" val="67782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A9B75-3217-4395-BDC8-7723217A5B32}"/>
              </a:ext>
            </a:extLst>
          </p:cNvPr>
          <p:cNvSpPr txBox="1"/>
          <p:nvPr/>
        </p:nvSpPr>
        <p:spPr>
          <a:xfrm>
            <a:off x="1136343" y="2112885"/>
            <a:ext cx="91643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LAN(“Local Area Network”)</a:t>
            </a:r>
            <a:r>
              <a:rPr lang="ko-KR" altLang="en-US" sz="2400" dirty="0">
                <a:solidFill>
                  <a:schemeClr val="bg1"/>
                </a:solidFill>
                <a:latin typeface="Yu Gothic" panose="020B0400000000000000" pitchFamily="34" charset="-128"/>
              </a:rPr>
              <a:t>이란</a:t>
            </a:r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?</a:t>
            </a:r>
          </a:p>
          <a:p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근거리 통신 망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–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가까운 지역을 한데 묶는 컴퓨터 네트워크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</a:t>
            </a:r>
            <a:r>
              <a:rPr lang="ko-KR" altLang="en-US" sz="2400" dirty="0">
                <a:solidFill>
                  <a:schemeClr val="bg1"/>
                </a:solidFill>
                <a:latin typeface="Yu Gothic" panose="020B0400000000000000" pitchFamily="34" charset="-128"/>
              </a:rPr>
              <a:t> 이더넷</a:t>
            </a:r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네트워크를 구성하는 방식 중 한 방법</a:t>
            </a:r>
            <a:r>
              <a:rPr lang="en-US" altLang="ko-KR" sz="2400" dirty="0">
                <a:solidFill>
                  <a:schemeClr val="bg1"/>
                </a:solidFill>
              </a:rPr>
              <a:t>)</a:t>
            </a:r>
            <a:endParaRPr lang="en-US" altLang="ko-KR" sz="24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  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  </a:t>
            </a:r>
            <a:r>
              <a:rPr lang="ko-KR" altLang="en-US" dirty="0">
                <a:solidFill>
                  <a:schemeClr val="bg1"/>
                </a:solidFill>
              </a:rPr>
              <a:t>각 기기들이 고유의 </a:t>
            </a:r>
            <a:r>
              <a:rPr lang="en-US" altLang="ko-KR" dirty="0">
                <a:solidFill>
                  <a:schemeClr val="bg1"/>
                </a:solidFill>
              </a:rPr>
              <a:t>MAC</a:t>
            </a:r>
            <a:r>
              <a:rPr lang="ko-KR" altLang="en-US" dirty="0">
                <a:solidFill>
                  <a:schemeClr val="bg1"/>
                </a:solidFill>
              </a:rPr>
              <a:t>주소를 가지고 이걸 통해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 </a:t>
            </a:r>
            <a:r>
              <a:rPr lang="ko-KR" altLang="en-US" dirty="0">
                <a:solidFill>
                  <a:schemeClr val="bg1"/>
                </a:solidFill>
              </a:rPr>
              <a:t>전자 기기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즉 호스트 간의 데이터를 주고 받을 수 있는 방식을 쓰고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br>
              <a:rPr lang="ko-KR" altLang="en-US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    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 </a:t>
            </a:r>
            <a:r>
              <a:rPr lang="ko-KR" altLang="en-US" dirty="0">
                <a:solidFill>
                  <a:schemeClr val="bg1"/>
                </a:solidFill>
              </a:rPr>
              <a:t>특징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 CSMA/CD Protocol</a:t>
            </a:r>
            <a:r>
              <a:rPr lang="ko-KR" altLang="en-US" dirty="0">
                <a:solidFill>
                  <a:schemeClr val="bg1"/>
                </a:solidFill>
              </a:rPr>
              <a:t> 을 사용하여 통신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80101-574A-44EA-837F-FAD6CAB3085C}"/>
              </a:ext>
            </a:extLst>
          </p:cNvPr>
          <p:cNvSpPr txBox="1"/>
          <p:nvPr/>
        </p:nvSpPr>
        <p:spPr>
          <a:xfrm>
            <a:off x="1136342" y="870011"/>
            <a:ext cx="4509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1.</a:t>
            </a:r>
            <a:r>
              <a:rPr lang="ko-KR" altLang="en-US" sz="3200" dirty="0">
                <a:solidFill>
                  <a:schemeClr val="bg1"/>
                </a:solidFill>
                <a:latin typeface="Yu Gothic" panose="020B0400000000000000" pitchFamily="34" charset="-128"/>
              </a:rPr>
              <a:t>네트워크와 케이블</a:t>
            </a:r>
          </a:p>
        </p:txBody>
      </p:sp>
    </p:spTree>
    <p:extLst>
      <p:ext uri="{BB962C8B-B14F-4D97-AF65-F5344CB8AC3E}">
        <p14:creationId xmlns:p14="http://schemas.microsoft.com/office/powerpoint/2010/main" val="293634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´ëë· íµì ì ëí ì´ë¯¸ì§ ê²ìê²°ê³¼">
            <a:extLst>
              <a:ext uri="{FF2B5EF4-FFF2-40B4-BE49-F238E27FC236}">
                <a16:creationId xmlns:a16="http://schemas.microsoft.com/office/drawing/2014/main" id="{1F9B6010-9672-43B2-AEAF-97E5F3AC2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74264"/>
            <a:ext cx="6668278" cy="470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E5BEA3-BBAC-4FAF-A507-E5735D0D2961}"/>
              </a:ext>
            </a:extLst>
          </p:cNvPr>
          <p:cNvSpPr txBox="1"/>
          <p:nvPr/>
        </p:nvSpPr>
        <p:spPr>
          <a:xfrm>
            <a:off x="3611771" y="6013587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>
                <a:solidFill>
                  <a:schemeClr val="bg1"/>
                </a:solidFill>
              </a:rPr>
              <a:t>콜리전</a:t>
            </a:r>
            <a:r>
              <a:rPr lang="ko-KR" altLang="en-US" dirty="0">
                <a:solidFill>
                  <a:schemeClr val="bg1"/>
                </a:solidFill>
              </a:rPr>
              <a:t> 발생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상태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40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7106A4-C186-47DA-8E82-5E51C74DCCDA}"/>
              </a:ext>
            </a:extLst>
          </p:cNvPr>
          <p:cNvSpPr/>
          <p:nvPr/>
        </p:nvSpPr>
        <p:spPr>
          <a:xfrm>
            <a:off x="1208874" y="1267042"/>
            <a:ext cx="14478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</a:t>
            </a:r>
            <a:r>
              <a:rPr lang="ko-KR" altLang="en-US" sz="2400" dirty="0" err="1">
                <a:solidFill>
                  <a:schemeClr val="bg1"/>
                </a:solidFill>
                <a:latin typeface="Yu Gothic" panose="020B0400000000000000" pitchFamily="34" charset="-128"/>
              </a:rPr>
              <a:t>토큰링</a:t>
            </a:r>
            <a:endParaRPr lang="en-US" altLang="ko-KR" sz="24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AB748-0E1D-469F-AF2B-0C5D12B9E792}"/>
              </a:ext>
            </a:extLst>
          </p:cNvPr>
          <p:cNvSpPr txBox="1"/>
          <p:nvPr/>
        </p:nvSpPr>
        <p:spPr>
          <a:xfrm>
            <a:off x="1208874" y="1946031"/>
            <a:ext cx="696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토크를 가진 </a:t>
            </a:r>
            <a:r>
              <a:rPr lang="en-US" altLang="ko-KR" dirty="0">
                <a:solidFill>
                  <a:schemeClr val="bg1"/>
                </a:solidFill>
              </a:rPr>
              <a:t>PC</a:t>
            </a:r>
            <a:r>
              <a:rPr lang="ko-KR" altLang="en-US" dirty="0">
                <a:solidFill>
                  <a:schemeClr val="bg1"/>
                </a:solidFill>
              </a:rPr>
              <a:t>만이 네트워크에 데이터를 실어 보낼 수 있는 방식</a:t>
            </a:r>
          </a:p>
        </p:txBody>
      </p:sp>
      <p:pic>
        <p:nvPicPr>
          <p:cNvPr id="1026" name="Picture 2" descr="í í°ë§ì ëí ì´ë¯¸ì§ ê²ìê²°ê³¼">
            <a:extLst>
              <a:ext uri="{FF2B5EF4-FFF2-40B4-BE49-F238E27FC236}">
                <a16:creationId xmlns:a16="http://schemas.microsoft.com/office/drawing/2014/main" id="{BC0EFBFA-3FEC-4693-9BF2-3F1EF9449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795" y="2691300"/>
            <a:ext cx="3879485" cy="343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F77096-684F-4A2E-8486-20A592BC5856}"/>
              </a:ext>
            </a:extLst>
          </p:cNvPr>
          <p:cNvSpPr txBox="1"/>
          <p:nvPr/>
        </p:nvSpPr>
        <p:spPr>
          <a:xfrm>
            <a:off x="5416061" y="3764545"/>
            <a:ext cx="6096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단점 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다른 </a:t>
            </a:r>
            <a:r>
              <a:rPr lang="en-US" altLang="ko-KR" dirty="0">
                <a:solidFill>
                  <a:schemeClr val="bg1"/>
                </a:solidFill>
              </a:rPr>
              <a:t>PC</a:t>
            </a:r>
            <a:r>
              <a:rPr lang="ko-KR" altLang="en-US" dirty="0">
                <a:solidFill>
                  <a:schemeClr val="bg1"/>
                </a:solidFill>
              </a:rPr>
              <a:t>들이 보낼 데이터가 하나도 없다 하더라도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차례가 올 때까지 기다려야함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0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BB1F8E-E3BA-40B4-AF84-0DA54FE2CA73}"/>
              </a:ext>
            </a:extLst>
          </p:cNvPr>
          <p:cNvSpPr/>
          <p:nvPr/>
        </p:nvSpPr>
        <p:spPr>
          <a:xfrm>
            <a:off x="1172306" y="1341735"/>
            <a:ext cx="939409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UTP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</a:rPr>
              <a:t>케이블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</a:endParaRPr>
          </a:p>
          <a:p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TP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1. UTP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2. STP</a:t>
            </a:r>
          </a:p>
          <a:p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MAC Address(Physical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주소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</a:p>
          <a:p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MAC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액세스 컨트롤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통신을 위해서는 서로를 구분할 일종의 주소가 필요한데 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이 역할을 담당하는 주소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MAC Address</a:t>
            </a:r>
          </a:p>
          <a:p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IP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Address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(Local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주소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인터넷 프로토콜 주소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2052" name="Picture 4" descr="STPì ëí ì´ë¯¸ì§ ê²ìê²°ê³¼">
            <a:extLst>
              <a:ext uri="{FF2B5EF4-FFF2-40B4-BE49-F238E27FC236}">
                <a16:creationId xmlns:a16="http://schemas.microsoft.com/office/drawing/2014/main" id="{A992D50B-FDF6-48BB-AE17-1880976CB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903" y="1341735"/>
            <a:ext cx="4648955" cy="331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50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86BA58-B037-4E77-AC21-610FFE5D880A}"/>
              </a:ext>
            </a:extLst>
          </p:cNvPr>
          <p:cNvSpPr/>
          <p:nvPr/>
        </p:nvSpPr>
        <p:spPr>
          <a:xfrm>
            <a:off x="1172308" y="1119444"/>
            <a:ext cx="90345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통신 과정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(ARP : Address Resolution Protocol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사용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   </a:t>
            </a:r>
          </a:p>
          <a:p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ARP : </a:t>
            </a:r>
            <a:r>
              <a:rPr lang="ko-KR" altLang="en-US" dirty="0">
                <a:solidFill>
                  <a:schemeClr val="bg1"/>
                </a:solidFill>
              </a:rPr>
              <a:t>네트워크 상에서 </a:t>
            </a:r>
            <a:r>
              <a:rPr lang="en-US" altLang="ko-KR" dirty="0">
                <a:solidFill>
                  <a:schemeClr val="bg1"/>
                </a:solidFill>
              </a:rPr>
              <a:t>IP </a:t>
            </a:r>
            <a:r>
              <a:rPr lang="ko-KR" altLang="en-US" dirty="0">
                <a:solidFill>
                  <a:schemeClr val="bg1"/>
                </a:solidFill>
              </a:rPr>
              <a:t>주소를 물리적 네트워크 주소로 대응</a:t>
            </a:r>
            <a:r>
              <a:rPr lang="en-US" altLang="ko-KR" dirty="0">
                <a:solidFill>
                  <a:schemeClr val="bg1"/>
                </a:solidFill>
              </a:rPr>
              <a:t>(bind)</a:t>
            </a:r>
            <a:r>
              <a:rPr lang="ko-KR" altLang="en-US" dirty="0">
                <a:solidFill>
                  <a:schemeClr val="bg1"/>
                </a:solidFill>
              </a:rPr>
              <a:t>시키기 위해 사용되는 프로토콜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</a:rPr>
              <a:t> 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</a:rPr>
              <a:t>IP 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</a:rPr>
              <a:t>주소를 </a:t>
            </a:r>
            <a:r>
              <a:rPr lang="en-US" altLang="ko-KR" dirty="0">
                <a:solidFill>
                  <a:schemeClr val="bg1"/>
                </a:solidFill>
                <a:latin typeface="Yu Gothic" panose="020B0400000000000000" pitchFamily="34" charset="-128"/>
              </a:rPr>
              <a:t>MAC</a:t>
            </a:r>
            <a:r>
              <a:rPr lang="ko-KR" altLang="en-US" dirty="0">
                <a:solidFill>
                  <a:schemeClr val="bg1"/>
                </a:solidFill>
                <a:latin typeface="Yu Gothic" panose="020B0400000000000000" pitchFamily="34" charset="-128"/>
              </a:rPr>
              <a:t>주소로 바꾸는 과정</a:t>
            </a:r>
            <a:endParaRPr lang="en-US" altLang="ko-KR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3074" name="Picture 2" descr="ARPì ëí ì´ë¯¸ì§ ê²ìê²°ê³¼">
            <a:extLst>
              <a:ext uri="{FF2B5EF4-FFF2-40B4-BE49-F238E27FC236}">
                <a16:creationId xmlns:a16="http://schemas.microsoft.com/office/drawing/2014/main" id="{C85AB549-8CAD-4936-9D44-538FAA8D0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462" y="2452253"/>
            <a:ext cx="54864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03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42A3F0-5EA8-43DB-9A52-C90E39CA54B5}"/>
              </a:ext>
            </a:extLst>
          </p:cNvPr>
          <p:cNvSpPr txBox="1"/>
          <p:nvPr/>
        </p:nvSpPr>
        <p:spPr>
          <a:xfrm>
            <a:off x="1137024" y="689727"/>
            <a:ext cx="881196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통신 종류</a:t>
            </a:r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1. Unicast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   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특정 목적지의 주소 하나만을 가지고 통신하는 방식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자신의 </a:t>
            </a:r>
            <a:r>
              <a:rPr lang="en-US" altLang="ko-KR" dirty="0">
                <a:solidFill>
                  <a:schemeClr val="bg1"/>
                </a:solidFill>
              </a:rPr>
              <a:t>MAC Address</a:t>
            </a:r>
            <a:r>
              <a:rPr lang="ko-KR" altLang="en-US" dirty="0">
                <a:solidFill>
                  <a:schemeClr val="bg1"/>
                </a:solidFill>
              </a:rPr>
              <a:t>가 아닌 경우 </a:t>
            </a:r>
            <a:r>
              <a:rPr lang="en-US" altLang="ko-KR" dirty="0">
                <a:solidFill>
                  <a:schemeClr val="bg1"/>
                </a:solidFill>
              </a:rPr>
              <a:t>LAN Card</a:t>
            </a:r>
            <a:r>
              <a:rPr lang="ko-KR" altLang="en-US" dirty="0">
                <a:solidFill>
                  <a:schemeClr val="bg1"/>
                </a:solidFill>
              </a:rPr>
              <a:t>는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이 프레임을 버림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2. Broadcast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자기가 받기 싫다고 해서 받지 않는 것이 아니라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무조건 받음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즉 네트워크 상 모두에게 보내는 방식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Broadcast Address</a:t>
            </a:r>
            <a:r>
              <a:rPr lang="ko-KR" altLang="en-US" dirty="0">
                <a:solidFill>
                  <a:schemeClr val="bg1"/>
                </a:solidFill>
              </a:rPr>
              <a:t>주소가 오면 </a:t>
            </a:r>
            <a:r>
              <a:rPr lang="en-US" altLang="ko-KR" dirty="0">
                <a:solidFill>
                  <a:schemeClr val="bg1"/>
                </a:solidFill>
              </a:rPr>
              <a:t>LAN Card</a:t>
            </a:r>
            <a:r>
              <a:rPr lang="ko-KR" altLang="en-US" dirty="0">
                <a:solidFill>
                  <a:schemeClr val="bg1"/>
                </a:solidFill>
              </a:rPr>
              <a:t>는 자신의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MAC Address</a:t>
            </a:r>
            <a:r>
              <a:rPr lang="ko-KR" altLang="en-US" dirty="0">
                <a:solidFill>
                  <a:schemeClr val="bg1"/>
                </a:solidFill>
              </a:rPr>
              <a:t>와 같지 않지만 패킷을 </a:t>
            </a:r>
            <a:r>
              <a:rPr lang="en-US" altLang="ko-KR" dirty="0">
                <a:solidFill>
                  <a:schemeClr val="bg1"/>
                </a:solidFill>
              </a:rPr>
              <a:t>CPU</a:t>
            </a:r>
            <a:r>
              <a:rPr lang="ko-KR" altLang="en-US" dirty="0">
                <a:solidFill>
                  <a:schemeClr val="bg1"/>
                </a:solidFill>
              </a:rPr>
              <a:t>에 보냄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이후 </a:t>
            </a:r>
            <a:r>
              <a:rPr lang="en-US" altLang="ko-KR" dirty="0">
                <a:solidFill>
                  <a:schemeClr val="bg1"/>
                </a:solidFill>
              </a:rPr>
              <a:t>CPU</a:t>
            </a:r>
            <a:r>
              <a:rPr lang="ko-KR" altLang="en-US" dirty="0">
                <a:solidFill>
                  <a:schemeClr val="bg1"/>
                </a:solidFill>
              </a:rPr>
              <a:t>가 패킷을 처리함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3. Multicast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선택적으로 보내어 통신하는 방식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(</a:t>
            </a:r>
            <a:r>
              <a:rPr lang="ko-KR" altLang="en-US" dirty="0">
                <a:solidFill>
                  <a:schemeClr val="bg1"/>
                </a:solidFill>
              </a:rPr>
              <a:t>조건</a:t>
            </a:r>
            <a:r>
              <a:rPr lang="en-US" altLang="ko-KR" dirty="0">
                <a:solidFill>
                  <a:schemeClr val="bg1"/>
                </a:solidFill>
              </a:rPr>
              <a:t> : </a:t>
            </a:r>
            <a:r>
              <a:rPr lang="ko-KR" altLang="en-US" dirty="0">
                <a:solidFill>
                  <a:schemeClr val="bg1"/>
                </a:solidFill>
              </a:rPr>
              <a:t>스위치나 라우터가 멀티캐스트 기능을 꼭 지원해야함</a:t>
            </a:r>
            <a:r>
              <a:rPr lang="en-US" altLang="ko-KR" dirty="0">
                <a:solidFill>
                  <a:schemeClr val="bg1"/>
                </a:solidFill>
              </a:rPr>
              <a:t>.)  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100" name="Picture 4" descr="unicastì ëí ì´ë¯¸ì§ ê²ìê²°ê³¼">
            <a:extLst>
              <a:ext uri="{FF2B5EF4-FFF2-40B4-BE49-F238E27FC236}">
                <a16:creationId xmlns:a16="http://schemas.microsoft.com/office/drawing/2014/main" id="{107DF3D5-2183-4029-803A-41CDE6227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524" y="1794608"/>
            <a:ext cx="4029075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37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2421C-E0E1-4AC4-A6F2-95FC637CD334}"/>
              </a:ext>
            </a:extLst>
          </p:cNvPr>
          <p:cNvSpPr txBox="1"/>
          <p:nvPr/>
        </p:nvSpPr>
        <p:spPr>
          <a:xfrm>
            <a:off x="1189607" y="1005225"/>
            <a:ext cx="268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OSI 7 Layer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5124" name="Picture 4" descr="ê´ë ¨ ì´ë¯¸ì§">
            <a:extLst>
              <a:ext uri="{FF2B5EF4-FFF2-40B4-BE49-F238E27FC236}">
                <a16:creationId xmlns:a16="http://schemas.microsoft.com/office/drawing/2014/main" id="{7D3CE446-0DAA-4BE3-A7A9-08BA03C4B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607" y="1830942"/>
            <a:ext cx="6330865" cy="447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85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5B6BBC-0DA2-4D32-AAF5-AA1A9DB60B38}"/>
              </a:ext>
            </a:extLst>
          </p:cNvPr>
          <p:cNvSpPr txBox="1"/>
          <p:nvPr/>
        </p:nvSpPr>
        <p:spPr>
          <a:xfrm>
            <a:off x="1180730" y="1127465"/>
            <a:ext cx="3142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Computer Protocol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E6E601-1925-4DDD-B2F4-A1D5B5C5DB14}"/>
              </a:ext>
            </a:extLst>
          </p:cNvPr>
          <p:cNvSpPr/>
          <p:nvPr/>
        </p:nvSpPr>
        <p:spPr>
          <a:xfrm>
            <a:off x="1180730" y="1878820"/>
            <a:ext cx="7025424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pple SD Gothic Neo"/>
              </a:rPr>
              <a:t>복수의 컴퓨터 사이나 중앙 컴퓨터와 단말기 사이에서 데이터 통신을 원활하게 하기 위해 필요한 통신 규약</a:t>
            </a:r>
            <a:r>
              <a:rPr lang="en-US" altLang="ko-KR" dirty="0">
                <a:solidFill>
                  <a:schemeClr val="bg1"/>
                </a:solidFill>
                <a:latin typeface="Apple SD Gothic Neo"/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  <a:latin typeface="Apple SD Gothic Neo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pple SD Gothic Neo"/>
              </a:rPr>
              <a:t>인터넷을 사용하기 위해선 모든 </a:t>
            </a:r>
            <a:r>
              <a:rPr lang="en-US" altLang="ko-KR" dirty="0">
                <a:solidFill>
                  <a:schemeClr val="bg1"/>
                </a:solidFill>
                <a:latin typeface="Apple SD Gothic Neo"/>
              </a:rPr>
              <a:t>PC</a:t>
            </a:r>
            <a:r>
              <a:rPr lang="ko-KR" altLang="en-US" dirty="0">
                <a:solidFill>
                  <a:schemeClr val="bg1"/>
                </a:solidFill>
                <a:latin typeface="Apple SD Gothic Neo"/>
              </a:rPr>
              <a:t>가 </a:t>
            </a:r>
            <a:r>
              <a:rPr lang="en-US" altLang="ko-KR" dirty="0">
                <a:solidFill>
                  <a:schemeClr val="bg1"/>
                </a:solidFill>
                <a:latin typeface="Apple SD Gothic Neo"/>
              </a:rPr>
              <a:t>TCP/IP</a:t>
            </a:r>
            <a:r>
              <a:rPr lang="ko-KR" altLang="en-US" dirty="0">
                <a:solidFill>
                  <a:schemeClr val="bg1"/>
                </a:solidFill>
                <a:latin typeface="Apple SD Gothic Neo"/>
              </a:rPr>
              <a:t>라는 프로토콜을 </a:t>
            </a:r>
            <a:endParaRPr lang="en-US" altLang="ko-KR" dirty="0">
              <a:solidFill>
                <a:schemeClr val="bg1"/>
              </a:solidFill>
              <a:latin typeface="Apple SD Gothic Neo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pple SD Gothic Neo"/>
              </a:rPr>
              <a:t>사용 해야함</a:t>
            </a:r>
            <a:r>
              <a:rPr lang="en-US" altLang="ko-KR" dirty="0">
                <a:solidFill>
                  <a:schemeClr val="bg1"/>
                </a:solidFill>
                <a:latin typeface="Apple SD Gothic Neo"/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  <a:latin typeface="Apple SD Gothic Neo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Apple SD Gothic Neo"/>
              </a:rPr>
              <a:t>TCP/IP</a:t>
            </a:r>
          </a:p>
          <a:p>
            <a:endParaRPr lang="en-US" altLang="ko-KR" sz="2400" dirty="0">
              <a:solidFill>
                <a:schemeClr val="bg1"/>
              </a:solidFill>
              <a:latin typeface="Apple SD Gothic Neo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Apple SD Gothic Neo"/>
              </a:rPr>
              <a:t>TCP(</a:t>
            </a:r>
            <a:r>
              <a:rPr lang="en-US" altLang="ko-KR" dirty="0">
                <a:solidFill>
                  <a:schemeClr val="bg1"/>
                </a:solidFill>
              </a:rPr>
              <a:t>Transmission Control Protocol</a:t>
            </a:r>
            <a:r>
              <a:rPr lang="en-US" altLang="ko-KR" sz="2400" dirty="0">
                <a:solidFill>
                  <a:schemeClr val="bg1"/>
                </a:solidFill>
              </a:rPr>
              <a:t>)</a:t>
            </a:r>
            <a:endParaRPr lang="en-US" altLang="ko-KR" sz="2400" dirty="0">
              <a:solidFill>
                <a:schemeClr val="bg1"/>
              </a:solidFill>
              <a:latin typeface="Apple SD Gothic Neo"/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전송 제어 프로토콜</a:t>
            </a:r>
            <a:endParaRPr lang="en-US" altLang="ko-KR" dirty="0">
              <a:solidFill>
                <a:schemeClr val="bg1"/>
              </a:solidFill>
              <a:latin typeface="Apple SD Gothic Neo"/>
            </a:endParaRPr>
          </a:p>
          <a:p>
            <a:endParaRPr lang="en-US" altLang="ko-KR" dirty="0">
              <a:solidFill>
                <a:schemeClr val="bg1"/>
              </a:solidFill>
              <a:latin typeface="Apple SD Gothic Neo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Apple SD Gothic Neo"/>
              </a:rPr>
              <a:t>IP(</a:t>
            </a:r>
            <a:r>
              <a:rPr lang="en-US" altLang="ko-KR" dirty="0">
                <a:solidFill>
                  <a:schemeClr val="bg1"/>
                </a:solidFill>
              </a:rPr>
              <a:t>Internet Protocol address)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컴퓨터 네트워크에서 장치들이 서로를 인식하고 통신을 하기 위해서 사용하는 특수한 번호</a:t>
            </a:r>
            <a:endParaRPr lang="en-US" altLang="ko-KR" sz="2400" dirty="0">
              <a:solidFill>
                <a:schemeClr val="bg1"/>
              </a:solidFill>
              <a:latin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380216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247181-D8C2-444A-9461-ED083F8077D2}"/>
              </a:ext>
            </a:extLst>
          </p:cNvPr>
          <p:cNvSpPr txBox="1"/>
          <p:nvPr/>
        </p:nvSpPr>
        <p:spPr>
          <a:xfrm>
            <a:off x="1198486" y="1216240"/>
            <a:ext cx="2281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이진수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775DD-51B9-4547-84E9-954078E9BB5B}"/>
              </a:ext>
            </a:extLst>
          </p:cNvPr>
          <p:cNvSpPr txBox="1"/>
          <p:nvPr/>
        </p:nvSpPr>
        <p:spPr>
          <a:xfrm>
            <a:off x="1198486" y="1852246"/>
            <a:ext cx="770275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</a:t>
            </a:r>
            <a:r>
              <a:rPr lang="ko-KR" altLang="en-US" dirty="0">
                <a:solidFill>
                  <a:schemeClr val="bg1"/>
                </a:solidFill>
              </a:rPr>
              <a:t>과 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r>
              <a:rPr lang="ko-KR" altLang="en-US" dirty="0">
                <a:solidFill>
                  <a:schemeClr val="bg1"/>
                </a:solidFill>
              </a:rPr>
              <a:t> 두개의 숫자만 이용한 수의 체계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이진수 </a:t>
            </a:r>
            <a:r>
              <a:rPr lang="en-US" altLang="ko-KR" dirty="0">
                <a:solidFill>
                  <a:schemeClr val="bg1"/>
                </a:solidFill>
              </a:rPr>
              <a:t>&gt; </a:t>
            </a:r>
            <a:r>
              <a:rPr lang="ko-KR" altLang="en-US" dirty="0">
                <a:solidFill>
                  <a:schemeClr val="bg1"/>
                </a:solidFill>
                <a:sym typeface="Wingdings" panose="05000000000000000000" pitchFamily="2" charset="2"/>
              </a:rPr>
              <a:t>십진수</a:t>
            </a:r>
            <a:endParaRPr lang="en-US" altLang="ko-KR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Ex) 10001010 = 64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+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8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+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=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74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십진수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십진수 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  <a:r>
              <a:rPr lang="en-US" altLang="ko-KR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bg1"/>
                </a:solidFill>
                <a:sym typeface="Wingdings" panose="05000000000000000000" pitchFamily="2" charset="2"/>
              </a:rPr>
              <a:t>이진수 </a:t>
            </a:r>
            <a:endParaRPr lang="en-US" altLang="ko-KR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Ex)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74</a:t>
            </a:r>
            <a:r>
              <a:rPr lang="ko-KR" altLang="en-US" dirty="0">
                <a:solidFill>
                  <a:schemeClr val="bg1"/>
                </a:solidFill>
              </a:rPr>
              <a:t>를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로 계속해서 나누어 주어 각 나머지들을 밑에서 부터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순서대로 적으면 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r>
              <a:rPr lang="ko-KR" altLang="en-US" dirty="0">
                <a:solidFill>
                  <a:schemeClr val="bg1"/>
                </a:solidFill>
              </a:rPr>
              <a:t>과 </a:t>
            </a:r>
            <a:r>
              <a:rPr lang="en-US" altLang="ko-KR" dirty="0">
                <a:solidFill>
                  <a:schemeClr val="bg1"/>
                </a:solidFill>
              </a:rPr>
              <a:t>0</a:t>
            </a:r>
            <a:r>
              <a:rPr lang="ko-KR" altLang="en-US" dirty="0">
                <a:solidFill>
                  <a:schemeClr val="bg1"/>
                </a:solidFill>
              </a:rPr>
              <a:t>으로 나타나게 되어</a:t>
            </a:r>
            <a:r>
              <a:rPr lang="en-US" altLang="ko-KR" dirty="0">
                <a:solidFill>
                  <a:schemeClr val="bg1"/>
                </a:solidFill>
              </a:rPr>
              <a:t> 10001010 (</a:t>
            </a:r>
            <a:r>
              <a:rPr lang="ko-KR" altLang="en-US" dirty="0">
                <a:solidFill>
                  <a:schemeClr val="bg1"/>
                </a:solidFill>
              </a:rPr>
              <a:t>이진수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가 나옴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이를 활용하여 컴퓨터는 </a:t>
            </a:r>
            <a:r>
              <a:rPr lang="en-US" altLang="ko-KR" dirty="0">
                <a:solidFill>
                  <a:schemeClr val="bg1"/>
                </a:solidFill>
              </a:rPr>
              <a:t>0 (OFF) </a:t>
            </a:r>
            <a:r>
              <a:rPr lang="ko-KR" altLang="en-US" dirty="0">
                <a:solidFill>
                  <a:schemeClr val="bg1"/>
                </a:solidFill>
              </a:rPr>
              <a:t>과 </a:t>
            </a:r>
            <a:r>
              <a:rPr lang="en-US" altLang="ko-KR" dirty="0">
                <a:solidFill>
                  <a:schemeClr val="bg1"/>
                </a:solidFill>
              </a:rPr>
              <a:t>1 (ON) </a:t>
            </a:r>
            <a:r>
              <a:rPr lang="ko-KR" altLang="en-US" dirty="0">
                <a:solidFill>
                  <a:schemeClr val="bg1"/>
                </a:solidFill>
              </a:rPr>
              <a:t>으로 생각하여 받아들이고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IP </a:t>
            </a:r>
            <a:r>
              <a:rPr lang="ko-KR" altLang="en-US" dirty="0">
                <a:solidFill>
                  <a:schemeClr val="bg1"/>
                </a:solidFill>
              </a:rPr>
              <a:t>주소에도 활용됩니다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070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8A4178-D669-4426-9CC2-E052DA0B491D}"/>
              </a:ext>
            </a:extLst>
          </p:cNvPr>
          <p:cNvSpPr txBox="1"/>
          <p:nvPr/>
        </p:nvSpPr>
        <p:spPr>
          <a:xfrm>
            <a:off x="1162974" y="779241"/>
            <a:ext cx="5237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</a:rPr>
              <a:t>네트워크 장비들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B11DE-FFDB-422F-9DE4-F72179230F9C}"/>
              </a:ext>
            </a:extLst>
          </p:cNvPr>
          <p:cNvSpPr txBox="1"/>
          <p:nvPr/>
        </p:nvSpPr>
        <p:spPr>
          <a:xfrm>
            <a:off x="1162974" y="1428146"/>
            <a:ext cx="1013639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HUB?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포트가 여러 개 달린 장비로서 이더넷 네트워크에서 여러 대의컴퓨터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네트워크 장비를 연결하는 장치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허브로 연결된 네트워크에서는 한 컴퓨터에서 주고받는 데이터가 같은 허브에 연결된 다른 모든 컴퓨터에 전달됩니다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따라서 연결된 컴퓨터의 개수가 많아질 수록 네트워크에서 충돌</a:t>
            </a:r>
            <a:r>
              <a:rPr lang="en-US" altLang="ko-KR" dirty="0">
                <a:solidFill>
                  <a:schemeClr val="bg1"/>
                </a:solidFill>
              </a:rPr>
              <a:t>(collision)</a:t>
            </a:r>
            <a:r>
              <a:rPr lang="ko-KR" altLang="en-US" dirty="0">
                <a:solidFill>
                  <a:schemeClr val="bg1"/>
                </a:solidFill>
              </a:rPr>
              <a:t>이 많아지고 속도가 </a:t>
            </a:r>
            <a:r>
              <a:rPr lang="ko-KR" altLang="en-US" dirty="0" err="1">
                <a:solidFill>
                  <a:schemeClr val="bg1"/>
                </a:solidFill>
              </a:rPr>
              <a:t>느려지게</a:t>
            </a:r>
            <a:r>
              <a:rPr lang="ko-KR" altLang="en-US" dirty="0">
                <a:solidFill>
                  <a:schemeClr val="bg1"/>
                </a:solidFill>
              </a:rPr>
              <a:t> 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146" name="Picture 2" descr="HUB íµì ì ëí ì´ë¯¸ì§ ê²ìê²°ê³¼">
            <a:extLst>
              <a:ext uri="{FF2B5EF4-FFF2-40B4-BE49-F238E27FC236}">
                <a16:creationId xmlns:a16="http://schemas.microsoft.com/office/drawing/2014/main" id="{889BB3AE-7314-402C-8419-11DF7DD7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205" y="3799148"/>
            <a:ext cx="7402688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26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C08D0B-EBDD-4D7E-8216-0B1B5ACD176E}"/>
              </a:ext>
            </a:extLst>
          </p:cNvPr>
          <p:cNvSpPr txBox="1"/>
          <p:nvPr/>
        </p:nvSpPr>
        <p:spPr>
          <a:xfrm>
            <a:off x="1265257" y="1101515"/>
            <a:ext cx="844926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허브와 스위치 차이점 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1. </a:t>
            </a:r>
            <a:r>
              <a:rPr lang="ko-KR" altLang="en-US" dirty="0">
                <a:solidFill>
                  <a:schemeClr val="bg1"/>
                </a:solidFill>
              </a:rPr>
              <a:t>허브와는 달리 다른 </a:t>
            </a:r>
            <a:r>
              <a:rPr lang="en-US" altLang="ko-KR" dirty="0">
                <a:solidFill>
                  <a:schemeClr val="bg1"/>
                </a:solidFill>
              </a:rPr>
              <a:t>PC</a:t>
            </a:r>
            <a:r>
              <a:rPr lang="ko-KR" altLang="en-US" dirty="0">
                <a:solidFill>
                  <a:schemeClr val="bg1"/>
                </a:solidFill>
              </a:rPr>
              <a:t>들도 동시에 통신이 가능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2. </a:t>
            </a:r>
            <a:r>
              <a:rPr lang="ko-KR" altLang="en-US" dirty="0">
                <a:solidFill>
                  <a:schemeClr val="bg1"/>
                </a:solidFill>
              </a:rPr>
              <a:t>데이터를 처리하는 방법이 우수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3. </a:t>
            </a:r>
            <a:r>
              <a:rPr lang="ko-KR" altLang="en-US" dirty="0">
                <a:solidFill>
                  <a:schemeClr val="bg1"/>
                </a:solidFill>
              </a:rPr>
              <a:t>데이터의 전송 에러 등을 복구해 주는 기능</a:t>
            </a:r>
            <a:r>
              <a:rPr lang="en-US" altLang="ko-KR" dirty="0">
                <a:solidFill>
                  <a:schemeClr val="bg1"/>
                </a:solidFill>
              </a:rPr>
              <a:t> 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허브의 장점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1. </a:t>
            </a:r>
            <a:r>
              <a:rPr lang="ko-KR" altLang="en-US" dirty="0">
                <a:solidFill>
                  <a:schemeClr val="bg1"/>
                </a:solidFill>
              </a:rPr>
              <a:t>아주 미세하지만 데이터 처리 속도가 스위치보다 빠르다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2. </a:t>
            </a:r>
            <a:r>
              <a:rPr lang="ko-KR" altLang="en-US" dirty="0">
                <a:solidFill>
                  <a:schemeClr val="bg1"/>
                </a:solidFill>
              </a:rPr>
              <a:t>허브는 한번에 하나의 데이터만 처리할 수 있기에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</a:t>
            </a:r>
            <a:r>
              <a:rPr lang="ko-KR" altLang="en-US" dirty="0">
                <a:solidFill>
                  <a:schemeClr val="bg1"/>
                </a:solidFill>
              </a:rPr>
              <a:t>처리 속도가 빠를 수 밖에 없다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35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EC366-7599-43DF-B3BF-EA120601335F}"/>
              </a:ext>
            </a:extLst>
          </p:cNvPr>
          <p:cNvSpPr txBox="1"/>
          <p:nvPr/>
        </p:nvSpPr>
        <p:spPr>
          <a:xfrm>
            <a:off x="1210550" y="1025181"/>
            <a:ext cx="1021554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Switch and Bridge</a:t>
            </a: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스위치와 브리지는 </a:t>
            </a:r>
            <a:r>
              <a:rPr lang="en-US" altLang="ko-KR" dirty="0">
                <a:solidFill>
                  <a:schemeClr val="bg1"/>
                </a:solidFill>
              </a:rPr>
              <a:t>MAC </a:t>
            </a:r>
            <a:r>
              <a:rPr lang="ko-KR" altLang="en-US" dirty="0">
                <a:solidFill>
                  <a:schemeClr val="bg1"/>
                </a:solidFill>
              </a:rPr>
              <a:t>주소와 포트 번호가 기록된 </a:t>
            </a:r>
            <a:r>
              <a:rPr lang="en-US" altLang="ko-KR" dirty="0">
                <a:solidFill>
                  <a:schemeClr val="bg1"/>
                </a:solidFill>
              </a:rPr>
              <a:t>MAC </a:t>
            </a:r>
            <a:r>
              <a:rPr lang="ko-KR" altLang="en-US" dirty="0">
                <a:solidFill>
                  <a:schemeClr val="bg1"/>
                </a:solidFill>
              </a:rPr>
              <a:t>주소 테이블을 가지고 있어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목적지 </a:t>
            </a:r>
            <a:r>
              <a:rPr lang="en-US" altLang="ko-KR" dirty="0">
                <a:solidFill>
                  <a:schemeClr val="bg1"/>
                </a:solidFill>
              </a:rPr>
              <a:t>MAC </a:t>
            </a:r>
            <a:r>
              <a:rPr lang="ko-KR" altLang="en-US" dirty="0">
                <a:solidFill>
                  <a:schemeClr val="bg1"/>
                </a:solidFill>
              </a:rPr>
              <a:t>주소를 가진 장비가 연결된 포트로만 프레임을 전송한다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Bridge</a:t>
            </a:r>
          </a:p>
          <a:p>
            <a:r>
              <a:rPr lang="ko-KR" altLang="en-US" dirty="0" err="1">
                <a:solidFill>
                  <a:schemeClr val="bg1"/>
                </a:solidFill>
              </a:rPr>
              <a:t>콜리전</a:t>
            </a:r>
            <a:r>
              <a:rPr lang="ko-KR" altLang="en-US" dirty="0">
                <a:solidFill>
                  <a:schemeClr val="bg1"/>
                </a:solidFill>
              </a:rPr>
              <a:t> 도메인을 반으로 나누고 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그 사이에 다리를 놓는 역할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나누어진 </a:t>
            </a:r>
            <a:r>
              <a:rPr lang="ko-KR" altLang="en-US" dirty="0" err="1">
                <a:solidFill>
                  <a:schemeClr val="bg1"/>
                </a:solidFill>
              </a:rPr>
              <a:t>콜리전</a:t>
            </a:r>
            <a:r>
              <a:rPr lang="ko-KR" altLang="en-US" dirty="0">
                <a:solidFill>
                  <a:schemeClr val="bg1"/>
                </a:solidFill>
              </a:rPr>
              <a:t> 도메인은 서로 영향을 받지 않음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Flooding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Forwarding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Filtering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Aging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16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86C365-B9DF-4BB6-A487-1FC717416C8E}"/>
              </a:ext>
            </a:extLst>
          </p:cNvPr>
          <p:cNvSpPr txBox="1"/>
          <p:nvPr/>
        </p:nvSpPr>
        <p:spPr>
          <a:xfrm>
            <a:off x="1162975" y="806350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Looping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283B7-F5D2-4AEE-A0AF-CFE726F5607B}"/>
              </a:ext>
            </a:extLst>
          </p:cNvPr>
          <p:cNvSpPr txBox="1"/>
          <p:nvPr/>
        </p:nvSpPr>
        <p:spPr>
          <a:xfrm>
            <a:off x="1162975" y="1552671"/>
            <a:ext cx="980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스위치나 브리지가 두개 있을 때 왼쪽이 </a:t>
            </a:r>
            <a:r>
              <a:rPr lang="en-US" altLang="ko-KR" dirty="0">
                <a:solidFill>
                  <a:schemeClr val="bg1"/>
                </a:solidFill>
              </a:rPr>
              <a:t>Flooding</a:t>
            </a:r>
            <a:r>
              <a:rPr lang="ko-KR" altLang="en-US" dirty="0">
                <a:solidFill>
                  <a:schemeClr val="bg1"/>
                </a:solidFill>
              </a:rPr>
              <a:t>을 하게 되면 </a:t>
            </a:r>
            <a:r>
              <a:rPr lang="ko-KR" altLang="en-US" dirty="0" err="1">
                <a:solidFill>
                  <a:schemeClr val="bg1"/>
                </a:solidFill>
              </a:rPr>
              <a:t>상대방쪽</a:t>
            </a:r>
            <a:r>
              <a:rPr lang="ko-KR" altLang="en-US" dirty="0">
                <a:solidFill>
                  <a:schemeClr val="bg1"/>
                </a:solidFill>
              </a:rPr>
              <a:t> 세그먼트로 </a:t>
            </a:r>
            <a:r>
              <a:rPr lang="ko-KR" altLang="en-US" dirty="0" err="1">
                <a:solidFill>
                  <a:schemeClr val="bg1"/>
                </a:solidFill>
              </a:rPr>
              <a:t>브로드캐스트</a:t>
            </a:r>
            <a:r>
              <a:rPr lang="ko-KR" altLang="en-US" dirty="0">
                <a:solidFill>
                  <a:schemeClr val="bg1"/>
                </a:solidFill>
              </a:rPr>
              <a:t> 패킷이 보내지면 양쪽 브리지에서 모두 패킷이 다리를 건너게 됨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그 후 반대쪽으로 건너간 패킷은 다시 양쪽 브리지의 아래쪽 포트로 전달되고 이 패킷 역시 위로 전달 되는 과정이 반복 되면서 </a:t>
            </a:r>
            <a:r>
              <a:rPr lang="en-US" altLang="ko-KR" dirty="0">
                <a:solidFill>
                  <a:schemeClr val="bg1"/>
                </a:solidFill>
              </a:rPr>
              <a:t>Looping </a:t>
            </a:r>
            <a:r>
              <a:rPr lang="ko-KR" altLang="en-US" dirty="0">
                <a:solidFill>
                  <a:schemeClr val="bg1"/>
                </a:solidFill>
              </a:rPr>
              <a:t>발생 </a:t>
            </a:r>
          </a:p>
        </p:txBody>
      </p:sp>
      <p:pic>
        <p:nvPicPr>
          <p:cNvPr id="7172" name="Picture 4" descr="looping íìì ëí ì´ë¯¸ì§ ê²ìê²°ê³¼">
            <a:extLst>
              <a:ext uri="{FF2B5EF4-FFF2-40B4-BE49-F238E27FC236}">
                <a16:creationId xmlns:a16="http://schemas.microsoft.com/office/drawing/2014/main" id="{0638E122-4B42-4D87-831F-DB58F630F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06" y="3174489"/>
            <a:ext cx="6572699" cy="327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75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E5D4D3-AE36-4E90-9F9E-7E66B43759D6}"/>
              </a:ext>
            </a:extLst>
          </p:cNvPr>
          <p:cNvSpPr txBox="1"/>
          <p:nvPr/>
        </p:nvSpPr>
        <p:spPr>
          <a:xfrm>
            <a:off x="1180731" y="1012055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solidFill>
                  <a:schemeClr val="bg1"/>
                </a:solidFill>
              </a:rPr>
              <a:t>스패닝</a:t>
            </a:r>
            <a:r>
              <a:rPr lang="ko-KR" altLang="en-US" sz="2400" dirty="0">
                <a:solidFill>
                  <a:schemeClr val="bg1"/>
                </a:solidFill>
              </a:rPr>
              <a:t> 트리 알고리즘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99D1A-715D-4691-992B-1CDAD8F2BC16}"/>
              </a:ext>
            </a:extLst>
          </p:cNvPr>
          <p:cNvSpPr txBox="1"/>
          <p:nvPr/>
        </p:nvSpPr>
        <p:spPr>
          <a:xfrm>
            <a:off x="1180731" y="1774092"/>
            <a:ext cx="86197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루핑을</a:t>
            </a:r>
            <a:r>
              <a:rPr lang="ko-KR" altLang="en-US" dirty="0">
                <a:solidFill>
                  <a:schemeClr val="bg1"/>
                </a:solidFill>
              </a:rPr>
              <a:t> 미리 막기 위해 두 개 이상의 경로가 발생하면 하나를 제외하고 나머지 경로들을 자동으로 막아 두었다가 만약 기존 경로에 문제가 생기면 막아 놓은 경로를 풀어서 데이터를 전송하는 알고리즘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자동으로 </a:t>
            </a:r>
            <a:r>
              <a:rPr lang="ko-KR" altLang="en-US" dirty="0" err="1">
                <a:solidFill>
                  <a:schemeClr val="bg1"/>
                </a:solidFill>
              </a:rPr>
              <a:t>루핑을</a:t>
            </a:r>
            <a:r>
              <a:rPr lang="ko-KR" altLang="en-US" dirty="0">
                <a:solidFill>
                  <a:schemeClr val="bg1"/>
                </a:solidFill>
              </a:rPr>
              <a:t> 검색해서 이런 </a:t>
            </a:r>
            <a:r>
              <a:rPr lang="ko-KR" altLang="en-US" dirty="0" err="1">
                <a:solidFill>
                  <a:schemeClr val="bg1"/>
                </a:solidFill>
              </a:rPr>
              <a:t>루핑이</a:t>
            </a:r>
            <a:r>
              <a:rPr lang="ko-KR" altLang="en-US" dirty="0">
                <a:solidFill>
                  <a:schemeClr val="bg1"/>
                </a:solidFill>
              </a:rPr>
              <a:t> 발생할 수 있는 상황을 미리 막아주는 역할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방법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스위치 간의 두 개의 링크 중 하나를 끊어 놓아 실제 링크는 두 개지만 데이터는 한쪽으로만 다니게 함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8194" name="Picture 2" descr="ì¤í¨ë í¸ë¦¬ì ëí ì´ë¯¸ì§ ê²ìê²°ê³¼">
            <a:extLst>
              <a:ext uri="{FF2B5EF4-FFF2-40B4-BE49-F238E27FC236}">
                <a16:creationId xmlns:a16="http://schemas.microsoft.com/office/drawing/2014/main" id="{CAB6D7CD-C4D6-426D-A6C3-9186916C0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098" y="4126619"/>
            <a:ext cx="3625025" cy="273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80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989" y="3136613"/>
            <a:ext cx="304602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3200" b="1" spc="300" dirty="0">
                <a:solidFill>
                  <a:srgbClr val="FF0000"/>
                </a:solidFill>
                <a:effectLst>
                  <a:outerShdw blurRad="114300" dist="50800" dir="2700000" sx="102000" sy="102000" algn="tl" rotWithShape="0">
                    <a:prstClr val="black">
                      <a:alpha val="34000"/>
                    </a:prst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THANK YOU</a:t>
            </a:r>
            <a:endParaRPr lang="ko-KR" altLang="en-US" sz="3200" b="1" spc="300" dirty="0">
              <a:solidFill>
                <a:srgbClr val="FF0000"/>
              </a:solidFill>
              <a:effectLst>
                <a:outerShdw blurRad="114300" dist="50800" dir="2700000" sx="102000" sy="102000" algn="tl" rotWithShape="0">
                  <a:prstClr val="black">
                    <a:alpha val="34000"/>
                  </a:prstClr>
                </a:outerShdw>
              </a:effectLst>
              <a:latin typeface="Yu Gothic" panose="020B0400000000000000" pitchFamily="34" charset="-128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6976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049432-DB2A-4526-BE29-961C38132DBD}"/>
              </a:ext>
            </a:extLst>
          </p:cNvPr>
          <p:cNvSpPr/>
          <p:nvPr/>
        </p:nvSpPr>
        <p:spPr>
          <a:xfrm>
            <a:off x="1203570" y="2611288"/>
            <a:ext cx="3458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2"/>
              </a:rPr>
              <a:t>https://ddungkill.tistory.com/19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E9BC75-32A5-4C7B-91B6-4AAE42B2B6CB}"/>
              </a:ext>
            </a:extLst>
          </p:cNvPr>
          <p:cNvSpPr/>
          <p:nvPr/>
        </p:nvSpPr>
        <p:spPr>
          <a:xfrm>
            <a:off x="1203570" y="171469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hlinkClick r:id="rId3"/>
              </a:rPr>
              <a:t> </a:t>
            </a:r>
            <a:endParaRPr lang="en-US" altLang="ko-KR" dirty="0">
              <a:hlinkClick r:id="rId3"/>
            </a:endParaRPr>
          </a:p>
          <a:p>
            <a:r>
              <a:rPr lang="en-US" altLang="ko-KR" dirty="0">
                <a:hlinkClick r:id="rId3"/>
              </a:rPr>
              <a:t>https://languidafternoon.tistory.com/entry/CH022</a:t>
            </a:r>
            <a:r>
              <a:rPr lang="ko-KR" altLang="en-US" dirty="0">
                <a:hlinkClick r:id="rId3"/>
              </a:rPr>
              <a:t>네트워크과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케이블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그리고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 err="1">
                <a:hlinkClick r:id="rId3"/>
              </a:rPr>
              <a:t>친구들이더넷은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인터넷의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친구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2458D-0E14-4299-A02B-AF4A757D2C7F}"/>
              </a:ext>
            </a:extLst>
          </p:cNvPr>
          <p:cNvSpPr txBox="1"/>
          <p:nvPr/>
        </p:nvSpPr>
        <p:spPr>
          <a:xfrm>
            <a:off x="1266092" y="134536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사진 출처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C6D8DC-0A2C-4181-8255-FC8F37B4EEF4}"/>
              </a:ext>
            </a:extLst>
          </p:cNvPr>
          <p:cNvSpPr/>
          <p:nvPr/>
        </p:nvSpPr>
        <p:spPr>
          <a:xfrm>
            <a:off x="1266092" y="3059668"/>
            <a:ext cx="5729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4"/>
              </a:rPr>
              <a:t>http://westcoastcomm.com/difference-utp-stp-cable/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D7B514-984E-410C-A1D7-5AF79D233C38}"/>
              </a:ext>
            </a:extLst>
          </p:cNvPr>
          <p:cNvSpPr/>
          <p:nvPr/>
        </p:nvSpPr>
        <p:spPr>
          <a:xfrm>
            <a:off x="1215624" y="3534618"/>
            <a:ext cx="5782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5"/>
              </a:rPr>
              <a:t>https://smarttechrom.blogspot.com/2016/02/arp.html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5A1679-9BBE-4602-B954-FD4D65E11068}"/>
              </a:ext>
            </a:extLst>
          </p:cNvPr>
          <p:cNvSpPr/>
          <p:nvPr/>
        </p:nvSpPr>
        <p:spPr>
          <a:xfrm>
            <a:off x="1203570" y="4009568"/>
            <a:ext cx="3416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6"/>
              </a:rPr>
              <a:t>https://moomini.tistory.com/54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4021F0-E5A9-440D-9484-4ABB8A25AD1A}"/>
              </a:ext>
            </a:extLst>
          </p:cNvPr>
          <p:cNvSpPr/>
          <p:nvPr/>
        </p:nvSpPr>
        <p:spPr>
          <a:xfrm>
            <a:off x="1215624" y="44845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hlinkClick r:id="rId7"/>
              </a:rPr>
              <a:t>https://sonofgodcom.wordpress.com/2017/11/09/</a:t>
            </a:r>
            <a:r>
              <a:rPr lang="ko-KR" altLang="en-US" dirty="0">
                <a:hlinkClick r:id="rId7"/>
              </a:rPr>
              <a:t>보안공부</a:t>
            </a:r>
            <a:r>
              <a:rPr lang="en-US" altLang="ko-KR" dirty="0">
                <a:hlinkClick r:id="rId7"/>
              </a:rPr>
              <a:t>-5</a:t>
            </a:r>
            <a:r>
              <a:rPr lang="ko-KR" altLang="en-US" dirty="0">
                <a:hlinkClick r:id="rId7"/>
              </a:rPr>
              <a:t>강</a:t>
            </a:r>
            <a:r>
              <a:rPr lang="en-US" altLang="ko-KR" dirty="0">
                <a:hlinkClick r:id="rId7"/>
              </a:rPr>
              <a:t>-osi-7-</a:t>
            </a:r>
            <a:r>
              <a:rPr lang="ko-KR" altLang="en-US" dirty="0">
                <a:hlinkClick r:id="rId7"/>
              </a:rPr>
              <a:t>계층</a:t>
            </a:r>
            <a:r>
              <a:rPr lang="en-US" altLang="ko-KR" dirty="0">
                <a:hlinkClick r:id="rId7"/>
              </a:rPr>
              <a:t>/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B795E4-D9BC-4782-BE96-01C73D72598D}"/>
              </a:ext>
            </a:extLst>
          </p:cNvPr>
          <p:cNvSpPr/>
          <p:nvPr/>
        </p:nvSpPr>
        <p:spPr>
          <a:xfrm>
            <a:off x="1203570" y="530971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hlinkClick r:id="rId8"/>
              </a:rPr>
              <a:t>https://m.blog.naver.com/chlalsdud61/220744988172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B66CE-7DD3-4EB3-91D0-EC764BA297CF}"/>
              </a:ext>
            </a:extLst>
          </p:cNvPr>
          <p:cNvSpPr/>
          <p:nvPr/>
        </p:nvSpPr>
        <p:spPr>
          <a:xfrm>
            <a:off x="1203570" y="5817035"/>
            <a:ext cx="3381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9"/>
              </a:rPr>
              <a:t>https://linkhub.tistory.com/114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2969322"/>
      </p:ext>
    </p:extLst>
  </p:cSld>
  <p:clrMapOvr>
    <a:masterClrMapping/>
  </p:clrMapOvr>
</p:sld>
</file>

<file path=ppt/theme/theme1.xml><?xml version="1.0" encoding="utf-8"?>
<a:theme xmlns:a="http://schemas.openxmlformats.org/drawingml/2006/main" name="메인, 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슬라이드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817</Words>
  <Application>Microsoft Office PowerPoint</Application>
  <PresentationFormat>와이드스크린</PresentationFormat>
  <Paragraphs>149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Apple SD Gothic Neo</vt:lpstr>
      <vt:lpstr>나눔스퀘어 Bold</vt:lpstr>
      <vt:lpstr>나눔스퀘어 Light</vt:lpstr>
      <vt:lpstr>Yu Gothic UI</vt:lpstr>
      <vt:lpstr>휴먼둥근헤드라인</vt:lpstr>
      <vt:lpstr>Yu Gothic</vt:lpstr>
      <vt:lpstr>Arial</vt:lpstr>
      <vt:lpstr>Wingdings</vt:lpstr>
      <vt:lpstr>맑은 고딕</vt:lpstr>
      <vt:lpstr>메인, 마무리</vt:lpstr>
      <vt:lpstr>내용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김 진일</cp:lastModifiedBy>
  <cp:revision>29</cp:revision>
  <dcterms:created xsi:type="dcterms:W3CDTF">2018-02-26T14:07:00Z</dcterms:created>
  <dcterms:modified xsi:type="dcterms:W3CDTF">2019-06-17T09:29:42Z</dcterms:modified>
</cp:coreProperties>
</file>