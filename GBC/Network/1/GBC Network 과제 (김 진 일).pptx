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8" r:id="rId12"/>
    <p:sldId id="269" r:id="rId13"/>
    <p:sldId id="270" r:id="rId14"/>
    <p:sldId id="268" r:id="rId15"/>
    <p:sldId id="271" r:id="rId16"/>
    <p:sldId id="272" r:id="rId17"/>
    <p:sldId id="25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6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0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4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4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4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46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1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01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8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9EBF0-E79E-4A79-85E8-2BC695DD6A5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B93AC-F2AA-4ABF-BD5C-2BF6E8B4D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90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rewall.cx/networking-topics/protocols/spanning-tree-protocol/1054-spanning-tree-protocol-root-bridge-election.html" TargetMode="External"/><Relationship Id="rId2" Type="http://schemas.openxmlformats.org/officeDocument/2006/relationships/hyperlink" Target="https://okjh.tistory.com/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eokr.tistory.com/368" TargetMode="External"/><Relationship Id="rId4" Type="http://schemas.openxmlformats.org/officeDocument/2006/relationships/hyperlink" Target="file:///C:\Users\&#234;&#185;&#128;&#236;&#167;&#132;&#236;&#157;&#188;\Downloads\&#237;&#155;&#132;&#235;&#139;&#136;&#236;&#157;&#152;_&#236;&#139;&#156;&#236;&#138;&#164;&#236;&#189;&#148;&#235;&#132;&#164;&#237;&#138;&#184;&#236;&#155;&#140;&#237;&#130;&#185;(&#234;&#176;&#156;&#236;&#160;&#149;&#237;&#140;&#144;)%20(1)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02CE5-8B10-4C07-8852-08460E1119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GBC</a:t>
            </a:r>
            <a:br>
              <a:rPr lang="en-US" altLang="ko-KR" dirty="0"/>
            </a:br>
            <a:r>
              <a:rPr lang="en-US" altLang="ko-KR" dirty="0"/>
              <a:t>Network 5,6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E69E83-EDBD-4C2B-BB7B-E69862CAB0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21900195 </a:t>
            </a:r>
            <a:r>
              <a:rPr lang="ko-KR" altLang="en-US" dirty="0"/>
              <a:t>김</a:t>
            </a:r>
            <a:r>
              <a:rPr lang="en-US" altLang="ko-KR" dirty="0"/>
              <a:t> </a:t>
            </a:r>
            <a:r>
              <a:rPr lang="ko-KR" altLang="en-US" dirty="0"/>
              <a:t>진 일 </a:t>
            </a:r>
          </a:p>
        </p:txBody>
      </p:sp>
    </p:spTree>
    <p:extLst>
      <p:ext uri="{BB962C8B-B14F-4D97-AF65-F5344CB8AC3E}">
        <p14:creationId xmlns:p14="http://schemas.microsoft.com/office/powerpoint/2010/main" val="285432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B65C3-C01C-42BC-B963-ABDEC3E2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800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AFF6C-7410-44EE-B5DC-8059C8B0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134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1. IP </a:t>
            </a:r>
            <a:r>
              <a:rPr lang="ko-KR" altLang="en-US" dirty="0"/>
              <a:t>주소로의 여행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     - IP </a:t>
            </a:r>
            <a:r>
              <a:rPr lang="ko-KR" altLang="en-US" sz="2400" dirty="0"/>
              <a:t>주소 이야기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- </a:t>
            </a:r>
            <a:r>
              <a:rPr lang="ko-KR" altLang="en-US" sz="2400" dirty="0" err="1"/>
              <a:t>서브넷</a:t>
            </a:r>
            <a:r>
              <a:rPr lang="ko-KR" altLang="en-US" sz="2400" dirty="0"/>
              <a:t> 마스크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스위치를 켜라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en-US" altLang="ko-KR" sz="2400" dirty="0"/>
              <a:t>- </a:t>
            </a:r>
            <a:r>
              <a:rPr lang="ko-KR" altLang="en-US" sz="2400" dirty="0" err="1"/>
              <a:t>스패닝</a:t>
            </a:r>
            <a:r>
              <a:rPr lang="ko-KR" altLang="en-US" sz="2400" dirty="0"/>
              <a:t> 트리 프로토콜 세 가지 과정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 - + </a:t>
            </a:r>
            <a:r>
              <a:rPr lang="ko-KR" altLang="en-US" sz="2400" dirty="0" err="1"/>
              <a:t>네가지</a:t>
            </a:r>
            <a:r>
              <a:rPr lang="ko-KR" altLang="en-US" sz="2400" dirty="0"/>
              <a:t> 과정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 -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스패닝</a:t>
            </a:r>
            <a:r>
              <a:rPr lang="ko-KR" altLang="en-US" sz="2400" dirty="0"/>
              <a:t> 트리 프로토콜의 </a:t>
            </a:r>
            <a:r>
              <a:rPr lang="en-US" altLang="ko-KR" sz="2400" dirty="0"/>
              <a:t>5</a:t>
            </a:r>
            <a:r>
              <a:rPr lang="ko-KR" altLang="en-US" sz="2400" dirty="0"/>
              <a:t>가지 상태 변화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 - </a:t>
            </a:r>
            <a:r>
              <a:rPr lang="ko-KR" altLang="en-US" sz="2400" dirty="0"/>
              <a:t>가상의 랜이란</a:t>
            </a:r>
            <a:r>
              <a:rPr lang="en-US" altLang="ko-KR" sz="2400" dirty="0"/>
              <a:t>?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721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E3F3CD-F5FE-46B2-A901-D4715512451C}"/>
              </a:ext>
            </a:extLst>
          </p:cNvPr>
          <p:cNvSpPr txBox="1"/>
          <p:nvPr/>
        </p:nvSpPr>
        <p:spPr>
          <a:xfrm>
            <a:off x="858740" y="795132"/>
            <a:ext cx="103446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IP </a:t>
            </a:r>
            <a:r>
              <a:rPr lang="ko-KR" altLang="en-US" sz="2400" dirty="0">
                <a:solidFill>
                  <a:srgbClr val="FFFF00"/>
                </a:solidFill>
              </a:rPr>
              <a:t>주소</a:t>
            </a:r>
            <a:r>
              <a:rPr lang="ko-KR" altLang="en-US" sz="2400" dirty="0"/>
              <a:t>란</a:t>
            </a:r>
            <a:r>
              <a:rPr lang="en-US" altLang="ko-KR" sz="2400" dirty="0"/>
              <a:t>?</a:t>
            </a:r>
          </a:p>
          <a:p>
            <a:r>
              <a:rPr lang="ko-KR" altLang="en-US" sz="2000" dirty="0"/>
              <a:t>컴퓨터 네트워크에서 장치들이 서로를 인식하고 통신을 하기 위해서 사용하는 특수한 번호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ko-KR" altLang="en-US" sz="2000" dirty="0"/>
              <a:t>라우터에 </a:t>
            </a:r>
            <a:r>
              <a:rPr lang="ko-KR" altLang="en-US" sz="2000" dirty="0" err="1"/>
              <a:t>배정해야하는</a:t>
            </a:r>
            <a:r>
              <a:rPr lang="ko-KR" altLang="en-US" sz="2000" dirty="0"/>
              <a:t>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주소는 두 개 </a:t>
            </a:r>
          </a:p>
          <a:p>
            <a:r>
              <a:rPr lang="en-US" altLang="ko-KR" sz="2000" dirty="0"/>
              <a:t>	-</a:t>
            </a:r>
            <a:r>
              <a:rPr lang="ko-KR" altLang="en-US" sz="2000" dirty="0"/>
              <a:t>이더넷 인터페이스 용</a:t>
            </a:r>
          </a:p>
          <a:p>
            <a:r>
              <a:rPr lang="en-US" altLang="ko-KR" sz="2000" dirty="0"/>
              <a:t>	-</a:t>
            </a:r>
            <a:r>
              <a:rPr lang="ko-KR" altLang="en-US" sz="2000" dirty="0"/>
              <a:t>시리얼 인터페이스 용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>
                <a:solidFill>
                  <a:srgbClr val="FFFF00"/>
                </a:solidFill>
              </a:rPr>
              <a:t>네트워크와 호스트</a:t>
            </a:r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네트워크 </a:t>
            </a:r>
            <a:r>
              <a:rPr lang="en-US" altLang="ko-KR" sz="2000" dirty="0"/>
              <a:t>= </a:t>
            </a:r>
            <a:r>
              <a:rPr lang="ko-KR" altLang="en-US" sz="2000" dirty="0"/>
              <a:t>통신망 </a:t>
            </a:r>
            <a:r>
              <a:rPr lang="en-US" altLang="ko-KR" sz="2000" dirty="0"/>
              <a:t>(“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영역＂으로</a:t>
            </a:r>
            <a:r>
              <a:rPr lang="ko-KR" altLang="en-US" sz="2000" dirty="0"/>
              <a:t> 생각</a:t>
            </a:r>
            <a:r>
              <a:rPr lang="en-US" altLang="ko-KR" sz="2000" dirty="0"/>
              <a:t>) 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ko-KR" altLang="en-US" sz="2000" dirty="0"/>
              <a:t> 하나의 </a:t>
            </a:r>
            <a:r>
              <a:rPr lang="en-US" altLang="ko-KR" sz="2000" dirty="0"/>
              <a:t>PC</a:t>
            </a:r>
            <a:r>
              <a:rPr lang="ko-KR" altLang="en-US" sz="2000" dirty="0"/>
              <a:t>가 데이터를 뿌렸을 때 그 데이터를 라우터를 거치지 않고 바로 받을 수 있는 영역</a:t>
            </a:r>
          </a:p>
          <a:p>
            <a:endParaRPr lang="en-US" altLang="ko-KR" sz="2000" dirty="0"/>
          </a:p>
          <a:p>
            <a:r>
              <a:rPr lang="en-US" altLang="ko-KR" sz="2000" dirty="0"/>
              <a:t> EX) </a:t>
            </a:r>
            <a:r>
              <a:rPr lang="ko-KR" altLang="en-US" sz="2000" dirty="0"/>
              <a:t>한 피시방에 있는 컴퓨터</a:t>
            </a:r>
            <a:r>
              <a:rPr lang="en-US" altLang="ko-KR" sz="2000" dirty="0"/>
              <a:t>A</a:t>
            </a:r>
            <a:r>
              <a:rPr lang="ko-KR" altLang="en-US" sz="2000" dirty="0"/>
              <a:t>가 같은 </a:t>
            </a:r>
            <a:r>
              <a:rPr lang="ko-KR" altLang="en-US" sz="2000" dirty="0" err="1"/>
              <a:t>피시방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안에있는</a:t>
            </a:r>
            <a:r>
              <a:rPr lang="ko-KR" altLang="en-US" sz="2000" dirty="0"/>
              <a:t> 컴퓨터</a:t>
            </a:r>
            <a:r>
              <a:rPr lang="en-US" altLang="ko-KR" sz="2000" dirty="0"/>
              <a:t>B </a:t>
            </a:r>
            <a:r>
              <a:rPr lang="ko-KR" altLang="en-US" sz="2000" dirty="0"/>
              <a:t>한테 데이터를 송신할 때 라우터를 거칠 필요 없음</a:t>
            </a:r>
            <a:r>
              <a:rPr lang="en-US" altLang="ko-KR" sz="2000" dirty="0"/>
              <a:t>.</a:t>
            </a:r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61057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5B867-218C-4D2D-9D0C-B2096BCFF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273"/>
            <a:ext cx="10515600" cy="573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*</a:t>
            </a:r>
            <a:r>
              <a:rPr lang="ko-KR" altLang="en-US" sz="2400" dirty="0">
                <a:solidFill>
                  <a:srgbClr val="FFFF00"/>
                </a:solidFill>
              </a:rPr>
              <a:t>호스트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ko-KR" altLang="en-US" sz="2000" dirty="0"/>
              <a:t>각각의 </a:t>
            </a:r>
            <a:r>
              <a:rPr lang="en-US" altLang="ko-KR" sz="2000" dirty="0"/>
              <a:t>PC </a:t>
            </a:r>
            <a:r>
              <a:rPr lang="ko-KR" altLang="en-US" sz="2000" dirty="0"/>
              <a:t>또는 장비라 생각</a:t>
            </a:r>
            <a:endParaRPr lang="en-US" altLang="ko-KR" sz="2000" dirty="0"/>
          </a:p>
          <a:p>
            <a:endParaRPr lang="ko-KR" altLang="en-US" dirty="0"/>
          </a:p>
          <a:p>
            <a:r>
              <a:rPr lang="ko-KR" altLang="en-US" sz="2000" dirty="0"/>
              <a:t>네트워크 클래스 </a:t>
            </a:r>
            <a:r>
              <a:rPr lang="en-US" altLang="ko-KR" sz="2000" dirty="0"/>
              <a:t>( </a:t>
            </a:r>
            <a:r>
              <a:rPr lang="ko-KR" altLang="en-US" sz="2000" dirty="0"/>
              <a:t>호스트가 모두 </a:t>
            </a:r>
            <a:r>
              <a:rPr lang="en-US" altLang="ko-KR" sz="2000" dirty="0"/>
              <a:t>0(</a:t>
            </a:r>
            <a:r>
              <a:rPr lang="ko-KR" altLang="en-US" sz="2000" dirty="0"/>
              <a:t>네트워크를 나타냄</a:t>
            </a:r>
            <a:r>
              <a:rPr lang="en-US" altLang="ko-KR" sz="2000" dirty="0"/>
              <a:t>) </a:t>
            </a:r>
            <a:r>
              <a:rPr lang="ko-KR" altLang="en-US" sz="2000" dirty="0"/>
              <a:t>이거나 </a:t>
            </a:r>
            <a:r>
              <a:rPr lang="en-US" altLang="ko-KR" sz="2000" dirty="0"/>
              <a:t>1(</a:t>
            </a:r>
            <a:r>
              <a:rPr lang="ko-KR" altLang="en-US" sz="2000" dirty="0" err="1"/>
              <a:t>브로드캐스트를</a:t>
            </a:r>
            <a:r>
              <a:rPr lang="ko-KR" altLang="en-US" sz="2000" dirty="0"/>
              <a:t> 나타냄</a:t>
            </a:r>
            <a:r>
              <a:rPr lang="en-US" altLang="ko-KR" sz="2000" dirty="0"/>
              <a:t>)</a:t>
            </a:r>
            <a:r>
              <a:rPr lang="ko-KR" altLang="en-US" sz="2000" dirty="0"/>
              <a:t>일 때 제외 </a:t>
            </a:r>
            <a:r>
              <a:rPr lang="en-US" altLang="ko-KR" sz="2000" dirty="0"/>
              <a:t>)</a:t>
            </a:r>
          </a:p>
          <a:p>
            <a:endParaRPr lang="en-US" altLang="ko-KR" dirty="0"/>
          </a:p>
          <a:p>
            <a:r>
              <a:rPr lang="ko-KR" altLang="en-US" sz="2000" dirty="0"/>
              <a:t>클래스 </a:t>
            </a:r>
            <a:r>
              <a:rPr lang="en-US" altLang="ko-KR" sz="2000" dirty="0"/>
              <a:t>A 1~126.xxx.xxx.xxx </a:t>
            </a:r>
            <a:r>
              <a:rPr lang="ko-KR" altLang="en-US" sz="2000" dirty="0"/>
              <a:t>네트워크 </a:t>
            </a:r>
            <a:r>
              <a:rPr lang="en-US" altLang="ko-KR" sz="2000" dirty="0"/>
              <a:t>1 / </a:t>
            </a:r>
            <a:r>
              <a:rPr lang="ko-KR" altLang="en-US" sz="2000" dirty="0"/>
              <a:t>호스트 </a:t>
            </a:r>
            <a:r>
              <a:rPr lang="en-US" altLang="ko-KR" sz="2000" dirty="0"/>
              <a:t>3  </a:t>
            </a:r>
          </a:p>
          <a:p>
            <a:pPr marL="0" indent="0">
              <a:buNone/>
            </a:pPr>
            <a:r>
              <a:rPr lang="en-US" altLang="ko-KR" sz="2000" dirty="0"/>
              <a:t>   0xxx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</a:t>
            </a:r>
            <a:r>
              <a:rPr lang="en-US" altLang="ko-KR" sz="2000" dirty="0"/>
              <a:t> </a:t>
            </a:r>
            <a:r>
              <a:rPr lang="ko-KR" altLang="en-US" sz="2000" dirty="0"/>
              <a:t>호스트 수 </a:t>
            </a:r>
            <a:r>
              <a:rPr lang="en-US" altLang="ko-KR" sz="2000" dirty="0"/>
              <a:t>2</a:t>
            </a:r>
            <a:r>
              <a:rPr lang="ko-KR" altLang="en-US" sz="2000" dirty="0"/>
              <a:t>의 </a:t>
            </a:r>
            <a:r>
              <a:rPr lang="en-US" altLang="ko-KR" sz="2000" dirty="0"/>
              <a:t>24</a:t>
            </a:r>
            <a:r>
              <a:rPr lang="ko-KR" altLang="en-US" sz="2000" dirty="0"/>
              <a:t>승 </a:t>
            </a:r>
            <a:r>
              <a:rPr lang="en-US" altLang="ko-KR" sz="2000" dirty="0"/>
              <a:t>-2</a:t>
            </a:r>
          </a:p>
          <a:p>
            <a:r>
              <a:rPr lang="ko-KR" altLang="en-US" sz="2000" dirty="0"/>
              <a:t>클래스 </a:t>
            </a:r>
            <a:r>
              <a:rPr lang="en-US" altLang="ko-KR" sz="2000" dirty="0"/>
              <a:t>B 128~191.xxx.xxx.xxx </a:t>
            </a:r>
            <a:r>
              <a:rPr lang="ko-KR" altLang="en-US" sz="2000" dirty="0"/>
              <a:t>네트워크 </a:t>
            </a:r>
            <a:r>
              <a:rPr lang="en-US" altLang="ko-KR" sz="2000" dirty="0"/>
              <a:t>2/ </a:t>
            </a:r>
            <a:r>
              <a:rPr lang="ko-KR" altLang="en-US" sz="2000" dirty="0"/>
              <a:t>호스트 </a:t>
            </a:r>
            <a:r>
              <a:rPr lang="en-US" altLang="ko-KR" sz="2000" dirty="0"/>
              <a:t>2 </a:t>
            </a:r>
          </a:p>
          <a:p>
            <a:pPr marL="0" indent="0">
              <a:buNone/>
            </a:pPr>
            <a:r>
              <a:rPr lang="en-US" altLang="ko-KR" sz="2000" dirty="0"/>
              <a:t>   10xx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</a:t>
            </a:r>
            <a:r>
              <a:rPr lang="en-US" altLang="ko-KR" sz="2000" dirty="0"/>
              <a:t> </a:t>
            </a:r>
            <a:r>
              <a:rPr lang="ko-KR" altLang="en-US" sz="2000" dirty="0"/>
              <a:t>호스트 수 </a:t>
            </a:r>
            <a:r>
              <a:rPr lang="en-US" altLang="ko-KR" sz="2000" dirty="0"/>
              <a:t>2</a:t>
            </a:r>
            <a:r>
              <a:rPr lang="ko-KR" altLang="en-US" sz="2000" dirty="0"/>
              <a:t>의 </a:t>
            </a:r>
            <a:r>
              <a:rPr lang="en-US" altLang="ko-KR" sz="2000" dirty="0"/>
              <a:t>16</a:t>
            </a:r>
            <a:r>
              <a:rPr lang="ko-KR" altLang="en-US" sz="2000" dirty="0"/>
              <a:t>승 </a:t>
            </a:r>
            <a:r>
              <a:rPr lang="en-US" altLang="ko-KR" sz="2000" dirty="0"/>
              <a:t>-2</a:t>
            </a:r>
          </a:p>
          <a:p>
            <a:r>
              <a:rPr lang="ko-KR" altLang="en-US" sz="2000" dirty="0"/>
              <a:t>클래스</a:t>
            </a:r>
            <a:r>
              <a:rPr lang="en-US" altLang="ko-KR" sz="2000" dirty="0"/>
              <a:t>C 192~223.xxx.xxx.xxx </a:t>
            </a:r>
            <a:r>
              <a:rPr lang="ko-KR" altLang="en-US" sz="2000" dirty="0"/>
              <a:t>네트워크 </a:t>
            </a:r>
            <a:r>
              <a:rPr lang="en-US" altLang="ko-KR" sz="2000" dirty="0"/>
              <a:t>3 / </a:t>
            </a:r>
            <a:r>
              <a:rPr lang="ko-KR" altLang="en-US" sz="2000" dirty="0"/>
              <a:t>호스트 </a:t>
            </a:r>
            <a:r>
              <a:rPr lang="en-US" altLang="ko-KR" sz="2000" dirty="0"/>
              <a:t>1 </a:t>
            </a:r>
          </a:p>
          <a:p>
            <a:pPr marL="0" indent="0">
              <a:buNone/>
            </a:pPr>
            <a:r>
              <a:rPr lang="en-US" altLang="ko-KR" sz="2000" dirty="0"/>
              <a:t>   110x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xxxx.xxxx</a:t>
            </a:r>
            <a:r>
              <a:rPr lang="en-US" altLang="ko-KR" sz="2000" dirty="0"/>
              <a:t> </a:t>
            </a:r>
            <a:r>
              <a:rPr lang="en-US" altLang="ko-KR" sz="2000" dirty="0" err="1"/>
              <a:t>xxxx</a:t>
            </a:r>
            <a:r>
              <a:rPr lang="en-US" altLang="ko-KR" sz="2000" dirty="0"/>
              <a:t> </a:t>
            </a:r>
            <a:r>
              <a:rPr lang="ko-KR" altLang="en-US" sz="2000" dirty="0"/>
              <a:t>호스트 수 </a:t>
            </a:r>
            <a:r>
              <a:rPr lang="en-US" altLang="ko-KR" sz="2000" dirty="0"/>
              <a:t>2</a:t>
            </a:r>
            <a:r>
              <a:rPr lang="ko-KR" altLang="en-US" sz="2000" dirty="0"/>
              <a:t>의 </a:t>
            </a:r>
            <a:r>
              <a:rPr lang="en-US" altLang="ko-KR" sz="2000" dirty="0"/>
              <a:t>8</a:t>
            </a:r>
            <a:r>
              <a:rPr lang="ko-KR" altLang="en-US" sz="2000" dirty="0"/>
              <a:t>승 </a:t>
            </a:r>
            <a:r>
              <a:rPr lang="en-US" altLang="ko-KR" sz="2000" dirty="0"/>
              <a:t>-2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413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C2396-F6C9-4011-90CE-316B69246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981"/>
            <a:ext cx="10515600" cy="5683982"/>
          </a:xfrm>
        </p:spPr>
        <p:txBody>
          <a:bodyPr>
            <a:normAutofit fontScale="77500" lnSpcReduction="20000"/>
          </a:bodyPr>
          <a:lstStyle/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>
                <a:solidFill>
                  <a:srgbClr val="FF0000"/>
                </a:solidFill>
              </a:rPr>
              <a:t>주의 </a:t>
            </a:r>
            <a:r>
              <a:rPr lang="en-US" altLang="ko-KR" sz="2400" dirty="0">
                <a:solidFill>
                  <a:srgbClr val="FF0000"/>
                </a:solidFill>
              </a:rPr>
              <a:t>!</a:t>
            </a:r>
            <a:r>
              <a:rPr lang="en-US" altLang="ko-KR" sz="2400" dirty="0"/>
              <a:t>  </a:t>
            </a:r>
            <a:r>
              <a:rPr lang="ko-KR" altLang="en-US" sz="2400" dirty="0"/>
              <a:t>배정하는 주소에 호스트 </a:t>
            </a:r>
            <a:r>
              <a:rPr lang="ko-KR" altLang="en-US" sz="2400" dirty="0" err="1"/>
              <a:t>갯수가</a:t>
            </a:r>
            <a:r>
              <a:rPr lang="ko-KR" altLang="en-US" sz="2400" dirty="0"/>
              <a:t> 들어갈 수 있는지 확인 *</a:t>
            </a:r>
          </a:p>
          <a:p>
            <a:pPr marL="0" indent="0">
              <a:buNone/>
            </a:pPr>
            <a:r>
              <a:rPr lang="en-US" altLang="ko-KR" sz="2400" dirty="0"/>
              <a:t>             ex) </a:t>
            </a:r>
            <a:r>
              <a:rPr lang="ko-KR" altLang="en-US" sz="2400" dirty="0"/>
              <a:t>호스트 </a:t>
            </a:r>
            <a:r>
              <a:rPr lang="en-US" altLang="ko-KR" sz="2400" dirty="0"/>
              <a:t>300</a:t>
            </a:r>
            <a:r>
              <a:rPr lang="ko-KR" altLang="en-US" sz="2400" dirty="0"/>
              <a:t>자리 필요한데 </a:t>
            </a:r>
            <a:r>
              <a:rPr lang="en-US" altLang="ko-KR" sz="2400" dirty="0"/>
              <a:t>C</a:t>
            </a:r>
            <a:r>
              <a:rPr lang="ko-KR" altLang="en-US" sz="2400" dirty="0"/>
              <a:t>클래스를 쓰면 성립 </a:t>
            </a:r>
            <a:r>
              <a:rPr lang="en-US" altLang="ko-KR" sz="2400" dirty="0"/>
              <a:t>X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3100" dirty="0" err="1">
                <a:solidFill>
                  <a:srgbClr val="FFFF00"/>
                </a:solidFill>
              </a:rPr>
              <a:t>서브넷</a:t>
            </a:r>
            <a:r>
              <a:rPr lang="ko-KR" altLang="en-US" sz="3100" dirty="0">
                <a:solidFill>
                  <a:srgbClr val="FFFF00"/>
                </a:solidFill>
              </a:rPr>
              <a:t> 마스크</a:t>
            </a:r>
            <a:endParaRPr lang="en-US" altLang="ko-KR" sz="31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dirty="0"/>
              <a:t>   </a:t>
            </a:r>
            <a:r>
              <a:rPr lang="en-US" altLang="ko-KR" sz="2200" dirty="0"/>
              <a:t>NIC </a:t>
            </a:r>
            <a:r>
              <a:rPr lang="ko-KR" altLang="en-US" sz="2200" dirty="0"/>
              <a:t>기관의 요구에 맞춰서 </a:t>
            </a:r>
            <a:r>
              <a:rPr lang="en-US" altLang="ko-KR" sz="2200" dirty="0"/>
              <a:t>IETF</a:t>
            </a:r>
            <a:r>
              <a:rPr lang="ko-KR" altLang="en-US" sz="2200" dirty="0"/>
              <a:t>에서는 로컬 네트워크 내부에서 접속한 호스트의 </a:t>
            </a:r>
            <a:r>
              <a:rPr lang="en-US" altLang="ko-KR" sz="2200" dirty="0"/>
              <a:t>IP </a:t>
            </a:r>
            <a:r>
              <a:rPr lang="ko-KR" altLang="en-US" sz="2200" dirty="0"/>
              <a:t>대역을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 </a:t>
            </a:r>
            <a:r>
              <a:rPr lang="ko-KR" altLang="en-US" sz="2200" dirty="0"/>
              <a:t>외부 네트워크와 명확하게 구분할 수 있는 수단을 표준화한 것 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sz="2400" dirty="0"/>
              <a:t>IP </a:t>
            </a:r>
            <a:r>
              <a:rPr lang="ko-KR" altLang="en-US" sz="2400" dirty="0"/>
              <a:t>주소를 자를 때 </a:t>
            </a:r>
            <a:r>
              <a:rPr lang="en-US" altLang="ko-KR" sz="2400" dirty="0"/>
              <a:t>(</a:t>
            </a:r>
            <a:r>
              <a:rPr lang="ko-KR" altLang="en-US" sz="2400" dirty="0"/>
              <a:t>커다란 것을 잘게 나눌 때</a:t>
            </a:r>
            <a:r>
              <a:rPr lang="en-US" altLang="ko-KR" sz="2400" dirty="0"/>
              <a:t>) </a:t>
            </a:r>
            <a:r>
              <a:rPr lang="ko-KR" altLang="en-US" sz="2400" dirty="0" err="1"/>
              <a:t>서브넷</a:t>
            </a:r>
            <a:r>
              <a:rPr lang="ko-KR" altLang="en-US" sz="2400" dirty="0"/>
              <a:t> 마스크를 사용</a:t>
            </a:r>
          </a:p>
          <a:p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  <a:p>
            <a:r>
              <a:rPr lang="en-US" altLang="ko-KR" sz="2400" dirty="0"/>
              <a:t>C</a:t>
            </a:r>
            <a:r>
              <a:rPr lang="ko-KR" altLang="en-US" sz="2400" dirty="0"/>
              <a:t>클래스 경우</a:t>
            </a:r>
          </a:p>
          <a:p>
            <a:pPr marL="0" indent="0">
              <a:buNone/>
            </a:pPr>
            <a:r>
              <a:rPr lang="ko-KR" altLang="en-US" sz="2400" dirty="0"/>
              <a:t>     기존 </a:t>
            </a:r>
            <a:r>
              <a:rPr lang="en-US" altLang="ko-KR" sz="2400" dirty="0"/>
              <a:t>IP </a:t>
            </a:r>
            <a:r>
              <a:rPr lang="ko-KR" altLang="en-US" sz="2400" dirty="0"/>
              <a:t>값 </a:t>
            </a:r>
            <a:r>
              <a:rPr lang="en-US" altLang="ko-KR" sz="2400" dirty="0"/>
              <a:t>ex) 1101 0010.0110 0100.0110 0100.0000 0001</a:t>
            </a:r>
          </a:p>
          <a:p>
            <a:pPr marL="0" indent="0">
              <a:buNone/>
            </a:pPr>
            <a:r>
              <a:rPr lang="ko-KR" altLang="en-US" sz="2400" dirty="0"/>
              <a:t>     </a:t>
            </a:r>
            <a:r>
              <a:rPr lang="ko-KR" altLang="en-US" sz="2400" dirty="0" err="1"/>
              <a:t>서브넷</a:t>
            </a:r>
            <a:r>
              <a:rPr lang="ko-KR" altLang="en-US" sz="2400" dirty="0"/>
              <a:t> 마스크 </a:t>
            </a:r>
            <a:r>
              <a:rPr lang="en-US" altLang="ko-KR" sz="2400" dirty="0"/>
              <a:t>1111 1111.1111 1111.1111 1111.0000 0000  &gt;&gt; </a:t>
            </a:r>
            <a:r>
              <a:rPr lang="ko-KR" altLang="en-US" sz="2400" dirty="0"/>
              <a:t>디폴트 </a:t>
            </a:r>
            <a:r>
              <a:rPr lang="ko-KR" altLang="en-US" sz="2400" dirty="0" err="1"/>
              <a:t>서브넷</a:t>
            </a:r>
            <a:r>
              <a:rPr lang="ko-KR" altLang="en-US" sz="2400" dirty="0"/>
              <a:t> 마스크</a:t>
            </a:r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ko-KR" altLang="en-US" sz="2400" dirty="0" err="1"/>
              <a:t>서브넷</a:t>
            </a:r>
            <a:r>
              <a:rPr lang="ko-KR" altLang="en-US" sz="2400" dirty="0"/>
              <a:t> 네트워크 </a:t>
            </a:r>
            <a:r>
              <a:rPr lang="en-US" altLang="ko-KR" sz="2400" dirty="0"/>
              <a:t>1101 0010.0110 0100.0110 0100.0000.0000 AND </a:t>
            </a:r>
            <a:r>
              <a:rPr lang="ko-KR" altLang="en-US" sz="2400" dirty="0"/>
              <a:t>연산 활용</a:t>
            </a:r>
          </a:p>
          <a:p>
            <a:pPr marL="0" indent="0">
              <a:buNone/>
            </a:pPr>
            <a:r>
              <a:rPr lang="ko-KR" altLang="en-US" sz="2400" dirty="0"/>
              <a:t>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1252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2849D-CC3E-4E67-9A67-92FCD72A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2600" dirty="0"/>
              <a:t>B</a:t>
            </a:r>
            <a:r>
              <a:rPr lang="ko-KR" altLang="en-US" sz="2600" dirty="0"/>
              <a:t>클래스 경우</a:t>
            </a:r>
          </a:p>
          <a:p>
            <a:pPr marL="0" indent="0">
              <a:buNone/>
            </a:pPr>
            <a:r>
              <a:rPr lang="ko-KR" altLang="en-US" sz="2600" dirty="0"/>
              <a:t>기존 </a:t>
            </a:r>
            <a:r>
              <a:rPr lang="en-US" altLang="ko-KR" sz="2600" dirty="0"/>
              <a:t>IP </a:t>
            </a:r>
            <a:r>
              <a:rPr lang="ko-KR" altLang="en-US" sz="2600" dirty="0"/>
              <a:t>값  </a:t>
            </a:r>
            <a:r>
              <a:rPr lang="en-US" altLang="ko-KR" sz="2600" dirty="0"/>
              <a:t>ex) 1001 0110.1001 0110.0110 0100.0000 0001</a:t>
            </a:r>
          </a:p>
          <a:p>
            <a:pPr marL="0" indent="0">
              <a:buNone/>
            </a:pPr>
            <a:r>
              <a:rPr lang="ko-KR" altLang="en-US" sz="2600" dirty="0" err="1"/>
              <a:t>서브넷</a:t>
            </a:r>
            <a:r>
              <a:rPr lang="ko-KR" altLang="en-US" sz="2600" dirty="0"/>
              <a:t> 마스크  </a:t>
            </a:r>
            <a:r>
              <a:rPr lang="en-US" altLang="ko-KR" sz="2600" dirty="0"/>
              <a:t>1111 1111.1111 1111.0000 0000.0000 0000 &gt;&gt; </a:t>
            </a:r>
            <a:r>
              <a:rPr lang="ko-KR" altLang="en-US" sz="2600" dirty="0"/>
              <a:t>디폴트 </a:t>
            </a:r>
            <a:r>
              <a:rPr lang="ko-KR" altLang="en-US" sz="2600" dirty="0" err="1"/>
              <a:t>서브넷</a:t>
            </a:r>
            <a:r>
              <a:rPr lang="ko-KR" altLang="en-US" sz="2600" dirty="0"/>
              <a:t> 마스크</a:t>
            </a:r>
          </a:p>
          <a:p>
            <a:pPr marL="0" indent="0">
              <a:buNone/>
            </a:pPr>
            <a:r>
              <a:rPr lang="ko-KR" altLang="en-US" sz="2600" dirty="0" err="1"/>
              <a:t>서브넷</a:t>
            </a:r>
            <a:r>
              <a:rPr lang="ko-KR" altLang="en-US" sz="2600" dirty="0"/>
              <a:t> 네트워크 </a:t>
            </a:r>
            <a:r>
              <a:rPr lang="en-US" altLang="ko-KR" sz="2600" dirty="0"/>
              <a:t>1001 0110.1001 0110.0000 0000.0000 0000 </a:t>
            </a:r>
            <a:r>
              <a:rPr lang="ko-KR" altLang="en-US" sz="2600" dirty="0"/>
              <a:t>앞</a:t>
            </a:r>
            <a:r>
              <a:rPr lang="en-US" altLang="ko-KR" sz="2600" dirty="0"/>
              <a:t>2 </a:t>
            </a:r>
            <a:r>
              <a:rPr lang="ko-KR" altLang="en-US" sz="2600" dirty="0"/>
              <a:t>기존 네트워크 부분 그대로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ko-KR" altLang="en-US" sz="3100" dirty="0" err="1">
                <a:solidFill>
                  <a:srgbClr val="FFFF00"/>
                </a:solidFill>
              </a:rPr>
              <a:t>서브넷</a:t>
            </a:r>
            <a:r>
              <a:rPr lang="ko-KR" altLang="en-US" sz="3100" dirty="0">
                <a:solidFill>
                  <a:srgbClr val="FFFF00"/>
                </a:solidFill>
              </a:rPr>
              <a:t> 마스크 활용</a:t>
            </a:r>
            <a:endParaRPr lang="en-US" altLang="ko-KR" sz="31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31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600" dirty="0"/>
              <a:t>기존 </a:t>
            </a:r>
            <a:r>
              <a:rPr lang="en-US" altLang="ko-KR" sz="2600" dirty="0"/>
              <a:t>IP </a:t>
            </a:r>
            <a:r>
              <a:rPr lang="ko-KR" altLang="en-US" sz="2600" dirty="0"/>
              <a:t>값  </a:t>
            </a:r>
            <a:r>
              <a:rPr lang="en-US" altLang="ko-KR" sz="2600" dirty="0"/>
              <a:t>ex) 1001 0110.1001 0110.0110 0100.0000 0001</a:t>
            </a:r>
          </a:p>
          <a:p>
            <a:pPr marL="0" indent="0">
              <a:buNone/>
            </a:pPr>
            <a:r>
              <a:rPr lang="ko-KR" altLang="en-US" sz="2600" dirty="0" err="1"/>
              <a:t>서브넷</a:t>
            </a:r>
            <a:r>
              <a:rPr lang="ko-KR" altLang="en-US" sz="2600" dirty="0"/>
              <a:t> 마스크  </a:t>
            </a:r>
            <a:r>
              <a:rPr lang="en-US" altLang="ko-KR" sz="2600" dirty="0"/>
              <a:t>1111 1111.1111 1111.1111 1111.0000 0000 </a:t>
            </a:r>
          </a:p>
          <a:p>
            <a:pPr marL="0" indent="0">
              <a:buNone/>
            </a:pPr>
            <a:r>
              <a:rPr lang="ko-KR" altLang="en-US" sz="2600" dirty="0"/>
              <a:t>클래스 </a:t>
            </a:r>
            <a:r>
              <a:rPr lang="en-US" altLang="ko-KR" sz="2600" dirty="0"/>
              <a:t>B</a:t>
            </a:r>
            <a:r>
              <a:rPr lang="ko-KR" altLang="en-US" sz="2600" dirty="0"/>
              <a:t>를 </a:t>
            </a:r>
            <a:r>
              <a:rPr lang="en-US" altLang="ko-KR" sz="2600" dirty="0"/>
              <a:t>C</a:t>
            </a:r>
            <a:r>
              <a:rPr lang="ko-KR" altLang="en-US" sz="2600" dirty="0"/>
              <a:t>처럼 사용한다는 의미</a:t>
            </a:r>
          </a:p>
          <a:p>
            <a:pPr marL="0" indent="0">
              <a:buNone/>
            </a:pPr>
            <a:r>
              <a:rPr lang="ko-KR" altLang="en-US" sz="2600" dirty="0" err="1"/>
              <a:t>서브넷</a:t>
            </a:r>
            <a:r>
              <a:rPr lang="ko-KR" altLang="en-US" sz="2600" dirty="0"/>
              <a:t> 네트워크 </a:t>
            </a:r>
            <a:r>
              <a:rPr lang="en-US" altLang="ko-KR" sz="2600" dirty="0"/>
              <a:t>1001 0110.1001 0110.0110 0100.0000 0000</a:t>
            </a:r>
          </a:p>
          <a:p>
            <a:pPr marL="0" indent="0">
              <a:buNone/>
            </a:pPr>
            <a:endParaRPr lang="en-US" altLang="ko-KR" sz="2600" dirty="0"/>
          </a:p>
          <a:p>
            <a:pPr marL="0" indent="0">
              <a:buNone/>
            </a:pPr>
            <a:r>
              <a:rPr lang="ko-KR" altLang="en-US" sz="2600" dirty="0">
                <a:solidFill>
                  <a:srgbClr val="FF0000"/>
                </a:solidFill>
              </a:rPr>
              <a:t>중요 </a:t>
            </a:r>
            <a:r>
              <a:rPr lang="en-US" altLang="ko-KR" sz="2600" dirty="0">
                <a:solidFill>
                  <a:srgbClr val="FF0000"/>
                </a:solidFill>
              </a:rPr>
              <a:t>! </a:t>
            </a:r>
            <a:r>
              <a:rPr lang="ko-KR" altLang="en-US" sz="2600" dirty="0"/>
              <a:t>이와 같이 그냥 </a:t>
            </a:r>
            <a:r>
              <a:rPr lang="ko-KR" altLang="en-US" sz="2600" dirty="0" err="1"/>
              <a:t>서브넷</a:t>
            </a:r>
            <a:r>
              <a:rPr lang="ko-KR" altLang="en-US" sz="2600" dirty="0"/>
              <a:t> 마스크를 활용하면 서로 다른 네트워크가 되어</a:t>
            </a:r>
            <a:endParaRPr lang="en-US" altLang="ko-KR" sz="2600" dirty="0"/>
          </a:p>
          <a:p>
            <a:pPr marL="0" indent="0">
              <a:buNone/>
            </a:pPr>
            <a:r>
              <a:rPr lang="ko-KR" altLang="en-US" sz="2600" dirty="0"/>
              <a:t>라우터를 거쳐야만 통신가능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>
                <a:solidFill>
                  <a:srgbClr val="FF0000"/>
                </a:solidFill>
              </a:rPr>
              <a:t>+ </a:t>
            </a:r>
            <a:r>
              <a:rPr lang="ko-KR" altLang="en-US" sz="2600" dirty="0">
                <a:solidFill>
                  <a:srgbClr val="FF0000"/>
                </a:solidFill>
              </a:rPr>
              <a:t>추가 설명</a:t>
            </a:r>
          </a:p>
          <a:p>
            <a:pPr marL="0" indent="0">
              <a:buNone/>
            </a:pPr>
            <a:r>
              <a:rPr lang="ko-KR" altLang="en-US" sz="2600" dirty="0"/>
              <a:t>스위치를 사용해서 </a:t>
            </a:r>
            <a:r>
              <a:rPr lang="ko-KR" altLang="en-US" sz="2600" dirty="0" err="1"/>
              <a:t>콜리전</a:t>
            </a:r>
            <a:r>
              <a:rPr lang="ko-KR" altLang="en-US" sz="2600" dirty="0"/>
              <a:t> 도메인을 나누더라도 </a:t>
            </a:r>
            <a:r>
              <a:rPr lang="ko-KR" altLang="en-US" sz="2600" dirty="0" err="1"/>
              <a:t>브로드캐스트</a:t>
            </a:r>
            <a:r>
              <a:rPr lang="ko-KR" altLang="en-US" sz="2600" dirty="0"/>
              <a:t> 도메인의 크기는 그대로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33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CB622B-7DC2-44F6-B022-101C8238A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812"/>
            <a:ext cx="10515600" cy="5493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 err="1">
                <a:solidFill>
                  <a:srgbClr val="FFFF00"/>
                </a:solidFill>
              </a:rPr>
              <a:t>서브넷</a:t>
            </a:r>
            <a:r>
              <a:rPr lang="ko-KR" altLang="en-US" sz="2400" dirty="0">
                <a:solidFill>
                  <a:srgbClr val="FFFF00"/>
                </a:solidFill>
              </a:rPr>
              <a:t> 마스크 사용 여부</a:t>
            </a:r>
          </a:p>
          <a:p>
            <a:pPr marL="0" indent="0">
              <a:buNone/>
            </a:pPr>
            <a:r>
              <a:rPr lang="en-US" altLang="ko-KR" sz="2000" dirty="0"/>
              <a:t>'1'</a:t>
            </a:r>
            <a:r>
              <a:rPr lang="ko-KR" altLang="en-US" sz="2000" dirty="0"/>
              <a:t>이 연속적으로 나온 후에 </a:t>
            </a:r>
            <a:r>
              <a:rPr lang="en-US" altLang="ko-KR" sz="2000" dirty="0"/>
              <a:t>'0'</a:t>
            </a:r>
            <a:r>
              <a:rPr lang="ko-KR" altLang="en-US" sz="2000" dirty="0"/>
              <a:t>이 </a:t>
            </a:r>
            <a:r>
              <a:rPr lang="ko-KR" altLang="en-US" sz="2000" dirty="0" err="1"/>
              <a:t>나와야함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1111 1111.1111 1111.1111 1111.1100 </a:t>
            </a:r>
            <a:r>
              <a:rPr lang="ko-KR" altLang="en-US" sz="2000" dirty="0"/>
              <a:t>이런 경우 </a:t>
            </a:r>
            <a:r>
              <a:rPr lang="ko-KR" altLang="en-US" sz="2000" dirty="0" err="1"/>
              <a:t>서브넷</a:t>
            </a:r>
            <a:r>
              <a:rPr lang="ko-KR" altLang="en-US" sz="2000" dirty="0"/>
              <a:t> 마스크로 사용 가능</a:t>
            </a:r>
            <a:endParaRPr lang="ko-KR" altLang="en-US" dirty="0"/>
          </a:p>
          <a:p>
            <a:pPr marL="0" indent="0">
              <a:buNone/>
            </a:pPr>
            <a:r>
              <a:rPr lang="en-US" altLang="ko-KR" sz="2000" dirty="0"/>
              <a:t>1111 1111.1111 1111.1111 1111.1010 </a:t>
            </a:r>
            <a:r>
              <a:rPr lang="ko-KR" altLang="en-US" sz="2000" dirty="0"/>
              <a:t>이런 경우 </a:t>
            </a:r>
            <a:r>
              <a:rPr lang="ko-KR" altLang="en-US" sz="2000" dirty="0" err="1"/>
              <a:t>서브넷</a:t>
            </a:r>
            <a:r>
              <a:rPr lang="ko-KR" altLang="en-US" sz="2000" dirty="0"/>
              <a:t> 마스크로 사용 불가능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2400" dirty="0" err="1">
                <a:solidFill>
                  <a:srgbClr val="FFFF00"/>
                </a:solidFill>
              </a:rPr>
              <a:t>서브넷</a:t>
            </a:r>
            <a:r>
              <a:rPr lang="ko-KR" altLang="en-US" sz="2400" dirty="0">
                <a:solidFill>
                  <a:srgbClr val="FFFF00"/>
                </a:solidFill>
              </a:rPr>
              <a:t> 마스크 사용 이유</a:t>
            </a:r>
          </a:p>
          <a:p>
            <a:pPr marL="0" indent="0">
              <a:buNone/>
            </a:pPr>
            <a:r>
              <a:rPr lang="ko-KR" altLang="en-US" sz="2000" dirty="0"/>
              <a:t>네트워크 주소의 효율적인 이용을 위한 것 하나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도메인을 줄이기 위한 것</a:t>
            </a:r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16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57DF1-00EB-49AD-BEBF-86098108D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737"/>
            <a:ext cx="10515600" cy="56442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2600" dirty="0" err="1">
                <a:solidFill>
                  <a:srgbClr val="FFFF00"/>
                </a:solidFill>
              </a:rPr>
              <a:t>스패닝</a:t>
            </a:r>
            <a:r>
              <a:rPr lang="ko-KR" altLang="en-US" sz="2600" dirty="0">
                <a:solidFill>
                  <a:srgbClr val="FFFF00"/>
                </a:solidFill>
              </a:rPr>
              <a:t> 트리 알고리즘</a:t>
            </a:r>
          </a:p>
          <a:p>
            <a:pPr marL="0" indent="0">
              <a:buNone/>
            </a:pPr>
            <a:r>
              <a:rPr lang="ko-KR" altLang="en-US" sz="2200" dirty="0"/>
              <a:t>루트 포트나 </a:t>
            </a:r>
            <a:r>
              <a:rPr lang="en-US" altLang="ko-KR" sz="2200" dirty="0"/>
              <a:t>Designated Port </a:t>
            </a:r>
            <a:r>
              <a:rPr lang="ko-KR" altLang="en-US" sz="2200" dirty="0"/>
              <a:t>가 아닌 나머지 모든 포트는 다 </a:t>
            </a:r>
            <a:r>
              <a:rPr lang="ko-KR" altLang="en-US" sz="2200" dirty="0" err="1"/>
              <a:t>막아버림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ko-KR" altLang="en-US" sz="2200" dirty="0"/>
              <a:t>즉</a:t>
            </a:r>
            <a:r>
              <a:rPr lang="en-US" altLang="ko-KR" sz="2200" dirty="0"/>
              <a:t>, </a:t>
            </a:r>
            <a:r>
              <a:rPr lang="ko-KR" altLang="en-US" sz="2200" dirty="0"/>
              <a:t>어떤 포트를 살릴지 결정하기 위한 것</a:t>
            </a: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400" dirty="0"/>
              <a:t>1. Bridge ID </a:t>
            </a:r>
          </a:p>
          <a:p>
            <a:pPr marL="0" indent="0">
              <a:buNone/>
            </a:pPr>
            <a:r>
              <a:rPr lang="en-US" altLang="ko-KR" sz="2000" dirty="0"/>
              <a:t>8</a:t>
            </a:r>
            <a:r>
              <a:rPr lang="ko-KR" altLang="en-US" sz="2000" dirty="0"/>
              <a:t>바이트</a:t>
            </a:r>
            <a:r>
              <a:rPr lang="en-US" altLang="ko-KR" sz="2000" dirty="0"/>
              <a:t>(64</a:t>
            </a:r>
            <a:r>
              <a:rPr lang="ko-KR" altLang="en-US" sz="2000" dirty="0"/>
              <a:t>비트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Bridge Priority(2</a:t>
            </a:r>
            <a:r>
              <a:rPr lang="ko-KR" altLang="en-US" sz="2000" dirty="0"/>
              <a:t>바이트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Mac Address(6</a:t>
            </a:r>
            <a:r>
              <a:rPr lang="ko-KR" altLang="en-US" sz="2000" dirty="0"/>
              <a:t>바이트</a:t>
            </a:r>
            <a:r>
              <a:rPr lang="en-US" altLang="ko-KR" sz="2000" dirty="0"/>
              <a:t>)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Bridge Priority </a:t>
            </a:r>
            <a:r>
              <a:rPr lang="ko-KR" altLang="en-US" sz="2000" dirty="0">
                <a:solidFill>
                  <a:srgbClr val="FF0000"/>
                </a:solidFill>
              </a:rPr>
              <a:t>값이 낮을 수록 우선 </a:t>
            </a:r>
            <a:r>
              <a:rPr lang="en-US" altLang="ko-KR" sz="2000" dirty="0">
                <a:solidFill>
                  <a:srgbClr val="FF0000"/>
                </a:solidFill>
              </a:rPr>
              <a:t>!!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sz="2400" dirty="0"/>
              <a:t>Path Cost </a:t>
            </a:r>
            <a:r>
              <a:rPr lang="ko-KR" altLang="en-US" sz="2400" dirty="0"/>
              <a:t>값 </a:t>
            </a:r>
            <a:r>
              <a:rPr lang="en-US" altLang="ko-KR" sz="2400" dirty="0"/>
              <a:t> (</a:t>
            </a:r>
            <a:r>
              <a:rPr lang="ko-KR" altLang="en-US" sz="2400" dirty="0">
                <a:solidFill>
                  <a:srgbClr val="FF0000"/>
                </a:solidFill>
              </a:rPr>
              <a:t>한계</a:t>
            </a:r>
            <a:r>
              <a:rPr lang="ko-KR" altLang="en-US" sz="2400" dirty="0"/>
              <a:t>가 존재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sz="2000" dirty="0"/>
              <a:t>1000Mbps</a:t>
            </a:r>
            <a:r>
              <a:rPr lang="ko-KR" altLang="en-US" sz="2000" dirty="0"/>
              <a:t>를 두 장비 사이의 링크 대역폭으로 나눈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ex) </a:t>
            </a:r>
            <a:r>
              <a:rPr lang="ko-KR" altLang="en-US" sz="2000" dirty="0"/>
              <a:t>두 스위치가 </a:t>
            </a:r>
            <a:r>
              <a:rPr lang="en-US" altLang="ko-KR" sz="2000" dirty="0"/>
              <a:t>10Mbps</a:t>
            </a:r>
            <a:r>
              <a:rPr lang="ko-KR" altLang="en-US" sz="2000" dirty="0"/>
              <a:t>로 연결 되어있으면 </a:t>
            </a:r>
            <a:r>
              <a:rPr lang="en-US" altLang="ko-KR" sz="2000" dirty="0"/>
              <a:t>1000/10 = 100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즉 </a:t>
            </a:r>
            <a:r>
              <a:rPr lang="en-US" altLang="ko-KR" sz="2000" dirty="0"/>
              <a:t>, Path Cost</a:t>
            </a:r>
            <a:r>
              <a:rPr lang="ko-KR" altLang="en-US" sz="2000" dirty="0"/>
              <a:t>는 링크의 속도가 빠르면 빠를수록 더 작은 값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 descr="stp-root-bridge-election-1">
            <a:extLst>
              <a:ext uri="{FF2B5EF4-FFF2-40B4-BE49-F238E27FC236}">
                <a16:creationId xmlns:a16="http://schemas.microsoft.com/office/drawing/2014/main" id="{E70B2EA5-8D0F-4711-90D2-32DAFFC6B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88148"/>
            <a:ext cx="50673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th costì ëí ì´ë¯¸ì§ ê²ìê²°ê³¼">
            <a:extLst>
              <a:ext uri="{FF2B5EF4-FFF2-40B4-BE49-F238E27FC236}">
                <a16:creationId xmlns:a16="http://schemas.microsoft.com/office/drawing/2014/main" id="{F7934546-BAFB-4576-A50D-3ACD2D7BA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328" y="3695701"/>
            <a:ext cx="3679993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325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E8A5B-B4C3-4E4D-B691-27DC49DF2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767"/>
            <a:ext cx="10515600" cy="56961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r>
              <a:rPr lang="ko-KR" altLang="en-US" sz="3100" dirty="0" err="1">
                <a:solidFill>
                  <a:srgbClr val="FFFF00"/>
                </a:solidFill>
              </a:rPr>
              <a:t>스패닝</a:t>
            </a:r>
            <a:r>
              <a:rPr lang="ko-KR" altLang="en-US" sz="3100" dirty="0">
                <a:solidFill>
                  <a:srgbClr val="FFFF00"/>
                </a:solidFill>
              </a:rPr>
              <a:t> 트리 프로토콜 세 가지 과정</a:t>
            </a:r>
          </a:p>
          <a:p>
            <a:pPr marL="0" indent="0">
              <a:buNone/>
            </a:pPr>
            <a:endParaRPr lang="ko-KR" altLang="en-US" sz="2000" dirty="0"/>
          </a:p>
          <a:p>
            <a:r>
              <a:rPr lang="en-US" altLang="ko-KR" sz="3100" dirty="0">
                <a:solidFill>
                  <a:srgbClr val="FFFF00"/>
                </a:solidFill>
              </a:rPr>
              <a:t>1. </a:t>
            </a:r>
            <a:r>
              <a:rPr lang="ko-KR" altLang="en-US" sz="3100" dirty="0"/>
              <a:t>네트워크당 하나의 루트 브리지를 갖는다</a:t>
            </a:r>
            <a:r>
              <a:rPr lang="en-US" altLang="ko-KR" sz="3100" dirty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    (</a:t>
            </a:r>
            <a:r>
              <a:rPr lang="ko-KR" altLang="en-US" sz="2200" dirty="0"/>
              <a:t>네트워크 </a:t>
            </a:r>
            <a:r>
              <a:rPr lang="en-US" altLang="ko-KR" sz="2200" dirty="0"/>
              <a:t>= </a:t>
            </a:r>
            <a:r>
              <a:rPr lang="ko-KR" altLang="en-US" sz="2200" dirty="0"/>
              <a:t>스위치나 브리지로 구성된 하나의 네트워크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sz="3100" dirty="0">
                <a:solidFill>
                  <a:srgbClr val="FFFF00"/>
                </a:solidFill>
              </a:rPr>
              <a:t>2.</a:t>
            </a:r>
            <a:r>
              <a:rPr lang="ko-KR" altLang="en-US" sz="3100" dirty="0"/>
              <a:t>루트 브리지가 아닌 나머지 모든 브리지는 무조건 </a:t>
            </a:r>
            <a:endParaRPr lang="en-US" altLang="ko-KR" sz="3100" dirty="0"/>
          </a:p>
          <a:p>
            <a:pPr marL="0" indent="0">
              <a:buNone/>
            </a:pPr>
            <a:r>
              <a:rPr lang="en-US" altLang="ko-KR" sz="3100" dirty="0"/>
              <a:t>        </a:t>
            </a:r>
            <a:r>
              <a:rPr lang="ko-KR" altLang="en-US" sz="3100" dirty="0" err="1"/>
              <a:t>하나씩의</a:t>
            </a:r>
            <a:r>
              <a:rPr lang="ko-KR" altLang="en-US" sz="3100" dirty="0"/>
              <a:t> 루프 포트를 갖는다</a:t>
            </a:r>
            <a:r>
              <a:rPr lang="en-US" altLang="ko-KR" sz="3100" dirty="0"/>
              <a:t>.</a:t>
            </a:r>
          </a:p>
          <a:p>
            <a:pPr marL="0" indent="0">
              <a:buNone/>
            </a:pPr>
            <a:r>
              <a:rPr lang="en-US" altLang="ko-KR" sz="2200" dirty="0"/>
              <a:t>   </a:t>
            </a:r>
          </a:p>
          <a:p>
            <a:pPr marL="0" indent="0">
              <a:buNone/>
            </a:pPr>
            <a:r>
              <a:rPr lang="ko-KR" altLang="en-US" sz="2200" dirty="0"/>
              <a:t>   </a:t>
            </a:r>
            <a:r>
              <a:rPr lang="ko-KR" altLang="en-US" sz="3200" dirty="0"/>
              <a:t>루프 포트 </a:t>
            </a:r>
            <a:r>
              <a:rPr lang="en-US" altLang="ko-KR" sz="3200" dirty="0"/>
              <a:t>= </a:t>
            </a:r>
            <a:r>
              <a:rPr lang="ko-KR" altLang="en-US" sz="3200" dirty="0"/>
              <a:t>루트 브리지에 가장 빨리 갈 수 있는 포트 즉</a:t>
            </a:r>
            <a:r>
              <a:rPr lang="en-US" altLang="ko-KR" sz="3200" dirty="0"/>
              <a:t>, </a:t>
            </a:r>
            <a:r>
              <a:rPr lang="ko-KR" altLang="en-US" sz="3200" dirty="0"/>
              <a:t>루트 </a:t>
            </a:r>
            <a:r>
              <a:rPr lang="ko-KR" altLang="en-US" sz="3200" dirty="0" err="1"/>
              <a:t>브리지쪽에</a:t>
            </a:r>
            <a:r>
              <a:rPr lang="ko-KR" altLang="en-US" sz="3200" dirty="0"/>
              <a:t> 가장 가까운 포트 </a:t>
            </a:r>
          </a:p>
          <a:p>
            <a:pPr marL="0" indent="0">
              <a:buNone/>
            </a:pPr>
            <a:endParaRPr lang="ko-KR" altLang="en-US" sz="2200" dirty="0"/>
          </a:p>
          <a:p>
            <a:r>
              <a:rPr lang="en-US" altLang="ko-KR" sz="3400" dirty="0">
                <a:solidFill>
                  <a:srgbClr val="FFFF00"/>
                </a:solidFill>
              </a:rPr>
              <a:t>3. </a:t>
            </a:r>
            <a:r>
              <a:rPr lang="en-US" altLang="ko-KR" sz="3400" dirty="0"/>
              <a:t>Segment</a:t>
            </a:r>
            <a:r>
              <a:rPr lang="ko-KR" altLang="en-US" sz="3400" dirty="0"/>
              <a:t>당 </a:t>
            </a:r>
            <a:r>
              <a:rPr lang="ko-KR" altLang="en-US" sz="3400" dirty="0" err="1"/>
              <a:t>하나씩의</a:t>
            </a:r>
            <a:r>
              <a:rPr lang="ko-KR" altLang="en-US" sz="3400" dirty="0"/>
              <a:t> </a:t>
            </a:r>
            <a:r>
              <a:rPr lang="en-US" altLang="ko-KR" sz="3400" dirty="0"/>
              <a:t>Designated Port</a:t>
            </a:r>
            <a:r>
              <a:rPr lang="ko-KR" altLang="en-US" sz="3400" dirty="0"/>
              <a:t>를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3200" dirty="0"/>
              <a:t>     Segment = </a:t>
            </a:r>
            <a:r>
              <a:rPr lang="ko-KR" altLang="en-US" sz="2900" dirty="0"/>
              <a:t>브리지 또는 스위치 간에 서로 연결된 링크</a:t>
            </a:r>
          </a:p>
          <a:p>
            <a:pPr marL="0" indent="0">
              <a:buNone/>
            </a:pPr>
            <a:r>
              <a:rPr lang="ko-KR" altLang="en-US" sz="2900" dirty="0"/>
              <a:t>    즉</a:t>
            </a:r>
            <a:r>
              <a:rPr lang="en-US" altLang="ko-KR" sz="2900" dirty="0"/>
              <a:t>, </a:t>
            </a:r>
            <a:r>
              <a:rPr lang="ko-KR" altLang="en-US" sz="2900" dirty="0"/>
              <a:t>브리지나 스위치가 서로 연결되어 있을 때 이 세그먼트에서 </a:t>
            </a:r>
          </a:p>
          <a:p>
            <a:pPr marL="0" indent="0">
              <a:buNone/>
            </a:pPr>
            <a:r>
              <a:rPr lang="ko-KR" altLang="en-US" sz="2900" dirty="0"/>
              <a:t>    반드시 한 포트는 </a:t>
            </a:r>
            <a:r>
              <a:rPr lang="en-US" altLang="ko-KR" sz="2900" dirty="0"/>
              <a:t>Designated </a:t>
            </a:r>
            <a:r>
              <a:rPr lang="en-US" altLang="ko-KR" sz="2900" dirty="0" err="1"/>
              <a:t>Prot</a:t>
            </a:r>
            <a:r>
              <a:rPr lang="ko-KR" altLang="en-US" sz="2900" dirty="0"/>
              <a:t>로 선출 되어야함</a:t>
            </a:r>
            <a:r>
              <a:rPr lang="en-US" altLang="ko-KR" sz="2900" dirty="0"/>
              <a:t>. </a:t>
            </a:r>
          </a:p>
          <a:p>
            <a:pPr marL="0" indent="0">
              <a:buNone/>
            </a:pPr>
            <a:r>
              <a:rPr lang="en-US" altLang="ko-KR" sz="2900" dirty="0"/>
              <a:t>  </a:t>
            </a:r>
            <a:endParaRPr lang="ko-KR" altLang="en-US" sz="29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6D9DD1-E81B-4C95-8437-FE4E338BC62D}"/>
              </a:ext>
            </a:extLst>
          </p:cNvPr>
          <p:cNvSpPr/>
          <p:nvPr/>
        </p:nvSpPr>
        <p:spPr>
          <a:xfrm>
            <a:off x="838200" y="5737068"/>
            <a:ext cx="852040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100" dirty="0">
                <a:solidFill>
                  <a:srgbClr val="FF0000"/>
                </a:solidFill>
              </a:rPr>
              <a:t>핵심 </a:t>
            </a:r>
            <a:r>
              <a:rPr lang="en-US" altLang="ko-KR" sz="2100" dirty="0">
                <a:solidFill>
                  <a:srgbClr val="FF0000"/>
                </a:solidFill>
              </a:rPr>
              <a:t>! </a:t>
            </a:r>
            <a:r>
              <a:rPr lang="ko-KR" altLang="en-US" sz="2100" dirty="0"/>
              <a:t>누가 루트 브리지, 루트 포트, </a:t>
            </a:r>
            <a:r>
              <a:rPr lang="ko-KR" altLang="en-US" sz="2100" dirty="0" err="1"/>
              <a:t>Designated</a:t>
            </a:r>
            <a:r>
              <a:rPr lang="ko-KR" altLang="en-US" sz="2100" dirty="0"/>
              <a:t> </a:t>
            </a:r>
            <a:r>
              <a:rPr lang="ko-KR" altLang="en-US" sz="2100" dirty="0" err="1"/>
              <a:t>Port가</a:t>
            </a:r>
            <a:r>
              <a:rPr lang="ko-KR" altLang="en-US" sz="2100" dirty="0"/>
              <a:t> 될 것인가 ?? </a:t>
            </a:r>
          </a:p>
        </p:txBody>
      </p:sp>
    </p:spTree>
    <p:extLst>
      <p:ext uri="{BB962C8B-B14F-4D97-AF65-F5344CB8AC3E}">
        <p14:creationId xmlns:p14="http://schemas.microsoft.com/office/powerpoint/2010/main" val="335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A07DF2-C799-4B47-B853-D2B5E6D5E952}"/>
              </a:ext>
            </a:extLst>
          </p:cNvPr>
          <p:cNvSpPr/>
          <p:nvPr/>
        </p:nvSpPr>
        <p:spPr>
          <a:xfrm>
            <a:off x="803435" y="858943"/>
            <a:ext cx="4605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1. </a:t>
            </a:r>
            <a:r>
              <a:rPr lang="ko-KR" altLang="en-US" dirty="0"/>
              <a:t>네트워크당 하나의 루트 브리지를 갖는다</a:t>
            </a:r>
            <a:r>
              <a:rPr lang="en-US" altLang="ko-KR" dirty="0"/>
              <a:t>.</a:t>
            </a:r>
          </a:p>
        </p:txBody>
      </p:sp>
      <p:pic>
        <p:nvPicPr>
          <p:cNvPr id="3074" name="Picture 2" descr="ê´ë ¨ ì´ë¯¸ì§">
            <a:extLst>
              <a:ext uri="{FF2B5EF4-FFF2-40B4-BE49-F238E27FC236}">
                <a16:creationId xmlns:a16="http://schemas.microsoft.com/office/drawing/2014/main" id="{76B2B2D7-5009-4AF9-AF47-1F0140BD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176" y="1892426"/>
            <a:ext cx="7299647" cy="42771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66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ì¤í¨ë í¸ë¦¬ ê³¼ì ì ëí ì´ë¯¸ì§ ê²ìê²°ê³¼">
            <a:extLst>
              <a:ext uri="{FF2B5EF4-FFF2-40B4-BE49-F238E27FC236}">
                <a16:creationId xmlns:a16="http://schemas.microsoft.com/office/drawing/2014/main" id="{5099B0DC-7B5B-4E90-B5AE-4F6E21A62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1265"/>
            <a:ext cx="4872135" cy="406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668CCF1-A453-456A-B8FA-5804C767DF30}"/>
              </a:ext>
            </a:extLst>
          </p:cNvPr>
          <p:cNvSpPr/>
          <p:nvPr/>
        </p:nvSpPr>
        <p:spPr>
          <a:xfrm>
            <a:off x="838200" y="847826"/>
            <a:ext cx="100133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</a:rPr>
              <a:t>2.</a:t>
            </a:r>
            <a:r>
              <a:rPr lang="ko-KR" altLang="en-US" sz="2000" dirty="0"/>
              <a:t>루트 브리지가 아닌 나머지 모든 브리지는 무조건</a:t>
            </a:r>
            <a:r>
              <a:rPr lang="en-US" altLang="ko-KR" sz="2000" dirty="0"/>
              <a:t>  </a:t>
            </a:r>
            <a:r>
              <a:rPr lang="ko-KR" altLang="en-US" sz="2000" dirty="0" err="1"/>
              <a:t>하나씩의</a:t>
            </a:r>
            <a:r>
              <a:rPr lang="ko-KR" altLang="en-US" sz="2000" dirty="0"/>
              <a:t> 루프 포트를 갖는다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3. </a:t>
            </a:r>
            <a:r>
              <a:rPr lang="en-US" altLang="ko-KR" sz="2000" dirty="0"/>
              <a:t>Segment</a:t>
            </a:r>
            <a:r>
              <a:rPr lang="ko-KR" altLang="en-US" sz="2000" dirty="0"/>
              <a:t>당 </a:t>
            </a:r>
            <a:r>
              <a:rPr lang="ko-KR" altLang="en-US" sz="2000" dirty="0" err="1"/>
              <a:t>하나씩의</a:t>
            </a:r>
            <a:r>
              <a:rPr lang="ko-KR" altLang="en-US" sz="2000" dirty="0"/>
              <a:t> </a:t>
            </a:r>
            <a:r>
              <a:rPr lang="en-US" altLang="ko-KR" sz="2000" dirty="0"/>
              <a:t>Designated Port</a:t>
            </a:r>
            <a:r>
              <a:rPr lang="ko-KR" altLang="en-US" sz="2000" dirty="0"/>
              <a:t>를 갖는다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4100" name="Picture 4" descr="ê´ë ¨ ì´ë¯¸ì§">
            <a:extLst>
              <a:ext uri="{FF2B5EF4-FFF2-40B4-BE49-F238E27FC236}">
                <a16:creationId xmlns:a16="http://schemas.microsoft.com/office/drawing/2014/main" id="{FFCB3CEC-4CC5-4790-97F2-39CB197E5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851" y="2171265"/>
            <a:ext cx="4947849" cy="406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00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1E7846-5085-4A27-AA0F-7BE16542F92E}"/>
              </a:ext>
            </a:extLst>
          </p:cNvPr>
          <p:cNvSpPr/>
          <p:nvPr/>
        </p:nvSpPr>
        <p:spPr>
          <a:xfrm>
            <a:off x="737118" y="1063690"/>
            <a:ext cx="503853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STP</a:t>
            </a:r>
            <a:r>
              <a:rPr lang="ko-KR" altLang="en-US" sz="2400" dirty="0">
                <a:solidFill>
                  <a:srgbClr val="FFFF00"/>
                </a:solidFill>
              </a:rPr>
              <a:t>에서 힘겨루기</a:t>
            </a:r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000" dirty="0"/>
          </a:p>
          <a:p>
            <a:r>
              <a:rPr lang="ko-KR" altLang="en-US" sz="2000" dirty="0"/>
              <a:t>1. 누가 더 작은 </a:t>
            </a:r>
            <a:r>
              <a:rPr lang="ko-KR" altLang="en-US" sz="2000" dirty="0" err="1"/>
              <a:t>Root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BID를</a:t>
            </a:r>
            <a:r>
              <a:rPr lang="ko-KR" altLang="en-US" sz="2000" dirty="0"/>
              <a:t> 가졌는가?</a:t>
            </a:r>
          </a:p>
          <a:p>
            <a:endParaRPr lang="ko-KR" altLang="en-US" sz="2000" dirty="0"/>
          </a:p>
          <a:p>
            <a:r>
              <a:rPr lang="ko-KR" altLang="en-US" sz="2000" dirty="0"/>
              <a:t>2. 루트 브리지까지의 </a:t>
            </a:r>
            <a:r>
              <a:rPr lang="ko-KR" altLang="en-US" sz="2000" dirty="0" err="1"/>
              <a:t>Path</a:t>
            </a:r>
            <a:r>
              <a:rPr lang="ko-KR" altLang="en-US" sz="2000" dirty="0"/>
              <a:t> </a:t>
            </a:r>
            <a:r>
              <a:rPr lang="ko-KR" altLang="en-US" sz="2000" dirty="0" err="1"/>
              <a:t>Cost</a:t>
            </a:r>
            <a:r>
              <a:rPr lang="ko-KR" altLang="en-US" sz="2000" dirty="0"/>
              <a:t> 값은 </a:t>
            </a:r>
            <a:endParaRPr lang="en-US" altLang="ko-KR" sz="2000" dirty="0"/>
          </a:p>
          <a:p>
            <a:r>
              <a:rPr lang="en-US" altLang="ko-KR" sz="2000" dirty="0"/>
              <a:t>    </a:t>
            </a:r>
            <a:r>
              <a:rPr lang="ko-KR" altLang="en-US" sz="2000" dirty="0"/>
              <a:t>누가 더 작은가?</a:t>
            </a:r>
          </a:p>
          <a:p>
            <a:endParaRPr lang="ko-KR" altLang="en-US" sz="2000" dirty="0"/>
          </a:p>
          <a:p>
            <a:r>
              <a:rPr lang="ko-KR" altLang="en-US" sz="2000" dirty="0"/>
              <a:t>3. 누구의 </a:t>
            </a:r>
            <a:r>
              <a:rPr lang="ko-KR" altLang="en-US" sz="2000" dirty="0" err="1"/>
              <a:t>BID가</a:t>
            </a:r>
            <a:r>
              <a:rPr lang="ko-KR" altLang="en-US" sz="2000" dirty="0"/>
              <a:t> 더 낮은가 ?</a:t>
            </a:r>
          </a:p>
          <a:p>
            <a:endParaRPr lang="ko-KR" altLang="en-US" sz="2000" dirty="0"/>
          </a:p>
          <a:p>
            <a:r>
              <a:rPr lang="ko-KR" altLang="en-US" sz="2000" dirty="0"/>
              <a:t>4. 누구의 포트 </a:t>
            </a:r>
            <a:r>
              <a:rPr lang="ko-KR" altLang="en-US" sz="2000" dirty="0" err="1"/>
              <a:t>ID가</a:t>
            </a:r>
            <a:r>
              <a:rPr lang="ko-KR" altLang="en-US" sz="2000" dirty="0"/>
              <a:t> 더 낮은가 ?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B063DB-22FC-47CE-AC25-E2069CEA0D50}"/>
              </a:ext>
            </a:extLst>
          </p:cNvPr>
          <p:cNvSpPr/>
          <p:nvPr/>
        </p:nvSpPr>
        <p:spPr>
          <a:xfrm>
            <a:off x="6096000" y="1063690"/>
            <a:ext cx="6096000" cy="32624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BPDU</a:t>
            </a: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BPDU</a:t>
            </a:r>
            <a:r>
              <a:rPr lang="ko-KR" altLang="en-US" sz="2000" dirty="0" err="1"/>
              <a:t>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스패닝</a:t>
            </a:r>
            <a:r>
              <a:rPr lang="ko-KR" altLang="en-US" sz="2000" dirty="0"/>
              <a:t> 트리 프로토콜에서 우체부 아저씨와 같은 아주 중요한 역할을 함.</a:t>
            </a:r>
          </a:p>
          <a:p>
            <a:endParaRPr lang="ko-KR" altLang="en-US" dirty="0"/>
          </a:p>
          <a:p>
            <a:r>
              <a:rPr lang="ko-KR" altLang="en-US" sz="2000" dirty="0" err="1">
                <a:solidFill>
                  <a:srgbClr val="FFFF00"/>
                </a:solidFill>
              </a:rPr>
              <a:t>BPDU</a:t>
            </a:r>
            <a:r>
              <a:rPr lang="ko-KR" altLang="en-US" sz="2000" dirty="0" err="1"/>
              <a:t>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스패닝</a:t>
            </a:r>
            <a:r>
              <a:rPr lang="ko-KR" altLang="en-US" sz="2000" dirty="0"/>
              <a:t> 트리에 대한 여러 가지 정보를 담고 있으면서 매 2초에 한 번 뿌려지는 프레임</a:t>
            </a:r>
          </a:p>
          <a:p>
            <a:endParaRPr lang="ko-KR" altLang="en-US" sz="2000" dirty="0"/>
          </a:p>
          <a:p>
            <a:r>
              <a:rPr lang="ko-KR" altLang="en-US" sz="2000" dirty="0">
                <a:solidFill>
                  <a:srgbClr val="FFFF00"/>
                </a:solidFill>
              </a:rPr>
              <a:t>대장 브리지 뽑는 조건 </a:t>
            </a:r>
          </a:p>
          <a:p>
            <a:r>
              <a:rPr lang="ko-KR" altLang="en-US" sz="2000" dirty="0"/>
              <a:t>-무조건 낮은 </a:t>
            </a:r>
            <a:r>
              <a:rPr lang="ko-KR" altLang="en-US" sz="2000" dirty="0" err="1"/>
              <a:t>BID를</a:t>
            </a:r>
            <a:r>
              <a:rPr lang="ko-KR" altLang="en-US" sz="2000" dirty="0"/>
              <a:t> 갖는 스위치가 대장이 됨.</a:t>
            </a:r>
          </a:p>
        </p:txBody>
      </p:sp>
    </p:spTree>
    <p:extLst>
      <p:ext uri="{BB962C8B-B14F-4D97-AF65-F5344CB8AC3E}">
        <p14:creationId xmlns:p14="http://schemas.microsoft.com/office/powerpoint/2010/main" val="224963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캡처 2 과제">
            <a:extLst>
              <a:ext uri="{FF2B5EF4-FFF2-40B4-BE49-F238E27FC236}">
                <a16:creationId xmlns:a16="http://schemas.microsoft.com/office/drawing/2014/main" id="{239E6CF0-C044-46F9-A1E5-2B45224987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5" y="1882759"/>
            <a:ext cx="10055149" cy="3092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E86398-5BF9-44C3-A0C9-5107C83CBB88}"/>
              </a:ext>
            </a:extLst>
          </p:cNvPr>
          <p:cNvSpPr txBox="1"/>
          <p:nvPr/>
        </p:nvSpPr>
        <p:spPr>
          <a:xfrm>
            <a:off x="839755" y="806324"/>
            <a:ext cx="5301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solidFill>
                  <a:srgbClr val="FFFF00"/>
                </a:solidFill>
              </a:rPr>
              <a:t>스패닝</a:t>
            </a:r>
            <a:r>
              <a:rPr lang="ko-KR" altLang="en-US" sz="2400" dirty="0">
                <a:solidFill>
                  <a:srgbClr val="FFFF00"/>
                </a:solidFill>
              </a:rPr>
              <a:t> 트리 프로토콜 </a:t>
            </a:r>
            <a:r>
              <a:rPr lang="en-US" altLang="ko-KR" sz="2400" dirty="0">
                <a:solidFill>
                  <a:srgbClr val="FFFF00"/>
                </a:solidFill>
              </a:rPr>
              <a:t>5</a:t>
            </a:r>
            <a:r>
              <a:rPr lang="ko-KR" altLang="en-US" sz="2400" dirty="0">
                <a:solidFill>
                  <a:srgbClr val="FFFF00"/>
                </a:solidFill>
              </a:rPr>
              <a:t>가지 상태 변화</a:t>
            </a:r>
          </a:p>
        </p:txBody>
      </p:sp>
    </p:spTree>
    <p:extLst>
      <p:ext uri="{BB962C8B-B14F-4D97-AF65-F5344CB8AC3E}">
        <p14:creationId xmlns:p14="http://schemas.microsoft.com/office/powerpoint/2010/main" val="469892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ê´ë ¨ ì´ë¯¸ì§">
            <a:extLst>
              <a:ext uri="{FF2B5EF4-FFF2-40B4-BE49-F238E27FC236}">
                <a16:creationId xmlns:a16="http://schemas.microsoft.com/office/drawing/2014/main" id="{D4AE2002-E537-4B32-83DE-0ACA722688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490" y="1922340"/>
            <a:ext cx="5168299" cy="389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016B829-CEEC-423E-833C-8CB1E6957B6E}"/>
              </a:ext>
            </a:extLst>
          </p:cNvPr>
          <p:cNvSpPr/>
          <p:nvPr/>
        </p:nvSpPr>
        <p:spPr>
          <a:xfrm>
            <a:off x="985376" y="902351"/>
            <a:ext cx="3161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 err="1">
                <a:solidFill>
                  <a:srgbClr val="FFFF00"/>
                </a:solidFill>
              </a:rPr>
              <a:t>스패닝</a:t>
            </a:r>
            <a:r>
              <a:rPr lang="ko-KR" altLang="en-US" sz="2400" dirty="0">
                <a:solidFill>
                  <a:srgbClr val="FFFF00"/>
                </a:solidFill>
              </a:rPr>
              <a:t> 트리 프로토콜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024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F5C1D1-4A4C-46EE-BED5-43DD7BF1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135"/>
            <a:ext cx="10515600" cy="549582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rgbClr val="FFFF00"/>
                </a:solidFill>
              </a:rPr>
              <a:t>가상의 랜 이란 </a:t>
            </a:r>
            <a:r>
              <a:rPr lang="en-US" altLang="ko-KR" dirty="0">
                <a:solidFill>
                  <a:srgbClr val="FFFF00"/>
                </a:solidFill>
              </a:rPr>
              <a:t>?</a:t>
            </a:r>
          </a:p>
          <a:p>
            <a:pPr marL="0" indent="0">
              <a:buNone/>
            </a:pPr>
            <a:endParaRPr lang="en-US" altLang="ko-KR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■ 가상 랜 한 대의 스위치를 마치 여러 대의 분리된 스위치처럼 사용하고 또 여러 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(Virtual LAN) - , </a:t>
            </a:r>
            <a:r>
              <a:rPr lang="ko-KR" altLang="en-US" sz="2000" dirty="0"/>
              <a:t>의 네트워크 정보를 하나의 포트를 통해 </a:t>
            </a:r>
            <a:r>
              <a:rPr lang="ko-KR" altLang="en-US" sz="2000" dirty="0" err="1"/>
              <a:t>전송할수</a:t>
            </a:r>
            <a:r>
              <a:rPr lang="ko-KR" altLang="en-US" sz="2000" dirty="0"/>
              <a:t> 있음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하나의 </a:t>
            </a:r>
            <a:r>
              <a:rPr lang="ko-KR" altLang="en-US" sz="2000" dirty="0" err="1"/>
              <a:t>스위이체</a:t>
            </a:r>
            <a:r>
              <a:rPr lang="ko-KR" altLang="en-US" sz="2000" dirty="0"/>
              <a:t> 연결된 장비들도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도메인이 서로 다를 수 있다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</a:t>
            </a:r>
            <a:r>
              <a:rPr lang="en-US" altLang="ko-KR" sz="2000" dirty="0"/>
              <a:t>- VLAN</a:t>
            </a:r>
            <a:r>
              <a:rPr lang="ko-KR" altLang="en-US" sz="2000" dirty="0"/>
              <a:t>이 지원되는 라우터와 스위치를 사용하는 경우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▪ 라우터 스위치로 하나의 링크만을 이용해서도 </a:t>
            </a:r>
            <a:r>
              <a:rPr lang="en-US" altLang="ko-KR" sz="2000" dirty="0"/>
              <a:t>3 </a:t>
            </a:r>
            <a:r>
              <a:rPr lang="ko-KR" altLang="en-US" sz="2000" dirty="0"/>
              <a:t>개의 네트워크 정보를 같이 </a:t>
            </a:r>
            <a:r>
              <a:rPr lang="ko-KR" altLang="en-US" sz="2000" dirty="0" err="1"/>
              <a:t>보낼수있음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한 선에 여러 개의 네트워크 정보를 보내는 것이 가능해짐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▪ 스위치 여러 개의 </a:t>
            </a:r>
            <a:r>
              <a:rPr lang="ko-KR" altLang="en-US" sz="2000" dirty="0" err="1"/>
              <a:t>브로드캐스트</a:t>
            </a:r>
            <a:r>
              <a:rPr lang="ko-KR" altLang="en-US" sz="2000" dirty="0"/>
              <a:t> 영역을 </a:t>
            </a:r>
            <a:r>
              <a:rPr lang="ko-KR" altLang="en-US" sz="2000" dirty="0" err="1"/>
              <a:t>나누어줄</a:t>
            </a:r>
            <a:r>
              <a:rPr lang="ko-KR" altLang="en-US" sz="2000" dirty="0"/>
              <a:t> 수 </a:t>
            </a:r>
            <a:r>
              <a:rPr lang="ko-KR" altLang="en-US" sz="2000" dirty="0" err="1"/>
              <a:t>있게됨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27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ê°ìì ëì ëí ì´ë¯¸ì§ ê²ìê²°ê³¼">
            <a:extLst>
              <a:ext uri="{FF2B5EF4-FFF2-40B4-BE49-F238E27FC236}">
                <a16:creationId xmlns:a16="http://schemas.microsoft.com/office/drawing/2014/main" id="{B6051B8E-1540-40E1-A7A0-D6D72A0E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856" y="437445"/>
            <a:ext cx="9260944" cy="569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4A8C8B3-1421-4854-8D19-4014D083D7AF}"/>
              </a:ext>
            </a:extLst>
          </p:cNvPr>
          <p:cNvSpPr/>
          <p:nvPr/>
        </p:nvSpPr>
        <p:spPr>
          <a:xfrm>
            <a:off x="1120303" y="855697"/>
            <a:ext cx="22381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가상의 랜 활용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8982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3B9D42E-8991-4861-AD99-DF9CE2A35688}"/>
              </a:ext>
            </a:extLst>
          </p:cNvPr>
          <p:cNvSpPr/>
          <p:nvPr/>
        </p:nvSpPr>
        <p:spPr>
          <a:xfrm>
            <a:off x="1532566" y="1263134"/>
            <a:ext cx="2726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hlinkClick r:id="rId2"/>
              </a:rPr>
              <a:t>https://okjh.tistory.com/20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8239CD-7CEB-456F-B01C-AD9B4E4CBBDB}"/>
              </a:ext>
            </a:extLst>
          </p:cNvPr>
          <p:cNvSpPr/>
          <p:nvPr/>
        </p:nvSpPr>
        <p:spPr>
          <a:xfrm>
            <a:off x="1532566" y="191958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3"/>
              </a:rPr>
              <a:t>http://www.firewall.cx/networking-topics/protocols/spanning-tree-protocol/1054-spanning-tree-protocol-root-bridge-election.html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D5975C-3C80-4EE7-B635-748E4F45E6E8}"/>
              </a:ext>
            </a:extLst>
          </p:cNvPr>
          <p:cNvSpPr/>
          <p:nvPr/>
        </p:nvSpPr>
        <p:spPr>
          <a:xfrm>
            <a:off x="1532566" y="329536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4"/>
              </a:rPr>
              <a:t>file:///C:/Users/%EA%B9%80%EC%A7%84%EC%9D%BC/Downloads/%ED%9B%84%EB%8B%88%EC%9D%98_%EC%8B%9C%EC%8A%A4%EC%BD%94%EB%84%A4%ED%8A%B8%EC%9B%8C%ED%82%B9(%EA%B0%9C%EC%A0%95%ED%8C%90)%20(1).pdf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E84B1F-5D31-48FE-A5E0-B5D20C323A10}"/>
              </a:ext>
            </a:extLst>
          </p:cNvPr>
          <p:cNvSpPr/>
          <p:nvPr/>
        </p:nvSpPr>
        <p:spPr>
          <a:xfrm>
            <a:off x="1532566" y="4763482"/>
            <a:ext cx="2928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5"/>
              </a:rPr>
              <a:t>https://seokr.tistory.com/368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20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944</Words>
  <Application>Microsoft Office PowerPoint</Application>
  <PresentationFormat>와이드스크린</PresentationFormat>
  <Paragraphs>150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Office Theme</vt:lpstr>
      <vt:lpstr>GBC Network 5,6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GBC Network 5,6</dc:title>
  <dc:creator>김 진일</dc:creator>
  <cp:lastModifiedBy>김 진일</cp:lastModifiedBy>
  <cp:revision>14</cp:revision>
  <dcterms:created xsi:type="dcterms:W3CDTF">2019-06-17T16:19:06Z</dcterms:created>
  <dcterms:modified xsi:type="dcterms:W3CDTF">2019-06-17T18:01:53Z</dcterms:modified>
</cp:coreProperties>
</file>