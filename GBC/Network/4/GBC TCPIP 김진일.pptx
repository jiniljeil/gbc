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52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02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65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07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8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94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92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98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57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7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80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18293-EFD7-452E-9401-52D754B16C35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AA14E-2F39-43E7-B57A-EA1926DDA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926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behdrhs.tistory.com/96" TargetMode="External"/><Relationship Id="rId3" Type="http://schemas.openxmlformats.org/officeDocument/2006/relationships/hyperlink" Target="https://kjhgby.tistory.com/category/programming/c" TargetMode="External"/><Relationship Id="rId7" Type="http://schemas.openxmlformats.org/officeDocument/2006/relationships/hyperlink" Target="https://m.blog.naver.com/PostView.nhn?blogId=wlstn3273&amp;logNo=220792037488&amp;proxyReferer=https%3A%2F%2Fwww.google.com%2F" TargetMode="External"/><Relationship Id="rId2" Type="http://schemas.openxmlformats.org/officeDocument/2006/relationships/hyperlink" Target="https://sfixer.tistory.com/entry/writev-%ED%95%A8%EC%88%98%EC%9D%98-%EC%A0%81%EC%A0%88%ED%95%9C-%EC%82%AC%EC%9A%A9-%EB%84%A4%EC%9D%B4%EB%B2%84-%EB%B8%94%EB%A1%9C%EA%B7%B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log.naver.com/PostView.nhn?blogId=sdug12051205&amp;logNo=221064026774&amp;categoryNo=18&amp;parentCategoryNo=0&amp;viewDate=&amp;currentPage=1&amp;postListTopCurrentPage=1&amp;from=search" TargetMode="External"/><Relationship Id="rId5" Type="http://schemas.openxmlformats.org/officeDocument/2006/relationships/hyperlink" Target="https://cheonee.tistory.com/entry/%ED%94%84%EB%A1%9C%EC%84%B8%EC%8A%A4%EA%B0%84-%ED%86%B5%EC%8B%A0" TargetMode="External"/><Relationship Id="rId4" Type="http://schemas.openxmlformats.org/officeDocument/2006/relationships/hyperlink" Target="https://dbehdrhs.tistory.com/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510DC8D-76EB-43BF-82BF-350EFEEA5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4661"/>
            <a:ext cx="9144000" cy="2953139"/>
          </a:xfrm>
        </p:spPr>
        <p:txBody>
          <a:bodyPr/>
          <a:lstStyle/>
          <a:p>
            <a:endParaRPr lang="en-US" altLang="ko-KR" sz="3200" dirty="0"/>
          </a:p>
          <a:p>
            <a:r>
              <a:rPr lang="en-US" altLang="ko-KR" sz="3200" dirty="0"/>
              <a:t>GBC</a:t>
            </a:r>
            <a:r>
              <a:rPr lang="ko-KR" altLang="en-US" sz="3200" dirty="0"/>
              <a:t> </a:t>
            </a:r>
            <a:r>
              <a:rPr lang="en-US" altLang="ko-KR" sz="3200" dirty="0"/>
              <a:t>TCP/IP 10 ~13</a:t>
            </a:r>
          </a:p>
          <a:p>
            <a:r>
              <a:rPr lang="en-US" altLang="ko-KR" dirty="0"/>
              <a:t>21900195 </a:t>
            </a:r>
            <a:r>
              <a:rPr lang="ko-KR" altLang="en-US" dirty="0"/>
              <a:t>김 진일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090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8FC87-4309-44D1-AF79-6520AA38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398"/>
            <a:ext cx="10515600" cy="56290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ko-KR" sz="31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600" dirty="0">
                <a:solidFill>
                  <a:srgbClr val="FFFF00"/>
                </a:solidFill>
              </a:rPr>
              <a:t>프로세스의 이해와 활용</a:t>
            </a:r>
          </a:p>
          <a:p>
            <a:pPr marL="0" indent="0">
              <a:buNone/>
            </a:pPr>
            <a:r>
              <a:rPr lang="ko-KR" altLang="en-US" sz="2600" dirty="0"/>
              <a:t>다중접속 서버의 구현 방법들</a:t>
            </a:r>
          </a:p>
          <a:p>
            <a:pPr marL="0" indent="0">
              <a:buNone/>
            </a:pPr>
            <a:r>
              <a:rPr lang="en-US" altLang="ko-KR" sz="2200" dirty="0"/>
              <a:t>1. </a:t>
            </a:r>
            <a:r>
              <a:rPr lang="ko-KR" altLang="en-US" sz="2200" dirty="0"/>
              <a:t>멀티프로세스 기반 서버 </a:t>
            </a:r>
            <a:r>
              <a:rPr lang="en-US" altLang="ko-KR" sz="2200" dirty="0"/>
              <a:t>: </a:t>
            </a:r>
            <a:r>
              <a:rPr lang="ko-KR" altLang="en-US" sz="2200" dirty="0"/>
              <a:t>다수의 프로세스를 생성하는 방식으로 서비스 제공</a:t>
            </a:r>
          </a:p>
          <a:p>
            <a:pPr marL="0" indent="0">
              <a:buNone/>
            </a:pPr>
            <a:r>
              <a:rPr lang="en-US" altLang="ko-KR" sz="2200" dirty="0"/>
              <a:t>2. </a:t>
            </a:r>
            <a:r>
              <a:rPr lang="ko-KR" altLang="en-US" sz="2200" dirty="0" err="1"/>
              <a:t>멀티플렉싱</a:t>
            </a:r>
            <a:r>
              <a:rPr lang="ko-KR" altLang="en-US" sz="2200" dirty="0"/>
              <a:t> 기반 서버 </a:t>
            </a:r>
            <a:r>
              <a:rPr lang="en-US" altLang="ko-KR" sz="2200" dirty="0"/>
              <a:t>: </a:t>
            </a:r>
            <a:r>
              <a:rPr lang="ko-KR" altLang="en-US" sz="2200" dirty="0"/>
              <a:t>입출력 대상을 묶어서 관리하는 방식으로 서비스 제공</a:t>
            </a:r>
          </a:p>
          <a:p>
            <a:pPr marL="0" indent="0">
              <a:buNone/>
            </a:pPr>
            <a:r>
              <a:rPr lang="en-US" altLang="ko-KR" sz="2200" dirty="0"/>
              <a:t>3. </a:t>
            </a:r>
            <a:r>
              <a:rPr lang="ko-KR" altLang="en-US" sz="2200" dirty="0" err="1"/>
              <a:t>멀티쓰레딩</a:t>
            </a:r>
            <a:r>
              <a:rPr lang="ko-KR" altLang="en-US" sz="2200" dirty="0"/>
              <a:t> 기반 서버 </a:t>
            </a:r>
            <a:r>
              <a:rPr lang="en-US" altLang="ko-KR" sz="2200" dirty="0"/>
              <a:t>: </a:t>
            </a:r>
            <a:r>
              <a:rPr lang="ko-KR" altLang="en-US" sz="2200" dirty="0"/>
              <a:t>클라이언트의 수만큼 쓰레드를 생성하는 방식으로 서비스 제공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ko-KR" altLang="en-US" sz="2600" dirty="0"/>
              <a:t>프로세스의 이해</a:t>
            </a:r>
          </a:p>
          <a:p>
            <a:pPr marL="0" indent="0">
              <a:buNone/>
            </a:pPr>
            <a:r>
              <a:rPr lang="ko-KR" altLang="en-US" sz="2200" dirty="0"/>
              <a:t>만일 </a:t>
            </a:r>
            <a:r>
              <a:rPr lang="ko-KR" altLang="en-US" sz="2200" dirty="0" err="1"/>
              <a:t>벽돌깨기</a:t>
            </a:r>
            <a:r>
              <a:rPr lang="ko-KR" altLang="en-US" sz="2200" dirty="0"/>
              <a:t> 프로그램을 둘 이상 동시에 실행하게 되면</a:t>
            </a:r>
            <a:r>
              <a:rPr lang="en-US" altLang="ko-KR" sz="2200" dirty="0"/>
              <a:t>, </a:t>
            </a:r>
            <a:r>
              <a:rPr lang="ko-KR" altLang="en-US" sz="2200" dirty="0"/>
              <a:t>실행하는 수만큼 </a:t>
            </a: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/>
              <a:t>프로세스는 생성되므로 결국 실행되는 수만큼 메모리 공간을 차지하게 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600" dirty="0"/>
              <a:t>프로세스 </a:t>
            </a:r>
            <a:r>
              <a:rPr lang="en-US" altLang="ko-KR" sz="2600" dirty="0"/>
              <a:t>ID</a:t>
            </a:r>
          </a:p>
          <a:p>
            <a:pPr marL="0" indent="0">
              <a:buNone/>
            </a:pPr>
            <a:r>
              <a:rPr lang="ko-KR" altLang="en-US" sz="2200" dirty="0"/>
              <a:t>생성되는 형태에 상관없이 운영체제로부터 </a:t>
            </a:r>
            <a:r>
              <a:rPr lang="en-US" altLang="ko-KR" sz="2200" dirty="0"/>
              <a:t>ID</a:t>
            </a:r>
            <a:r>
              <a:rPr lang="ko-KR" altLang="en-US" sz="2200" dirty="0"/>
              <a:t>를 부여 받은 것 </a:t>
            </a:r>
            <a:r>
              <a:rPr lang="en-US" altLang="ko-KR" sz="2200" dirty="0"/>
              <a:t>( </a:t>
            </a:r>
            <a:r>
              <a:rPr lang="ko-KR" altLang="en-US" sz="2200" dirty="0"/>
              <a:t>모든 프로세스 해당</a:t>
            </a:r>
            <a:r>
              <a:rPr lang="en-US" altLang="ko-KR" sz="2200" dirty="0"/>
              <a:t>)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5898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5C104-65B7-4FE0-8498-A1ABE99CF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563"/>
            <a:ext cx="10515600" cy="5939406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FFFF00"/>
                </a:solidFill>
              </a:rPr>
              <a:t>fork </a:t>
            </a:r>
            <a:r>
              <a:rPr lang="ko-KR" altLang="en-US" sz="2000" dirty="0">
                <a:solidFill>
                  <a:srgbClr val="FFFF00"/>
                </a:solidFill>
              </a:rPr>
              <a:t>함수</a:t>
            </a:r>
          </a:p>
          <a:p>
            <a:pPr marL="0" indent="0">
              <a:buNone/>
            </a:pPr>
            <a:r>
              <a:rPr lang="ko-KR" altLang="en-US" sz="2000" dirty="0"/>
              <a:t>   호출한 프로세스의 복사본을 생성하는 역할</a:t>
            </a:r>
          </a:p>
          <a:p>
            <a:pPr marL="0" indent="0">
              <a:buNone/>
            </a:pPr>
            <a:r>
              <a:rPr lang="ko-KR" altLang="en-US" sz="2000" dirty="0"/>
              <a:t>   즉</a:t>
            </a:r>
            <a:r>
              <a:rPr lang="en-US" altLang="ko-KR" sz="2000" dirty="0"/>
              <a:t>, </a:t>
            </a:r>
            <a:r>
              <a:rPr lang="ko-KR" altLang="en-US" sz="2000" dirty="0"/>
              <a:t>전혀 새로운 다른 프로그램을 바탕으로 프로세스를 생성하는 것이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 아니라 이미 실행중인</a:t>
            </a:r>
            <a:r>
              <a:rPr lang="en-US" altLang="ko-KR" sz="2000" dirty="0"/>
              <a:t>, fork </a:t>
            </a:r>
            <a:r>
              <a:rPr lang="ko-KR" altLang="en-US" sz="2000" dirty="0"/>
              <a:t>함수를 호출한 프로세스를 복사하는 것</a:t>
            </a:r>
          </a:p>
          <a:p>
            <a:endParaRPr lang="ko-KR" altLang="en-US" sz="2000" dirty="0"/>
          </a:p>
          <a:p>
            <a:r>
              <a:rPr lang="ko-KR" altLang="en-US" sz="2000" dirty="0">
                <a:solidFill>
                  <a:srgbClr val="FFFF00"/>
                </a:solidFill>
              </a:rPr>
              <a:t>부모 프로세스 </a:t>
            </a:r>
            <a:r>
              <a:rPr lang="en-US" altLang="ko-KR" sz="2000" dirty="0"/>
              <a:t>: fork </a:t>
            </a:r>
            <a:r>
              <a:rPr lang="ko-KR" altLang="en-US" sz="2000" dirty="0"/>
              <a:t>함수의 반환 값은 자식 프로세스 </a:t>
            </a:r>
            <a:r>
              <a:rPr lang="en-US" altLang="ko-KR" sz="2000" dirty="0"/>
              <a:t>ID  &lt;-- </a:t>
            </a:r>
            <a:r>
              <a:rPr lang="ko-KR" altLang="en-US" sz="2000" dirty="0"/>
              <a:t>원본 프로세스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(fork </a:t>
            </a:r>
            <a:r>
              <a:rPr lang="ko-KR" altLang="en-US" sz="2000" dirty="0"/>
              <a:t>함수를 호출한 주체</a:t>
            </a:r>
            <a:r>
              <a:rPr lang="en-US" altLang="ko-KR" sz="2000" dirty="0"/>
              <a:t>)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자식 프로세스 </a:t>
            </a:r>
            <a:r>
              <a:rPr lang="en-US" altLang="ko-KR" sz="2000" dirty="0"/>
              <a:t>: fork </a:t>
            </a:r>
            <a:r>
              <a:rPr lang="ko-KR" altLang="en-US" sz="2000" dirty="0"/>
              <a:t>함수의 반환 값은 </a:t>
            </a:r>
            <a:r>
              <a:rPr lang="en-US" altLang="ko-KR" sz="2000" dirty="0"/>
              <a:t>0   &lt;-- </a:t>
            </a:r>
            <a:r>
              <a:rPr lang="ko-KR" altLang="en-US" sz="2000" dirty="0"/>
              <a:t>복사된 프로세스</a:t>
            </a:r>
          </a:p>
          <a:p>
            <a:endParaRPr lang="ko-KR" altLang="en-US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fork </a:t>
            </a:r>
            <a:r>
              <a:rPr lang="ko-KR" altLang="en-US" sz="2000" dirty="0">
                <a:solidFill>
                  <a:srgbClr val="FFFF00"/>
                </a:solidFill>
              </a:rPr>
              <a:t>함수의 반환 값의 차로 </a:t>
            </a:r>
            <a:r>
              <a:rPr lang="ko-KR" altLang="en-US" sz="2000" dirty="0"/>
              <a:t>인해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부모 프로세스는 </a:t>
            </a:r>
            <a:r>
              <a:rPr lang="en-US" altLang="ko-KR" sz="2000" dirty="0" err="1"/>
              <a:t>lval</a:t>
            </a:r>
            <a:r>
              <a:rPr lang="ko-KR" altLang="en-US" sz="2000" dirty="0"/>
              <a:t>의 값을 </a:t>
            </a:r>
            <a:r>
              <a:rPr lang="en-US" altLang="ko-KR" sz="2000" dirty="0"/>
              <a:t>1</a:t>
            </a:r>
            <a:r>
              <a:rPr lang="ko-KR" altLang="en-US" sz="2000" dirty="0"/>
              <a:t>증가 시키지만 </a:t>
            </a:r>
            <a:r>
              <a:rPr lang="en-US" altLang="ko-KR" sz="2000" dirty="0"/>
              <a:t>, </a:t>
            </a:r>
            <a:r>
              <a:rPr lang="ko-KR" altLang="en-US" sz="2000" dirty="0"/>
              <a:t>자식 프로세스는 </a:t>
            </a:r>
            <a:r>
              <a:rPr lang="en-US" altLang="ko-KR" sz="2000" dirty="0" err="1"/>
              <a:t>lval</a:t>
            </a:r>
            <a:r>
              <a:rPr lang="ko-KR" altLang="en-US" sz="2000" dirty="0"/>
              <a:t>에 영향을 미치지 않음  </a:t>
            </a:r>
          </a:p>
          <a:p>
            <a:pPr marL="0" indent="0">
              <a:buNone/>
            </a:pPr>
            <a:r>
              <a:rPr lang="ko-KR" altLang="en-US" sz="2000" dirty="0"/>
              <a:t>    자식 프로세스는 </a:t>
            </a:r>
            <a:r>
              <a:rPr lang="en-US" altLang="ko-KR" sz="2000" dirty="0" err="1"/>
              <a:t>gval</a:t>
            </a:r>
            <a:r>
              <a:rPr lang="ko-KR" altLang="en-US" sz="2000" dirty="0"/>
              <a:t>의 값을 </a:t>
            </a:r>
            <a:r>
              <a:rPr lang="en-US" altLang="ko-KR" sz="2000" dirty="0"/>
              <a:t>1</a:t>
            </a:r>
            <a:r>
              <a:rPr lang="ko-KR" altLang="en-US" sz="2000" dirty="0"/>
              <a:t>증가 시키지만</a:t>
            </a:r>
            <a:r>
              <a:rPr lang="en-US" altLang="ko-KR" sz="2000" dirty="0"/>
              <a:t>, </a:t>
            </a:r>
            <a:r>
              <a:rPr lang="ko-KR" altLang="en-US" sz="2000" dirty="0"/>
              <a:t>부모 프로세스는 </a:t>
            </a:r>
            <a:r>
              <a:rPr lang="en-US" altLang="ko-KR" sz="2000" dirty="0" err="1"/>
              <a:t>gval</a:t>
            </a:r>
            <a:r>
              <a:rPr lang="ko-KR" altLang="en-US" sz="2000" dirty="0"/>
              <a:t>에 영향을 미치지 않음</a:t>
            </a:r>
            <a:r>
              <a:rPr lang="en-US" altLang="ko-KR" sz="2000" dirty="0"/>
              <a:t>. </a:t>
            </a:r>
          </a:p>
          <a:p>
            <a:endParaRPr lang="en-US" altLang="ko-KR" sz="2000" dirty="0"/>
          </a:p>
          <a:p>
            <a:r>
              <a:rPr lang="ko-KR" altLang="en-US" sz="2000" dirty="0"/>
              <a:t>동일한 코드를 실행하는 완전히 다른 프로세스가 되어 </a:t>
            </a:r>
            <a:r>
              <a:rPr lang="en-US" altLang="ko-KR" sz="2000" dirty="0" err="1"/>
              <a:t>lval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gval</a:t>
            </a:r>
            <a:r>
              <a:rPr lang="en-US" altLang="ko-KR" sz="2000" dirty="0"/>
              <a:t>  </a:t>
            </a:r>
            <a:r>
              <a:rPr lang="ko-KR" altLang="en-US" sz="2000" dirty="0"/>
              <a:t>서로 영향을 미치지 않음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608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69687-9B15-4277-840C-9AE411327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840"/>
            <a:ext cx="10515600" cy="5598123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sz="3100" dirty="0">
                <a:solidFill>
                  <a:srgbClr val="FFFF00"/>
                </a:solidFill>
              </a:rPr>
              <a:t>프로세스 </a:t>
            </a:r>
            <a:r>
              <a:rPr lang="en-US" altLang="ko-KR" sz="3100" dirty="0">
                <a:solidFill>
                  <a:srgbClr val="FFFF00"/>
                </a:solidFill>
              </a:rPr>
              <a:t>&amp; </a:t>
            </a:r>
            <a:r>
              <a:rPr lang="ko-KR" altLang="en-US" sz="3100" dirty="0">
                <a:solidFill>
                  <a:srgbClr val="FFFF00"/>
                </a:solidFill>
              </a:rPr>
              <a:t>좀비 프로세스</a:t>
            </a:r>
          </a:p>
          <a:p>
            <a:endParaRPr lang="ko-KR" altLang="en-US" dirty="0"/>
          </a:p>
          <a:p>
            <a:r>
              <a:rPr lang="ko-KR" altLang="en-US" sz="3100" dirty="0">
                <a:solidFill>
                  <a:srgbClr val="FFFF00"/>
                </a:solidFill>
              </a:rPr>
              <a:t>좀비 프로세스</a:t>
            </a:r>
          </a:p>
          <a:p>
            <a:r>
              <a:rPr lang="en-US" altLang="ko-KR" sz="2600" dirty="0"/>
              <a:t>exit </a:t>
            </a:r>
            <a:r>
              <a:rPr lang="ko-KR" altLang="en-US" sz="2600" dirty="0"/>
              <a:t>함수로 전달되는 인자 값과 </a:t>
            </a:r>
            <a:r>
              <a:rPr lang="en-US" altLang="ko-KR" sz="2600" dirty="0"/>
              <a:t>main </a:t>
            </a:r>
            <a:r>
              <a:rPr lang="ko-KR" altLang="en-US" sz="2600" dirty="0"/>
              <a:t>함수의 </a:t>
            </a:r>
            <a:r>
              <a:rPr lang="en-US" altLang="ko-KR" sz="2600" dirty="0"/>
              <a:t>return</a:t>
            </a:r>
            <a:r>
              <a:rPr lang="ko-KR" altLang="en-US" sz="2600" dirty="0"/>
              <a:t>문에 의해 반환되는 값 모두</a:t>
            </a:r>
            <a:endParaRPr lang="en-US" altLang="ko-KR" sz="2600" dirty="0"/>
          </a:p>
          <a:p>
            <a:pPr marL="0" indent="0">
              <a:buNone/>
            </a:pPr>
            <a:r>
              <a:rPr lang="ko-KR" altLang="en-US" sz="2600" dirty="0"/>
              <a:t>   운영체제로 전달되어 이 값이 자식 프로세스를 생성한 </a:t>
            </a:r>
            <a:r>
              <a:rPr lang="ko-KR" altLang="en-US" sz="2600" dirty="0">
                <a:solidFill>
                  <a:srgbClr val="FFFF00"/>
                </a:solidFill>
              </a:rPr>
              <a:t>부모 프로세스에게 </a:t>
            </a:r>
            <a:endParaRPr lang="en-US" altLang="ko-KR" sz="2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600" dirty="0">
                <a:solidFill>
                  <a:srgbClr val="FFFF00"/>
                </a:solidFill>
              </a:rPr>
              <a:t>   전달될 때까지 자식 프로세스를 소멸시키지 않는데</a:t>
            </a:r>
            <a:r>
              <a:rPr lang="en-US" altLang="ko-KR" sz="2600" dirty="0"/>
              <a:t>, </a:t>
            </a:r>
            <a:r>
              <a:rPr lang="ko-KR" altLang="en-US" sz="2600" dirty="0"/>
              <a:t>바로 이 상황에 놓여있는 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   </a:t>
            </a:r>
            <a:r>
              <a:rPr lang="ko-KR" altLang="en-US" sz="2600" dirty="0"/>
              <a:t>프로세스를 좀비 프로세스라고 함</a:t>
            </a:r>
            <a:r>
              <a:rPr lang="en-US" altLang="ko-KR" sz="2600" dirty="0"/>
              <a:t>. </a:t>
            </a:r>
          </a:p>
          <a:p>
            <a:pPr marL="0" indent="0">
              <a:buNone/>
            </a:pPr>
            <a:r>
              <a:rPr lang="en-US" altLang="ko-KR" sz="2600" dirty="0"/>
              <a:t>     &lt;-- </a:t>
            </a:r>
            <a:r>
              <a:rPr lang="ko-KR" altLang="en-US" sz="2600" dirty="0"/>
              <a:t>자식 프로세스를 좀비 프로세스로 만드는 주체는 </a:t>
            </a:r>
            <a:r>
              <a:rPr lang="ko-KR" altLang="en-US" sz="2600" dirty="0">
                <a:solidFill>
                  <a:srgbClr val="FFFF00"/>
                </a:solidFill>
              </a:rPr>
              <a:t>운영체제</a:t>
            </a:r>
            <a:r>
              <a:rPr lang="ko-KR" altLang="en-US" sz="2600" dirty="0"/>
              <a:t>임</a:t>
            </a:r>
            <a:r>
              <a:rPr lang="en-US" altLang="ko-KR" sz="2600" dirty="0"/>
              <a:t>.</a:t>
            </a:r>
          </a:p>
          <a:p>
            <a:endParaRPr lang="en-US" altLang="ko-KR" sz="2600" dirty="0"/>
          </a:p>
          <a:p>
            <a:r>
              <a:rPr lang="ko-KR" altLang="en-US" sz="2600" dirty="0"/>
              <a:t>부모 프로세스가 자식 프로세스의 전달 값을 요청하지 않으면</a:t>
            </a:r>
            <a:r>
              <a:rPr lang="en-US" altLang="ko-KR" sz="2600" dirty="0"/>
              <a:t>, </a:t>
            </a:r>
            <a:r>
              <a:rPr lang="ko-KR" altLang="en-US" sz="2600" dirty="0"/>
              <a:t>운영체제는 그 값을 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    </a:t>
            </a:r>
            <a:r>
              <a:rPr lang="ko-KR" altLang="en-US" sz="2600" dirty="0"/>
              <a:t>계속해서 유지하게 되고 결국 자식 프로세스는 좀비의 상태로 오랫동안 머물러 있어야 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    </a:t>
            </a:r>
            <a:r>
              <a:rPr lang="ko-KR" altLang="en-US" sz="2600" dirty="0"/>
              <a:t>하므로 부모 프로세서가 책임을 져야 좀비 프로세서가 발생하지 않게 됩니다</a:t>
            </a:r>
            <a:r>
              <a:rPr lang="en-US" altLang="ko-KR" sz="2600" dirty="0"/>
              <a:t>.</a:t>
            </a:r>
          </a:p>
          <a:p>
            <a:endParaRPr lang="en-US" altLang="ko-KR" sz="2600" dirty="0"/>
          </a:p>
          <a:p>
            <a:r>
              <a:rPr lang="ko-KR" altLang="en-US" sz="2600" dirty="0">
                <a:solidFill>
                  <a:srgbClr val="FFFF00"/>
                </a:solidFill>
              </a:rPr>
              <a:t>자식 프로세스가 종료되는 상황 두가지</a:t>
            </a:r>
          </a:p>
          <a:p>
            <a:pPr marL="0" indent="0">
              <a:buNone/>
            </a:pPr>
            <a:r>
              <a:rPr lang="en-US" altLang="ko-KR" sz="2600" dirty="0"/>
              <a:t>    1. </a:t>
            </a:r>
            <a:r>
              <a:rPr lang="ko-KR" altLang="en-US" sz="2600" dirty="0"/>
              <a:t>인자를 전달하면서 </a:t>
            </a:r>
            <a:r>
              <a:rPr lang="en-US" altLang="ko-KR" sz="2600" dirty="0"/>
              <a:t>exit</a:t>
            </a:r>
            <a:r>
              <a:rPr lang="ko-KR" altLang="en-US" sz="2600" dirty="0"/>
              <a:t>를 호출하는 경우</a:t>
            </a:r>
          </a:p>
          <a:p>
            <a:pPr marL="0" indent="0">
              <a:buNone/>
            </a:pPr>
            <a:r>
              <a:rPr lang="en-US" altLang="ko-KR" sz="2600" dirty="0"/>
              <a:t>    2. main </a:t>
            </a:r>
            <a:r>
              <a:rPr lang="ko-KR" altLang="en-US" sz="2600" dirty="0"/>
              <a:t>함수에서 </a:t>
            </a:r>
            <a:r>
              <a:rPr lang="en-US" altLang="ko-KR" sz="2600" dirty="0"/>
              <a:t>return</a:t>
            </a:r>
            <a:r>
              <a:rPr lang="ko-KR" altLang="en-US" sz="2600" dirty="0"/>
              <a:t>문을 실행하면서 값을 반환하는 경우</a:t>
            </a:r>
          </a:p>
        </p:txBody>
      </p:sp>
    </p:spTree>
    <p:extLst>
      <p:ext uri="{BB962C8B-B14F-4D97-AF65-F5344CB8AC3E}">
        <p14:creationId xmlns:p14="http://schemas.microsoft.com/office/powerpoint/2010/main" val="176934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AE5177-6F29-412C-9A41-BD5E043F8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4341"/>
            <a:ext cx="10515600" cy="5872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좀비 프로세스의 소멸</a:t>
            </a:r>
            <a:r>
              <a:rPr lang="en-US" altLang="ko-KR" sz="2400" dirty="0"/>
              <a:t>1. </a:t>
            </a:r>
            <a:r>
              <a:rPr lang="en-US" altLang="ko-KR" sz="2400" dirty="0">
                <a:solidFill>
                  <a:srgbClr val="FFFF00"/>
                </a:solidFill>
              </a:rPr>
              <a:t>wait </a:t>
            </a:r>
            <a:r>
              <a:rPr lang="ko-KR" altLang="en-US" sz="2400" dirty="0">
                <a:solidFill>
                  <a:srgbClr val="FFFF00"/>
                </a:solidFill>
              </a:rPr>
              <a:t>함수의 사용</a:t>
            </a:r>
          </a:p>
          <a:p>
            <a:endParaRPr lang="ko-KR" altLang="en-US" sz="2000" dirty="0"/>
          </a:p>
          <a:p>
            <a:r>
              <a:rPr lang="ko-KR" altLang="en-US" sz="2000" dirty="0"/>
              <a:t>함수를 호출 했을 때 이미 종료된 자식 프로세스가 있다면 자식 프로세스가 종료되면서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전달한 값이 매개변수로 전달된 주소의 변수에 저장되는데 종료되면서 전달한 값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이외에도 다른 정보가 함께 포함되어 있어 매크로 함수를 통해서 값의 분리과정을 거쳐야함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*WIFEXITED </a:t>
            </a:r>
            <a:r>
              <a:rPr lang="en-US" altLang="ko-KR" sz="2000" dirty="0"/>
              <a:t>: </a:t>
            </a:r>
            <a:r>
              <a:rPr lang="ko-KR" altLang="en-US" sz="2000" dirty="0"/>
              <a:t>자식 프로세스가 정상 종료한 경우 </a:t>
            </a:r>
            <a:r>
              <a:rPr lang="en-US" altLang="ko-KR" sz="2000" dirty="0"/>
              <a:t>'</a:t>
            </a:r>
            <a:r>
              <a:rPr lang="ko-KR" altLang="en-US" sz="2000" dirty="0"/>
              <a:t>참</a:t>
            </a:r>
            <a:r>
              <a:rPr lang="en-US" altLang="ko-KR" sz="2000" dirty="0"/>
              <a:t>' </a:t>
            </a:r>
            <a:r>
              <a:rPr lang="ko-KR" altLang="en-US" sz="2000" dirty="0"/>
              <a:t>을 반환 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*</a:t>
            </a:r>
            <a:r>
              <a:rPr lang="en-US" altLang="ko-KR" sz="2000" dirty="0">
                <a:solidFill>
                  <a:srgbClr val="FFFF00"/>
                </a:solidFill>
              </a:rPr>
              <a:t>WEXITSTATUS</a:t>
            </a:r>
            <a:r>
              <a:rPr lang="en-US" altLang="ko-KR" sz="2000" dirty="0"/>
              <a:t> : </a:t>
            </a:r>
            <a:r>
              <a:rPr lang="ko-KR" altLang="en-US" sz="2000" dirty="0"/>
              <a:t>자식 프로세스의 전달 값을 반환</a:t>
            </a:r>
          </a:p>
          <a:p>
            <a:endParaRPr lang="ko-KR" altLang="en-US" sz="2000" dirty="0"/>
          </a:p>
          <a:p>
            <a:r>
              <a:rPr lang="en-US" altLang="ko-KR" sz="2000" dirty="0"/>
              <a:t>wait </a:t>
            </a:r>
            <a:r>
              <a:rPr lang="ko-KR" altLang="en-US" sz="2000" dirty="0"/>
              <a:t>함수를 썼음에도 호출된 시점에서 종료된 자식 프로세스가 없다면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임의의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</a:t>
            </a:r>
            <a:r>
              <a:rPr lang="ko-KR" altLang="en-US" sz="2000" dirty="0">
                <a:solidFill>
                  <a:srgbClr val="FFFF00"/>
                </a:solidFill>
              </a:rPr>
              <a:t>자식 프로세스가 종료될 때까지 블로킹 상태에 놓임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/>
              <a:t>    이 같이 블로킹이 문제가 되는 경우 </a:t>
            </a:r>
            <a:r>
              <a:rPr lang="en-US" altLang="ko-KR" sz="2000" dirty="0" err="1">
                <a:solidFill>
                  <a:srgbClr val="FFFF00"/>
                </a:solidFill>
              </a:rPr>
              <a:t>waitpid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함수</a:t>
            </a:r>
            <a:r>
              <a:rPr lang="ko-KR" altLang="en-US" sz="2000" dirty="0"/>
              <a:t>를 사용함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좀비 프로세스의 소멸</a:t>
            </a:r>
            <a:r>
              <a:rPr lang="en-US" altLang="ko-KR" sz="2400" dirty="0"/>
              <a:t>2.</a:t>
            </a:r>
            <a:r>
              <a:rPr lang="en-US" altLang="ko-KR" sz="2000" dirty="0"/>
              <a:t> </a:t>
            </a:r>
            <a:r>
              <a:rPr lang="en-US" altLang="ko-KR" sz="2000" dirty="0" err="1">
                <a:solidFill>
                  <a:srgbClr val="FFFF00"/>
                </a:solidFill>
              </a:rPr>
              <a:t>waitpid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함수 의 사용 </a:t>
            </a:r>
          </a:p>
          <a:p>
            <a:pPr marL="0" indent="0">
              <a:buNone/>
            </a:pPr>
            <a:r>
              <a:rPr lang="ko-KR" altLang="en-US" sz="2000" dirty="0"/>
              <a:t>블로킹 문제의 해결책이자 좀비 프로세스의 생성을 막는 두 번째 방법</a:t>
            </a:r>
          </a:p>
        </p:txBody>
      </p:sp>
    </p:spTree>
    <p:extLst>
      <p:ext uri="{BB962C8B-B14F-4D97-AF65-F5344CB8AC3E}">
        <p14:creationId xmlns:p14="http://schemas.microsoft.com/office/powerpoint/2010/main" val="111155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855AC-93FF-458A-A312-9E940B187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616"/>
            <a:ext cx="10515600" cy="5715569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시그널 핸들링</a:t>
            </a:r>
          </a:p>
          <a:p>
            <a:pPr marL="0" indent="0">
              <a:buNone/>
            </a:pPr>
            <a:r>
              <a:rPr lang="ko-KR" altLang="en-US" sz="2000" dirty="0"/>
              <a:t>     자식 프로세스의 종료를 기다리면서 </a:t>
            </a:r>
            <a:r>
              <a:rPr lang="en-US" altLang="ko-KR" sz="2000" dirty="0" err="1"/>
              <a:t>waitpid</a:t>
            </a:r>
            <a:r>
              <a:rPr lang="en-US" altLang="ko-KR" sz="2000" dirty="0"/>
              <a:t> </a:t>
            </a:r>
            <a:r>
              <a:rPr lang="ko-KR" altLang="en-US" sz="2000" dirty="0"/>
              <a:t>함수만 호출하고 있을 수 없기 때문에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운영체제가 부모 프로세스에게 자식 프로세스가 종료 되었다는 것을 알리면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 그것을 보고 부모 프로세스는 하던 일을 멈추고 자식 프로세스의 종료와 관련된 일을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처리하면 되는 것을 말함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signal </a:t>
            </a:r>
            <a:r>
              <a:rPr lang="ko-KR" altLang="en-US" sz="2000" dirty="0">
                <a:solidFill>
                  <a:srgbClr val="FFFF00"/>
                </a:solidFill>
              </a:rPr>
              <a:t>함수를 이용한 시그널 핸들링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 </a:t>
            </a:r>
            <a:r>
              <a:rPr lang="ko-KR" altLang="en-US" sz="2000" dirty="0"/>
              <a:t>자식 프로세스가 종료되면 운영체제에게 </a:t>
            </a:r>
            <a:r>
              <a:rPr lang="en-US" altLang="ko-KR" sz="2000" dirty="0" err="1"/>
              <a:t>mychild</a:t>
            </a:r>
            <a:r>
              <a:rPr lang="en-US" altLang="ko-KR" sz="2000" dirty="0"/>
              <a:t> </a:t>
            </a:r>
            <a:r>
              <a:rPr lang="ko-KR" altLang="en-US" sz="2000" dirty="0"/>
              <a:t>라는 함수를 호출 해달라 요청하여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ko-KR" altLang="en-US" sz="2000" dirty="0"/>
              <a:t>일을 처리하는 방법</a:t>
            </a:r>
          </a:p>
          <a:p>
            <a:endParaRPr lang="ko-KR" altLang="en-US" sz="2000" dirty="0"/>
          </a:p>
          <a:p>
            <a:r>
              <a:rPr lang="en-US" altLang="ko-KR" sz="2000" dirty="0" err="1">
                <a:solidFill>
                  <a:srgbClr val="FFFF00"/>
                </a:solidFill>
              </a:rPr>
              <a:t>sigaction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함수를 이용한 시그널 핸들링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</a:t>
            </a:r>
            <a:r>
              <a:rPr lang="en-US" altLang="ko-KR" sz="2000" dirty="0"/>
              <a:t>signal </a:t>
            </a:r>
            <a:r>
              <a:rPr lang="ko-KR" altLang="en-US" sz="2000" dirty="0"/>
              <a:t>함수와 유사하지만 더 안정적으로 동작한다는 이점이 있음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7364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4CEA34-BCB4-471E-95C5-3BC03F03D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5952"/>
            <a:ext cx="10515600" cy="5531011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다중접속</a:t>
            </a:r>
            <a:r>
              <a:rPr lang="en-US" altLang="ko-KR" sz="2400" dirty="0">
                <a:solidFill>
                  <a:srgbClr val="FFFF00"/>
                </a:solidFill>
              </a:rPr>
              <a:t>-</a:t>
            </a:r>
            <a:r>
              <a:rPr lang="ko-KR" altLang="en-US" sz="2400" dirty="0">
                <a:solidFill>
                  <a:srgbClr val="FFFF00"/>
                </a:solidFill>
              </a:rPr>
              <a:t>에코서버</a:t>
            </a:r>
          </a:p>
          <a:p>
            <a:r>
              <a:rPr lang="ko-KR" altLang="en-US" sz="2000" dirty="0"/>
              <a:t>과정</a:t>
            </a:r>
          </a:p>
          <a:p>
            <a:pPr marL="0" indent="0">
              <a:buNone/>
            </a:pPr>
            <a:r>
              <a:rPr lang="en-US" altLang="ko-KR" sz="2000" dirty="0"/>
              <a:t>  1. </a:t>
            </a:r>
            <a:r>
              <a:rPr lang="ko-KR" altLang="en-US" sz="2000" dirty="0"/>
              <a:t>에코 서버</a:t>
            </a:r>
            <a:r>
              <a:rPr lang="en-US" altLang="ko-KR" sz="2000" dirty="0"/>
              <a:t>(</a:t>
            </a:r>
            <a:r>
              <a:rPr lang="ko-KR" altLang="en-US" sz="2000" dirty="0"/>
              <a:t>부모 프로세스</a:t>
            </a:r>
            <a:r>
              <a:rPr lang="en-US" altLang="ko-KR" sz="2000" dirty="0"/>
              <a:t>)</a:t>
            </a:r>
            <a:r>
              <a:rPr lang="ko-KR" altLang="en-US" sz="2000" dirty="0"/>
              <a:t>는 </a:t>
            </a:r>
            <a:r>
              <a:rPr lang="en-US" altLang="ko-KR" sz="2000" dirty="0">
                <a:solidFill>
                  <a:srgbClr val="FFFF00"/>
                </a:solidFill>
              </a:rPr>
              <a:t>accept </a:t>
            </a:r>
            <a:r>
              <a:rPr lang="ko-KR" altLang="en-US" sz="2000" dirty="0">
                <a:solidFill>
                  <a:srgbClr val="FFFF00"/>
                </a:solidFill>
              </a:rPr>
              <a:t>함수 호출</a:t>
            </a:r>
            <a:r>
              <a:rPr lang="ko-KR" altLang="en-US" sz="2000" dirty="0"/>
              <a:t>을 통해서 연결요청을 수락한다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2. </a:t>
            </a:r>
            <a:r>
              <a:rPr lang="ko-KR" altLang="en-US" sz="2000" dirty="0"/>
              <a:t>이때 얻게 되는 소켓의 파일 </a:t>
            </a:r>
            <a:r>
              <a:rPr lang="ko-KR" altLang="en-US" sz="2000" dirty="0" err="1"/>
              <a:t>디스크립터를</a:t>
            </a:r>
            <a:r>
              <a:rPr lang="ko-KR" altLang="en-US" sz="2000" dirty="0"/>
              <a:t> 자식 프로세스를 생성해서 넘겨준다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3. </a:t>
            </a:r>
            <a:r>
              <a:rPr lang="ko-KR" altLang="en-US" sz="2000" dirty="0"/>
              <a:t>자식 프로세스는 전달받은 파일 </a:t>
            </a:r>
            <a:r>
              <a:rPr lang="ko-KR" altLang="en-US" sz="2000" dirty="0" err="1"/>
              <a:t>디스크립터를</a:t>
            </a:r>
            <a:r>
              <a:rPr lang="ko-KR" altLang="en-US" sz="2000" dirty="0"/>
              <a:t> 바탕으로 서비스를 제공한다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/>
              <a:t>fork </a:t>
            </a:r>
            <a:r>
              <a:rPr lang="ko-KR" altLang="en-US" sz="2000" dirty="0"/>
              <a:t>함수 호출을 통한 파일 </a:t>
            </a:r>
            <a:r>
              <a:rPr lang="ko-KR" altLang="en-US" sz="2000" dirty="0" err="1"/>
              <a:t>디스크립터의</a:t>
            </a:r>
            <a:r>
              <a:rPr lang="ko-KR" altLang="en-US" sz="2000" dirty="0"/>
              <a:t> 복사</a:t>
            </a:r>
          </a:p>
          <a:p>
            <a:pPr marL="0" indent="0">
              <a:buNone/>
            </a:pPr>
            <a:r>
              <a:rPr lang="ko-KR" altLang="en-US" sz="2000" dirty="0"/>
              <a:t>    부모 프로세스가 지니고 있던 두 소켓의 파일 </a:t>
            </a:r>
            <a:r>
              <a:rPr lang="ko-KR" altLang="en-US" sz="2000" dirty="0" err="1"/>
              <a:t>디스크립터가</a:t>
            </a:r>
            <a:r>
              <a:rPr lang="ko-KR" altLang="en-US" sz="2000" dirty="0"/>
              <a:t> 자식 프로세스에게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복사되었으나 </a:t>
            </a:r>
            <a:r>
              <a:rPr lang="ko-KR" altLang="en-US" sz="2000" dirty="0">
                <a:solidFill>
                  <a:srgbClr val="FFFF00"/>
                </a:solidFill>
              </a:rPr>
              <a:t>소켓은 운영체제의 소유</a:t>
            </a:r>
            <a:r>
              <a:rPr lang="ko-KR" altLang="en-US" sz="2000" dirty="0"/>
              <a:t>이므로 파일 </a:t>
            </a:r>
            <a:r>
              <a:rPr lang="ko-KR" altLang="en-US" sz="2000" dirty="0" err="1"/>
              <a:t>디스크립터의</a:t>
            </a:r>
            <a:r>
              <a:rPr lang="ko-KR" altLang="en-US" sz="2000" dirty="0"/>
              <a:t> 복사만 이루어 짐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68022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3BA02-BFD9-4E61-A34F-DE737B356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498"/>
            <a:ext cx="10515600" cy="5598465"/>
          </a:xfrm>
        </p:spPr>
        <p:txBody>
          <a:bodyPr/>
          <a:lstStyle/>
          <a:p>
            <a:endParaRPr lang="en-US" altLang="ko-KR" sz="2200" dirty="0"/>
          </a:p>
          <a:p>
            <a:endParaRPr lang="en-US" altLang="ko-KR" sz="2200" dirty="0"/>
          </a:p>
          <a:p>
            <a:endParaRPr lang="en-US" altLang="ko-KR" sz="2200" dirty="0"/>
          </a:p>
          <a:p>
            <a:pPr marL="0" indent="0">
              <a:buNone/>
            </a:pPr>
            <a:endParaRPr lang="en-US" altLang="ko-KR" sz="2200" dirty="0">
              <a:solidFill>
                <a:srgbClr val="FFFF00"/>
              </a:solidFill>
            </a:endParaRPr>
          </a:p>
          <a:p>
            <a:r>
              <a:rPr lang="en-US" altLang="ko-KR" sz="2200" dirty="0">
                <a:solidFill>
                  <a:srgbClr val="FFFF00"/>
                </a:solidFill>
              </a:rPr>
              <a:t>Fork </a:t>
            </a:r>
            <a:r>
              <a:rPr lang="ko-KR" altLang="en-US" sz="2200" dirty="0">
                <a:solidFill>
                  <a:srgbClr val="FFFF00"/>
                </a:solidFill>
              </a:rPr>
              <a:t>함수호출 이후 하나의 소켓에 두 개의 </a:t>
            </a:r>
            <a:endParaRPr lang="en-US" altLang="ko-KR" sz="22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00"/>
                </a:solidFill>
              </a:rPr>
              <a:t>   </a:t>
            </a:r>
            <a:r>
              <a:rPr lang="ko-KR" altLang="en-US" sz="2200" dirty="0">
                <a:solidFill>
                  <a:srgbClr val="FFFF00"/>
                </a:solidFill>
              </a:rPr>
              <a:t>파일 </a:t>
            </a:r>
            <a:r>
              <a:rPr lang="ko-KR" altLang="en-US" sz="2200" dirty="0" err="1">
                <a:solidFill>
                  <a:srgbClr val="FFFF00"/>
                </a:solidFill>
              </a:rPr>
              <a:t>디스크립터가</a:t>
            </a:r>
            <a:r>
              <a:rPr lang="ko-KR" altLang="en-US" sz="2200" dirty="0">
                <a:solidFill>
                  <a:srgbClr val="FFFF00"/>
                </a:solidFill>
              </a:rPr>
              <a:t> 할당되는 모습</a:t>
            </a:r>
            <a:endParaRPr lang="en-US" altLang="ko-KR" sz="22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   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서로에게 상관이 없는 소켓의 파일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ko-KR" altLang="en-US" sz="2000" dirty="0" err="1"/>
              <a:t>디스크립터를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닫아줘야함</a:t>
            </a:r>
            <a:r>
              <a:rPr lang="en-US" altLang="ko-KR" sz="2000" dirty="0"/>
              <a:t>.</a:t>
            </a:r>
          </a:p>
          <a:p>
            <a:endParaRPr lang="ko-KR" altLang="en-US" dirty="0"/>
          </a:p>
        </p:txBody>
      </p:sp>
      <p:pic>
        <p:nvPicPr>
          <p:cNvPr id="1026" name="Picture 2" descr="fork í¨ìí¸ì¶ ì´í íëì ìì¼ì ë ê°ì íì¼ ëì¤í¬ë¦½í°ê° í ë¹ëë ëª¨ìµì ëí ì´ë¯¸ì§ ê²ìê²°ê³¼">
            <a:extLst>
              <a:ext uri="{FF2B5EF4-FFF2-40B4-BE49-F238E27FC236}">
                <a16:creationId xmlns:a16="http://schemas.microsoft.com/office/drawing/2014/main" id="{7F419580-A29B-4D75-BC63-EB6F5FEF7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107" y="1924537"/>
            <a:ext cx="4983839" cy="334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565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A2656-5077-46ED-9941-EEFB6944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938"/>
            <a:ext cx="10515600" cy="5598123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TCP</a:t>
            </a:r>
            <a:r>
              <a:rPr lang="ko-KR" altLang="en-US" sz="2400" dirty="0">
                <a:solidFill>
                  <a:srgbClr val="FFFF00"/>
                </a:solidFill>
              </a:rPr>
              <a:t>의 입출력 루틴 분할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 기존 방식은 </a:t>
            </a:r>
            <a:r>
              <a:rPr lang="en-US" altLang="ko-KR" sz="2000" dirty="0"/>
              <a:t>read</a:t>
            </a:r>
            <a:r>
              <a:rPr lang="ko-KR" altLang="en-US" sz="2000" dirty="0"/>
              <a:t>와 </a:t>
            </a:r>
            <a:r>
              <a:rPr lang="en-US" altLang="ko-KR" sz="2000" dirty="0"/>
              <a:t>write</a:t>
            </a:r>
            <a:r>
              <a:rPr lang="ko-KR" altLang="en-US" sz="2000" dirty="0"/>
              <a:t>를 반복하는 구조였기에 데이터를 전송하면 에코 되어 돌아오는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데이터를 수신할 때까지 기다려야 </a:t>
            </a:r>
            <a:r>
              <a:rPr lang="ko-KR" altLang="en-US" sz="2000" dirty="0" err="1"/>
              <a:t>했었지만</a:t>
            </a:r>
            <a:r>
              <a:rPr lang="en-US" altLang="ko-KR" sz="2000" dirty="0"/>
              <a:t>,</a:t>
            </a:r>
            <a:r>
              <a:rPr lang="ko-KR" altLang="en-US" sz="2000" dirty="0"/>
              <a:t> 둘 이상의 프로세스를 생성한 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부모 프로세스가 데이터의 수신을 담당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자식 프로세스는 데이터의 송신을 담당</a:t>
            </a:r>
            <a:r>
              <a:rPr lang="ko-KR" altLang="en-US" sz="2000" dirty="0"/>
              <a:t>하면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입력과 출력을 담당하는 프로세스가 각각 다르기 때문에 서버로부터의 </a:t>
            </a:r>
            <a:r>
              <a:rPr lang="ko-KR" altLang="en-US" sz="2000" dirty="0">
                <a:solidFill>
                  <a:srgbClr val="FFFF00"/>
                </a:solidFill>
              </a:rPr>
              <a:t>데이터 수신여부에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상관없이 데이터를 전송할 수 있게 됨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pic>
        <p:nvPicPr>
          <p:cNvPr id="2050" name="Picture 2" descr="TCPì ìì¶ë ¥ ë£¨í´ ë¶í ì ëí ì´ë¯¸ì§ ê²ìê²°ê³¼">
            <a:extLst>
              <a:ext uri="{FF2B5EF4-FFF2-40B4-BE49-F238E27FC236}">
                <a16:creationId xmlns:a16="http://schemas.microsoft.com/office/drawing/2014/main" id="{55710720-D1AF-4307-808D-8DB428B2D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314" y="3209947"/>
            <a:ext cx="56007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75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8333E-6A10-4879-8F12-AD3FD2D27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4675"/>
            <a:ext cx="10515600" cy="5472288"/>
          </a:xfrm>
        </p:spPr>
        <p:txBody>
          <a:bodyPr/>
          <a:lstStyle/>
          <a:p>
            <a:r>
              <a:rPr lang="ko-KR" altLang="en-US" sz="2400" dirty="0">
                <a:solidFill>
                  <a:srgbClr val="FFFF00"/>
                </a:solidFill>
              </a:rPr>
              <a:t>프로세스간 통신의 기본 개념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>
                <a:solidFill>
                  <a:srgbClr val="FFFF00"/>
                </a:solidFill>
              </a:rPr>
              <a:t>파이프 기반의 프로세스간 통신 </a:t>
            </a:r>
            <a:r>
              <a:rPr lang="en-US" altLang="ko-KR" sz="2000" dirty="0">
                <a:solidFill>
                  <a:srgbClr val="FFFF00"/>
                </a:solidFill>
              </a:rPr>
              <a:t> (</a:t>
            </a:r>
            <a:r>
              <a:rPr lang="ko-KR" altLang="en-US" sz="2000" dirty="0">
                <a:solidFill>
                  <a:srgbClr val="FFFF00"/>
                </a:solidFill>
              </a:rPr>
              <a:t>하나의 파이프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  <a:endParaRPr lang="ko-KR" altLang="en-US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    파이프 </a:t>
            </a:r>
            <a:r>
              <a:rPr lang="en-US" altLang="ko-KR" sz="2000" dirty="0"/>
              <a:t>- </a:t>
            </a:r>
            <a:r>
              <a:rPr lang="ko-KR" altLang="en-US" sz="2000" dirty="0"/>
              <a:t>소켓과 마찬가지로 운영체제에 속하는 자원</a:t>
            </a:r>
          </a:p>
          <a:p>
            <a:pPr marL="0" indent="0">
              <a:buNone/>
            </a:pPr>
            <a:r>
              <a:rPr lang="ko-KR" altLang="en-US" sz="2000" dirty="0"/>
              <a:t>    파이프로 </a:t>
            </a:r>
            <a:r>
              <a:rPr lang="ko-KR" altLang="en-US" sz="2000" dirty="0" err="1"/>
              <a:t>부터</a:t>
            </a:r>
            <a:r>
              <a:rPr lang="ko-KR" altLang="en-US" sz="2000" dirty="0"/>
              <a:t> 데이터를 수신</a:t>
            </a:r>
            <a:r>
              <a:rPr lang="en-US" altLang="ko-KR" sz="2000" dirty="0"/>
              <a:t>, </a:t>
            </a:r>
            <a:r>
              <a:rPr lang="ko-KR" altLang="en-US" sz="2000" dirty="0"/>
              <a:t>송신하는데 사용되는 파일 </a:t>
            </a:r>
            <a:r>
              <a:rPr lang="ko-KR" altLang="en-US" sz="2000" dirty="0" err="1"/>
              <a:t>디스크립터</a:t>
            </a:r>
            <a:r>
              <a:rPr lang="ko-KR" altLang="en-US" sz="2000" dirty="0"/>
              <a:t>  활용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부모</a:t>
            </a:r>
            <a:r>
              <a:rPr lang="en-US" altLang="ko-KR" sz="2000" dirty="0"/>
              <a:t>,</a:t>
            </a:r>
            <a:r>
              <a:rPr lang="ko-KR" altLang="en-US" sz="2000" dirty="0"/>
              <a:t>자식 프로세스 모두 파이프의 입출력 경로에 접근 가능하지만</a:t>
            </a:r>
            <a:r>
              <a:rPr lang="en-US" altLang="ko-KR" sz="2000" dirty="0"/>
              <a:t>,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00"/>
                </a:solidFill>
              </a:rPr>
              <a:t>    자식은 입력 경로에만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부모는 출력 경로에만 접근해서 통신함</a:t>
            </a:r>
            <a:r>
              <a:rPr lang="en-US" altLang="ko-KR" sz="2000" dirty="0">
                <a:solidFill>
                  <a:srgbClr val="FFFF00"/>
                </a:solidFill>
              </a:rPr>
              <a:t>.</a:t>
            </a:r>
            <a:endParaRPr lang="ko-KR" altLang="en-US" sz="2000" dirty="0">
              <a:solidFill>
                <a:srgbClr val="FFFF00"/>
              </a:solidFill>
            </a:endParaRPr>
          </a:p>
        </p:txBody>
      </p:sp>
      <p:pic>
        <p:nvPicPr>
          <p:cNvPr id="3076" name="Picture 4" descr="íì´í ê¸°ë°ì íë¡ì¸ì¤ê° íµì ì ëí ì´ë¯¸ì§ ê²ìê²°ê³¼">
            <a:extLst>
              <a:ext uri="{FF2B5EF4-FFF2-40B4-BE49-F238E27FC236}">
                <a16:creationId xmlns:a16="http://schemas.microsoft.com/office/drawing/2014/main" id="{238F59B6-F527-453A-98CF-DBD1D3657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352" y="3286387"/>
            <a:ext cx="5031045" cy="299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98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66AD4-2A1F-433F-B03C-FF995F06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3064"/>
            <a:ext cx="10515600" cy="5463899"/>
          </a:xfrm>
        </p:spPr>
        <p:txBody>
          <a:bodyPr/>
          <a:lstStyle/>
          <a:p>
            <a:endParaRPr lang="ko-KR" altLang="en-US" dirty="0"/>
          </a:p>
          <a:p>
            <a:r>
              <a:rPr lang="en-US" altLang="ko-KR" sz="2400" dirty="0">
                <a:solidFill>
                  <a:srgbClr val="FFFF00"/>
                </a:solidFill>
              </a:rPr>
              <a:t>2. </a:t>
            </a:r>
            <a:r>
              <a:rPr lang="ko-KR" altLang="en-US" sz="2400" dirty="0">
                <a:solidFill>
                  <a:srgbClr val="FFFF00"/>
                </a:solidFill>
              </a:rPr>
              <a:t>파이프 기반의 프로세스간 양방향 통신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sz="2000" dirty="0"/>
              <a:t>두 개의 파이프를 활용해서 양방향 통신을 함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4100" name="Picture 4" descr="íì´í ê¸°ë°ì íë¡ì¸ì¤ê° ìë°©í¥ íµì ì ëí ì´ë¯¸ì§ ê²ìê²°ê³¼">
            <a:extLst>
              <a:ext uri="{FF2B5EF4-FFF2-40B4-BE49-F238E27FC236}">
                <a16:creationId xmlns:a16="http://schemas.microsoft.com/office/drawing/2014/main" id="{5D15D865-72D1-4497-965B-E84C9CCBE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573" y="2260820"/>
            <a:ext cx="5540798" cy="379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00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CC5A2-F26D-4DF8-863F-9F150667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6449"/>
            <a:ext cx="10515600" cy="5430514"/>
          </a:xfrm>
        </p:spPr>
        <p:txBody>
          <a:bodyPr/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IO </a:t>
            </a:r>
            <a:r>
              <a:rPr lang="ko-KR" altLang="en-US" sz="2400" dirty="0" err="1">
                <a:solidFill>
                  <a:srgbClr val="FFFF00"/>
                </a:solidFill>
              </a:rPr>
              <a:t>멀티플렉싱</a:t>
            </a:r>
            <a:r>
              <a:rPr lang="ko-KR" altLang="en-US" sz="2400" dirty="0">
                <a:solidFill>
                  <a:srgbClr val="FFFF00"/>
                </a:solidFill>
              </a:rPr>
              <a:t> 기반의 서버</a:t>
            </a:r>
            <a:endParaRPr lang="ko-KR" altLang="en-US" dirty="0">
              <a:solidFill>
                <a:srgbClr val="FFFF00"/>
              </a:solidFill>
            </a:endParaRPr>
          </a:p>
          <a:p>
            <a:r>
              <a:rPr lang="ko-KR" altLang="en-US" sz="2000" dirty="0"/>
              <a:t>멀티프로세스 서버의 단점과 대안 </a:t>
            </a:r>
          </a:p>
          <a:p>
            <a:endParaRPr lang="en-US" altLang="ko-KR" sz="2000" dirty="0"/>
          </a:p>
          <a:p>
            <a:r>
              <a:rPr lang="ko-KR" altLang="en-US" sz="2000" dirty="0"/>
              <a:t>단점 </a:t>
            </a:r>
            <a:r>
              <a:rPr lang="en-US" altLang="ko-KR" sz="2000" dirty="0"/>
              <a:t>: </a:t>
            </a:r>
            <a:r>
              <a:rPr lang="ko-KR" altLang="en-US" sz="2000" dirty="0"/>
              <a:t>다중접속 서버의 구현을 위해서 클라이언트의 연결요청이 있을 때마다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새로운 프로세스를 생성하였는데 이는 많은 양의 연산이 요구되며</a:t>
            </a:r>
            <a:r>
              <a:rPr lang="en-US" altLang="ko-KR" sz="2000" dirty="0"/>
              <a:t>,</a:t>
            </a:r>
          </a:p>
          <a:p>
            <a:pPr marL="0" indent="0">
              <a:buNone/>
            </a:pPr>
            <a:r>
              <a:rPr lang="ko-KR" altLang="en-US" sz="2000" dirty="0"/>
              <a:t>    필요한 메모리 공간도 비교적 </a:t>
            </a:r>
            <a:r>
              <a:rPr lang="ko-KR" altLang="en-US" sz="2000" dirty="0" err="1"/>
              <a:t>큰편이라는</a:t>
            </a:r>
            <a:r>
              <a:rPr lang="ko-KR" altLang="en-US" sz="2000" dirty="0"/>
              <a:t> 단점을 갖고 있음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대안 </a:t>
            </a:r>
            <a:r>
              <a:rPr lang="en-US" altLang="ko-KR" sz="2000" dirty="0"/>
              <a:t>: IO </a:t>
            </a:r>
            <a:r>
              <a:rPr lang="ko-KR" altLang="en-US" sz="2000" dirty="0" err="1"/>
              <a:t>멀티플렉싱을</a:t>
            </a:r>
            <a:r>
              <a:rPr lang="ko-KR" altLang="en-US" sz="2000" dirty="0"/>
              <a:t> 사용하면 됨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7024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D0C814-7845-48B1-8E5D-C17C96CB9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5952"/>
            <a:ext cx="10515600" cy="5531011"/>
          </a:xfrm>
        </p:spPr>
        <p:txBody>
          <a:bodyPr/>
          <a:lstStyle/>
          <a:p>
            <a:r>
              <a:rPr lang="en-US" altLang="ko-KR" sz="2400" dirty="0">
                <a:solidFill>
                  <a:srgbClr val="FFFF00"/>
                </a:solidFill>
              </a:rPr>
              <a:t>IO </a:t>
            </a:r>
            <a:r>
              <a:rPr lang="ko-KR" altLang="en-US" sz="2400" dirty="0" err="1">
                <a:solidFill>
                  <a:srgbClr val="FFFF00"/>
                </a:solidFill>
              </a:rPr>
              <a:t>멀티플렉싱</a:t>
            </a:r>
            <a:r>
              <a:rPr lang="ko-KR" altLang="en-US" sz="2400" dirty="0">
                <a:solidFill>
                  <a:srgbClr val="FFFF00"/>
                </a:solidFill>
              </a:rPr>
              <a:t>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en-US" altLang="ko-KR" sz="2000" dirty="0"/>
              <a:t> </a:t>
            </a:r>
            <a:r>
              <a:rPr lang="ko-KR" altLang="en-US" sz="2000" dirty="0"/>
              <a:t>하나의 통신채널을 통해서 둘 이상의 데이터를 전송하는데 사용되는 기술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sz="2000" dirty="0"/>
              <a:t>물리적 장치의 </a:t>
            </a:r>
            <a:r>
              <a:rPr lang="ko-KR" altLang="en-US" sz="2000" dirty="0" err="1"/>
              <a:t>효울성을</a:t>
            </a:r>
            <a:r>
              <a:rPr lang="ko-KR" altLang="en-US" sz="2000" dirty="0"/>
              <a:t> 높이기 위해서 최소한의 물리적인 요소만 사용해서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 최대한의 데이터를 전달하기 위해 사용되는 기술</a:t>
            </a:r>
          </a:p>
          <a:p>
            <a:endParaRPr lang="ko-KR" altLang="en-US" sz="2000" dirty="0"/>
          </a:p>
          <a:p>
            <a:r>
              <a:rPr lang="ko-KR" altLang="en-US" sz="2000" dirty="0"/>
              <a:t>장점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1.</a:t>
            </a:r>
            <a:r>
              <a:rPr lang="ko-KR" altLang="en-US" sz="2000" dirty="0"/>
              <a:t> 필요한 프로세스의 수를 줄임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/>
              <a:t>2. </a:t>
            </a:r>
            <a:r>
              <a:rPr lang="ko-KR" altLang="en-US" sz="2000" dirty="0"/>
              <a:t>클라이언트의 수에 상관없이 서비스를 제공하는 프로세스의 수는 딱 하나라는 점</a:t>
            </a:r>
          </a:p>
        </p:txBody>
      </p:sp>
      <p:pic>
        <p:nvPicPr>
          <p:cNvPr id="5124" name="Picture 4" descr="IO ë©í°íë ì±ì ëí ì´ë¯¸ì§ ê²ìê²°ê³¼">
            <a:extLst>
              <a:ext uri="{FF2B5EF4-FFF2-40B4-BE49-F238E27FC236}">
                <a16:creationId xmlns:a16="http://schemas.microsoft.com/office/drawing/2014/main" id="{186A9D10-0E19-4CEC-B353-73D97AF23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195"/>
          <a:stretch/>
        </p:blipFill>
        <p:spPr bwMode="auto">
          <a:xfrm>
            <a:off x="5718341" y="4155767"/>
            <a:ext cx="3232052" cy="195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O ë©í°íë ì±ì ëí ì´ë¯¸ì§ ê²ìê²°ê³¼">
            <a:extLst>
              <a:ext uri="{FF2B5EF4-FFF2-40B4-BE49-F238E27FC236}">
                <a16:creationId xmlns:a16="http://schemas.microsoft.com/office/drawing/2014/main" id="{9DA96D0C-1078-4C95-A1FA-F369DD26A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00"/>
          <a:stretch/>
        </p:blipFill>
        <p:spPr bwMode="auto">
          <a:xfrm>
            <a:off x="1182149" y="4155768"/>
            <a:ext cx="3164633" cy="195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AB5973-43C0-4FAE-ABEA-6E698975B030}"/>
              </a:ext>
            </a:extLst>
          </p:cNvPr>
          <p:cNvSpPr txBox="1"/>
          <p:nvPr/>
        </p:nvSpPr>
        <p:spPr>
          <a:xfrm>
            <a:off x="1477746" y="6212048"/>
            <a:ext cx="286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멀티 프로세스 서버 모델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64281-8728-4804-9A90-9F8E323477EA}"/>
              </a:ext>
            </a:extLst>
          </p:cNvPr>
          <p:cNvSpPr txBox="1"/>
          <p:nvPr/>
        </p:nvSpPr>
        <p:spPr>
          <a:xfrm>
            <a:off x="5983739" y="6259767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멀티플렉싱</a:t>
            </a:r>
            <a:r>
              <a:rPr lang="ko-KR" altLang="en-US" dirty="0"/>
              <a:t> 서버 모델</a:t>
            </a:r>
          </a:p>
        </p:txBody>
      </p:sp>
    </p:spTree>
    <p:extLst>
      <p:ext uri="{BB962C8B-B14F-4D97-AF65-F5344CB8AC3E}">
        <p14:creationId xmlns:p14="http://schemas.microsoft.com/office/powerpoint/2010/main" val="4162236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FA424-40D1-4EE0-95FF-F7F38CF46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006"/>
            <a:ext cx="10515600" cy="5830349"/>
          </a:xfrm>
        </p:spPr>
        <p:txBody>
          <a:bodyPr/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select </a:t>
            </a:r>
            <a:r>
              <a:rPr lang="ko-KR" altLang="en-US" sz="2400" dirty="0">
                <a:solidFill>
                  <a:srgbClr val="FFFF00"/>
                </a:solidFill>
              </a:rPr>
              <a:t>함수의 이해와 서버의 구현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   select </a:t>
            </a:r>
            <a:r>
              <a:rPr lang="ko-KR" altLang="en-US" sz="2000" dirty="0">
                <a:solidFill>
                  <a:srgbClr val="FFFF00"/>
                </a:solidFill>
              </a:rPr>
              <a:t>함수를 </a:t>
            </a:r>
            <a:r>
              <a:rPr lang="ko-KR" altLang="en-US" sz="2000" dirty="0"/>
              <a:t>사용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ko-KR" altLang="en-US" sz="2000" dirty="0"/>
              <a:t>한곳에 여러 개의 파일 </a:t>
            </a:r>
            <a:r>
              <a:rPr lang="ko-KR" altLang="en-US" sz="2000" dirty="0" err="1"/>
              <a:t>디스크립터를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모아놓고</a:t>
            </a:r>
            <a:r>
              <a:rPr lang="ko-KR" altLang="en-US" sz="2000" dirty="0"/>
              <a:t> 동시에 이들을 관찰할 수 있음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>
                <a:solidFill>
                  <a:srgbClr val="FFFF00"/>
                </a:solidFill>
              </a:rPr>
              <a:t>관찰할 수 있는 항목</a:t>
            </a:r>
          </a:p>
          <a:p>
            <a:pPr marL="0" indent="0">
              <a:buNone/>
            </a:pPr>
            <a:r>
              <a:rPr lang="en-US" altLang="ko-KR" sz="2000" dirty="0"/>
              <a:t>    1. </a:t>
            </a:r>
            <a:r>
              <a:rPr lang="ko-KR" altLang="en-US" sz="2000" dirty="0"/>
              <a:t>수신한 데이터를 지니고 있는 소켓이 존재하는가</a:t>
            </a:r>
            <a:r>
              <a:rPr lang="en-US" altLang="ko-KR" sz="2000" dirty="0"/>
              <a:t>?</a:t>
            </a:r>
          </a:p>
          <a:p>
            <a:pPr marL="0" indent="0">
              <a:buNone/>
            </a:pPr>
            <a:r>
              <a:rPr lang="en-US" altLang="ko-KR" sz="2000" dirty="0"/>
              <a:t>    2. </a:t>
            </a:r>
            <a:r>
              <a:rPr lang="ko-KR" altLang="en-US" sz="2000" dirty="0" err="1"/>
              <a:t>블로킹되지</a:t>
            </a:r>
            <a:r>
              <a:rPr lang="ko-KR" altLang="en-US" sz="2000" dirty="0"/>
              <a:t> 않고 데이터의 전송이 가능한 소켓은 무엇인가 </a:t>
            </a:r>
            <a:r>
              <a:rPr lang="en-US" altLang="ko-KR" sz="2000" dirty="0"/>
              <a:t>?</a:t>
            </a:r>
          </a:p>
          <a:p>
            <a:pPr marL="0" indent="0">
              <a:buNone/>
            </a:pPr>
            <a:r>
              <a:rPr lang="en-US" altLang="ko-KR" sz="2000" dirty="0"/>
              <a:t>    3. </a:t>
            </a:r>
            <a:r>
              <a:rPr lang="ko-KR" altLang="en-US" sz="2000" dirty="0"/>
              <a:t>예외상황이 발생한 소켓은 무엇인가 </a:t>
            </a:r>
            <a:r>
              <a:rPr lang="en-US" altLang="ko-KR" sz="2000" dirty="0"/>
              <a:t>?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       </a:t>
            </a:r>
          </a:p>
          <a:p>
            <a:pPr marL="0" indent="0">
              <a:buNone/>
            </a:pPr>
            <a:r>
              <a:rPr lang="en-US" altLang="ko-KR" sz="2000" dirty="0"/>
              <a:t>                              				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					         select </a:t>
            </a:r>
            <a:r>
              <a:rPr lang="ko-KR" altLang="en-US" sz="2000" dirty="0">
                <a:solidFill>
                  <a:srgbClr val="FFFF00"/>
                </a:solidFill>
              </a:rPr>
              <a:t>함수 호출 과정</a:t>
            </a:r>
          </a:p>
        </p:txBody>
      </p:sp>
      <p:pic>
        <p:nvPicPr>
          <p:cNvPr id="6146" name="Picture 2" descr="select í¨ì í¸ì¶ ê³¼ì ì ëí ì´ë¯¸ì§ ê²ìê²°ê³¼">
            <a:extLst>
              <a:ext uri="{FF2B5EF4-FFF2-40B4-BE49-F238E27FC236}">
                <a16:creationId xmlns:a16="http://schemas.microsoft.com/office/drawing/2014/main" id="{8956227B-999D-4666-A58A-D7AE5CB9AB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13"/>
          <a:stretch/>
        </p:blipFill>
        <p:spPr bwMode="auto">
          <a:xfrm>
            <a:off x="8423595" y="2784248"/>
            <a:ext cx="2540816" cy="360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7247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C639DF-D7DD-401E-8BFF-306115AEE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506"/>
            <a:ext cx="10515600" cy="6115575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파일 </a:t>
            </a:r>
            <a:r>
              <a:rPr lang="ko-KR" altLang="en-US" sz="2400" dirty="0" err="1">
                <a:solidFill>
                  <a:srgbClr val="FFFF00"/>
                </a:solidFill>
              </a:rPr>
              <a:t>디스크립터</a:t>
            </a:r>
            <a:r>
              <a:rPr lang="ko-KR" altLang="en-US" sz="2400" dirty="0">
                <a:solidFill>
                  <a:srgbClr val="FFFF00"/>
                </a:solidFill>
              </a:rPr>
              <a:t> 설정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000" dirty="0"/>
              <a:t>파일 </a:t>
            </a:r>
            <a:r>
              <a:rPr lang="ko-KR" altLang="en-US" sz="2000" dirty="0" err="1"/>
              <a:t>디스크립터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fd_set</a:t>
            </a:r>
            <a:r>
              <a:rPr lang="ko-KR" altLang="en-US" sz="2000" dirty="0"/>
              <a:t>형 변수</a:t>
            </a:r>
            <a:r>
              <a:rPr lang="en-US" altLang="ko-KR" sz="2000" dirty="0"/>
              <a:t>)</a:t>
            </a:r>
            <a:r>
              <a:rPr lang="ko-KR" altLang="en-US" sz="2000" dirty="0"/>
              <a:t>에 값을 등록하거나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변경하는 등의 작업은</a:t>
            </a:r>
            <a:r>
              <a:rPr lang="en-US" altLang="ko-KR" sz="2000" dirty="0"/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매크로함수를 이용함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FD_ZERO(</a:t>
            </a:r>
            <a:r>
              <a:rPr lang="en-US" altLang="ko-KR" sz="2000" dirty="0" err="1">
                <a:solidFill>
                  <a:srgbClr val="FFFF00"/>
                </a:solidFill>
              </a:rPr>
              <a:t>fd_set</a:t>
            </a:r>
            <a:r>
              <a:rPr lang="en-US" altLang="ko-KR" sz="2000" dirty="0">
                <a:solidFill>
                  <a:srgbClr val="FFFF00"/>
                </a:solidFill>
              </a:rPr>
              <a:t> * </a:t>
            </a:r>
            <a:r>
              <a:rPr lang="en-US" altLang="ko-KR" sz="2000" dirty="0" err="1">
                <a:solidFill>
                  <a:srgbClr val="FFFF00"/>
                </a:solidFill>
              </a:rPr>
              <a:t>fdset</a:t>
            </a:r>
            <a:r>
              <a:rPr lang="en-US" altLang="ko-KR" sz="2000" dirty="0">
                <a:solidFill>
                  <a:srgbClr val="FFFF00"/>
                </a:solidFill>
              </a:rPr>
              <a:t>) </a:t>
            </a:r>
          </a:p>
          <a:p>
            <a:pPr marL="0" indent="0">
              <a:buNone/>
            </a:pPr>
            <a:r>
              <a:rPr lang="ko-KR" altLang="en-US" sz="2000" dirty="0"/>
              <a:t>    모든 비트를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초기화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FD_SET(int </a:t>
            </a:r>
            <a:r>
              <a:rPr lang="en-US" altLang="ko-KR" sz="2000" dirty="0" err="1">
                <a:solidFill>
                  <a:srgbClr val="FFFF00"/>
                </a:solidFill>
              </a:rPr>
              <a:t>fd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en-US" altLang="ko-KR" sz="2000" dirty="0" err="1">
                <a:solidFill>
                  <a:srgbClr val="FFFF00"/>
                </a:solidFill>
              </a:rPr>
              <a:t>fd_set</a:t>
            </a:r>
            <a:r>
              <a:rPr lang="en-US" altLang="ko-KR" sz="2000" dirty="0">
                <a:solidFill>
                  <a:srgbClr val="FFFF00"/>
                </a:solidFill>
              </a:rPr>
              <a:t> *</a:t>
            </a:r>
            <a:r>
              <a:rPr lang="en-US" altLang="ko-KR" sz="2000" dirty="0" err="1">
                <a:solidFill>
                  <a:srgbClr val="FFFF00"/>
                </a:solidFill>
              </a:rPr>
              <a:t>fdset</a:t>
            </a:r>
            <a:r>
              <a:rPr lang="en-US" altLang="ko-KR" sz="2000" dirty="0">
                <a:solidFill>
                  <a:srgbClr val="FFFF00"/>
                </a:solidFill>
              </a:rPr>
              <a:t>) </a:t>
            </a:r>
          </a:p>
          <a:p>
            <a:pPr marL="0" indent="0">
              <a:buNone/>
            </a:pPr>
            <a:r>
              <a:rPr lang="ko-KR" altLang="en-US" sz="2000" dirty="0"/>
              <a:t>    매개변수 </a:t>
            </a:r>
            <a:r>
              <a:rPr lang="en-US" altLang="ko-KR" sz="2000" dirty="0" err="1"/>
              <a:t>fdset</a:t>
            </a:r>
            <a:r>
              <a:rPr lang="ko-KR" altLang="en-US" sz="2000" dirty="0"/>
              <a:t>으로 전달된 주소의 변수에 매개변수 </a:t>
            </a:r>
            <a:r>
              <a:rPr lang="en-US" altLang="ko-KR" sz="2000" dirty="0" err="1"/>
              <a:t>fd</a:t>
            </a:r>
            <a:r>
              <a:rPr lang="ko-KR" altLang="en-US" sz="2000" dirty="0"/>
              <a:t>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전달된 파일 </a:t>
            </a:r>
            <a:r>
              <a:rPr lang="ko-KR" altLang="en-US" sz="2000" dirty="0" err="1"/>
              <a:t>디스크립터</a:t>
            </a:r>
            <a:r>
              <a:rPr lang="ko-KR" altLang="en-US" sz="2000" dirty="0"/>
              <a:t> 정보를 등록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FD_CLR(int </a:t>
            </a:r>
            <a:r>
              <a:rPr lang="en-US" altLang="ko-KR" sz="2000" dirty="0" err="1">
                <a:solidFill>
                  <a:srgbClr val="FFFF00"/>
                </a:solidFill>
              </a:rPr>
              <a:t>fd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en-US" altLang="ko-KR" sz="2000" dirty="0" err="1">
                <a:solidFill>
                  <a:srgbClr val="FFFF00"/>
                </a:solidFill>
              </a:rPr>
              <a:t>fd_set</a:t>
            </a:r>
            <a:r>
              <a:rPr lang="en-US" altLang="ko-KR" sz="2000" dirty="0">
                <a:solidFill>
                  <a:srgbClr val="FFFF00"/>
                </a:solidFill>
              </a:rPr>
              <a:t> *</a:t>
            </a:r>
            <a:r>
              <a:rPr lang="en-US" altLang="ko-KR" sz="2000" dirty="0" err="1">
                <a:solidFill>
                  <a:srgbClr val="FFFF00"/>
                </a:solidFill>
              </a:rPr>
              <a:t>fdset</a:t>
            </a:r>
            <a:r>
              <a:rPr lang="en-US" altLang="ko-KR" sz="2000" dirty="0">
                <a:solidFill>
                  <a:srgbClr val="FFFF00"/>
                </a:solidFill>
              </a:rPr>
              <a:t>) </a:t>
            </a:r>
          </a:p>
          <a:p>
            <a:pPr marL="0" indent="0">
              <a:buNone/>
            </a:pPr>
            <a:r>
              <a:rPr lang="ko-KR" altLang="en-US" sz="2000" dirty="0"/>
              <a:t>    매개변수 </a:t>
            </a:r>
            <a:r>
              <a:rPr lang="en-US" altLang="ko-KR" sz="2000" dirty="0" err="1"/>
              <a:t>fdset</a:t>
            </a:r>
            <a:r>
              <a:rPr lang="ko-KR" altLang="en-US" sz="2000" dirty="0"/>
              <a:t>으로 전달된 주소의 변수에 매개변수 </a:t>
            </a:r>
            <a:r>
              <a:rPr lang="en-US" altLang="ko-KR" sz="2000" dirty="0" err="1"/>
              <a:t>fd</a:t>
            </a:r>
            <a:r>
              <a:rPr lang="ko-KR" altLang="en-US" sz="2000" dirty="0"/>
              <a:t>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전달된 파일 </a:t>
            </a:r>
            <a:r>
              <a:rPr lang="ko-KR" altLang="en-US" sz="2000" dirty="0" err="1"/>
              <a:t>디스크립터</a:t>
            </a:r>
            <a:r>
              <a:rPr lang="ko-KR" altLang="en-US" sz="2000" dirty="0"/>
              <a:t> 정보를 삭제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FD_ISSET(int </a:t>
            </a:r>
            <a:r>
              <a:rPr lang="en-US" altLang="ko-KR" sz="2000" dirty="0" err="1">
                <a:solidFill>
                  <a:srgbClr val="FFFF00"/>
                </a:solidFill>
              </a:rPr>
              <a:t>fd</a:t>
            </a:r>
            <a:r>
              <a:rPr lang="en-US" altLang="ko-KR" sz="2000" dirty="0">
                <a:solidFill>
                  <a:srgbClr val="FFFF00"/>
                </a:solidFill>
              </a:rPr>
              <a:t>, </a:t>
            </a:r>
            <a:r>
              <a:rPr lang="en-US" altLang="ko-KR" sz="2000" dirty="0" err="1">
                <a:solidFill>
                  <a:srgbClr val="FFFF00"/>
                </a:solidFill>
              </a:rPr>
              <a:t>fd_set</a:t>
            </a:r>
            <a:r>
              <a:rPr lang="en-US" altLang="ko-KR" sz="2000" dirty="0">
                <a:solidFill>
                  <a:srgbClr val="FFFF00"/>
                </a:solidFill>
              </a:rPr>
              <a:t> *</a:t>
            </a:r>
            <a:r>
              <a:rPr lang="en-US" altLang="ko-KR" sz="2000" dirty="0" err="1">
                <a:solidFill>
                  <a:srgbClr val="FFFF00"/>
                </a:solidFill>
              </a:rPr>
              <a:t>fdset</a:t>
            </a:r>
            <a:r>
              <a:rPr lang="en-US" altLang="ko-KR" sz="2000" dirty="0">
                <a:solidFill>
                  <a:srgbClr val="FFFF00"/>
                </a:solidFill>
              </a:rPr>
              <a:t>) </a:t>
            </a:r>
          </a:p>
          <a:p>
            <a:pPr marL="0" indent="0">
              <a:buNone/>
            </a:pPr>
            <a:r>
              <a:rPr lang="ko-KR" altLang="en-US" sz="2000" dirty="0"/>
              <a:t>    매개변수 </a:t>
            </a:r>
            <a:r>
              <a:rPr lang="en-US" altLang="ko-KR" sz="2000" dirty="0" err="1"/>
              <a:t>fdset</a:t>
            </a:r>
            <a:r>
              <a:rPr lang="ko-KR" altLang="en-US" sz="2000" dirty="0"/>
              <a:t>으로 전달된 주소의 변수에 매개변수 </a:t>
            </a:r>
            <a:r>
              <a:rPr lang="en-US" altLang="ko-KR" sz="2000" dirty="0" err="1"/>
              <a:t>fd</a:t>
            </a:r>
            <a:r>
              <a:rPr lang="ko-KR" altLang="en-US" sz="2000" dirty="0"/>
              <a:t>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전달된 파일 </a:t>
            </a:r>
            <a:r>
              <a:rPr lang="ko-KR" altLang="en-US" sz="2000" dirty="0" err="1"/>
              <a:t>디스크립터</a:t>
            </a:r>
            <a:r>
              <a:rPr lang="ko-KR" altLang="en-US" sz="2000" dirty="0"/>
              <a:t> 정보가 있으면 양수를 반환</a:t>
            </a:r>
          </a:p>
          <a:p>
            <a:endParaRPr lang="ko-KR" altLang="en-US" dirty="0"/>
          </a:p>
        </p:txBody>
      </p:sp>
      <p:pic>
        <p:nvPicPr>
          <p:cNvPr id="7170" name="Picture 2" descr="fdset ê´ë ¨ í¨ìì ê¸°ë¥ì ëí ì´ë¯¸ì§ ê²ìê²°ê³¼">
            <a:extLst>
              <a:ext uri="{FF2B5EF4-FFF2-40B4-BE49-F238E27FC236}">
                <a16:creationId xmlns:a16="http://schemas.microsoft.com/office/drawing/2014/main" id="{3A30F4AB-2F71-4047-83D2-2207F0EC5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300" y="2290194"/>
            <a:ext cx="4574626" cy="43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54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3BC86-04AE-4909-9342-2FE5A5AC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563"/>
            <a:ext cx="10515600" cy="5539400"/>
          </a:xfrm>
        </p:spPr>
        <p:txBody>
          <a:bodyPr/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관찰의 범위지정과 타임아웃의 설정</a:t>
            </a:r>
          </a:p>
          <a:p>
            <a:pPr marL="0" indent="0">
              <a:buNone/>
            </a:pPr>
            <a:r>
              <a:rPr lang="en-US" altLang="ko-KR" sz="2000" dirty="0"/>
              <a:t>    1. </a:t>
            </a:r>
            <a:r>
              <a:rPr lang="ko-KR" altLang="en-US" sz="2000" dirty="0"/>
              <a:t>파일 </a:t>
            </a:r>
            <a:r>
              <a:rPr lang="ko-KR" altLang="en-US" sz="2000" dirty="0" err="1"/>
              <a:t>디스크립터의</a:t>
            </a:r>
            <a:r>
              <a:rPr lang="ko-KR" altLang="en-US" sz="2000" dirty="0"/>
              <a:t> 관찰 범위는 </a:t>
            </a:r>
            <a:r>
              <a:rPr lang="en-US" altLang="ko-KR" sz="2000" dirty="0"/>
              <a:t>select </a:t>
            </a:r>
            <a:r>
              <a:rPr lang="ko-KR" altLang="en-US" sz="2000" dirty="0"/>
              <a:t>함수의 첫 번째 매개변수와 관련</a:t>
            </a:r>
          </a:p>
          <a:p>
            <a:pPr marL="0" indent="0">
              <a:buNone/>
            </a:pPr>
            <a:r>
              <a:rPr lang="en-US" altLang="ko-KR" sz="2000" dirty="0"/>
              <a:t>    2. select </a:t>
            </a:r>
            <a:r>
              <a:rPr lang="ko-KR" altLang="en-US" sz="2000" dirty="0"/>
              <a:t>함수는 관찰중인 파일 </a:t>
            </a:r>
            <a:r>
              <a:rPr lang="ko-KR" altLang="en-US" sz="2000" dirty="0" err="1"/>
              <a:t>디스크립터에</a:t>
            </a:r>
            <a:r>
              <a:rPr lang="ko-KR" altLang="en-US" sz="2000" dirty="0"/>
              <a:t> 변화가 생겨야 반환을 하는데 변화가 생기지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ko-KR" altLang="en-US" sz="2000" dirty="0"/>
              <a:t>않을 경우 무한정 블로킹 상태에 머물게 되는데 이를 방지하기 위해 타임아웃을 지정함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  send &amp; </a:t>
            </a:r>
            <a:r>
              <a:rPr lang="en-US" altLang="ko-KR" sz="2400" dirty="0" err="1">
                <a:solidFill>
                  <a:srgbClr val="FFFF00"/>
                </a:solidFill>
              </a:rPr>
              <a:t>recv</a:t>
            </a:r>
            <a:r>
              <a:rPr lang="en-US" altLang="ko-KR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>
                <a:solidFill>
                  <a:srgbClr val="FFFF00"/>
                </a:solidFill>
              </a:rPr>
              <a:t>입출력 함수</a:t>
            </a:r>
          </a:p>
          <a:p>
            <a:pPr marL="0" indent="0">
              <a:buNone/>
            </a:pPr>
            <a:r>
              <a:rPr lang="en-US" altLang="ko-KR" sz="2000" dirty="0"/>
              <a:t>    send </a:t>
            </a:r>
            <a:r>
              <a:rPr lang="ko-KR" altLang="en-US" sz="2000" dirty="0"/>
              <a:t>함수와 </a:t>
            </a:r>
            <a:r>
              <a:rPr lang="en-US" altLang="ko-KR" sz="2000" dirty="0" err="1"/>
              <a:t>recv</a:t>
            </a:r>
            <a:r>
              <a:rPr lang="en-US" altLang="ko-KR" sz="2000" dirty="0"/>
              <a:t> </a:t>
            </a:r>
            <a:r>
              <a:rPr lang="ko-KR" altLang="en-US" sz="2000" dirty="0"/>
              <a:t>함수의 마지막 매개변수에는 데이터 송수신시 적용할 옵션정보가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전달되지만 옵션 정보는 비트 </a:t>
            </a:r>
            <a:r>
              <a:rPr lang="en-US" altLang="ko-KR" sz="2000" dirty="0"/>
              <a:t>OR </a:t>
            </a:r>
            <a:r>
              <a:rPr lang="ko-KR" altLang="en-US" sz="2000" dirty="0"/>
              <a:t>연산자를 이용해서 둘 이상을 함께 전달 가능</a:t>
            </a:r>
          </a:p>
        </p:txBody>
      </p:sp>
    </p:spTree>
    <p:extLst>
      <p:ext uri="{BB962C8B-B14F-4D97-AF65-F5344CB8AC3E}">
        <p14:creationId xmlns:p14="http://schemas.microsoft.com/office/powerpoint/2010/main" val="1504199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5683A1-137D-4EE5-A4AB-AA3439F59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5618"/>
            <a:ext cx="10515600" cy="5581345"/>
          </a:xfrm>
        </p:spPr>
        <p:txBody>
          <a:bodyPr/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옵션  </a:t>
            </a:r>
            <a:r>
              <a:rPr lang="en-US" altLang="ko-KR" sz="2400" dirty="0">
                <a:solidFill>
                  <a:srgbClr val="FFFF00"/>
                </a:solidFill>
              </a:rPr>
              <a:t>/   </a:t>
            </a:r>
            <a:r>
              <a:rPr lang="ko-KR" altLang="en-US" sz="2400" dirty="0">
                <a:solidFill>
                  <a:srgbClr val="FFFF00"/>
                </a:solidFill>
              </a:rPr>
              <a:t>의미 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MSG_OOB  </a:t>
            </a:r>
            <a:r>
              <a:rPr lang="ko-KR" altLang="en-US" sz="2000" dirty="0"/>
              <a:t>긴급 메세지의 전송 </a:t>
            </a:r>
            <a:r>
              <a:rPr lang="en-US" altLang="ko-KR" sz="2000" dirty="0"/>
              <a:t>send O </a:t>
            </a:r>
            <a:r>
              <a:rPr lang="en-US" altLang="ko-KR" sz="2000" dirty="0" err="1"/>
              <a:t>recv</a:t>
            </a:r>
            <a:r>
              <a:rPr lang="en-US" altLang="ko-KR" sz="2000" dirty="0"/>
              <a:t> O</a:t>
            </a:r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MSG_PEEK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입력버퍼에</a:t>
            </a:r>
            <a:r>
              <a:rPr lang="ko-KR" altLang="en-US" sz="2000" dirty="0"/>
              <a:t> 수신된 데이터의 존재유무 확인을 위한 옵션 </a:t>
            </a:r>
            <a:r>
              <a:rPr lang="en-US" altLang="ko-KR" sz="2000" dirty="0" err="1"/>
              <a:t>recv</a:t>
            </a:r>
            <a:r>
              <a:rPr lang="en-US" altLang="ko-KR" sz="2000" dirty="0"/>
              <a:t> O</a:t>
            </a:r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MSG_DONTROUTE </a:t>
            </a:r>
            <a:r>
              <a:rPr lang="ko-KR" altLang="en-US" sz="2000" dirty="0"/>
              <a:t>로컬 네트워크 상에서 목적지를 찾을 </a:t>
            </a:r>
            <a:r>
              <a:rPr lang="ko-KR" altLang="en-US" sz="2000" dirty="0" err="1"/>
              <a:t>떄</a:t>
            </a:r>
            <a:r>
              <a:rPr lang="ko-KR" altLang="en-US" sz="2000" dirty="0"/>
              <a:t> 사용되는 옵션 </a:t>
            </a:r>
            <a:r>
              <a:rPr lang="en-US" altLang="ko-KR" sz="2000" dirty="0"/>
              <a:t>send O</a:t>
            </a:r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MSG_DONTWAIT </a:t>
            </a:r>
            <a:r>
              <a:rPr lang="ko-KR" altLang="en-US" sz="2000" dirty="0"/>
              <a:t>넌 블로킹</a:t>
            </a:r>
            <a:r>
              <a:rPr lang="en-US" altLang="ko-KR" sz="2000" dirty="0"/>
              <a:t>(Non-blocking) IO</a:t>
            </a:r>
            <a:r>
              <a:rPr lang="ko-KR" altLang="en-US" sz="2000" dirty="0"/>
              <a:t>의 요구에 사용되는 옵션 </a:t>
            </a:r>
            <a:r>
              <a:rPr lang="en-US" altLang="ko-KR" sz="2000" dirty="0"/>
              <a:t>send O </a:t>
            </a:r>
            <a:r>
              <a:rPr lang="en-US" altLang="ko-KR" sz="2000" dirty="0" err="1"/>
              <a:t>recvO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rgbClr val="FFFF00"/>
                </a:solidFill>
              </a:rPr>
              <a:t>MSG_WAITALL </a:t>
            </a:r>
            <a:r>
              <a:rPr lang="ko-KR" altLang="en-US" sz="2000" dirty="0"/>
              <a:t>요청한 바이트 수에 해당하는 데이터가 전부 수신 될 때까지</a:t>
            </a:r>
            <a:r>
              <a:rPr lang="en-US" altLang="ko-KR" sz="2000" dirty="0"/>
              <a:t>,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호출된 함수가 반환되는 것을 막기 위한 옵션 </a:t>
            </a:r>
            <a:r>
              <a:rPr lang="en-US" altLang="ko-KR" sz="2000" dirty="0" err="1"/>
              <a:t>recv</a:t>
            </a:r>
            <a:r>
              <a:rPr lang="en-US" altLang="ko-KR" sz="2000" dirty="0"/>
              <a:t> O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165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DC9F3-9F60-4716-93A1-4E64CD52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174"/>
            <a:ext cx="10515600" cy="5897461"/>
          </a:xfrm>
        </p:spPr>
        <p:txBody>
          <a:bodyPr>
            <a:normAutofit lnSpcReduction="10000"/>
          </a:bodyPr>
          <a:lstStyle/>
          <a:p>
            <a:r>
              <a:rPr lang="en-US" altLang="ko-KR" sz="2400" dirty="0">
                <a:solidFill>
                  <a:srgbClr val="FFFF00"/>
                </a:solidFill>
              </a:rPr>
              <a:t>MSG_OOB (Out of band data)</a:t>
            </a:r>
          </a:p>
          <a:p>
            <a:pPr marL="0" indent="0">
              <a:buNone/>
            </a:pPr>
            <a:r>
              <a:rPr lang="en-US" altLang="ko-KR" sz="2400" dirty="0">
                <a:solidFill>
                  <a:srgbClr val="FFFF00"/>
                </a:solidFill>
              </a:rPr>
              <a:t>   </a:t>
            </a:r>
            <a:r>
              <a:rPr lang="ko-KR" altLang="en-US" sz="2000" dirty="0"/>
              <a:t>긴급 </a:t>
            </a:r>
            <a:r>
              <a:rPr lang="ko-KR" altLang="en-US" sz="2000" dirty="0" err="1"/>
              <a:t>메세지</a:t>
            </a:r>
            <a:r>
              <a:rPr lang="ko-KR" altLang="en-US" sz="2000" dirty="0"/>
              <a:t> 전송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ko-KR" altLang="en-US" sz="2000" dirty="0"/>
              <a:t>전혀 다른 통신 경로로 전송되는 데이터 </a:t>
            </a:r>
          </a:p>
          <a:p>
            <a:endParaRPr lang="en-US" altLang="ko-KR" sz="2000" dirty="0"/>
          </a:p>
          <a:p>
            <a:r>
              <a:rPr lang="ko-KR" altLang="en-US" sz="2000" dirty="0"/>
              <a:t>빠른 조치 </a:t>
            </a:r>
            <a:r>
              <a:rPr lang="en-US" altLang="ko-KR" sz="2000" dirty="0"/>
              <a:t>/ </a:t>
            </a:r>
            <a:r>
              <a:rPr lang="ko-KR" altLang="en-US" sz="2000" dirty="0"/>
              <a:t>패킷 자체가 긴급 패킷</a:t>
            </a:r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ko-KR" altLang="en-US" sz="2000" dirty="0" err="1"/>
              <a:t>긴급메세지는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메세지</a:t>
            </a:r>
            <a:r>
              <a:rPr lang="ko-KR" altLang="en-US" sz="2000" dirty="0"/>
              <a:t> 처리를 재촉하는데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의미가 있는 것이지 제한된 형태의 메세지를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긴급으로 전송하는데 의미가 있는 것이 아님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200" dirty="0">
                <a:solidFill>
                  <a:srgbClr val="FFFF00"/>
                </a:solidFill>
              </a:rPr>
              <a:t> </a:t>
            </a:r>
            <a:r>
              <a:rPr lang="ko-KR" altLang="en-US" sz="2200" dirty="0" err="1">
                <a:solidFill>
                  <a:srgbClr val="FFFF00"/>
                </a:solidFill>
              </a:rPr>
              <a:t>입력버퍼</a:t>
            </a:r>
            <a:r>
              <a:rPr lang="ko-KR" altLang="en-US" sz="2200" dirty="0">
                <a:solidFill>
                  <a:srgbClr val="FFFF00"/>
                </a:solidFill>
              </a:rPr>
              <a:t> 검사하기</a:t>
            </a:r>
          </a:p>
          <a:p>
            <a:pPr marL="0" indent="0">
              <a:buNone/>
            </a:pPr>
            <a:r>
              <a:rPr lang="en-US" altLang="ko-KR" sz="2000" dirty="0"/>
              <a:t>  MSG_PEEK  + MSG_DONTWAIT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MSG_PEEK</a:t>
            </a:r>
            <a:r>
              <a:rPr lang="ko-KR" altLang="en-US" sz="2000" dirty="0"/>
              <a:t>는 입력 버퍼에 수신 된 </a:t>
            </a:r>
            <a:r>
              <a:rPr lang="ko-KR" altLang="en-US" sz="2000" dirty="0">
                <a:solidFill>
                  <a:srgbClr val="FFFF00"/>
                </a:solidFill>
              </a:rPr>
              <a:t>데이터가 존재하는지 확인</a:t>
            </a:r>
            <a:r>
              <a:rPr lang="ko-KR" altLang="en-US" sz="2000" dirty="0"/>
              <a:t>하는 용도로 사용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</a:t>
            </a:r>
            <a:r>
              <a:rPr lang="en-US" altLang="ko-KR" sz="2000" dirty="0">
                <a:sym typeface="Wingdings" panose="05000000000000000000" pitchFamily="2" charset="2"/>
              </a:rPr>
              <a:t> </a:t>
            </a:r>
            <a:r>
              <a:rPr lang="ko-KR" altLang="en-US" sz="2000" dirty="0"/>
              <a:t>데이터가 지워지지 않음</a:t>
            </a:r>
          </a:p>
          <a:p>
            <a:pPr marL="0" indent="0">
              <a:buNone/>
            </a:pPr>
            <a:r>
              <a:rPr lang="en-US" altLang="ko-KR" sz="2000" dirty="0"/>
              <a:t>  MSG_DONTWAIT </a:t>
            </a:r>
            <a:r>
              <a:rPr lang="ko-KR" altLang="en-US" sz="2000" dirty="0"/>
              <a:t>블로킹 되지 않는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FFFF00"/>
                </a:solidFill>
              </a:rPr>
              <a:t>데이터의 존재유무를 확인하기 위한 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00"/>
                </a:solidFill>
              </a:rPr>
              <a:t>  </a:t>
            </a:r>
            <a:r>
              <a:rPr lang="ko-KR" altLang="en-US" sz="2000" dirty="0">
                <a:solidFill>
                  <a:srgbClr val="FFFF00"/>
                </a:solidFill>
              </a:rPr>
              <a:t>함수의 호출 구성</a:t>
            </a:r>
            <a:r>
              <a:rPr lang="ko-KR" altLang="en-US" sz="2000" dirty="0"/>
              <a:t>에 사용 </a:t>
            </a:r>
            <a:endParaRPr lang="en-US" altLang="ko-KR" sz="2000" dirty="0"/>
          </a:p>
          <a:p>
            <a:endParaRPr lang="ko-KR" altLang="en-US" dirty="0"/>
          </a:p>
        </p:txBody>
      </p:sp>
      <p:pic>
        <p:nvPicPr>
          <p:cNvPr id="8194" name="Picture 2" descr="MSG_OOB (Out of band data)ì ëí ì´ë¯¸ì§ ê²ìê²°ê³¼">
            <a:extLst>
              <a:ext uri="{FF2B5EF4-FFF2-40B4-BE49-F238E27FC236}">
                <a16:creationId xmlns:a16="http://schemas.microsoft.com/office/drawing/2014/main" id="{56EA1589-8DE8-42C9-9F69-11CFB1E8B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521" y="476504"/>
            <a:ext cx="4747057" cy="380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500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04846B-3CEC-4BEF-B607-09164ACF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563"/>
            <a:ext cx="10515600" cy="5539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 err="1">
                <a:solidFill>
                  <a:srgbClr val="FFFF00"/>
                </a:solidFill>
              </a:rPr>
              <a:t>readv</a:t>
            </a:r>
            <a:r>
              <a:rPr lang="en-US" altLang="ko-KR" sz="2400" dirty="0">
                <a:solidFill>
                  <a:srgbClr val="FFFF00"/>
                </a:solidFill>
              </a:rPr>
              <a:t> &amp; </a:t>
            </a:r>
            <a:r>
              <a:rPr lang="en-US" altLang="ko-KR" sz="2400" dirty="0" err="1">
                <a:solidFill>
                  <a:srgbClr val="FFFF00"/>
                </a:solidFill>
              </a:rPr>
              <a:t>writev</a:t>
            </a:r>
            <a:r>
              <a:rPr lang="en-US" altLang="ko-KR" sz="2400" dirty="0">
                <a:solidFill>
                  <a:srgbClr val="FFFF00"/>
                </a:solidFill>
              </a:rPr>
              <a:t> </a:t>
            </a:r>
            <a:r>
              <a:rPr lang="ko-KR" altLang="en-US" sz="2400" dirty="0">
                <a:solidFill>
                  <a:srgbClr val="FFFF00"/>
                </a:solidFill>
              </a:rPr>
              <a:t>입출력 함수</a:t>
            </a:r>
          </a:p>
          <a:p>
            <a:endParaRPr lang="ko-KR" altLang="en-US" dirty="0"/>
          </a:p>
          <a:p>
            <a:r>
              <a:rPr lang="ko-KR" altLang="en-US" sz="2000" dirty="0"/>
              <a:t>전송해야 할 데이터가 여러 개의 버퍼</a:t>
            </a:r>
            <a:r>
              <a:rPr lang="en-US" altLang="ko-KR" sz="2000" dirty="0"/>
              <a:t>(</a:t>
            </a:r>
            <a:r>
              <a:rPr lang="ko-KR" altLang="en-US" sz="2000" dirty="0"/>
              <a:t>배열</a:t>
            </a:r>
            <a:r>
              <a:rPr lang="en-US" altLang="ko-KR" sz="2000" dirty="0"/>
              <a:t>)</a:t>
            </a:r>
            <a:r>
              <a:rPr lang="ko-KR" altLang="en-US" sz="2000" dirty="0"/>
              <a:t>에 나누어 있는 경우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writev</a:t>
            </a:r>
            <a:r>
              <a:rPr lang="en-US" altLang="ko-KR" sz="2000" dirty="0"/>
              <a:t> </a:t>
            </a:r>
            <a:r>
              <a:rPr lang="ko-KR" altLang="en-US" sz="2000" dirty="0"/>
              <a:t>함수 </a:t>
            </a:r>
            <a:r>
              <a:rPr lang="en-US" altLang="ko-KR" sz="2000" dirty="0"/>
              <a:t>: </a:t>
            </a:r>
            <a:r>
              <a:rPr lang="ko-KR" altLang="en-US" sz="2000" dirty="0"/>
              <a:t>여러 버퍼에 나뉘어 저장되어 있는 데이터를 한번에 전송할 수 있음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입력 버퍼에 수신된 데이터를 여러 저장소에 나눠서 읽어 들이고 싶은 경우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readv</a:t>
            </a:r>
            <a:r>
              <a:rPr lang="en-US" altLang="ko-KR" sz="2000" dirty="0"/>
              <a:t> </a:t>
            </a:r>
            <a:r>
              <a:rPr lang="ko-KR" altLang="en-US" sz="2000" dirty="0"/>
              <a:t>함수 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데이터를 여러 버퍼에 나눠서 수신할 수 있음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장점</a:t>
            </a:r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en-US" altLang="ko-KR" sz="2000" dirty="0"/>
              <a:t> </a:t>
            </a:r>
            <a:r>
              <a:rPr lang="ko-KR" altLang="en-US" sz="2000" dirty="0"/>
              <a:t>입출력 함수호출 수를 줄여 성능이 향상 되게 할 수 있음</a:t>
            </a:r>
            <a:r>
              <a:rPr lang="en-US" altLang="ko-KR" sz="2000" dirty="0"/>
              <a:t>. </a:t>
            </a:r>
          </a:p>
          <a:p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en-US" altLang="ko-KR" sz="2000" dirty="0"/>
              <a:t> </a:t>
            </a:r>
            <a:r>
              <a:rPr lang="ko-KR" altLang="en-US" sz="2000" dirty="0"/>
              <a:t>전송되는 패킷의 수를 줄일 수 있다는데 큰 의미가 있음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70979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BDAB4-6484-4B2B-84A6-5AE406E6F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895"/>
            <a:ext cx="10515600" cy="5640068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>
                <a:solidFill>
                  <a:srgbClr val="FFFF00"/>
                </a:solidFill>
              </a:rPr>
              <a:t>Nagle </a:t>
            </a:r>
            <a:r>
              <a:rPr lang="ko-KR" altLang="en-US" sz="2400" dirty="0">
                <a:solidFill>
                  <a:srgbClr val="FFFF00"/>
                </a:solidFill>
              </a:rPr>
              <a:t>알고리즘 </a:t>
            </a:r>
            <a:r>
              <a:rPr lang="en-US" altLang="ko-KR" sz="2400" dirty="0">
                <a:solidFill>
                  <a:srgbClr val="FFFF00"/>
                </a:solidFill>
              </a:rPr>
              <a:t>OFF </a:t>
            </a:r>
            <a:r>
              <a:rPr lang="ko-KR" altLang="en-US" sz="2400" dirty="0">
                <a:solidFill>
                  <a:srgbClr val="FFFF00"/>
                </a:solidFill>
              </a:rPr>
              <a:t>상태의 데이터 전송 </a:t>
            </a: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000" dirty="0"/>
              <a:t>1. write </a:t>
            </a:r>
            <a:r>
              <a:rPr lang="ko-KR" altLang="en-US" sz="2000" dirty="0"/>
              <a:t>함수 호출</a:t>
            </a:r>
          </a:p>
          <a:p>
            <a:pPr marL="0" indent="0">
              <a:buNone/>
            </a:pPr>
            <a:r>
              <a:rPr lang="ko-KR" altLang="en-US" sz="2000" dirty="0"/>
              <a:t>    총 세 개의 패킷이 생성되어 전송될 확률이 높음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2. </a:t>
            </a:r>
            <a:r>
              <a:rPr lang="en-US" altLang="ko-KR" sz="2000" dirty="0" err="1"/>
              <a:t>writev</a:t>
            </a:r>
            <a:r>
              <a:rPr lang="en-US" altLang="ko-KR" sz="2000" dirty="0"/>
              <a:t> </a:t>
            </a:r>
            <a:r>
              <a:rPr lang="ko-KR" altLang="en-US" sz="2000" dirty="0"/>
              <a:t>함수 호출 </a:t>
            </a:r>
          </a:p>
          <a:p>
            <a:pPr marL="0" indent="0">
              <a:buNone/>
            </a:pPr>
            <a:r>
              <a:rPr lang="ko-KR" altLang="en-US" sz="2000" dirty="0"/>
              <a:t>   한번에 모든 데이터를 </a:t>
            </a:r>
            <a:r>
              <a:rPr lang="ko-KR" altLang="en-US" sz="2000" dirty="0" err="1"/>
              <a:t>출력버퍼로</a:t>
            </a:r>
            <a:r>
              <a:rPr lang="ko-KR" altLang="en-US" sz="2000" dirty="0"/>
              <a:t> 밀어 넣기 때문에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하나의 패킷만 생성되어 전송될 확률 높음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즉 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writev</a:t>
            </a:r>
            <a:r>
              <a:rPr lang="en-US" altLang="ko-KR" sz="2000" dirty="0"/>
              <a:t> &amp; </a:t>
            </a:r>
            <a:r>
              <a:rPr lang="en-US" altLang="ko-KR" sz="2000" dirty="0" err="1"/>
              <a:t>readv</a:t>
            </a:r>
            <a:r>
              <a:rPr lang="en-US" altLang="ko-KR" sz="2000" dirty="0"/>
              <a:t> </a:t>
            </a:r>
            <a:r>
              <a:rPr lang="ko-KR" altLang="en-US" sz="2000" dirty="0"/>
              <a:t>함수의 호출이 유용</a:t>
            </a:r>
          </a:p>
        </p:txBody>
      </p:sp>
      <p:pic>
        <p:nvPicPr>
          <p:cNvPr id="9220" name="Picture 4" descr="writev í¨ìì ëí ì´ë¯¸ì§ ê²ìê²°ê³¼">
            <a:extLst>
              <a:ext uri="{FF2B5EF4-FFF2-40B4-BE49-F238E27FC236}">
                <a16:creationId xmlns:a16="http://schemas.microsoft.com/office/drawing/2014/main" id="{0C4D8C8C-49E8-44A7-A967-DBFC27E27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346" y="1514766"/>
            <a:ext cx="4610257" cy="306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982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870212-2558-485C-83CE-65C2695A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561"/>
            <a:ext cx="10515600" cy="569040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linkClick r:id="rId2"/>
              </a:rPr>
              <a:t>https://sfixer.tistory.com/entry/writev-%ED%95%A8%EC%88%98%EC%9D%98-%EC%A0%81%EC%A0%88%ED%95%9C-%EC%82%AC%EC%9A%A9-%EB%84%A4%EC%9D%B4%EB%B2%84-%EB%B8%94%EB%A1%9C%EA%B7%B8</a:t>
            </a:r>
            <a:endParaRPr lang="en-US" altLang="ko-KR" sz="2000" dirty="0"/>
          </a:p>
          <a:p>
            <a:r>
              <a:rPr lang="en-US" altLang="ko-KR" sz="2000" dirty="0">
                <a:hlinkClick r:id="rId3"/>
              </a:rPr>
              <a:t>https://kjhgby.tistory.com/category/programming/c</a:t>
            </a:r>
            <a:endParaRPr lang="en-US" altLang="ko-KR" sz="2000" dirty="0"/>
          </a:p>
          <a:p>
            <a:r>
              <a:rPr lang="en-US" altLang="ko-KR" sz="2000" dirty="0">
                <a:hlinkClick r:id="rId4"/>
              </a:rPr>
              <a:t>https://dbehdrhs.tistory.com/98</a:t>
            </a:r>
            <a:endParaRPr lang="en-US" altLang="ko-KR" sz="2000" dirty="0"/>
          </a:p>
          <a:p>
            <a:r>
              <a:rPr lang="en-US" altLang="ko-KR" sz="2000" dirty="0">
                <a:hlinkClick r:id="rId5"/>
              </a:rPr>
              <a:t>https://cheonee.tistory.com/entry/%ED%94%84%EB%A1%9C%EC%84%B8%EC%8A%A4%EA%B0%84-%ED%86%B5%EC%8B%A0</a:t>
            </a:r>
            <a:endParaRPr lang="en-US" altLang="ko-KR" sz="2000" dirty="0"/>
          </a:p>
          <a:p>
            <a:r>
              <a:rPr lang="en-US" altLang="ko-KR" sz="2000" dirty="0">
                <a:hlinkClick r:id="rId6"/>
              </a:rPr>
              <a:t>http://blog.naver.com/PostView.nhn?blogId=sdug12051205&amp;logNo=221064026774&amp;categoryNo=18&amp;parentCategoryNo=0&amp;viewDate=&amp;currentPage=1&amp;postListTopCurrentPage=1&amp;from=search</a:t>
            </a:r>
            <a:endParaRPr lang="en-US" altLang="ko-KR" sz="2000" dirty="0"/>
          </a:p>
          <a:p>
            <a:r>
              <a:rPr lang="en-US" altLang="ko-KR" sz="2000" dirty="0">
                <a:hlinkClick r:id="rId7"/>
              </a:rPr>
              <a:t>https://m.blog.naver.com/PostView.nhn?blogId=wlstn3273&amp;logNo=220792037488&amp;proxyReferer=https%3A%2F%2Fwww.google.com%2F</a:t>
            </a:r>
            <a:endParaRPr lang="en-US" altLang="ko-KR" sz="2000" dirty="0"/>
          </a:p>
          <a:p>
            <a:r>
              <a:rPr lang="en-US" altLang="ko-KR" sz="2000" dirty="0">
                <a:hlinkClick r:id="rId8"/>
              </a:rPr>
              <a:t>https://dbehdrhs.tistory.com/96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31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1655</Words>
  <Application>Microsoft Office PowerPoint</Application>
  <PresentationFormat>와이드스크린</PresentationFormat>
  <Paragraphs>223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10</cp:revision>
  <dcterms:created xsi:type="dcterms:W3CDTF">2019-06-20T05:05:13Z</dcterms:created>
  <dcterms:modified xsi:type="dcterms:W3CDTF">2019-06-20T08:16:00Z</dcterms:modified>
</cp:coreProperties>
</file>