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57" r:id="rId3"/>
    <p:sldId id="273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6" r:id="rId16"/>
    <p:sldId id="268" r:id="rId17"/>
    <p:sldId id="270" r:id="rId18"/>
    <p:sldId id="269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122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127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52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41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356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74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49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88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24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12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0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1AAB9-880D-4C30-920F-4CAC203A8998}" type="datetimeFigureOut">
              <a:rPr lang="ko-KR" altLang="en-US" smtClean="0"/>
              <a:t>2019-06-20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D573D-0A95-4E1B-8595-202C265B98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053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.blog.naver.com/PostView.nhn?blogId=gjcka1234&amp;logNo=221219138924&amp;proxyReferer=https%3A%2F%2Fwww.google.com%2F" TargetMode="External"/><Relationship Id="rId2" Type="http://schemas.openxmlformats.org/officeDocument/2006/relationships/hyperlink" Target="http://blog.naver.com/PostView.nhn?blogId=smuoon4680&amp;logNo=50141782338&amp;parentCategoryNo=&amp;categoryNo=15&amp;viewDate=&amp;isShowPopularPosts=true&amp;from=search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.blog.naver.com/PostView.nhn?blogId=smuoon4680&amp;logNo=50141782144&amp;proxyReferer=https%3A%2F%2Fwww.google.com%2F" TargetMode="External"/><Relationship Id="rId4" Type="http://schemas.openxmlformats.org/officeDocument/2006/relationships/hyperlink" Target="https://comfun.tistory.com/entry/16%EC%9E%A5-%EC%9E%85%EC%B6%9C%EB%A0%A5-%EC%8A%A4%ED%8A%B8%EB%A6%BC%EC%9D%98-%EB%B6%84%EB%A6%AC%EC%97%90-%EB%8C%80%ED%95%9C-%EB%82%98%EB%A8%B8%EC%A7%80-%EC%9D%B4%EC%95%BC%EA%B8%B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7CD1F-D52E-4447-A0DD-3936090D3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48473"/>
            <a:ext cx="10515598" cy="3228489"/>
          </a:xfrm>
        </p:spPr>
        <p:txBody>
          <a:bodyPr>
            <a:normAutofit/>
          </a:bodyPr>
          <a:lstStyle/>
          <a:p>
            <a:pPr algn="ctr"/>
            <a:r>
              <a:rPr lang="en-US" altLang="ko-KR" sz="3600" dirty="0">
                <a:solidFill>
                  <a:srgbClr val="FFFFFF"/>
                </a:solidFill>
              </a:rPr>
              <a:t>GBC TCP/ IP 15~18</a:t>
            </a:r>
          </a:p>
          <a:p>
            <a:pPr marL="0" indent="0" algn="ctr">
              <a:buNone/>
            </a:pPr>
            <a:r>
              <a:rPr lang="en-US" altLang="ko-KR" sz="2400" dirty="0">
                <a:solidFill>
                  <a:srgbClr val="FFFFFF"/>
                </a:solidFill>
              </a:rPr>
              <a:t>21900195 </a:t>
            </a:r>
            <a:r>
              <a:rPr lang="ko-KR" altLang="en-US" sz="2400" dirty="0">
                <a:solidFill>
                  <a:srgbClr val="FFFFFF"/>
                </a:solidFill>
              </a:rPr>
              <a:t>김진일</a:t>
            </a:r>
          </a:p>
        </p:txBody>
      </p:sp>
    </p:spTree>
    <p:extLst>
      <p:ext uri="{BB962C8B-B14F-4D97-AF65-F5344CB8AC3E}">
        <p14:creationId xmlns:p14="http://schemas.microsoft.com/office/powerpoint/2010/main" val="221187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0E49B-BE9F-4159-B21C-569C2815D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80845"/>
            <a:ext cx="10515598" cy="529611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표준 입출력 함수의 장점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표준 입출력 함수는 </a:t>
            </a:r>
            <a:r>
              <a:rPr lang="ko-KR" altLang="en-US" sz="2000" dirty="0" err="1">
                <a:solidFill>
                  <a:srgbClr val="FFFFFF"/>
                </a:solidFill>
              </a:rPr>
              <a:t>이식성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en-US" altLang="ko-KR" sz="2000" dirty="0" err="1">
                <a:solidFill>
                  <a:srgbClr val="FFFFFF"/>
                </a:solidFill>
              </a:rPr>
              <a:t>Protability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  <a:r>
              <a:rPr lang="ko-KR" altLang="en-US" sz="2000" dirty="0">
                <a:solidFill>
                  <a:srgbClr val="FFFFFF"/>
                </a:solidFill>
              </a:rPr>
              <a:t>이 좋다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표준 입출력 함수는 버퍼링을 통한 성능의 향상에 도움이 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버퍼관계</a:t>
            </a:r>
          </a:p>
        </p:txBody>
      </p:sp>
      <p:pic>
        <p:nvPicPr>
          <p:cNvPr id="1026" name="Picture 2" descr="ìì¶ë ¥ í¨ì ë²í¼ì ëí ì´ë¯¸ì§ ê²ìê²°ê³¼">
            <a:extLst>
              <a:ext uri="{FF2B5EF4-FFF2-40B4-BE49-F238E27FC236}">
                <a16:creationId xmlns:a16="http://schemas.microsoft.com/office/drawing/2014/main" id="{C7092864-919C-4317-9F2B-49959CA149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43" r="35185"/>
          <a:stretch/>
        </p:blipFill>
        <p:spPr bwMode="auto">
          <a:xfrm>
            <a:off x="922217" y="3165270"/>
            <a:ext cx="5976393" cy="223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4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4D1C69-805A-48B2-8D2A-75306F911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04675"/>
            <a:ext cx="10515598" cy="5472287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2600" dirty="0" err="1">
                <a:solidFill>
                  <a:srgbClr val="FFFF00"/>
                </a:solidFill>
              </a:rPr>
              <a:t>fputs</a:t>
            </a:r>
            <a:r>
              <a:rPr lang="en-US" altLang="ko-KR" sz="2600" dirty="0">
                <a:solidFill>
                  <a:srgbClr val="FFFF00"/>
                </a:solidFill>
              </a:rPr>
              <a:t> </a:t>
            </a:r>
            <a:r>
              <a:rPr lang="ko-KR" altLang="en-US" sz="2600" dirty="0">
                <a:solidFill>
                  <a:srgbClr val="FFFF00"/>
                </a:solidFill>
              </a:rPr>
              <a:t>함수를 통해 문자열을 전송했을 때</a:t>
            </a:r>
            <a:endParaRPr lang="en-US" altLang="ko-KR" sz="2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과정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1. </a:t>
            </a:r>
            <a:r>
              <a:rPr lang="ko-KR" altLang="en-US" sz="2000" dirty="0">
                <a:solidFill>
                  <a:srgbClr val="FFFFFF"/>
                </a:solidFill>
              </a:rPr>
              <a:t>표준 입출력 함수의 버퍼에 데이터가 전달된다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2. </a:t>
            </a:r>
            <a:r>
              <a:rPr lang="ko-KR" altLang="en-US" sz="2000" dirty="0">
                <a:solidFill>
                  <a:srgbClr val="FFFFFF"/>
                </a:solidFill>
              </a:rPr>
              <a:t>소켓의 </a:t>
            </a:r>
            <a:r>
              <a:rPr lang="ko-KR" altLang="en-US" sz="2000" dirty="0" err="1">
                <a:solidFill>
                  <a:srgbClr val="FFFFFF"/>
                </a:solidFill>
              </a:rPr>
              <a:t>출력버퍼로</a:t>
            </a:r>
            <a:r>
              <a:rPr lang="ko-KR" altLang="en-US" sz="2000" dirty="0">
                <a:solidFill>
                  <a:srgbClr val="FFFFFF"/>
                </a:solidFill>
              </a:rPr>
              <a:t> 이동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3. </a:t>
            </a:r>
            <a:r>
              <a:rPr lang="ko-KR" altLang="en-US" sz="2000" dirty="0">
                <a:solidFill>
                  <a:srgbClr val="FFFFFF"/>
                </a:solidFill>
              </a:rPr>
              <a:t>상대방에게 문자열이 전송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버퍼는 기본적으로 성능의 향상을 </a:t>
            </a:r>
            <a:r>
              <a:rPr lang="ko-KR" altLang="en-US" sz="2000" dirty="0" err="1">
                <a:solidFill>
                  <a:srgbClr val="FFFFFF"/>
                </a:solidFill>
              </a:rPr>
              <a:t>목적으로함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소켓과 관련해서 제공되는 버퍼는 </a:t>
            </a:r>
            <a:r>
              <a:rPr lang="en-US" altLang="ko-KR" sz="2000" dirty="0">
                <a:solidFill>
                  <a:srgbClr val="FFFFFF"/>
                </a:solidFill>
              </a:rPr>
              <a:t>TCP</a:t>
            </a:r>
            <a:r>
              <a:rPr lang="ko-KR" altLang="en-US" sz="2000" dirty="0">
                <a:solidFill>
                  <a:srgbClr val="FFFFFF"/>
                </a:solidFill>
              </a:rPr>
              <a:t>의 구현을 위한 목적이 더 강함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버퍼링</a:t>
            </a:r>
            <a:r>
              <a:rPr lang="ko-KR" altLang="en-US" sz="2000" dirty="0">
                <a:solidFill>
                  <a:srgbClr val="FFFF00"/>
                </a:solidFill>
              </a:rPr>
              <a:t> 장점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전송하는 데이터의 양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ex) 1</a:t>
            </a:r>
            <a:r>
              <a:rPr lang="ko-KR" altLang="en-US" sz="2000" dirty="0">
                <a:solidFill>
                  <a:srgbClr val="FFFFFF"/>
                </a:solidFill>
              </a:rPr>
              <a:t>바이트 </a:t>
            </a:r>
            <a:r>
              <a:rPr lang="en-US" altLang="ko-KR" sz="2000" dirty="0">
                <a:solidFill>
                  <a:srgbClr val="FFFFFF"/>
                </a:solidFill>
              </a:rPr>
              <a:t>10</a:t>
            </a:r>
            <a:r>
              <a:rPr lang="ko-KR" altLang="en-US" sz="2000" dirty="0">
                <a:solidFill>
                  <a:srgbClr val="FFFFFF"/>
                </a:solidFill>
              </a:rPr>
              <a:t>번  </a:t>
            </a:r>
            <a:r>
              <a:rPr lang="en-US" altLang="ko-KR" sz="2000" dirty="0">
                <a:solidFill>
                  <a:srgbClr val="FFFFFF"/>
                </a:solidFill>
              </a:rPr>
              <a:t>10</a:t>
            </a:r>
            <a:r>
              <a:rPr lang="ko-KR" altLang="en-US" sz="2000" dirty="0">
                <a:solidFill>
                  <a:srgbClr val="FFFFFF"/>
                </a:solidFill>
              </a:rPr>
              <a:t>바이트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  <a:r>
              <a:rPr lang="ko-KR" altLang="en-US" sz="2000" dirty="0">
                <a:solidFill>
                  <a:srgbClr val="FFFFFF"/>
                </a:solidFill>
              </a:rPr>
              <a:t>번 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      데이터양  </a:t>
            </a:r>
            <a:r>
              <a:rPr lang="en-US" altLang="ko-KR" sz="2000" dirty="0">
                <a:solidFill>
                  <a:srgbClr val="FFFFFF"/>
                </a:solidFill>
              </a:rPr>
              <a:t>40 X 1  40 X 10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출력 버퍼로의 데이터 이동 횟수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데이터 이동 횟수 줄임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   ex) 10</a:t>
            </a:r>
            <a:r>
              <a:rPr lang="ko-KR" altLang="en-US" sz="2000" dirty="0">
                <a:solidFill>
                  <a:srgbClr val="FFFFFF"/>
                </a:solidFill>
              </a:rPr>
              <a:t>회 이동하는 걸리는 시간은 </a:t>
            </a:r>
            <a:r>
              <a:rPr lang="en-US" altLang="ko-KR" sz="2000" dirty="0">
                <a:solidFill>
                  <a:srgbClr val="FFFFFF"/>
                </a:solidFill>
              </a:rPr>
              <a:t>1</a:t>
            </a:r>
            <a:r>
              <a:rPr lang="ko-KR" altLang="en-US" sz="2000" dirty="0">
                <a:solidFill>
                  <a:srgbClr val="FFFFFF"/>
                </a:solidFill>
              </a:rPr>
              <a:t>회 이동하는 시간의 </a:t>
            </a:r>
            <a:r>
              <a:rPr lang="en-US" altLang="ko-KR" sz="2000" dirty="0">
                <a:solidFill>
                  <a:srgbClr val="FFFFFF"/>
                </a:solidFill>
              </a:rPr>
              <a:t>10</a:t>
            </a:r>
            <a:r>
              <a:rPr lang="ko-KR" altLang="en-US" sz="2000" dirty="0">
                <a:solidFill>
                  <a:srgbClr val="FFFFFF"/>
                </a:solidFill>
              </a:rPr>
              <a:t>배</a:t>
            </a:r>
          </a:p>
        </p:txBody>
      </p:sp>
    </p:spTree>
    <p:extLst>
      <p:ext uri="{BB962C8B-B14F-4D97-AF65-F5344CB8AC3E}">
        <p14:creationId xmlns:p14="http://schemas.microsoft.com/office/powerpoint/2010/main" val="394386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4EDAAF-680A-4F91-B454-3F940CBC9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45953"/>
            <a:ext cx="10515598" cy="5813570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>
                <a:solidFill>
                  <a:srgbClr val="FFFF00"/>
                </a:solidFill>
              </a:rPr>
              <a:t>표준 입출력 함수 사용의 단점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양방향 통신이 쉽지 않다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상황에 따라서 </a:t>
            </a:r>
            <a:r>
              <a:rPr lang="en-US" altLang="ko-KR" sz="2000" dirty="0" err="1">
                <a:solidFill>
                  <a:srgbClr val="FFFFFF"/>
                </a:solidFill>
              </a:rPr>
              <a:t>fflush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함수의 호출이 빈번히 등장 할 수 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3. </a:t>
            </a:r>
            <a:r>
              <a:rPr lang="ko-KR" altLang="en-US" sz="2000" dirty="0">
                <a:solidFill>
                  <a:srgbClr val="FFFFFF"/>
                </a:solidFill>
              </a:rPr>
              <a:t>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00"/>
                </a:solidFill>
              </a:rPr>
              <a:t>FILE </a:t>
            </a:r>
            <a:r>
              <a:rPr lang="ko-KR" altLang="en-US" sz="2000" dirty="0">
                <a:solidFill>
                  <a:srgbClr val="FFFF00"/>
                </a:solidFill>
              </a:rPr>
              <a:t>구조체의 포인터로 변환 </a:t>
            </a:r>
            <a:r>
              <a:rPr lang="ko-KR" altLang="en-US" sz="2000" dirty="0" err="1">
                <a:solidFill>
                  <a:srgbClr val="FFFFFF"/>
                </a:solidFill>
              </a:rPr>
              <a:t>해야한다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쓰기에서 읽기로 작업의 형태를 바꿀 때마다 </a:t>
            </a:r>
            <a:r>
              <a:rPr lang="en-US" altLang="ko-KR" sz="2000" dirty="0" err="1">
                <a:solidFill>
                  <a:srgbClr val="FFFF00"/>
                </a:solidFill>
              </a:rPr>
              <a:t>fflush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함수 호출 </a:t>
            </a:r>
            <a:r>
              <a:rPr lang="ko-KR" altLang="en-US" sz="2000" dirty="0">
                <a:solidFill>
                  <a:srgbClr val="FFFFFF"/>
                </a:solidFill>
              </a:rPr>
              <a:t>필요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기본적으로 소켓은 생성시에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반환하므로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포인터로 변환하는 과정을 거쳐야 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fdopen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함수 </a:t>
            </a:r>
            <a:r>
              <a:rPr lang="ko-KR" altLang="en-US" sz="2000" dirty="0">
                <a:solidFill>
                  <a:srgbClr val="FFFFFF"/>
                </a:solidFill>
              </a:rPr>
              <a:t>사용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포켓 생성과정에서 반환된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표준 입출력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함수의 인자로 전달 가능한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포인터로 변환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fileno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함수 </a:t>
            </a:r>
            <a:r>
              <a:rPr lang="ko-KR" altLang="en-US" sz="2000" dirty="0">
                <a:solidFill>
                  <a:srgbClr val="FFFFFF"/>
                </a:solidFill>
              </a:rPr>
              <a:t>사용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인자로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포인터를 전달하면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해당 파일의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디스크립터가</a:t>
            </a:r>
            <a:r>
              <a:rPr lang="ko-KR" altLang="en-US" sz="2000" dirty="0">
                <a:solidFill>
                  <a:srgbClr val="FFFFFF"/>
                </a:solidFill>
              </a:rPr>
              <a:t> 반환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9725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AFD0D-3040-4169-9FB7-B6C20F8C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80177"/>
            <a:ext cx="10515598" cy="5396786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스트림 분리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1. TCP</a:t>
            </a:r>
            <a:r>
              <a:rPr lang="ko-KR" altLang="en-US" sz="2000" dirty="0">
                <a:solidFill>
                  <a:srgbClr val="FFFFFF"/>
                </a:solidFill>
              </a:rPr>
              <a:t>의 입출력 루틴 분할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분리 목적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</a:t>
            </a:r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 err="1">
                <a:solidFill>
                  <a:srgbClr val="FFFFFF"/>
                </a:solidFill>
              </a:rPr>
              <a:t>입력루틴과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</a:rPr>
              <a:t>출력루틴의</a:t>
            </a:r>
            <a:r>
              <a:rPr lang="ko-KR" altLang="en-US" sz="2000" dirty="0">
                <a:solidFill>
                  <a:srgbClr val="FFFFFF"/>
                </a:solidFill>
              </a:rPr>
              <a:t> 독립을 통한 구현의 편의성 증대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</a:t>
            </a:r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입력에 상관없이 출력이 가능하게 함으로 인해서 속도의 향상 기대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en-US" altLang="ko-KR" sz="2000" dirty="0" err="1">
                <a:solidFill>
                  <a:srgbClr val="FFFFFF"/>
                </a:solidFill>
              </a:rPr>
              <a:t>fdopen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함수호출로 인한 분할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분리 목적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</a:t>
            </a:r>
            <a:r>
              <a:rPr lang="en-US" altLang="ko-KR" sz="2000" dirty="0">
                <a:solidFill>
                  <a:srgbClr val="FFFFFF"/>
                </a:solidFill>
              </a:rPr>
              <a:t>1. FILE </a:t>
            </a:r>
            <a:r>
              <a:rPr lang="ko-KR" altLang="en-US" sz="2000" dirty="0">
                <a:solidFill>
                  <a:srgbClr val="FFFFFF"/>
                </a:solidFill>
              </a:rPr>
              <a:t>포인터는 읽기모드와 쓰기모드를 구분해야 하므로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   </a:t>
            </a:r>
            <a:r>
              <a:rPr lang="ko-KR" altLang="en-US" sz="2000" dirty="0">
                <a:solidFill>
                  <a:srgbClr val="FFFFFF"/>
                </a:solidFill>
              </a:rPr>
              <a:t>읽기모드와 쓰기모드의 구분을 통한 구현의 편의성 증대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</a:t>
            </a:r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 err="1">
                <a:solidFill>
                  <a:srgbClr val="FFFFFF"/>
                </a:solidFill>
              </a:rPr>
              <a:t>입력버퍼와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</a:rPr>
              <a:t>출력버퍼를</a:t>
            </a:r>
            <a:r>
              <a:rPr lang="ko-KR" altLang="en-US" sz="2000" dirty="0">
                <a:solidFill>
                  <a:srgbClr val="FFFFFF"/>
                </a:solidFill>
              </a:rPr>
              <a:t> 구분함으로 인한 </a:t>
            </a:r>
            <a:r>
              <a:rPr lang="ko-KR" altLang="en-US" sz="2000" dirty="0" err="1">
                <a:solidFill>
                  <a:srgbClr val="FFFFFF"/>
                </a:solidFill>
              </a:rPr>
              <a:t>버퍼링</a:t>
            </a:r>
            <a:r>
              <a:rPr lang="ko-KR" altLang="en-US" sz="2000" dirty="0">
                <a:solidFill>
                  <a:srgbClr val="FFFFFF"/>
                </a:solidFill>
              </a:rPr>
              <a:t> 기능의 향상</a:t>
            </a:r>
          </a:p>
        </p:txBody>
      </p:sp>
    </p:spTree>
    <p:extLst>
      <p:ext uri="{BB962C8B-B14F-4D97-AF65-F5344CB8AC3E}">
        <p14:creationId xmlns:p14="http://schemas.microsoft.com/office/powerpoint/2010/main" val="175425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FFFB03-098B-4012-9040-367447523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62731"/>
            <a:ext cx="10515598" cy="551423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200" dirty="0">
              <a:solidFill>
                <a:srgbClr val="FFFF00"/>
              </a:solidFill>
            </a:endParaRPr>
          </a:p>
          <a:p>
            <a:r>
              <a:rPr lang="ko-KR" altLang="en-US" sz="2200" dirty="0">
                <a:solidFill>
                  <a:srgbClr val="FFFF00"/>
                </a:solidFill>
              </a:rPr>
              <a:t>스트림 분리 이후의 </a:t>
            </a:r>
            <a:r>
              <a:rPr lang="en-US" altLang="ko-KR" sz="2200" dirty="0">
                <a:solidFill>
                  <a:srgbClr val="FFFF00"/>
                </a:solidFill>
              </a:rPr>
              <a:t>EOF</a:t>
            </a:r>
            <a:r>
              <a:rPr lang="ko-KR" altLang="en-US" sz="2200" dirty="0">
                <a:solidFill>
                  <a:srgbClr val="FFFF00"/>
                </a:solidFill>
              </a:rPr>
              <a:t>에 대한 문제점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출력모드의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포인터를 대상으로 </a:t>
            </a:r>
            <a:r>
              <a:rPr lang="en-US" altLang="ko-KR" sz="2000" dirty="0" err="1">
                <a:solidFill>
                  <a:srgbClr val="FFFFFF"/>
                </a:solidFill>
              </a:rPr>
              <a:t>fclose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함수를 호출하면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데이터 수신은 가능하되 송신이 불가능한</a:t>
            </a:r>
            <a:r>
              <a:rPr lang="en-US" altLang="ko-KR" sz="2000" dirty="0">
                <a:solidFill>
                  <a:srgbClr val="FFFFFF"/>
                </a:solidFill>
              </a:rPr>
              <a:t>, Half-close </a:t>
            </a:r>
            <a:r>
              <a:rPr lang="ko-KR" altLang="en-US" sz="2000" dirty="0">
                <a:solidFill>
                  <a:srgbClr val="FFFFFF"/>
                </a:solidFill>
              </a:rPr>
              <a:t>상황이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발생하지 않고 서버가 마지막 문자열을 수신하지 못하는 경우가 발생함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 그 이유는 쓰기는 물론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읽기도 불가능한 완전 종료로 이어지기 때문</a:t>
            </a:r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</a:rPr>
              <a:t>fdopen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함수호출로 만들어진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포인터를 대상으로 </a:t>
            </a:r>
            <a:r>
              <a:rPr lang="en-US" altLang="ko-KR" sz="2000" dirty="0">
                <a:solidFill>
                  <a:srgbClr val="FFFFFF"/>
                </a:solidFill>
              </a:rPr>
              <a:t>Half-close</a:t>
            </a:r>
            <a:r>
              <a:rPr lang="ko-KR" altLang="en-US" sz="2000" dirty="0">
                <a:solidFill>
                  <a:srgbClr val="FFFFFF"/>
                </a:solidFill>
              </a:rPr>
              <a:t>를 진행 하는 방법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00"/>
                </a:solidFill>
              </a:rPr>
              <a:t>파일 </a:t>
            </a:r>
            <a:r>
              <a:rPr lang="ko-KR" altLang="en-US" sz="2000" dirty="0" err="1">
                <a:solidFill>
                  <a:srgbClr val="FFFF00"/>
                </a:solidFill>
              </a:rPr>
              <a:t>디스크립터를</a:t>
            </a:r>
            <a:r>
              <a:rPr lang="ko-KR" altLang="en-US" sz="2000" dirty="0">
                <a:solidFill>
                  <a:srgbClr val="FFFF00"/>
                </a:solidFill>
              </a:rPr>
              <a:t> 복사</a:t>
            </a:r>
            <a:r>
              <a:rPr lang="ko-KR" altLang="en-US" sz="2000" dirty="0">
                <a:solidFill>
                  <a:srgbClr val="FFFFFF"/>
                </a:solidFill>
              </a:rPr>
              <a:t>하여 하나 더 만들어 읽기모드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포인터와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 쓰기모드 </a:t>
            </a:r>
            <a:r>
              <a:rPr lang="en-US" altLang="ko-KR" sz="2000" dirty="0">
                <a:solidFill>
                  <a:srgbClr val="FFFFFF"/>
                </a:solidFill>
              </a:rPr>
              <a:t>FILE </a:t>
            </a:r>
            <a:r>
              <a:rPr lang="ko-KR" altLang="en-US" sz="2000" dirty="0">
                <a:solidFill>
                  <a:srgbClr val="FFFFFF"/>
                </a:solidFill>
              </a:rPr>
              <a:t>포인터를 만들면 </a:t>
            </a:r>
            <a:r>
              <a:rPr lang="en-US" altLang="ko-KR" sz="2000" dirty="0">
                <a:solidFill>
                  <a:srgbClr val="FFFFFF"/>
                </a:solidFill>
              </a:rPr>
              <a:t>, Half-close </a:t>
            </a:r>
            <a:r>
              <a:rPr lang="ko-KR" altLang="en-US" sz="2000" dirty="0">
                <a:solidFill>
                  <a:srgbClr val="FFFFFF"/>
                </a:solidFill>
              </a:rPr>
              <a:t>환경을 만들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하지만 </a:t>
            </a:r>
            <a:r>
              <a:rPr lang="en-US" altLang="ko-KR" sz="2000" dirty="0">
                <a:solidFill>
                  <a:srgbClr val="FFFFFF"/>
                </a:solidFill>
              </a:rPr>
              <a:t>fork </a:t>
            </a:r>
            <a:r>
              <a:rPr lang="ko-KR" altLang="en-US" sz="2000" dirty="0">
                <a:solidFill>
                  <a:srgbClr val="FFFFFF"/>
                </a:solidFill>
              </a:rPr>
              <a:t>함수 호출에서 진행되는 복사는 프로세스 통째로 복사하는 상황에서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이루어짐으로 사용하지 못함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667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9F79B-67A3-433C-897E-CE4A88EDA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99796"/>
            <a:ext cx="10515598" cy="5477167"/>
          </a:xfrm>
        </p:spPr>
        <p:txBody>
          <a:bodyPr>
            <a:normAutofit/>
          </a:bodyPr>
          <a:lstStyle/>
          <a:p>
            <a:r>
              <a:rPr lang="ko-KR" altLang="en-US" sz="2200" dirty="0">
                <a:solidFill>
                  <a:srgbClr val="FFFF00"/>
                </a:solidFill>
              </a:rPr>
              <a:t> 파일 </a:t>
            </a:r>
            <a:r>
              <a:rPr lang="ko-KR" altLang="en-US" sz="2200" dirty="0" err="1">
                <a:solidFill>
                  <a:srgbClr val="FFFF00"/>
                </a:solidFill>
              </a:rPr>
              <a:t>디스크립터</a:t>
            </a:r>
            <a:r>
              <a:rPr lang="ko-KR" altLang="en-US" sz="2200" dirty="0">
                <a:solidFill>
                  <a:srgbClr val="FFFF00"/>
                </a:solidFill>
              </a:rPr>
              <a:t> 복사 방법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즉</a:t>
            </a:r>
            <a:r>
              <a:rPr lang="en-US" altLang="ko-KR" sz="2000" dirty="0">
                <a:solidFill>
                  <a:srgbClr val="FFFFFF"/>
                </a:solidFill>
              </a:rPr>
              <a:t>, "</a:t>
            </a:r>
            <a:r>
              <a:rPr lang="ko-KR" altLang="en-US" sz="2000" dirty="0">
                <a:solidFill>
                  <a:srgbClr val="FFFFFF"/>
                </a:solidFill>
              </a:rPr>
              <a:t>동일한 파일 또는 소켓의 접근을 위한 또 다른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생성</a:t>
            </a:r>
            <a:r>
              <a:rPr lang="en-US" altLang="ko-KR" sz="2000" dirty="0">
                <a:solidFill>
                  <a:srgbClr val="FFFFFF"/>
                </a:solidFill>
              </a:rPr>
              <a:t>"</a:t>
            </a:r>
            <a:r>
              <a:rPr lang="ko-KR" altLang="en-US" sz="2000" dirty="0">
                <a:solidFill>
                  <a:srgbClr val="FFFFFF"/>
                </a:solidFill>
              </a:rPr>
              <a:t>을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하기 위해선 </a:t>
            </a:r>
            <a:r>
              <a:rPr lang="en-US" altLang="ko-KR" sz="2000" dirty="0">
                <a:solidFill>
                  <a:srgbClr val="FFFFFF"/>
                </a:solidFill>
              </a:rPr>
              <a:t>dup </a:t>
            </a:r>
            <a:r>
              <a:rPr lang="ko-KR" altLang="en-US" sz="2000" dirty="0">
                <a:solidFill>
                  <a:srgbClr val="FFFFFF"/>
                </a:solidFill>
              </a:rPr>
              <a:t>함수를 통해 복사 가능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dup2 </a:t>
            </a:r>
            <a:r>
              <a:rPr lang="ko-KR" altLang="en-US" sz="2000" dirty="0">
                <a:solidFill>
                  <a:srgbClr val="FFFFFF"/>
                </a:solidFill>
              </a:rPr>
              <a:t>함수 인자로</a:t>
            </a:r>
            <a:r>
              <a:rPr lang="en-US" altLang="ko-KR" sz="2000" dirty="0">
                <a:solidFill>
                  <a:srgbClr val="FFFFFF"/>
                </a:solidFill>
              </a:rPr>
              <a:t>, 0</a:t>
            </a:r>
            <a:r>
              <a:rPr lang="ko-KR" altLang="en-US" sz="2000" dirty="0">
                <a:solidFill>
                  <a:srgbClr val="FFFFFF"/>
                </a:solidFill>
              </a:rPr>
              <a:t>보다 크고 프로세스당 생성할 수 있는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수보다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</a:t>
            </a:r>
            <a:r>
              <a:rPr lang="ko-KR" altLang="en-US" sz="2000" dirty="0">
                <a:solidFill>
                  <a:srgbClr val="FFFFFF"/>
                </a:solidFill>
              </a:rPr>
              <a:t>작은 값을 전달하면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해당 값을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복사되는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정수 값으로 지정해준다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복사 후 복사된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수에 상관없이 </a:t>
            </a:r>
            <a:r>
              <a:rPr lang="en-US" altLang="ko-KR" sz="2000" dirty="0">
                <a:solidFill>
                  <a:srgbClr val="FFFFFF"/>
                </a:solidFill>
              </a:rPr>
              <a:t>EOF</a:t>
            </a:r>
            <a:r>
              <a:rPr lang="ko-KR" altLang="en-US" sz="2000" dirty="0">
                <a:solidFill>
                  <a:srgbClr val="FFFFFF"/>
                </a:solidFill>
              </a:rPr>
              <a:t>의 전송을 동반하는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Half-close</a:t>
            </a:r>
            <a:r>
              <a:rPr lang="ko-KR" altLang="en-US" sz="2000" dirty="0">
                <a:solidFill>
                  <a:srgbClr val="FFFFFF"/>
                </a:solidFill>
              </a:rPr>
              <a:t>를 진행하기 위해서는 </a:t>
            </a:r>
            <a:r>
              <a:rPr lang="en-US" altLang="ko-KR" sz="2000" dirty="0">
                <a:solidFill>
                  <a:srgbClr val="FFFFFF"/>
                </a:solidFill>
              </a:rPr>
              <a:t>shutdown </a:t>
            </a:r>
            <a:r>
              <a:rPr lang="ko-KR" altLang="en-US" sz="2000" dirty="0">
                <a:solidFill>
                  <a:srgbClr val="FFFFFF"/>
                </a:solidFill>
              </a:rPr>
              <a:t>함수 호출을 활용한다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2050" name="Picture 2" descr="ì¤í¸ë¦¼ half closeì ëí ì´ë¯¸ì§ ê²ìê²°ê³¼">
            <a:extLst>
              <a:ext uri="{FF2B5EF4-FFF2-40B4-BE49-F238E27FC236}">
                <a16:creationId xmlns:a16="http://schemas.microsoft.com/office/drawing/2014/main" id="{52737994-D185-4814-959B-AA8D2BF15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64" y="3695650"/>
            <a:ext cx="7206916" cy="280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B2B27-6A9C-4186-862C-0DD068C05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72455"/>
            <a:ext cx="10515598" cy="5304507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en-US" altLang="ko-KR" sz="2400" dirty="0" err="1">
                <a:solidFill>
                  <a:srgbClr val="FFFF00"/>
                </a:solidFill>
              </a:rPr>
              <a:t>epoll</a:t>
            </a:r>
            <a:r>
              <a:rPr lang="ko-KR" altLang="en-US" sz="2400" dirty="0">
                <a:solidFill>
                  <a:srgbClr val="FFFF00"/>
                </a:solidFill>
              </a:rPr>
              <a:t>의 이해와 활용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select </a:t>
            </a:r>
            <a:r>
              <a:rPr lang="ko-KR" altLang="en-US" sz="2000" dirty="0">
                <a:solidFill>
                  <a:srgbClr val="FFFFFF"/>
                </a:solidFill>
              </a:rPr>
              <a:t>기반의 </a:t>
            </a:r>
            <a:r>
              <a:rPr lang="en-US" altLang="ko-KR" sz="2000" dirty="0">
                <a:solidFill>
                  <a:srgbClr val="FFFFFF"/>
                </a:solidFill>
              </a:rPr>
              <a:t>IO </a:t>
            </a:r>
            <a:r>
              <a:rPr lang="ko-KR" altLang="en-US" sz="2000" dirty="0">
                <a:solidFill>
                  <a:srgbClr val="FFFFFF"/>
                </a:solidFill>
              </a:rPr>
              <a:t>멀티 </a:t>
            </a:r>
            <a:r>
              <a:rPr lang="ko-KR" altLang="en-US" sz="2000" dirty="0" err="1">
                <a:solidFill>
                  <a:srgbClr val="FFFFFF"/>
                </a:solidFill>
              </a:rPr>
              <a:t>플렉싱이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</a:rPr>
              <a:t>느린이유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코드 상에서 불합리한 점</a:t>
            </a:r>
            <a:r>
              <a:rPr lang="en-US" altLang="ko-KR" sz="2000" dirty="0">
                <a:solidFill>
                  <a:srgbClr val="FFFF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select </a:t>
            </a:r>
            <a:r>
              <a:rPr lang="ko-KR" altLang="en-US" sz="2000" dirty="0">
                <a:solidFill>
                  <a:srgbClr val="FFFFFF"/>
                </a:solidFill>
              </a:rPr>
              <a:t>함수호출 이후에 항상 등장하는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모든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대상으로 하는 </a:t>
            </a:r>
            <a:r>
              <a:rPr lang="ko-KR" altLang="en-US" sz="2000" dirty="0" err="1">
                <a:solidFill>
                  <a:srgbClr val="FFFFFF"/>
                </a:solidFill>
              </a:rPr>
              <a:t>반복문</a:t>
            </a:r>
            <a:endParaRPr lang="ko-KR" altLang="en-US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select </a:t>
            </a:r>
            <a:r>
              <a:rPr lang="ko-KR" altLang="en-US" sz="2000" dirty="0">
                <a:solidFill>
                  <a:srgbClr val="FFFFFF"/>
                </a:solidFill>
              </a:rPr>
              <a:t>함수를 호출할 때마다 인자로 매번 전달해야 하는 관찰대상에 대한 정보들 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select </a:t>
            </a:r>
            <a:r>
              <a:rPr lang="ko-KR" altLang="en-US" sz="2000" dirty="0">
                <a:solidFill>
                  <a:srgbClr val="FFFFFF"/>
                </a:solidFill>
              </a:rPr>
              <a:t>함수는 절대적으로 운영체제에 의해 기능이 완성되는 함수임으로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단점을 가지고 있어 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ko-KR" altLang="en-US" sz="2000" dirty="0">
                <a:solidFill>
                  <a:srgbClr val="FFFFFF"/>
                </a:solidFill>
              </a:rPr>
              <a:t>을 활용해야 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방식은 리눅스에서만 지원되는 방식이며 서버의 </a:t>
            </a:r>
            <a:r>
              <a:rPr lang="ko-KR" altLang="en-US" sz="2000" dirty="0" err="1">
                <a:solidFill>
                  <a:srgbClr val="FFFFFF"/>
                </a:solidFill>
              </a:rPr>
              <a:t>접속자</a:t>
            </a:r>
            <a:r>
              <a:rPr lang="ko-KR" altLang="en-US" sz="2000" dirty="0">
                <a:solidFill>
                  <a:srgbClr val="FFFFFF"/>
                </a:solidFill>
              </a:rPr>
              <a:t> 수가 많지 않은 경우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다양한 운영체제에서 운영이 가능 </a:t>
            </a:r>
            <a:r>
              <a:rPr lang="ko-KR" altLang="en-US" sz="2000" dirty="0" err="1">
                <a:solidFill>
                  <a:srgbClr val="FFFFFF"/>
                </a:solidFill>
              </a:rPr>
              <a:t>해야하는</a:t>
            </a:r>
            <a:r>
              <a:rPr lang="ko-KR" altLang="en-US" sz="2000" dirty="0">
                <a:solidFill>
                  <a:srgbClr val="FFFFFF"/>
                </a:solidFill>
              </a:rPr>
              <a:t> 경우에는 굳이 활용할 필요가 없다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96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3B1347-E20E-4039-9651-561ED36AF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964735"/>
            <a:ext cx="10515598" cy="5212228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400" dirty="0" err="1">
                <a:solidFill>
                  <a:srgbClr val="FFFF00"/>
                </a:solidFill>
              </a:rPr>
              <a:t>epoll</a:t>
            </a:r>
            <a:r>
              <a:rPr lang="ko-KR" altLang="en-US" sz="2400" dirty="0">
                <a:solidFill>
                  <a:srgbClr val="FFFF00"/>
                </a:solidFill>
              </a:rPr>
              <a:t>의 장점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상태변화의 확인을 위한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전체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대상으로 하는 반복문이 필요 없다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2. select </a:t>
            </a:r>
            <a:r>
              <a:rPr lang="ko-KR" altLang="en-US" sz="2000" dirty="0">
                <a:solidFill>
                  <a:srgbClr val="FFFFFF"/>
                </a:solidFill>
              </a:rPr>
              <a:t>함수에 대응하는 </a:t>
            </a:r>
            <a:r>
              <a:rPr lang="en-US" altLang="ko-KR" sz="2000" dirty="0" err="1">
                <a:solidFill>
                  <a:srgbClr val="FFFFFF"/>
                </a:solidFill>
              </a:rPr>
              <a:t>epoll_wait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함수호출 시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관찰대상의 정보를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매번 전달할 필요가 없다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 err="1">
                <a:solidFill>
                  <a:srgbClr val="FFFF00"/>
                </a:solidFill>
              </a:rPr>
              <a:t>epoll_create</a:t>
            </a: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</a:t>
            </a:r>
            <a:r>
              <a:rPr lang="ko-KR" altLang="en-US" sz="2000" dirty="0">
                <a:solidFill>
                  <a:srgbClr val="FFFFFF"/>
                </a:solidFill>
              </a:rPr>
              <a:t> 저장소 생성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 err="1">
                <a:solidFill>
                  <a:srgbClr val="FFFF00"/>
                </a:solidFill>
              </a:rPr>
              <a:t>epoll_ctl</a:t>
            </a: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저장소에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</a:t>
            </a:r>
            <a:r>
              <a:rPr lang="ko-KR" altLang="en-US" sz="2000" dirty="0">
                <a:solidFill>
                  <a:srgbClr val="FFFFFF"/>
                </a:solidFill>
              </a:rPr>
              <a:t> 등록 및 삭제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 err="1">
                <a:solidFill>
                  <a:srgbClr val="FFFF00"/>
                </a:solidFill>
              </a:rPr>
              <a:t>epoll_wait</a:t>
            </a:r>
            <a:r>
              <a:rPr lang="en-US" altLang="ko-KR" sz="2000" dirty="0">
                <a:solidFill>
                  <a:srgbClr val="FFFF00"/>
                </a:solidFill>
              </a:rPr>
              <a:t>      </a:t>
            </a:r>
            <a:r>
              <a:rPr lang="en-US" altLang="ko-KR" sz="2000" dirty="0">
                <a:solidFill>
                  <a:srgbClr val="FFFFFF"/>
                </a:solidFill>
              </a:rPr>
              <a:t>select </a:t>
            </a:r>
            <a:r>
              <a:rPr lang="ko-KR" altLang="en-US" sz="2000" dirty="0">
                <a:solidFill>
                  <a:srgbClr val="FFFFFF"/>
                </a:solidFill>
              </a:rPr>
              <a:t>함수와 마찬가지로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변화를 대기한다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1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9E4F2-E1FA-487D-A77B-705C1C4E2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13732"/>
            <a:ext cx="10515598" cy="5528345"/>
          </a:xfrm>
        </p:spPr>
        <p:txBody>
          <a:bodyPr>
            <a:normAutofit/>
          </a:bodyPr>
          <a:lstStyle/>
          <a:p>
            <a:r>
              <a:rPr lang="en-US" altLang="ko-KR" sz="2000" dirty="0" err="1">
                <a:solidFill>
                  <a:srgbClr val="FFFF00"/>
                </a:solidFill>
              </a:rPr>
              <a:t>epoll_create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함수호출에 의해 생성되는 리소스는 소켓과 마찬가지로 운영체제에 의해서 관리됨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소켓이 생성될 때와 마찬가지로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디스크립처를</a:t>
            </a:r>
            <a:r>
              <a:rPr lang="ko-KR" altLang="en-US" sz="2000" dirty="0">
                <a:solidFill>
                  <a:srgbClr val="FFFFFF"/>
                </a:solidFill>
              </a:rPr>
              <a:t> 반환함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함수 호출 시 생성되는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저장소를 </a:t>
            </a:r>
            <a:r>
              <a:rPr lang="en-US" altLang="ko-KR" sz="2000" dirty="0">
                <a:solidFill>
                  <a:srgbClr val="FFFFFF"/>
                </a:solidFill>
              </a:rPr>
              <a:t>"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인스턴스</a:t>
            </a:r>
            <a:r>
              <a:rPr lang="en-US" altLang="ko-KR" sz="2000" dirty="0">
                <a:solidFill>
                  <a:srgbClr val="FFFFFF"/>
                </a:solidFill>
              </a:rPr>
              <a:t>"</a:t>
            </a:r>
            <a:r>
              <a:rPr lang="ko-KR" altLang="en-US" sz="2000" dirty="0">
                <a:solidFill>
                  <a:srgbClr val="FFFFFF"/>
                </a:solidFill>
              </a:rPr>
              <a:t>라고 하는데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반환하는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디스크립터는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인스턴스를 구분하는 목적으로 사용됨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epoll_ctl</a:t>
            </a:r>
            <a:endParaRPr lang="en-US" altLang="ko-KR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인스턴스 생성 후에 관찰대상이 되는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등록하는 역할</a:t>
            </a:r>
          </a:p>
          <a:p>
            <a:r>
              <a:rPr lang="en-US" altLang="ko-KR" sz="2200" dirty="0" err="1">
                <a:solidFill>
                  <a:srgbClr val="FFFF00"/>
                </a:solidFill>
              </a:rPr>
              <a:t>epoll_ctl</a:t>
            </a:r>
            <a:r>
              <a:rPr lang="en-US" altLang="ko-KR" sz="2200" dirty="0">
                <a:solidFill>
                  <a:srgbClr val="FFFF00"/>
                </a:solidFill>
              </a:rPr>
              <a:t>(A, EPOLL_CTL_ADD ,B,C);</a:t>
            </a:r>
          </a:p>
          <a:p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인스턴스 </a:t>
            </a:r>
            <a:r>
              <a:rPr lang="en-US" altLang="ko-KR" sz="2000" dirty="0">
                <a:solidFill>
                  <a:srgbClr val="FFFFFF"/>
                </a:solidFill>
              </a:rPr>
              <a:t>A</a:t>
            </a:r>
            <a:r>
              <a:rPr lang="ko-KR" altLang="en-US" sz="2000" dirty="0">
                <a:solidFill>
                  <a:srgbClr val="FFFFFF"/>
                </a:solidFill>
              </a:rPr>
              <a:t>에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B</a:t>
            </a:r>
            <a:r>
              <a:rPr lang="ko-KR" altLang="en-US" sz="2000" dirty="0">
                <a:solidFill>
                  <a:srgbClr val="FFFFFF"/>
                </a:solidFill>
              </a:rPr>
              <a:t>를 등록하되</a:t>
            </a:r>
            <a:r>
              <a:rPr lang="en-US" altLang="ko-KR" sz="2000" dirty="0">
                <a:solidFill>
                  <a:srgbClr val="FFFFFF"/>
                </a:solidFill>
              </a:rPr>
              <a:t>, C</a:t>
            </a:r>
            <a:r>
              <a:rPr lang="ko-KR" altLang="en-US" sz="2000" dirty="0">
                <a:solidFill>
                  <a:srgbClr val="FFFFFF"/>
                </a:solidFill>
              </a:rPr>
              <a:t>를 통해 전달된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이벤트의 관찰을 목적으로 등록을 진행</a:t>
            </a:r>
          </a:p>
          <a:p>
            <a:r>
              <a:rPr lang="en-US" altLang="ko-KR" sz="2200" dirty="0" err="1">
                <a:solidFill>
                  <a:srgbClr val="FFFF00"/>
                </a:solidFill>
              </a:rPr>
              <a:t>epoll_ctl</a:t>
            </a:r>
            <a:r>
              <a:rPr lang="en-US" altLang="ko-KR" sz="2200" dirty="0">
                <a:solidFill>
                  <a:srgbClr val="FFFF00"/>
                </a:solidFill>
              </a:rPr>
              <a:t>(A, EPOLL_CTL_DEL,B,C);</a:t>
            </a:r>
          </a:p>
          <a:p>
            <a:r>
              <a:rPr lang="en-US" altLang="ko-KR" sz="2000" dirty="0">
                <a:solidFill>
                  <a:srgbClr val="FFFFFF"/>
                </a:solidFill>
                <a:sym typeface="Wingdings" panose="05000000000000000000" pitchFamily="2" charset="2"/>
              </a:rPr>
              <a:t>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인스턴스 </a:t>
            </a:r>
            <a:r>
              <a:rPr lang="en-US" altLang="ko-KR" sz="2000" dirty="0">
                <a:solidFill>
                  <a:srgbClr val="FFFFFF"/>
                </a:solidFill>
              </a:rPr>
              <a:t>A</a:t>
            </a:r>
            <a:r>
              <a:rPr lang="ko-KR" altLang="en-US" sz="2000" dirty="0">
                <a:solidFill>
                  <a:srgbClr val="FFFFFF"/>
                </a:solidFill>
              </a:rPr>
              <a:t>에서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B</a:t>
            </a:r>
            <a:r>
              <a:rPr lang="ko-KR" altLang="en-US" sz="2000" dirty="0">
                <a:solidFill>
                  <a:srgbClr val="FFFFFF"/>
                </a:solidFill>
              </a:rPr>
              <a:t>를 삭제</a:t>
            </a:r>
          </a:p>
        </p:txBody>
      </p:sp>
    </p:spTree>
    <p:extLst>
      <p:ext uri="{BB962C8B-B14F-4D97-AF65-F5344CB8AC3E}">
        <p14:creationId xmlns:p14="http://schemas.microsoft.com/office/powerpoint/2010/main" val="3843799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DF6CE0-815E-4314-AAFC-1D4FFBF89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15069"/>
            <a:ext cx="10515598" cy="5161894"/>
          </a:xfrm>
        </p:spPr>
        <p:txBody>
          <a:bodyPr>
            <a:normAutofit/>
          </a:bodyPr>
          <a:lstStyle/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EPOLL_CTL_ADD : </a:t>
            </a:r>
            <a:r>
              <a:rPr lang="ko-KR" altLang="en-US" sz="2000" dirty="0">
                <a:solidFill>
                  <a:srgbClr val="FFFFFF"/>
                </a:solidFill>
              </a:rPr>
              <a:t>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인스턴스에 등록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EPOLL_CTL_DEL : </a:t>
            </a:r>
            <a:r>
              <a:rPr lang="ko-KR" altLang="en-US" sz="2000" dirty="0">
                <a:solidFill>
                  <a:srgbClr val="FFFFFF"/>
                </a:solidFill>
              </a:rPr>
              <a:t>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 err="1">
                <a:solidFill>
                  <a:srgbClr val="FFFFFF"/>
                </a:solidFill>
              </a:rPr>
              <a:t>epoll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인스턴스에 삭제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EPOLL_CTL_MOD : </a:t>
            </a:r>
            <a:r>
              <a:rPr lang="ko-KR" altLang="en-US" sz="2000" dirty="0">
                <a:solidFill>
                  <a:srgbClr val="FFFFFF"/>
                </a:solidFill>
              </a:rPr>
              <a:t>등록된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이벤트 발생상황을 변경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epoll_wait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&lt;- </a:t>
            </a:r>
            <a:r>
              <a:rPr lang="ko-KR" altLang="en-US" sz="2000" dirty="0">
                <a:solidFill>
                  <a:srgbClr val="FFFFFF"/>
                </a:solidFill>
              </a:rPr>
              <a:t>가장 마지막에 호출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함수호출 후 </a:t>
            </a:r>
            <a:r>
              <a:rPr lang="ko-KR" altLang="en-US" sz="2000" dirty="0">
                <a:solidFill>
                  <a:srgbClr val="FFFF00"/>
                </a:solidFill>
              </a:rPr>
              <a:t>이벤트가 발생한 파일 </a:t>
            </a:r>
            <a:r>
              <a:rPr lang="ko-KR" altLang="en-US" sz="2000" dirty="0" err="1">
                <a:solidFill>
                  <a:srgbClr val="FFFF00"/>
                </a:solidFill>
              </a:rPr>
              <a:t>디스크립터의</a:t>
            </a:r>
            <a:r>
              <a:rPr lang="ko-KR" altLang="en-US" sz="2000" dirty="0">
                <a:solidFill>
                  <a:srgbClr val="FFFF00"/>
                </a:solidFill>
              </a:rPr>
              <a:t> 수가 반환</a:t>
            </a:r>
            <a:r>
              <a:rPr lang="ko-KR" altLang="en-US" sz="2000" dirty="0">
                <a:solidFill>
                  <a:srgbClr val="FFFFFF"/>
                </a:solidFill>
              </a:rPr>
              <a:t>되고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두 번째 인자로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</a:t>
            </a:r>
            <a:r>
              <a:rPr lang="ko-KR" altLang="en-US" sz="2000" dirty="0">
                <a:solidFill>
                  <a:srgbClr val="FFFFFF"/>
                </a:solidFill>
              </a:rPr>
              <a:t> 전달된 주소 값의 버퍼에는 이벤트가 발생한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디스크립터의</a:t>
            </a:r>
            <a:r>
              <a:rPr lang="ko-KR" altLang="en-US" sz="2000" dirty="0">
                <a:solidFill>
                  <a:srgbClr val="FFFFFF"/>
                </a:solidFill>
              </a:rPr>
              <a:t> 정보가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별도로 묶이기 때문에 </a:t>
            </a:r>
            <a:r>
              <a:rPr lang="en-US" altLang="ko-KR" sz="2000" dirty="0">
                <a:solidFill>
                  <a:srgbClr val="FFFFFF"/>
                </a:solidFill>
              </a:rPr>
              <a:t>select </a:t>
            </a:r>
            <a:r>
              <a:rPr lang="ko-KR" altLang="en-US" sz="2000" dirty="0">
                <a:solidFill>
                  <a:srgbClr val="FFFFFF"/>
                </a:solidFill>
              </a:rPr>
              <a:t>방식에서 보인 전체 파일 </a:t>
            </a:r>
            <a:r>
              <a:rPr lang="ko-KR" altLang="en-US" sz="2000" dirty="0" err="1">
                <a:solidFill>
                  <a:srgbClr val="FFFFFF"/>
                </a:solidFill>
              </a:rPr>
              <a:t>디스크립터를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대상으로 하는 </a:t>
            </a:r>
            <a:r>
              <a:rPr lang="ko-KR" altLang="en-US" sz="2000" dirty="0">
                <a:solidFill>
                  <a:srgbClr val="FFFF00"/>
                </a:solidFill>
              </a:rPr>
              <a:t>반복문의 삽입이 불필요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4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891FDA-2144-4CE2-92B4-908FE611F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72455"/>
            <a:ext cx="10515598" cy="5304508"/>
          </a:xfrm>
        </p:spPr>
        <p:txBody>
          <a:bodyPr>
            <a:normAutofit lnSpcReduction="10000"/>
          </a:bodyPr>
          <a:lstStyle/>
          <a:p>
            <a:r>
              <a:rPr lang="ko-KR" altLang="en-US" sz="2200" dirty="0">
                <a:solidFill>
                  <a:srgbClr val="FFFF00"/>
                </a:solidFill>
              </a:rPr>
              <a:t>레벨 트리거 방식</a:t>
            </a:r>
          </a:p>
          <a:p>
            <a:r>
              <a:rPr lang="ko-KR" altLang="en-US" sz="2000" dirty="0" err="1">
                <a:solidFill>
                  <a:srgbClr val="FFFFFF"/>
                </a:solidFill>
              </a:rPr>
              <a:t>입력버퍼에</a:t>
            </a:r>
            <a:r>
              <a:rPr lang="ko-KR" altLang="en-US" sz="2000" dirty="0">
                <a:solidFill>
                  <a:srgbClr val="FFFFFF"/>
                </a:solidFill>
              </a:rPr>
              <a:t> 데이터가 남아있는 동안에 계속해서 이벤트가 등록되는 방식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200" dirty="0" err="1">
                <a:solidFill>
                  <a:srgbClr val="FFFF00"/>
                </a:solidFill>
              </a:rPr>
              <a:t>엣지</a:t>
            </a:r>
            <a:r>
              <a:rPr lang="ko-KR" altLang="en-US" sz="2200" dirty="0">
                <a:solidFill>
                  <a:srgbClr val="FFFF00"/>
                </a:solidFill>
              </a:rPr>
              <a:t> 트리거 방식 </a:t>
            </a:r>
            <a:endParaRPr lang="en-US" altLang="ko-KR" sz="22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데이터가 수신되면 딱 한번 이벤트가 등록되는 방식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블로킹 방식으로 </a:t>
            </a:r>
            <a:r>
              <a:rPr lang="en-US" altLang="ko-KR" sz="2000" dirty="0">
                <a:solidFill>
                  <a:srgbClr val="FFFFFF"/>
                </a:solidFill>
              </a:rPr>
              <a:t>read &amp; write </a:t>
            </a:r>
            <a:r>
              <a:rPr lang="ko-KR" altLang="en-US" sz="2000" dirty="0">
                <a:solidFill>
                  <a:srgbClr val="FFFFFF"/>
                </a:solidFill>
              </a:rPr>
              <a:t>함수 호출을 하면 서버를 오랜 시간 멈추는 </a:t>
            </a:r>
            <a:r>
              <a:rPr lang="ko-KR" altLang="en-US" sz="2000" dirty="0" err="1">
                <a:solidFill>
                  <a:srgbClr val="FFFFFF"/>
                </a:solidFill>
              </a:rPr>
              <a:t>상황으로까지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이어지게 만들 수 있기에 반드시 넌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ko-KR" altLang="en-US" sz="2000" dirty="0">
                <a:solidFill>
                  <a:srgbClr val="FFFFFF"/>
                </a:solidFill>
              </a:rPr>
              <a:t>블로킹 소켓을 기반으로 </a:t>
            </a:r>
            <a:r>
              <a:rPr lang="en-US" altLang="ko-KR" sz="2000" dirty="0">
                <a:solidFill>
                  <a:srgbClr val="FFFFFF"/>
                </a:solidFill>
              </a:rPr>
              <a:t>read &amp; write </a:t>
            </a:r>
            <a:r>
              <a:rPr lang="ko-KR" altLang="en-US" sz="2000" dirty="0">
                <a:solidFill>
                  <a:srgbClr val="FFFFFF"/>
                </a:solidFill>
              </a:rPr>
              <a:t>함수를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호출 해야함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 err="1">
                <a:solidFill>
                  <a:srgbClr val="FFFF00"/>
                </a:solidFill>
              </a:rPr>
              <a:t>엣지</a:t>
            </a:r>
            <a:r>
              <a:rPr lang="ko-KR" altLang="en-US" sz="2000" dirty="0">
                <a:solidFill>
                  <a:srgbClr val="FFFF00"/>
                </a:solidFill>
              </a:rPr>
              <a:t> 트리거 기반의 서버 구현 배경 지식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1. </a:t>
            </a:r>
            <a:r>
              <a:rPr lang="ko-KR" altLang="en-US" sz="2000" dirty="0">
                <a:solidFill>
                  <a:srgbClr val="FFFFFF"/>
                </a:solidFill>
              </a:rPr>
              <a:t>변수 </a:t>
            </a:r>
            <a:r>
              <a:rPr lang="en-US" altLang="ko-KR" sz="2000" dirty="0" err="1">
                <a:solidFill>
                  <a:srgbClr val="FFFFFF"/>
                </a:solidFill>
              </a:rPr>
              <a:t>errno</a:t>
            </a:r>
            <a:r>
              <a:rPr lang="ko-KR" altLang="en-US" sz="2000" dirty="0">
                <a:solidFill>
                  <a:srgbClr val="FFFFFF"/>
                </a:solidFill>
              </a:rPr>
              <a:t>을 이용한 오류의 원인을 확인하는 방법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넌</a:t>
            </a:r>
            <a:r>
              <a:rPr lang="en-US" altLang="ko-KR" sz="2000" dirty="0">
                <a:solidFill>
                  <a:srgbClr val="FFFFFF"/>
                </a:solidFill>
              </a:rPr>
              <a:t>-</a:t>
            </a:r>
            <a:r>
              <a:rPr lang="ko-KR" altLang="en-US" sz="2000" dirty="0">
                <a:solidFill>
                  <a:srgbClr val="FFFFFF"/>
                </a:solidFill>
              </a:rPr>
              <a:t>블로킹</a:t>
            </a:r>
            <a:r>
              <a:rPr lang="en-US" altLang="ko-KR" sz="2000" dirty="0">
                <a:solidFill>
                  <a:srgbClr val="FFFFFF"/>
                </a:solidFill>
              </a:rPr>
              <a:t>(Non-blocking) IO </a:t>
            </a:r>
            <a:r>
              <a:rPr lang="ko-KR" altLang="en-US" sz="2000" dirty="0">
                <a:solidFill>
                  <a:srgbClr val="FFFFFF"/>
                </a:solidFill>
              </a:rPr>
              <a:t>를 위한 소켓의 특성을 변경하는 방법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 </a:t>
            </a:r>
            <a:r>
              <a:rPr lang="en-US" altLang="ko-KR" sz="2000" dirty="0">
                <a:solidFill>
                  <a:srgbClr val="FFFFFF"/>
                </a:solidFill>
              </a:rPr>
              <a:t>int flag = fcnt1(</a:t>
            </a:r>
            <a:r>
              <a:rPr lang="en-US" altLang="ko-KR" sz="2000" dirty="0" err="1">
                <a:solidFill>
                  <a:srgbClr val="FFFFFF"/>
                </a:solidFill>
              </a:rPr>
              <a:t>fd</a:t>
            </a:r>
            <a:r>
              <a:rPr lang="en-US" altLang="ko-KR" sz="2000" dirty="0">
                <a:solidFill>
                  <a:srgbClr val="FFFFFF"/>
                </a:solidFill>
              </a:rPr>
              <a:t>, F_GETFL, 0 );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   fcnt1(</a:t>
            </a:r>
            <a:r>
              <a:rPr lang="en-US" altLang="ko-KR" sz="2000" dirty="0" err="1">
                <a:solidFill>
                  <a:srgbClr val="FFFFFF"/>
                </a:solidFill>
              </a:rPr>
              <a:t>fd</a:t>
            </a:r>
            <a:r>
              <a:rPr lang="en-US" altLang="ko-KR" sz="2000" dirty="0">
                <a:solidFill>
                  <a:srgbClr val="FFFFFF"/>
                </a:solidFill>
              </a:rPr>
              <a:t>, F_SETFL, </a:t>
            </a:r>
            <a:r>
              <a:rPr lang="en-US" altLang="ko-KR" sz="2000" dirty="0" err="1">
                <a:solidFill>
                  <a:srgbClr val="FFFFFF"/>
                </a:solidFill>
              </a:rPr>
              <a:t>flag|O_NONBLOCK</a:t>
            </a:r>
            <a:r>
              <a:rPr lang="en-US" altLang="ko-KR" sz="2000" dirty="0">
                <a:solidFill>
                  <a:srgbClr val="FFFFFF"/>
                </a:solidFill>
              </a:rPr>
              <a:t>);  </a:t>
            </a:r>
            <a:r>
              <a:rPr lang="en-US" altLang="ko-KR" sz="2000" dirty="0">
                <a:solidFill>
                  <a:srgbClr val="FFFF00"/>
                </a:solidFill>
                <a:sym typeface="Wingdings" panose="05000000000000000000" pitchFamily="2" charset="2"/>
              </a:rPr>
              <a:t>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en-US" altLang="ko-KR" sz="2000" dirty="0" err="1">
                <a:solidFill>
                  <a:srgbClr val="FFFF00"/>
                </a:solidFill>
              </a:rPr>
              <a:t>non_blocking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모드로 변경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965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6C1859-28E6-47CD-8C94-594015DA0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679509"/>
            <a:ext cx="10515598" cy="5497454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쓰레드의 등장배경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멀티프로세스</a:t>
            </a:r>
            <a:r>
              <a:rPr lang="ko-KR" altLang="en-US" sz="2000" dirty="0">
                <a:solidFill>
                  <a:srgbClr val="FFFFFF"/>
                </a:solidFill>
              </a:rPr>
              <a:t> 기반의 </a:t>
            </a:r>
            <a:r>
              <a:rPr lang="ko-KR" altLang="en-US" sz="2000" dirty="0">
                <a:solidFill>
                  <a:srgbClr val="FFFF00"/>
                </a:solidFill>
              </a:rPr>
              <a:t>단점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프로세스 생성이라는 부담스러운 작업과정을 거침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두 프로세스 사이에서의 데이터 교환을 위해서는 별도의 </a:t>
            </a:r>
            <a:r>
              <a:rPr lang="en-US" altLang="ko-KR" sz="2000" dirty="0">
                <a:solidFill>
                  <a:srgbClr val="FFFFFF"/>
                </a:solidFill>
              </a:rPr>
              <a:t>IPC </a:t>
            </a:r>
            <a:r>
              <a:rPr lang="ko-KR" altLang="en-US" sz="2000" dirty="0">
                <a:solidFill>
                  <a:srgbClr val="FFFFFF"/>
                </a:solidFill>
              </a:rPr>
              <a:t>기법을 </a:t>
            </a:r>
            <a:r>
              <a:rPr lang="ko-KR" altLang="en-US" sz="2000" dirty="0" err="1">
                <a:solidFill>
                  <a:srgbClr val="FFFFFF"/>
                </a:solidFill>
              </a:rPr>
              <a:t>적용해야함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3. </a:t>
            </a:r>
            <a:r>
              <a:rPr lang="ko-KR" altLang="en-US" sz="2000" dirty="0">
                <a:solidFill>
                  <a:srgbClr val="FFFFFF"/>
                </a:solidFill>
              </a:rPr>
              <a:t>초당 적게는 수십 번에서 많게는 수천 번 까지 일어나는 </a:t>
            </a:r>
            <a:r>
              <a:rPr lang="en-US" altLang="ko-KR" sz="2000" dirty="0">
                <a:solidFill>
                  <a:srgbClr val="FFFFFF"/>
                </a:solidFill>
              </a:rPr>
              <a:t>'</a:t>
            </a:r>
            <a:r>
              <a:rPr lang="ko-KR" altLang="en-US" sz="2000" dirty="0">
                <a:solidFill>
                  <a:srgbClr val="FFFFFF"/>
                </a:solidFill>
              </a:rPr>
              <a:t>컨텍스트 스위칭</a:t>
            </a:r>
            <a:r>
              <a:rPr lang="en-US" altLang="ko-KR" sz="2000" dirty="0">
                <a:solidFill>
                  <a:srgbClr val="FFFFFF"/>
                </a:solidFill>
              </a:rPr>
              <a:t>'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00"/>
                </a:solidFill>
              </a:rPr>
              <a:t>컨텍스트 스위칭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프로그램의 실행을 위해서는 해당 프로세스의 정보가 메인 메모리에 올라와야 하는데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A </a:t>
            </a:r>
            <a:r>
              <a:rPr lang="ko-KR" altLang="en-US" sz="2000" dirty="0">
                <a:solidFill>
                  <a:srgbClr val="FFFFFF"/>
                </a:solidFill>
              </a:rPr>
              <a:t>프로세스의 뒤를 이어서 </a:t>
            </a:r>
            <a:r>
              <a:rPr lang="en-US" altLang="ko-KR" sz="2000" dirty="0">
                <a:solidFill>
                  <a:srgbClr val="FFFFFF"/>
                </a:solidFill>
              </a:rPr>
              <a:t>B </a:t>
            </a:r>
            <a:r>
              <a:rPr lang="ko-KR" altLang="en-US" sz="2000" dirty="0">
                <a:solidFill>
                  <a:srgbClr val="FFFFFF"/>
                </a:solidFill>
              </a:rPr>
              <a:t>프로세스를 실행시키려면 </a:t>
            </a:r>
            <a:r>
              <a:rPr lang="en-US" altLang="ko-KR" sz="2000" dirty="0">
                <a:solidFill>
                  <a:srgbClr val="FFFFFF"/>
                </a:solidFill>
              </a:rPr>
              <a:t>A </a:t>
            </a:r>
            <a:r>
              <a:rPr lang="ko-KR" altLang="en-US" sz="2000" dirty="0">
                <a:solidFill>
                  <a:srgbClr val="FFFFFF"/>
                </a:solidFill>
              </a:rPr>
              <a:t>프로세스 관련 데이터를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메인 메모리에서 내리고 </a:t>
            </a:r>
            <a:r>
              <a:rPr lang="en-US" altLang="ko-KR" sz="2000" dirty="0">
                <a:solidFill>
                  <a:srgbClr val="FFFFFF"/>
                </a:solidFill>
              </a:rPr>
              <a:t>B </a:t>
            </a:r>
            <a:r>
              <a:rPr lang="ko-KR" altLang="en-US" sz="2000" dirty="0">
                <a:solidFill>
                  <a:srgbClr val="FFFFFF"/>
                </a:solidFill>
              </a:rPr>
              <a:t>프로세스 관련 데이터를 메인 메모리로 이동시켜야 하는 과정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이러한 </a:t>
            </a:r>
            <a:r>
              <a:rPr lang="ko-KR" altLang="en-US" sz="2000" dirty="0">
                <a:solidFill>
                  <a:srgbClr val="FFFF00"/>
                </a:solidFill>
              </a:rPr>
              <a:t>단점을 어느 정도 극복하기 위해서 쓰레드가 나오게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416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C4F15F-B412-4120-9CBB-8AAA994C6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13733"/>
            <a:ext cx="10515598" cy="5363230"/>
          </a:xfrm>
        </p:spPr>
        <p:txBody>
          <a:bodyPr>
            <a:normAutofit/>
          </a:bodyPr>
          <a:lstStyle/>
          <a:p>
            <a:endParaRPr lang="ko-KR" altLang="en-US" sz="2000" dirty="0">
              <a:solidFill>
                <a:srgbClr val="FFFFFF"/>
              </a:solidFill>
            </a:endParaRPr>
          </a:p>
          <a:p>
            <a:endParaRPr lang="en-US" altLang="ko-KR" sz="2600" dirty="0">
              <a:solidFill>
                <a:srgbClr val="FFFF00"/>
              </a:solidFill>
            </a:endParaRPr>
          </a:p>
          <a:p>
            <a:r>
              <a:rPr lang="ko-KR" altLang="en-US" sz="2600" dirty="0">
                <a:solidFill>
                  <a:srgbClr val="FFFF00"/>
                </a:solidFill>
              </a:rPr>
              <a:t>쓰레드 </a:t>
            </a:r>
            <a:r>
              <a:rPr lang="en-US" altLang="ko-KR" sz="2600" dirty="0">
                <a:solidFill>
                  <a:srgbClr val="FFFF00"/>
                </a:solidFill>
              </a:rPr>
              <a:t>= '</a:t>
            </a:r>
            <a:r>
              <a:rPr lang="ko-KR" altLang="en-US" sz="2600" dirty="0">
                <a:solidFill>
                  <a:srgbClr val="FFFF00"/>
                </a:solidFill>
              </a:rPr>
              <a:t>경량화 된 프로세스</a:t>
            </a:r>
            <a:r>
              <a:rPr lang="en-US" altLang="ko-KR" sz="2600" dirty="0">
                <a:solidFill>
                  <a:srgbClr val="FFFF00"/>
                </a:solidFill>
              </a:rPr>
              <a:t>'</a:t>
            </a:r>
          </a:p>
          <a:p>
            <a:r>
              <a:rPr lang="ko-KR" altLang="en-US" sz="2000" dirty="0">
                <a:solidFill>
                  <a:srgbClr val="FFFF00"/>
                </a:solidFill>
              </a:rPr>
              <a:t>장점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1. </a:t>
            </a:r>
            <a:r>
              <a:rPr lang="ko-KR" altLang="en-US" sz="2000" dirty="0">
                <a:solidFill>
                  <a:srgbClr val="FFFFFF"/>
                </a:solidFill>
              </a:rPr>
              <a:t>쓰레드의 생성 및 컨텍스트 </a:t>
            </a:r>
            <a:r>
              <a:rPr lang="ko-KR" altLang="en-US" sz="2000" dirty="0" err="1">
                <a:solidFill>
                  <a:srgbClr val="FFFFFF"/>
                </a:solidFill>
              </a:rPr>
              <a:t>스위칭은</a:t>
            </a:r>
            <a:r>
              <a:rPr lang="ko-KR" altLang="en-US" sz="2000" dirty="0">
                <a:solidFill>
                  <a:srgbClr val="FFFFFF"/>
                </a:solidFill>
              </a:rPr>
              <a:t> 프로세스의 생성 및 컨텍스트 스위칭 보다 빠르다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2. </a:t>
            </a:r>
            <a:r>
              <a:rPr lang="ko-KR" altLang="en-US" sz="2000" dirty="0">
                <a:solidFill>
                  <a:srgbClr val="FFFFFF"/>
                </a:solidFill>
              </a:rPr>
              <a:t>쓰레드 사이에서의 데이터 교환에는 특별한 기법이 필요하지 않다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둘 이상의 실행흐름을 갖는 것이 목적이라면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완전히 메모리 구조를 분리시킬 것이 아니라</a:t>
            </a:r>
            <a:r>
              <a:rPr lang="en-US" altLang="ko-KR" sz="2000" dirty="0">
                <a:solidFill>
                  <a:srgbClr val="FFFFFF"/>
                </a:solidFill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스택 영역만을 분리시킴으로써 컨텍스트 스위칭 시 데이터 영역과 </a:t>
            </a:r>
            <a:r>
              <a:rPr lang="ko-KR" altLang="en-US" sz="2000" dirty="0" err="1">
                <a:solidFill>
                  <a:srgbClr val="FFFFFF"/>
                </a:solidFill>
              </a:rPr>
              <a:t>힙은</a:t>
            </a:r>
            <a:r>
              <a:rPr lang="ko-KR" altLang="en-US" sz="2000" dirty="0">
                <a:solidFill>
                  <a:srgbClr val="FFFFFF"/>
                </a:solidFill>
              </a:rPr>
              <a:t> 올리고 내릴 필요가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없게 만들고 데이터 영역과 </a:t>
            </a:r>
            <a:r>
              <a:rPr lang="ko-KR" altLang="en-US" sz="2000" dirty="0" err="1">
                <a:solidFill>
                  <a:srgbClr val="FFFFFF"/>
                </a:solidFill>
              </a:rPr>
              <a:t>힙을</a:t>
            </a:r>
            <a:r>
              <a:rPr lang="ko-KR" altLang="en-US" sz="2000" dirty="0">
                <a:solidFill>
                  <a:srgbClr val="FFFFFF"/>
                </a:solidFill>
              </a:rPr>
              <a:t> 이용해서 데이터를 교환 할 수 있게 만들 수 있다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165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BB5268-FAF2-4744-9E47-1AE3A155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288"/>
            <a:ext cx="10515600" cy="5329675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FFFFFF"/>
                </a:solidFill>
              </a:rPr>
              <a:t>즉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쓰레드는 스택 영역만 독립적으로 유지하기 하므로 다음의 메모리 구조를 보인다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프로세스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운영체제 관점에서 별도의 실행흐름을 구성하는 단위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쓰레드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프로세스 관점에서 별도의 실행흐름을 구성하는 단위</a:t>
            </a:r>
            <a:endParaRPr lang="ko-KR" altLang="en-US" sz="2000" dirty="0"/>
          </a:p>
        </p:txBody>
      </p:sp>
      <p:pic>
        <p:nvPicPr>
          <p:cNvPr id="3074" name="Picture 2" descr="ì°ë ëì ëí ì´ë¯¸ì§ ê²ìê²°ê³¼">
            <a:extLst>
              <a:ext uri="{FF2B5EF4-FFF2-40B4-BE49-F238E27FC236}">
                <a16:creationId xmlns:a16="http://schemas.microsoft.com/office/drawing/2014/main" id="{42EA39E0-76D5-478E-B3AA-0138589AF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591" y="2594558"/>
            <a:ext cx="4352925" cy="382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638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7E1DC-E580-4AEE-AF46-4E555C76F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813733"/>
            <a:ext cx="10515598" cy="536323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쓰레드의 생성과 실행흐름의 구성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쓰레드의 실행을 하는 시간이 있는데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이를 </a:t>
            </a:r>
            <a:r>
              <a:rPr lang="en-US" altLang="ko-KR" sz="2000" dirty="0">
                <a:solidFill>
                  <a:srgbClr val="FFFFFF"/>
                </a:solidFill>
              </a:rPr>
              <a:t>sleep </a:t>
            </a:r>
            <a:r>
              <a:rPr lang="ko-KR" altLang="en-US" sz="2000" dirty="0">
                <a:solidFill>
                  <a:srgbClr val="FFFFFF"/>
                </a:solidFill>
              </a:rPr>
              <a:t>함수로 그 시간을 예측하는 것은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불가능하므로 </a:t>
            </a:r>
            <a:r>
              <a:rPr lang="en-US" altLang="ko-KR" sz="2000" dirty="0" err="1">
                <a:solidFill>
                  <a:srgbClr val="FFFFFF"/>
                </a:solidFill>
              </a:rPr>
              <a:t>pthread_join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함수를 써서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쓰레드의 실행흐름을 조절함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endParaRPr lang="en-US" altLang="ko-KR" sz="2000" dirty="0">
              <a:solidFill>
                <a:srgbClr val="FFFF00"/>
              </a:solidFill>
            </a:endParaRPr>
          </a:p>
          <a:p>
            <a:r>
              <a:rPr lang="en-US" altLang="ko-KR" sz="2000" dirty="0" err="1">
                <a:solidFill>
                  <a:srgbClr val="FFFF00"/>
                </a:solidFill>
              </a:rPr>
              <a:t>pthread_join</a:t>
            </a:r>
            <a:r>
              <a:rPr lang="en-US" altLang="ko-KR" sz="2000" dirty="0">
                <a:solidFill>
                  <a:srgbClr val="FFFF00"/>
                </a:solidFill>
              </a:rPr>
              <a:t> </a:t>
            </a:r>
            <a:r>
              <a:rPr lang="ko-KR" altLang="en-US" sz="2000" dirty="0">
                <a:solidFill>
                  <a:srgbClr val="FFFF00"/>
                </a:solidFill>
              </a:rPr>
              <a:t>좋은 점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ID</a:t>
            </a:r>
            <a:r>
              <a:rPr lang="ko-KR" altLang="en-US" sz="2000" dirty="0">
                <a:solidFill>
                  <a:srgbClr val="FFFFFF"/>
                </a:solidFill>
              </a:rPr>
              <a:t>의 쓰레드가 종료될 때 까지 함수를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호출한 프로세스를 대기상태에 둘 뿐만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아니라 쓰레드의 </a:t>
            </a:r>
            <a:r>
              <a:rPr lang="en-US" altLang="ko-KR" sz="2000" dirty="0">
                <a:solidFill>
                  <a:srgbClr val="FFFFFF"/>
                </a:solidFill>
              </a:rPr>
              <a:t>main </a:t>
            </a:r>
            <a:r>
              <a:rPr lang="ko-KR" altLang="en-US" sz="2000" dirty="0">
                <a:solidFill>
                  <a:srgbClr val="FFFFFF"/>
                </a:solidFill>
              </a:rPr>
              <a:t>함수가 반환하는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값까지 얻을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4098" name="Picture 2" descr="ê´ë ¨ ì´ë¯¸ì§">
            <a:extLst>
              <a:ext uri="{FF2B5EF4-FFF2-40B4-BE49-F238E27FC236}">
                <a16:creationId xmlns:a16="http://schemas.microsoft.com/office/drawing/2014/main" id="{FE4974BC-C686-4B8C-AB73-12D93CA80A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66"/>
          <a:stretch/>
        </p:blipFill>
        <p:spPr bwMode="auto">
          <a:xfrm>
            <a:off x="5804773" y="813733"/>
            <a:ext cx="3375377" cy="247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ê´ë ¨ ì´ë¯¸ì§">
            <a:extLst>
              <a:ext uri="{FF2B5EF4-FFF2-40B4-BE49-F238E27FC236}">
                <a16:creationId xmlns:a16="http://schemas.microsoft.com/office/drawing/2014/main" id="{296315D1-B688-4A5F-A7EB-3AC54B4D41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6"/>
          <a:stretch/>
        </p:blipFill>
        <p:spPr bwMode="auto">
          <a:xfrm>
            <a:off x="6028978" y="3571044"/>
            <a:ext cx="3137891" cy="288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8237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3CE284-6375-4104-9148-77BECC8AB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71787"/>
            <a:ext cx="10515598" cy="5405175"/>
          </a:xfrm>
        </p:spPr>
        <p:txBody>
          <a:bodyPr>
            <a:normAutofit/>
          </a:bodyPr>
          <a:lstStyle/>
          <a:p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임계영역 함수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둘 이상의 쓰레드를 동시에 실행하면 문제를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FF"/>
                </a:solidFill>
              </a:rPr>
              <a:t> 일으키는 문장이 하나 이상 존재하는 함수</a:t>
            </a:r>
          </a:p>
          <a:p>
            <a:pPr marL="0" indent="0">
              <a:buNone/>
            </a:pPr>
            <a:endParaRPr lang="en-US" altLang="ko-KR" sz="2400" dirty="0">
              <a:solidFill>
                <a:srgbClr val="FFFF00"/>
              </a:solidFill>
            </a:endParaRPr>
          </a:p>
          <a:p>
            <a:r>
              <a:rPr lang="ko-KR" altLang="en-US" sz="2400" dirty="0">
                <a:solidFill>
                  <a:srgbClr val="FFFF00"/>
                </a:solidFill>
              </a:rPr>
              <a:t>워커 쓰레드 모델 </a:t>
            </a:r>
            <a:endParaRPr lang="en-US" altLang="ko-KR" sz="24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일꾼 형태를 띠며 두 개의 쓰레드를 생성해서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연산작업을 하게 하고 </a:t>
            </a:r>
            <a:r>
              <a:rPr lang="en-US" altLang="ko-KR" sz="2000" dirty="0">
                <a:solidFill>
                  <a:srgbClr val="FFFFFF"/>
                </a:solidFill>
              </a:rPr>
              <a:t>main </a:t>
            </a:r>
            <a:r>
              <a:rPr lang="ko-KR" altLang="en-US" sz="2000" dirty="0">
                <a:solidFill>
                  <a:srgbClr val="FFFFFF"/>
                </a:solidFill>
              </a:rPr>
              <a:t>함수에서는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</a:t>
            </a:r>
            <a:r>
              <a:rPr lang="ko-KR" altLang="en-US" sz="2000" dirty="0">
                <a:solidFill>
                  <a:srgbClr val="FFFFFF"/>
                </a:solidFill>
              </a:rPr>
              <a:t>단지 연산결과를 출력하는 형태</a:t>
            </a:r>
          </a:p>
          <a:p>
            <a:endParaRPr lang="ko-KR" altLang="en-US" sz="2000" dirty="0">
              <a:solidFill>
                <a:srgbClr val="FFFFFF"/>
              </a:solidFill>
            </a:endParaRPr>
          </a:p>
        </p:txBody>
      </p:sp>
      <p:pic>
        <p:nvPicPr>
          <p:cNvPr id="5124" name="Picture 4" descr="ìì»¤ ì°ë ë ëª¨ë¸ì ëí ì´ë¯¸ì§ ê²ìê²°ê³¼">
            <a:extLst>
              <a:ext uri="{FF2B5EF4-FFF2-40B4-BE49-F238E27FC236}">
                <a16:creationId xmlns:a16="http://schemas.microsoft.com/office/drawing/2014/main" id="{5A8494E5-37B1-4072-A6FC-7969173CE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472" y="1890712"/>
            <a:ext cx="523875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210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97000-4729-41D6-9842-C188CD32B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90575"/>
            <a:ext cx="10515598" cy="57531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void * </a:t>
            </a:r>
            <a:r>
              <a:rPr lang="en-US" altLang="ko-KR" sz="2000" dirty="0" err="1">
                <a:solidFill>
                  <a:srgbClr val="FFFFFF"/>
                </a:solidFill>
              </a:rPr>
              <a:t>thread_inc</a:t>
            </a:r>
            <a:r>
              <a:rPr lang="en-US" altLang="ko-KR" sz="2000" dirty="0">
                <a:solidFill>
                  <a:srgbClr val="FFFFFF"/>
                </a:solidFill>
              </a:rPr>
              <a:t>(void* </a:t>
            </a:r>
            <a:r>
              <a:rPr lang="en-US" altLang="ko-KR" sz="2000" dirty="0" err="1">
                <a:solidFill>
                  <a:srgbClr val="FFFFFF"/>
                </a:solidFill>
              </a:rPr>
              <a:t>arg</a:t>
            </a:r>
            <a:r>
              <a:rPr lang="en-US" altLang="ko-KR" sz="2000" dirty="0">
                <a:solidFill>
                  <a:srgbClr val="FFFFFF"/>
                </a:solidFill>
              </a:rPr>
              <a:t>)		</a:t>
            </a:r>
            <a:r>
              <a:rPr lang="ko-KR" altLang="en-US" sz="2600" dirty="0">
                <a:solidFill>
                  <a:srgbClr val="FFFF00"/>
                </a:solidFill>
              </a:rPr>
              <a:t>쓰레드의 문제점과 임계 영역</a:t>
            </a:r>
            <a:endParaRPr lang="en-US" altLang="ko-KR" sz="2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{			</a:t>
            </a:r>
            <a:r>
              <a:rPr lang="en-US" altLang="ko-KR" sz="2200" dirty="0">
                <a:solidFill>
                  <a:srgbClr val="FFFFFF"/>
                </a:solidFill>
              </a:rPr>
              <a:t>             </a:t>
            </a:r>
            <a:r>
              <a:rPr lang="ko-KR" altLang="en-US" sz="2200" dirty="0">
                <a:solidFill>
                  <a:srgbClr val="FFFFFF"/>
                </a:solidFill>
              </a:rPr>
              <a:t>하나의 변수에 둘 이상의 쓰레드가 동시에 접근하는 것이 문제</a:t>
            </a:r>
            <a:r>
              <a:rPr lang="en-US" altLang="ko-KR" sz="2200" dirty="0">
                <a:solidFill>
                  <a:srgbClr val="FFFFFF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int 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;					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for (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=0; 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&lt;50000000;i++)                           </a:t>
            </a:r>
            <a:r>
              <a:rPr lang="ko-KR" altLang="en-US" sz="2000" dirty="0">
                <a:solidFill>
                  <a:srgbClr val="FFFFFF"/>
                </a:solidFill>
              </a:rPr>
              <a:t>문제 발생 상황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num +=1;			 1. </a:t>
            </a:r>
            <a:r>
              <a:rPr lang="ko-KR" altLang="en-US" sz="2000" dirty="0">
                <a:solidFill>
                  <a:srgbClr val="FFFFFF"/>
                </a:solidFill>
              </a:rPr>
              <a:t>두 쓰레드가 동시에 </a:t>
            </a:r>
            <a:r>
              <a:rPr lang="en-US" altLang="ko-KR" sz="2000" dirty="0" err="1">
                <a:solidFill>
                  <a:srgbClr val="FFFFFF"/>
                </a:solidFill>
              </a:rPr>
              <a:t>thread_inc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함수를 실행하는 경우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return NULL;			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2. </a:t>
            </a:r>
            <a:r>
              <a:rPr lang="ko-KR" altLang="en-US" sz="2000" dirty="0">
                <a:solidFill>
                  <a:srgbClr val="FFFFFF"/>
                </a:solidFill>
              </a:rPr>
              <a:t>두 쓰레드가 동시에 </a:t>
            </a:r>
            <a:r>
              <a:rPr lang="en-US" altLang="ko-KR" sz="2000" dirty="0" err="1">
                <a:solidFill>
                  <a:srgbClr val="FFFFFF"/>
                </a:solidFill>
              </a:rPr>
              <a:t>thread_des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함수를 실행하는 경우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}				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en-US" altLang="ko-KR" sz="2000" dirty="0">
                <a:solidFill>
                  <a:srgbClr val="FFFFFF"/>
                </a:solidFill>
              </a:rPr>
              <a:t>3. </a:t>
            </a:r>
            <a:r>
              <a:rPr lang="ko-KR" altLang="en-US" sz="2000" dirty="0">
                <a:solidFill>
                  <a:srgbClr val="FFFFFF"/>
                </a:solidFill>
              </a:rPr>
              <a:t>두 쓰레드가 각각 </a:t>
            </a:r>
            <a:r>
              <a:rPr lang="en-US" altLang="ko-KR" sz="2000" dirty="0" err="1">
                <a:solidFill>
                  <a:srgbClr val="FFFFFF"/>
                </a:solidFill>
              </a:rPr>
              <a:t>thread_inc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함수와 </a:t>
            </a:r>
            <a:r>
              <a:rPr lang="en-US" altLang="ko-KR" sz="2000" dirty="0" err="1">
                <a:solidFill>
                  <a:srgbClr val="FFFFFF"/>
                </a:solidFill>
              </a:rPr>
              <a:t>thread_des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함수를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void * </a:t>
            </a:r>
            <a:r>
              <a:rPr lang="en-US" altLang="ko-KR" sz="2000" dirty="0" err="1">
                <a:solidFill>
                  <a:srgbClr val="FFFFFF"/>
                </a:solidFill>
              </a:rPr>
              <a:t>thread_des</a:t>
            </a:r>
            <a:r>
              <a:rPr lang="en-US" altLang="ko-KR" sz="2000" dirty="0">
                <a:solidFill>
                  <a:srgbClr val="FFFFFF"/>
                </a:solidFill>
              </a:rPr>
              <a:t>(void* </a:t>
            </a:r>
            <a:r>
              <a:rPr lang="en-US" altLang="ko-KR" sz="2000" dirty="0" err="1">
                <a:solidFill>
                  <a:srgbClr val="FFFFFF"/>
                </a:solidFill>
              </a:rPr>
              <a:t>arg</a:t>
            </a:r>
            <a:r>
              <a:rPr lang="en-US" altLang="ko-KR" sz="2000" dirty="0">
                <a:solidFill>
                  <a:srgbClr val="FFFFFF"/>
                </a:solidFill>
              </a:rPr>
              <a:t>)	</a:t>
            </a:r>
            <a:r>
              <a:rPr lang="ko-KR" altLang="en-US" sz="2000" dirty="0">
                <a:solidFill>
                  <a:srgbClr val="FFFFFF"/>
                </a:solidFill>
              </a:rPr>
              <a:t>    동시에 실행하는 경우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{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int 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 ;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for (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=0; </a:t>
            </a:r>
            <a:r>
              <a:rPr lang="en-US" altLang="ko-KR" sz="2000" dirty="0" err="1">
                <a:solidFill>
                  <a:srgbClr val="FFFFFF"/>
                </a:solidFill>
              </a:rPr>
              <a:t>i</a:t>
            </a:r>
            <a:r>
              <a:rPr lang="en-US" altLang="ko-KR" sz="2000" dirty="0">
                <a:solidFill>
                  <a:srgbClr val="FFFFFF"/>
                </a:solidFill>
              </a:rPr>
              <a:t>&lt;50000000;i++)                       </a:t>
            </a:r>
            <a:r>
              <a:rPr lang="ko-KR" altLang="en-US" sz="2400" dirty="0">
                <a:solidFill>
                  <a:srgbClr val="FFFF00"/>
                </a:solidFill>
              </a:rPr>
              <a:t>변수 </a:t>
            </a:r>
            <a:r>
              <a:rPr lang="en-US" altLang="ko-KR" sz="2400" dirty="0">
                <a:solidFill>
                  <a:srgbClr val="FFFF00"/>
                </a:solidFill>
              </a:rPr>
              <a:t>num</a:t>
            </a:r>
            <a:r>
              <a:rPr lang="ko-KR" altLang="en-US" sz="2400" dirty="0">
                <a:solidFill>
                  <a:srgbClr val="FFFF00"/>
                </a:solidFill>
              </a:rPr>
              <a:t>에 접근하는 두 문장이 임계영역에 해당함</a:t>
            </a:r>
            <a:r>
              <a:rPr lang="en-US" altLang="ko-KR" sz="2400" dirty="0">
                <a:solidFill>
                  <a:srgbClr val="FFFF00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num -=1;			</a:t>
            </a:r>
            <a:r>
              <a:rPr lang="ko-KR" altLang="en-US" sz="2000" dirty="0">
                <a:solidFill>
                  <a:srgbClr val="FFFFFF"/>
                </a:solidFill>
              </a:rPr>
              <a:t>이 두 문장은 둘 이상의 쓰레드에 의해서 동시에 실행되도록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return NULL;		                </a:t>
            </a:r>
            <a:r>
              <a:rPr lang="ko-KR" altLang="en-US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 err="1">
                <a:solidFill>
                  <a:srgbClr val="FFFFFF"/>
                </a:solidFill>
              </a:rPr>
              <a:t>구현되어있는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문제를 </a:t>
            </a:r>
            <a:r>
              <a:rPr lang="ko-KR" altLang="en-US" sz="2000" dirty="0" err="1">
                <a:solidFill>
                  <a:srgbClr val="FFFFFF"/>
                </a:solidFill>
              </a:rPr>
              <a:t>일의는</a:t>
            </a:r>
            <a:r>
              <a:rPr lang="ko-KR" altLang="en-US" sz="2000" dirty="0">
                <a:solidFill>
                  <a:srgbClr val="FFFFFF"/>
                </a:solidFill>
              </a:rPr>
              <a:t> 직접적인 원인임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}</a:t>
            </a:r>
            <a:r>
              <a:rPr lang="ko-KR" altLang="en-US" sz="2000" dirty="0">
                <a:solidFill>
                  <a:srgbClr val="FFFFFF"/>
                </a:solidFill>
              </a:rPr>
              <a:t>                                 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200" dirty="0">
                <a:solidFill>
                  <a:srgbClr val="FFFFFF"/>
                </a:solidFill>
              </a:rPr>
              <a:t>                                                    </a:t>
            </a:r>
            <a:r>
              <a:rPr lang="ko-KR" altLang="en-US" sz="2200" dirty="0">
                <a:solidFill>
                  <a:srgbClr val="FFFFFF"/>
                </a:solidFill>
              </a:rPr>
              <a:t>즉</a:t>
            </a:r>
            <a:r>
              <a:rPr lang="en-US" altLang="ko-KR" sz="2200" dirty="0">
                <a:solidFill>
                  <a:srgbClr val="FFFFFF"/>
                </a:solidFill>
              </a:rPr>
              <a:t>, </a:t>
            </a:r>
            <a:r>
              <a:rPr lang="ko-KR" altLang="en-US" sz="2200" dirty="0">
                <a:solidFill>
                  <a:srgbClr val="FFFFFF"/>
                </a:solidFill>
              </a:rPr>
              <a:t>쓰레드 </a:t>
            </a:r>
            <a:r>
              <a:rPr lang="en-US" altLang="ko-KR" sz="2200" dirty="0">
                <a:solidFill>
                  <a:srgbClr val="FFFFFF"/>
                </a:solidFill>
              </a:rPr>
              <a:t>1</a:t>
            </a:r>
            <a:r>
              <a:rPr lang="ko-KR" altLang="en-US" sz="2200" dirty="0">
                <a:solidFill>
                  <a:srgbClr val="FFFFFF"/>
                </a:solidFill>
              </a:rPr>
              <a:t>이 </a:t>
            </a:r>
            <a:r>
              <a:rPr lang="en-US" altLang="ko-KR" sz="2200" dirty="0" err="1">
                <a:solidFill>
                  <a:srgbClr val="FFFFFF"/>
                </a:solidFill>
              </a:rPr>
              <a:t>thread_inc</a:t>
            </a:r>
            <a:r>
              <a:rPr lang="en-US" altLang="ko-KR" sz="2200" dirty="0">
                <a:solidFill>
                  <a:srgbClr val="FFFFFF"/>
                </a:solidFill>
              </a:rPr>
              <a:t> </a:t>
            </a:r>
            <a:r>
              <a:rPr lang="ko-KR" altLang="en-US" sz="2200" dirty="0">
                <a:solidFill>
                  <a:srgbClr val="FFFFFF"/>
                </a:solidFill>
              </a:rPr>
              <a:t>함수의 문장 </a:t>
            </a:r>
            <a:r>
              <a:rPr lang="en-US" altLang="ko-KR" sz="2200" dirty="0">
                <a:solidFill>
                  <a:srgbClr val="FFFFFF"/>
                </a:solidFill>
              </a:rPr>
              <a:t>num+=1 </a:t>
            </a:r>
            <a:r>
              <a:rPr lang="ko-KR" altLang="en-US" sz="2200" dirty="0">
                <a:solidFill>
                  <a:srgbClr val="FFFFFF"/>
                </a:solidFill>
              </a:rPr>
              <a:t>을 실행할 때</a:t>
            </a:r>
            <a:endParaRPr lang="en-US" altLang="ko-KR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200" dirty="0">
                <a:solidFill>
                  <a:srgbClr val="FFFFFF"/>
                </a:solidFill>
              </a:rPr>
              <a:t>                                                   동시에</a:t>
            </a:r>
            <a:r>
              <a:rPr lang="en-US" altLang="ko-KR" sz="2200" dirty="0">
                <a:solidFill>
                  <a:srgbClr val="FFFFFF"/>
                </a:solidFill>
              </a:rPr>
              <a:t>,</a:t>
            </a:r>
            <a:r>
              <a:rPr lang="ko-KR" altLang="en-US" sz="2200" dirty="0">
                <a:solidFill>
                  <a:srgbClr val="FFFFFF"/>
                </a:solidFill>
              </a:rPr>
              <a:t> 쓰레드</a:t>
            </a:r>
            <a:r>
              <a:rPr lang="en-US" altLang="ko-KR" sz="2200" dirty="0">
                <a:solidFill>
                  <a:srgbClr val="FFFFFF"/>
                </a:solidFill>
              </a:rPr>
              <a:t>2</a:t>
            </a:r>
            <a:r>
              <a:rPr lang="ko-KR" altLang="en-US" sz="2200" dirty="0">
                <a:solidFill>
                  <a:srgbClr val="FFFFFF"/>
                </a:solidFill>
              </a:rPr>
              <a:t>가 </a:t>
            </a:r>
            <a:r>
              <a:rPr lang="en-US" altLang="ko-KR" sz="2200" dirty="0" err="1">
                <a:solidFill>
                  <a:srgbClr val="FFFFFF"/>
                </a:solidFill>
              </a:rPr>
              <a:t>thread_des</a:t>
            </a:r>
            <a:r>
              <a:rPr lang="en-US" altLang="ko-KR" sz="2200" dirty="0">
                <a:solidFill>
                  <a:srgbClr val="FFFFFF"/>
                </a:solidFill>
              </a:rPr>
              <a:t> </a:t>
            </a:r>
            <a:r>
              <a:rPr lang="ko-KR" altLang="en-US" sz="2200" dirty="0">
                <a:solidFill>
                  <a:srgbClr val="FFFFFF"/>
                </a:solidFill>
              </a:rPr>
              <a:t>함수의 문장 </a:t>
            </a:r>
            <a:r>
              <a:rPr lang="en-US" altLang="ko-KR" sz="2200" dirty="0">
                <a:solidFill>
                  <a:srgbClr val="FFFFFF"/>
                </a:solidFill>
              </a:rPr>
              <a:t>num-=1</a:t>
            </a:r>
            <a:r>
              <a:rPr lang="ko-KR" altLang="en-US" sz="2200" dirty="0">
                <a:solidFill>
                  <a:srgbClr val="FFFFFF"/>
                </a:solidFill>
              </a:rPr>
              <a:t>을 실행하는 상황</a:t>
            </a:r>
          </a:p>
        </p:txBody>
      </p:sp>
    </p:spTree>
    <p:extLst>
      <p:ext uri="{BB962C8B-B14F-4D97-AF65-F5344CB8AC3E}">
        <p14:creationId xmlns:p14="http://schemas.microsoft.com/office/powerpoint/2010/main" val="841194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FACE02-0577-4C00-A49D-5C9F25332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14375"/>
            <a:ext cx="10515598" cy="5791200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FF00"/>
                </a:solidFill>
              </a:rPr>
              <a:t>쓰레드 동기화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1. </a:t>
            </a:r>
            <a:r>
              <a:rPr lang="ko-KR" altLang="en-US" sz="2000" dirty="0" err="1">
                <a:solidFill>
                  <a:srgbClr val="FFFF00"/>
                </a:solidFill>
              </a:rPr>
              <a:t>뮤텍스</a:t>
            </a:r>
            <a:endParaRPr lang="ko-KR" altLang="en-US" sz="2000" dirty="0">
              <a:solidFill>
                <a:srgbClr val="FFFF00"/>
              </a:solidFill>
            </a:endParaRPr>
          </a:p>
          <a:p>
            <a:r>
              <a:rPr lang="ko-KR" altLang="en-US" sz="2000" dirty="0">
                <a:solidFill>
                  <a:srgbClr val="FFFFFF"/>
                </a:solidFill>
              </a:rPr>
              <a:t>    동시접근을 허용하지 </a:t>
            </a:r>
            <a:r>
              <a:rPr lang="ko-KR" altLang="en-US" sz="2000" dirty="0" err="1">
                <a:solidFill>
                  <a:srgbClr val="FFFFFF"/>
                </a:solidFill>
              </a:rPr>
              <a:t>않게하고</a:t>
            </a:r>
            <a:r>
              <a:rPr lang="ko-KR" altLang="en-US" sz="2000" dirty="0">
                <a:solidFill>
                  <a:srgbClr val="FFFFFF"/>
                </a:solidFill>
              </a:rPr>
              <a:t> 주로 쓰레드의 동기접근에 대한 해결책으로 사용됨 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>
                <a:solidFill>
                  <a:srgbClr val="FFFFFF"/>
                </a:solidFill>
              </a:rPr>
              <a:t>ex) </a:t>
            </a:r>
            <a:r>
              <a:rPr lang="ko-KR" altLang="en-US" sz="2000" dirty="0">
                <a:solidFill>
                  <a:srgbClr val="FFFFFF"/>
                </a:solidFill>
              </a:rPr>
              <a:t>임계영역 </a:t>
            </a:r>
            <a:r>
              <a:rPr lang="en-US" altLang="ko-KR" sz="2000" dirty="0">
                <a:solidFill>
                  <a:srgbClr val="FFFFFF"/>
                </a:solidFill>
              </a:rPr>
              <a:t>: </a:t>
            </a:r>
            <a:r>
              <a:rPr lang="ko-KR" altLang="en-US" sz="2000" dirty="0">
                <a:solidFill>
                  <a:srgbClr val="FFFFFF"/>
                </a:solidFill>
              </a:rPr>
              <a:t>화장실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한 사람이 나와야 다른 사람이 들어가는 형식 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ko-KR" altLang="en-US" sz="2000" dirty="0">
                <a:solidFill>
                  <a:srgbClr val="FFFFFF"/>
                </a:solidFill>
              </a:rPr>
              <a:t>자물쇠 시스템</a:t>
            </a:r>
            <a:r>
              <a:rPr lang="en-US" altLang="ko-KR" sz="2000" dirty="0">
                <a:solidFill>
                  <a:srgbClr val="FFFFFF"/>
                </a:solidFill>
              </a:rPr>
              <a:t>)  </a:t>
            </a:r>
          </a:p>
          <a:p>
            <a:r>
              <a:rPr lang="en-US" altLang="ko-KR" sz="2000" dirty="0">
                <a:solidFill>
                  <a:srgbClr val="FFFF00"/>
                </a:solidFill>
              </a:rPr>
              <a:t>2. </a:t>
            </a:r>
            <a:r>
              <a:rPr lang="ko-KR" altLang="en-US" sz="2000" dirty="0" err="1">
                <a:solidFill>
                  <a:srgbClr val="FFFF00"/>
                </a:solidFill>
              </a:rPr>
              <a:t>세마포어</a:t>
            </a:r>
            <a:endParaRPr lang="ko-KR" altLang="en-US" sz="20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 </a:t>
            </a:r>
            <a:r>
              <a:rPr lang="en-US" altLang="ko-KR" sz="2000" dirty="0" err="1">
                <a:solidFill>
                  <a:srgbClr val="FFFFFF"/>
                </a:solidFill>
              </a:rPr>
              <a:t>sem_post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 호출로 인해 </a:t>
            </a:r>
            <a:r>
              <a:rPr lang="en-US" altLang="ko-KR" sz="2000" dirty="0">
                <a:solidFill>
                  <a:srgbClr val="FFFFFF"/>
                </a:solidFill>
              </a:rPr>
              <a:t>1 </a:t>
            </a:r>
            <a:r>
              <a:rPr lang="ko-KR" altLang="en-US" sz="2000" dirty="0">
                <a:solidFill>
                  <a:srgbClr val="FFFFFF"/>
                </a:solidFill>
              </a:rPr>
              <a:t>증가 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en-US" altLang="ko-KR" sz="2000" dirty="0" err="1">
                <a:solidFill>
                  <a:srgbClr val="FFFFFF"/>
                </a:solidFill>
              </a:rPr>
              <a:t>sem_wait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 호출로 인해 </a:t>
            </a:r>
            <a:r>
              <a:rPr lang="en-US" altLang="ko-KR" sz="2000" dirty="0">
                <a:solidFill>
                  <a:srgbClr val="FFFFFF"/>
                </a:solidFill>
              </a:rPr>
              <a:t>1 </a:t>
            </a:r>
            <a:r>
              <a:rPr lang="ko-KR" altLang="en-US" sz="2000" dirty="0">
                <a:solidFill>
                  <a:srgbClr val="FFFFFF"/>
                </a:solidFill>
              </a:rPr>
              <a:t>감소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이를 반복해서 임계영역을 </a:t>
            </a:r>
            <a:r>
              <a:rPr lang="ko-KR" altLang="en-US" sz="2000" dirty="0" err="1">
                <a:solidFill>
                  <a:srgbClr val="FFFFFF"/>
                </a:solidFill>
              </a:rPr>
              <a:t>동기화시키게</a:t>
            </a:r>
            <a:r>
              <a:rPr lang="ko-KR" altLang="en-US" sz="2000" dirty="0">
                <a:solidFill>
                  <a:srgbClr val="FFFFFF"/>
                </a:solidFill>
              </a:rPr>
              <a:t> 함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  </a:t>
            </a:r>
            <a:r>
              <a:rPr lang="ko-KR" altLang="en-US" sz="2000" dirty="0">
                <a:solidFill>
                  <a:srgbClr val="FFFFFF"/>
                </a:solidFill>
              </a:rPr>
              <a:t>쓰레드를 소멸 하지 않으면 할당된 메모리 공간이 계속해서 남아있게 되어 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FFFFFF"/>
                </a:solidFill>
              </a:rPr>
              <a:t>        소멸 시켜 줘야함</a:t>
            </a:r>
            <a:r>
              <a:rPr lang="en-US" altLang="ko-KR" sz="2000" dirty="0">
                <a:solidFill>
                  <a:srgbClr val="FFFFFF"/>
                </a:solidFill>
              </a:rPr>
              <a:t>.  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ko-KR" altLang="en-US" sz="2000" dirty="0">
                <a:solidFill>
                  <a:srgbClr val="FFFF00"/>
                </a:solidFill>
              </a:rPr>
              <a:t>쓰레드를 소멸하는 방법</a:t>
            </a:r>
          </a:p>
          <a:p>
            <a:r>
              <a:rPr lang="ko-KR" altLang="en-US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 err="1">
                <a:solidFill>
                  <a:srgbClr val="FFFFFF"/>
                </a:solidFill>
              </a:rPr>
              <a:t>pthread_join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함수가 호출되면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쓰레드의 종료를 대기할 뿐만 아니라</a:t>
            </a:r>
            <a:r>
              <a:rPr lang="en-US" altLang="ko-KR" sz="2000" dirty="0">
                <a:solidFill>
                  <a:srgbClr val="FFFFFF"/>
                </a:solidFill>
              </a:rPr>
              <a:t>, </a:t>
            </a:r>
            <a:r>
              <a:rPr lang="ko-KR" altLang="en-US" sz="2000" dirty="0">
                <a:solidFill>
                  <a:srgbClr val="FFFFFF"/>
                </a:solidFill>
              </a:rPr>
              <a:t>쓰레드의 소멸까지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rgbClr val="FFFFFF"/>
                </a:solidFill>
              </a:rPr>
              <a:t>      </a:t>
            </a:r>
            <a:r>
              <a:rPr lang="ko-KR" altLang="en-US" sz="2000" dirty="0">
                <a:solidFill>
                  <a:srgbClr val="FFFFFF"/>
                </a:solidFill>
              </a:rPr>
              <a:t> 유도가 된다</a:t>
            </a:r>
            <a:r>
              <a:rPr lang="en-US" altLang="ko-KR" sz="2000" dirty="0">
                <a:solidFill>
                  <a:srgbClr val="FFFFFF"/>
                </a:solidFill>
              </a:rPr>
              <a:t>. </a:t>
            </a:r>
            <a:r>
              <a:rPr lang="ko-KR" altLang="en-US" sz="2000" dirty="0">
                <a:solidFill>
                  <a:srgbClr val="FFFFFF"/>
                </a:solidFill>
              </a:rPr>
              <a:t>하지만 쓰레드가 종료될 때 블로킹 상태에 놓이게 됨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</a:p>
          <a:p>
            <a:r>
              <a:rPr lang="en-US" altLang="ko-KR" sz="2000" dirty="0">
                <a:solidFill>
                  <a:srgbClr val="FFFFFF"/>
                </a:solidFill>
              </a:rPr>
              <a:t>   </a:t>
            </a:r>
            <a:r>
              <a:rPr lang="en-US" altLang="ko-KR" sz="2000" dirty="0" err="1">
                <a:solidFill>
                  <a:srgbClr val="FFFFFF"/>
                </a:solidFill>
              </a:rPr>
              <a:t>pthread_detach</a:t>
            </a:r>
            <a:r>
              <a:rPr lang="en-US" altLang="ko-KR" sz="2000" dirty="0">
                <a:solidFill>
                  <a:srgbClr val="FFFFFF"/>
                </a:solidFill>
              </a:rPr>
              <a:t> </a:t>
            </a:r>
            <a:r>
              <a:rPr lang="ko-KR" altLang="en-US" sz="2000" dirty="0">
                <a:solidFill>
                  <a:srgbClr val="FFFFFF"/>
                </a:solidFill>
              </a:rPr>
              <a:t>함수는 쓰레드에게 할당된 메모리의 소멸을 유도할 수 있음</a:t>
            </a:r>
            <a:r>
              <a:rPr lang="en-US" altLang="ko-KR" sz="2000" dirty="0">
                <a:solidFill>
                  <a:srgbClr val="FFFFFF"/>
                </a:solidFill>
              </a:rPr>
              <a:t>.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946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88231E-72A0-4D25-8AA6-F095F2D8F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762001"/>
            <a:ext cx="10515598" cy="54149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linkClick r:id="rId2"/>
              </a:rPr>
              <a:t>http://blog.naver.com/PostView.nhn?blogId=smuoon4680&amp;logNo=50141782338&amp;parentCategoryNo=&amp;categoryNo=15&amp;viewDate=&amp;isShowPopularPosts=true&amp;from=search</a:t>
            </a:r>
            <a:endParaRPr lang="en-US" altLang="ko-KR" sz="2000" dirty="0"/>
          </a:p>
          <a:p>
            <a:r>
              <a:rPr lang="en-US" altLang="ko-KR" sz="2000" dirty="0">
                <a:hlinkClick r:id="rId3"/>
              </a:rPr>
              <a:t>https://m.blog.naver.com/PostView.nhn?blogId=gjcka1234&amp;logNo=221219138924&amp;proxyReferer=https%3A%2F%2Fwww.google.com%2F</a:t>
            </a:r>
            <a:endParaRPr lang="en-US" altLang="ko-KR" sz="2000" dirty="0"/>
          </a:p>
          <a:p>
            <a:r>
              <a:rPr lang="en-US" altLang="ko-KR" sz="2000" dirty="0">
                <a:hlinkClick r:id="rId4"/>
              </a:rPr>
              <a:t>https://comfun.tistory.com/entry/16%EC%9E%A5-%EC%9E%85%EC%B6%9C%EB%A0%A5-%EC%8A%A4%ED%8A%B8%EB%A6%BC%EC%9D%98-%EB%B6%84%EB%A6%AC%EC%97%90-%EB%8C%80%ED%95%9C-%EB%82%98%EB%A8%B8%EC%A7%80-%EC%9D%B4%EC%95%BC%EA%B8%B0</a:t>
            </a:r>
            <a:endParaRPr lang="en-US" altLang="ko-KR" sz="2000" dirty="0"/>
          </a:p>
          <a:p>
            <a:r>
              <a:rPr lang="en-US" altLang="ko-KR" sz="2000" dirty="0">
                <a:hlinkClick r:id="rId5"/>
              </a:rPr>
              <a:t>https://m.blog.naver.com/PostView.nhn?blogId=smuoon4680&amp;logNo=50141782144&amp;proxyReferer=https%3A%2F%2Fwww.google.com%2F</a:t>
            </a:r>
            <a:endParaRPr lang="ko-KR" alt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14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1619</Words>
  <Application>Microsoft Office PowerPoint</Application>
  <PresentationFormat>와이드스크린</PresentationFormat>
  <Paragraphs>212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13</cp:revision>
  <dcterms:created xsi:type="dcterms:W3CDTF">2019-06-20T13:39:09Z</dcterms:created>
  <dcterms:modified xsi:type="dcterms:W3CDTF">2019-06-20T15:04:25Z</dcterms:modified>
</cp:coreProperties>
</file>