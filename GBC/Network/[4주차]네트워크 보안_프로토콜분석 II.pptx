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0" r:id="rId4"/>
    <p:sldId id="261" r:id="rId5"/>
    <p:sldId id="288" r:id="rId6"/>
    <p:sldId id="272" r:id="rId7"/>
    <p:sldId id="287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286" r:id="rId28"/>
    <p:sldId id="267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FC"/>
    <a:srgbClr val="EFF5FB"/>
    <a:srgbClr val="FFFFFF"/>
    <a:srgbClr val="8EBAE2"/>
    <a:srgbClr val="F2F7FC"/>
    <a:srgbClr val="FCFDFE"/>
    <a:srgbClr val="F5F9FD"/>
    <a:srgbClr val="FE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8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1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03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52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695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27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54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8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71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12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49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59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16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>
            <a:alpha val="9098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 userDrawn="1"/>
        </p:nvGrpSpPr>
        <p:grpSpPr>
          <a:xfrm>
            <a:off x="-295423" y="-829996"/>
            <a:ext cx="5151121" cy="5283427"/>
            <a:chOff x="-295423" y="-829996"/>
            <a:chExt cx="5151121" cy="5283427"/>
          </a:xfrm>
        </p:grpSpPr>
        <p:sp>
          <p:nvSpPr>
            <p:cNvPr id="8" name="타원 7"/>
            <p:cNvSpPr/>
            <p:nvPr userDrawn="1"/>
          </p:nvSpPr>
          <p:spPr>
            <a:xfrm flipH="1" flipV="1">
              <a:off x="-295423" y="-829996"/>
              <a:ext cx="2349305" cy="234930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/>
            <p:cNvSpPr/>
            <p:nvPr userDrawn="1"/>
          </p:nvSpPr>
          <p:spPr>
            <a:xfrm flipH="1" flipV="1">
              <a:off x="2053882" y="-270132"/>
              <a:ext cx="1716260" cy="178944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/>
            <p:cNvSpPr/>
            <p:nvPr userDrawn="1"/>
          </p:nvSpPr>
          <p:spPr>
            <a:xfrm flipH="1" flipV="1">
              <a:off x="-295423" y="1249679"/>
              <a:ext cx="1927274" cy="192727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 userDrawn="1"/>
          </p:nvSpPr>
          <p:spPr>
            <a:xfrm flipH="1" flipV="1">
              <a:off x="1631851" y="1249679"/>
              <a:ext cx="1184032" cy="118403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 userDrawn="1"/>
          </p:nvSpPr>
          <p:spPr>
            <a:xfrm flipH="1" flipV="1">
              <a:off x="3950675" y="-107856"/>
              <a:ext cx="905023" cy="905023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 userDrawn="1"/>
          </p:nvSpPr>
          <p:spPr>
            <a:xfrm flipH="1" flipV="1">
              <a:off x="-154417" y="3419785"/>
              <a:ext cx="1033646" cy="103364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 userDrawn="1"/>
          </p:nvSpPr>
          <p:spPr>
            <a:xfrm flipH="1" flipV="1">
              <a:off x="3121692" y="1517470"/>
              <a:ext cx="648450" cy="6484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/>
            <p:cNvSpPr/>
            <p:nvPr userDrawn="1"/>
          </p:nvSpPr>
          <p:spPr>
            <a:xfrm flipH="1" flipV="1">
              <a:off x="1631851" y="2567349"/>
              <a:ext cx="654150" cy="65415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7275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4A3C5-3F48-44DA-A730-E1F1383CE3E8}" type="datetimeFigureOut">
              <a:rPr lang="ko-KR" altLang="en-US" smtClean="0"/>
              <a:t>2019-06-19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1737D-63D0-43C8-989E-1CC39443A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98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aver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ver.com/Website/Default.aspx?uid=godffs&amp;pwd=1234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57091" y="2114533"/>
            <a:ext cx="740549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1">
                    <a:lumMod val="50000"/>
                  </a:schemeClr>
                </a:solidFill>
              </a:rPr>
              <a:t>Network Security</a:t>
            </a:r>
            <a:endParaRPr lang="ko-KR" altLang="en-US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84895" y="3130196"/>
            <a:ext cx="615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solidFill>
                  <a:schemeClr val="bg1">
                    <a:lumMod val="50000"/>
                  </a:schemeClr>
                </a:solidFill>
              </a:rPr>
              <a:t>WireShark</a:t>
            </a:r>
            <a:r>
              <a:rPr lang="ko-KR" altLang="en-US" sz="2800" dirty="0">
                <a:solidFill>
                  <a:schemeClr val="bg1">
                    <a:lumMod val="50000"/>
                  </a:schemeClr>
                </a:solidFill>
              </a:rPr>
              <a:t>를 활용한 프로토콜 분석 </a:t>
            </a: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</a:rPr>
              <a:t>II</a:t>
            </a:r>
            <a:endParaRPr lang="ko-KR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22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518117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94889" y="763262"/>
            <a:ext cx="423203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</a:rPr>
              <a:t>CONTENT</a:t>
            </a:r>
            <a:endParaRPr lang="ko-KR" altLang="en-US" sz="4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3229371" y="3316424"/>
            <a:ext cx="512631" cy="49069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8" name="타원 7"/>
          <p:cNvSpPr/>
          <p:nvPr/>
        </p:nvSpPr>
        <p:spPr>
          <a:xfrm>
            <a:off x="3229371" y="2266073"/>
            <a:ext cx="512631" cy="51263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9" name="타원 8"/>
          <p:cNvSpPr/>
          <p:nvPr/>
        </p:nvSpPr>
        <p:spPr>
          <a:xfrm>
            <a:off x="3229371" y="4344837"/>
            <a:ext cx="512631" cy="51263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3742002" y="2778704"/>
            <a:ext cx="5978770" cy="0"/>
          </a:xfrm>
          <a:prstGeom prst="line">
            <a:avLst/>
          </a:prstGeom>
          <a:ln w="63500">
            <a:solidFill>
              <a:srgbClr val="8EBA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742002" y="3807118"/>
            <a:ext cx="5978770" cy="0"/>
          </a:xfrm>
          <a:prstGeom prst="line">
            <a:avLst/>
          </a:prstGeom>
          <a:ln w="63500">
            <a:solidFill>
              <a:srgbClr val="8EBA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742002" y="4857468"/>
            <a:ext cx="5978770" cy="0"/>
          </a:xfrm>
          <a:prstGeom prst="line">
            <a:avLst/>
          </a:prstGeom>
          <a:ln w="63500">
            <a:solidFill>
              <a:srgbClr val="8EBA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60051" y="2348691"/>
            <a:ext cx="554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HTTP  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51" y="3377105"/>
            <a:ext cx="554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DNS 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분석 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글로 대체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0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60051" y="4418855"/>
            <a:ext cx="554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ARP 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분석 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글로 대체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0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13" name="타원 8"/>
          <p:cNvSpPr/>
          <p:nvPr/>
        </p:nvSpPr>
        <p:spPr>
          <a:xfrm>
            <a:off x="3229370" y="5395186"/>
            <a:ext cx="512631" cy="51263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4</a:t>
            </a:r>
            <a:endParaRPr lang="ko-KR" altLang="en-US" sz="3200" b="1" dirty="0"/>
          </a:p>
        </p:txBody>
      </p:sp>
      <p:cxnSp>
        <p:nvCxnSpPr>
          <p:cNvPr id="16" name="직선 연결선 11"/>
          <p:cNvCxnSpPr/>
          <p:nvPr/>
        </p:nvCxnSpPr>
        <p:spPr>
          <a:xfrm>
            <a:off x="3742001" y="5907817"/>
            <a:ext cx="5978770" cy="0"/>
          </a:xfrm>
          <a:prstGeom prst="line">
            <a:avLst/>
          </a:prstGeom>
          <a:ln w="63500">
            <a:solidFill>
              <a:srgbClr val="8EBA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60050" y="5469204"/>
            <a:ext cx="554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ICMP 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분석 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(</a:t>
            </a:r>
            <a:r>
              <a:rPr lang="ko-KR" altLang="en-US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글로 대체</a:t>
            </a:r>
            <a:r>
              <a:rPr lang="en-US" altLang="ko-KR" sz="2000" b="1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)</a:t>
            </a:r>
            <a:endParaRPr lang="ko-KR" altLang="en-US" sz="2000" b="1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210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0" y="0"/>
            <a:ext cx="12192000" cy="1100164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49075" y="194106"/>
            <a:ext cx="6202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accent1">
                    <a:lumMod val="50000"/>
                  </a:schemeClr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HTTP </a:t>
            </a:r>
            <a:r>
              <a:rPr lang="ko-KR" altLang="en-US" sz="3600" b="1" dirty="0">
                <a:solidFill>
                  <a:schemeClr val="accent1">
                    <a:lumMod val="50000"/>
                  </a:schemeClr>
                </a:solidFill>
                <a:latin typeface="Adobe 고딕 Std B" panose="020B0800000000000000" pitchFamily="34" charset="-127"/>
                <a:ea typeface="Adobe 고딕 Std B" panose="020B0800000000000000" pitchFamily="34" charset="-127"/>
              </a:rPr>
              <a:t>분석</a:t>
            </a:r>
            <a:endParaRPr lang="ko-KR" altLang="en-US" sz="4000" b="1" dirty="0">
              <a:solidFill>
                <a:schemeClr val="accent1">
                  <a:lumMod val="50000"/>
                </a:schemeClr>
              </a:solidFill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95763" y="239969"/>
            <a:ext cx="616160" cy="6161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11923" y="1811804"/>
            <a:ext cx="1115606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홈페이지 송수신을 위한 프로토콜</a:t>
            </a:r>
            <a:br>
              <a:rPr lang="en-US" altLang="ko-KR" sz="2000" dirty="0"/>
            </a:br>
            <a:endParaRPr lang="en-US" altLang="ko-KR" sz="1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서버의 </a:t>
            </a:r>
            <a:r>
              <a:rPr lang="en-US" altLang="ko-KR" sz="2000" dirty="0"/>
              <a:t>80</a:t>
            </a:r>
            <a:r>
              <a:rPr lang="ko-KR" altLang="en-US" sz="2000" dirty="0"/>
              <a:t>번 포트로 확립된 소켓상에서 </a:t>
            </a:r>
            <a:r>
              <a:rPr lang="en-US" altLang="ko-KR" sz="2000" dirty="0"/>
              <a:t>HTTP </a:t>
            </a:r>
            <a:r>
              <a:rPr lang="ko-KR" altLang="en-US" sz="2000" dirty="0"/>
              <a:t>요청과 응답을 교환함으로써 통신이 이루어짐</a:t>
            </a:r>
            <a:br>
              <a:rPr lang="en-US" altLang="ko-KR" sz="2000" dirty="0"/>
            </a:br>
            <a:r>
              <a:rPr lang="en-US" altLang="ko-KR" sz="2000" b="1" dirty="0"/>
              <a:t>-&gt; </a:t>
            </a:r>
            <a:r>
              <a:rPr lang="ko-KR" altLang="en-US" sz="2000" dirty="0"/>
              <a:t>이를 </a:t>
            </a:r>
            <a:r>
              <a:rPr lang="en-US" altLang="ko-KR" sz="2000" dirty="0"/>
              <a:t>HTTP </a:t>
            </a:r>
            <a:r>
              <a:rPr lang="ko-KR" altLang="en-US" sz="2000" dirty="0"/>
              <a:t>요청  응답이라고 함 </a:t>
            </a:r>
            <a:br>
              <a:rPr lang="en-US" altLang="ko-KR" sz="2000" dirty="0"/>
            </a:br>
            <a:endParaRPr lang="en-US" altLang="ko-KR" sz="1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웹 브라우저로 요청을 보낼 시</a:t>
            </a:r>
            <a:r>
              <a:rPr lang="en-US" altLang="ko-KR" sz="2000" dirty="0"/>
              <a:t> “</a:t>
            </a:r>
            <a:r>
              <a:rPr lang="ko-KR" altLang="en-US" sz="2000" dirty="0"/>
              <a:t>홈페이지를 가져와라</a:t>
            </a:r>
            <a:r>
              <a:rPr lang="en-US" altLang="ko-KR" sz="2000" dirty="0"/>
              <a:t>”</a:t>
            </a:r>
            <a:r>
              <a:rPr lang="ko-KR" altLang="en-US" sz="2000" dirty="0"/>
              <a:t>와 같은 명령을 </a:t>
            </a:r>
            <a:r>
              <a:rPr lang="ko-KR" altLang="en-US" sz="2000" dirty="0" err="1"/>
              <a:t>메소드로</a:t>
            </a:r>
            <a:r>
              <a:rPr lang="ko-KR" altLang="en-US" sz="2000" dirty="0"/>
              <a:t> 헤더에 </a:t>
            </a:r>
            <a:br>
              <a:rPr lang="en-US" altLang="ko-KR" sz="2000" dirty="0"/>
            </a:br>
            <a:r>
              <a:rPr lang="ko-KR" altLang="en-US" sz="2000" dirty="0"/>
              <a:t>추가해서 서버로 </a:t>
            </a:r>
            <a:r>
              <a:rPr lang="en-US" altLang="ko-KR" sz="2000" dirty="0"/>
              <a:t>HTTP </a:t>
            </a:r>
            <a:r>
              <a:rPr lang="ko-KR" altLang="en-US" sz="2000" dirty="0"/>
              <a:t>요청 메시지를 송신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271087" y="953029"/>
            <a:ext cx="805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HTTP(Hyper Text Transfer Protocol)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란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sz="3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02657" y="2736969"/>
            <a:ext cx="69011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657" y="4219261"/>
            <a:ext cx="1935801" cy="13135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338" y="3858692"/>
            <a:ext cx="967824" cy="2034716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546121" y="4144693"/>
            <a:ext cx="4710022" cy="65679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hlinkClick r:id="rId4"/>
              </a:rPr>
              <a:t>www.naver.com</a:t>
            </a:r>
            <a:r>
              <a:rPr lang="en-US" altLang="ko-KR" dirty="0">
                <a:solidFill>
                  <a:schemeClr val="tx1"/>
                </a:solidFill>
              </a:rPr>
              <a:t>  HTTP </a:t>
            </a:r>
            <a:r>
              <a:rPr lang="ko-KR" altLang="en-US" dirty="0">
                <a:solidFill>
                  <a:schemeClr val="tx1"/>
                </a:solidFill>
              </a:rPr>
              <a:t>요청</a:t>
            </a:r>
          </a:p>
        </p:txBody>
      </p:sp>
      <p:sp>
        <p:nvSpPr>
          <p:cNvPr id="14" name="Right Arrow 13"/>
          <p:cNvSpPr/>
          <p:nvPr/>
        </p:nvSpPr>
        <p:spPr>
          <a:xfrm rot="10800000">
            <a:off x="4546121" y="4876049"/>
            <a:ext cx="4710022" cy="65679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90891" y="5019778"/>
            <a:ext cx="159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 </a:t>
            </a:r>
            <a:r>
              <a:rPr lang="ko-KR" altLang="en-US" dirty="0"/>
              <a:t>응답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7216" y="5136760"/>
            <a:ext cx="1380226" cy="824094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r>
              <a:rPr lang="ko-KR" altLang="en-US" dirty="0"/>
              <a:t>문서</a:t>
            </a:r>
            <a:endParaRPr lang="en-US" altLang="ko-KR" dirty="0"/>
          </a:p>
          <a:p>
            <a:pPr algn="ctr"/>
            <a:r>
              <a:rPr lang="en-US" altLang="ko-KR" dirty="0"/>
              <a:t>(text/html)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673269" y="5802922"/>
            <a:ext cx="156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클라이언트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웹 브라우저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351035" y="5802921"/>
            <a:ext cx="1562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서버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웹 서버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97565" y="6098876"/>
            <a:ext cx="419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1] HTTP</a:t>
            </a:r>
            <a:r>
              <a:rPr lang="ko-KR" altLang="en-US" dirty="0"/>
              <a:t>의 기본적인 통신 시퀀스</a:t>
            </a:r>
          </a:p>
        </p:txBody>
      </p:sp>
    </p:spTree>
    <p:extLst>
      <p:ext uri="{BB962C8B-B14F-4D97-AF65-F5344CB8AC3E}">
        <p14:creationId xmlns:p14="http://schemas.microsoft.com/office/powerpoint/2010/main" val="180465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특성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1923" y="1113065"/>
            <a:ext cx="1087393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클라이언트는 가져오려는 </a:t>
            </a:r>
            <a:r>
              <a:rPr lang="en-US" altLang="ko-KR" sz="2000" dirty="0"/>
              <a:t>HTML </a:t>
            </a:r>
            <a:r>
              <a:rPr lang="ko-KR" altLang="en-US" sz="2000" dirty="0"/>
              <a:t>파일이나 이미지를 지정하기 위해서 </a:t>
            </a:r>
            <a:r>
              <a:rPr lang="en-US" altLang="ko-KR" sz="2000" dirty="0"/>
              <a:t>URI(Uniform </a:t>
            </a:r>
            <a:br>
              <a:rPr lang="en-US" altLang="ko-KR" sz="2000" dirty="0"/>
            </a:br>
            <a:r>
              <a:rPr lang="en-US" altLang="ko-KR" sz="2000" dirty="0"/>
              <a:t>Resource Identifier)</a:t>
            </a:r>
            <a:r>
              <a:rPr lang="ko-KR" altLang="en-US" sz="2000" dirty="0"/>
              <a:t>를 이용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URI</a:t>
            </a:r>
            <a:r>
              <a:rPr lang="ko-KR" altLang="en-US" sz="2000" dirty="0"/>
              <a:t>는 인터넷에서 가져오는 리소스를 지정하기 위한 표준 기술 형식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프로토콜 </a:t>
            </a:r>
            <a:r>
              <a:rPr lang="en-US" altLang="ko-KR" sz="2000" dirty="0"/>
              <a:t>: //</a:t>
            </a:r>
            <a:r>
              <a:rPr lang="ko-KR" altLang="en-US" sz="2000" dirty="0" err="1"/>
              <a:t>호스트명</a:t>
            </a:r>
            <a:r>
              <a:rPr lang="en-US" altLang="ko-KR" sz="2000" dirty="0"/>
              <a:t>:</a:t>
            </a:r>
            <a:r>
              <a:rPr lang="ko-KR" altLang="en-US" sz="2000" dirty="0"/>
              <a:t>포트번호</a:t>
            </a:r>
            <a:r>
              <a:rPr lang="en-US" altLang="ko-KR" sz="2000" dirty="0"/>
              <a:t>/</a:t>
            </a:r>
            <a:r>
              <a:rPr lang="ko-KR" altLang="en-US" sz="2000" dirty="0"/>
              <a:t>파일경로</a:t>
            </a:r>
            <a:r>
              <a:rPr lang="en-US" altLang="ko-KR" sz="2000" dirty="0"/>
              <a:t>(</a:t>
            </a:r>
            <a:r>
              <a:rPr lang="ko-KR" altLang="en-US" sz="2000" dirty="0"/>
              <a:t>위치</a:t>
            </a:r>
            <a:r>
              <a:rPr lang="en-US" altLang="ko-KR" sz="2000" dirty="0"/>
              <a:t>)?</a:t>
            </a:r>
            <a:r>
              <a:rPr lang="ko-KR" altLang="en-US" sz="2000" dirty="0"/>
              <a:t>쿼리문자열 </a:t>
            </a:r>
            <a:br>
              <a:rPr lang="en-US" altLang="ko-KR" sz="2000" dirty="0"/>
            </a:br>
            <a:r>
              <a:rPr lang="en-US" altLang="ko-KR" sz="2000" dirty="0"/>
              <a:t>ex) </a:t>
            </a:r>
            <a:r>
              <a:rPr lang="en-US" altLang="ko-KR" sz="2000" dirty="0">
                <a:hlinkClick r:id="rId2"/>
              </a:rPr>
              <a:t>http://www.naver.com/Website/Default.aspx?uid=godffs&amp;pwd=12345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URL</a:t>
            </a:r>
            <a:r>
              <a:rPr lang="ko-KR" altLang="en-US" sz="2000" dirty="0"/>
              <a:t>에 </a:t>
            </a:r>
            <a:r>
              <a:rPr lang="en-US" altLang="ko-KR" sz="2000" dirty="0"/>
              <a:t>:8080</a:t>
            </a:r>
            <a:r>
              <a:rPr lang="ko-KR" altLang="en-US" sz="2000" dirty="0"/>
              <a:t>과 같이 포트번호를 별도로 지정하지 않을 경우</a:t>
            </a:r>
            <a:r>
              <a:rPr lang="en-US" altLang="ko-KR" sz="2000" dirty="0"/>
              <a:t>, HTTP</a:t>
            </a:r>
            <a:r>
              <a:rPr lang="ko-KR" altLang="en-US" sz="2000" dirty="0"/>
              <a:t>의 디폴트 </a:t>
            </a:r>
            <a:r>
              <a:rPr lang="en-US" altLang="ko-KR" sz="2000" dirty="0"/>
              <a:t>TCP 80</a:t>
            </a:r>
            <a:r>
              <a:rPr lang="ko-KR" altLang="en-US" sz="2000" dirty="0"/>
              <a:t>번</a:t>
            </a:r>
            <a:br>
              <a:rPr lang="en-US" altLang="ko-KR" sz="2000" dirty="0"/>
            </a:br>
            <a:r>
              <a:rPr lang="ko-KR" altLang="en-US" sz="2000" dirty="0"/>
              <a:t>포트를 사용 </a:t>
            </a:r>
            <a:r>
              <a:rPr lang="en-US" altLang="ko-KR" sz="2000" dirty="0"/>
              <a:t>(</a:t>
            </a:r>
            <a:r>
              <a:rPr lang="ko-KR" altLang="en-US" sz="2000" dirty="0"/>
              <a:t>웹 주소에는 전부 있는 셈치고 생략되어있음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웹 서버는 클라이언트로부터의 </a:t>
            </a:r>
            <a:r>
              <a:rPr lang="en-US" altLang="ko-KR" sz="2000" dirty="0"/>
              <a:t>HTTP </a:t>
            </a:r>
            <a:r>
              <a:rPr lang="ko-KR" altLang="en-US" sz="2000" dirty="0"/>
              <a:t>요청 메시지를 수신하면 </a:t>
            </a:r>
            <a:r>
              <a:rPr lang="ko-KR" altLang="en-US" sz="2000" dirty="0" err="1"/>
              <a:t>메소드에</a:t>
            </a:r>
            <a:r>
              <a:rPr lang="ko-KR" altLang="en-US" sz="2000" dirty="0"/>
              <a:t> 따라 처리를 하고</a:t>
            </a:r>
            <a:br>
              <a:rPr lang="en-US" altLang="ko-KR" sz="2000" dirty="0"/>
            </a:br>
            <a:r>
              <a:rPr lang="ko-KR" altLang="en-US" sz="2000" dirty="0"/>
              <a:t>그 결과를 나타낸 응답 코드를 추가한 </a:t>
            </a:r>
            <a:r>
              <a:rPr lang="en-US" altLang="ko-KR" sz="2000" dirty="0"/>
              <a:t>HTTP </a:t>
            </a:r>
            <a:r>
              <a:rPr lang="ko-KR" altLang="en-US" sz="2000" dirty="0"/>
              <a:t>응답 메시지를 회신함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7954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주요 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메소드</a:t>
            </a:r>
            <a:endParaRPr lang="ko-KR" altLang="en-US" sz="3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6079" y="5496811"/>
            <a:ext cx="321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2] HTTP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407024"/>
              </p:ext>
            </p:extLst>
          </p:nvPr>
        </p:nvGraphicFramePr>
        <p:xfrm>
          <a:off x="1981311" y="1087942"/>
          <a:ext cx="8128000" cy="438983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0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메소드명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OPTIONS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정보를 요구함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정보를 가져옴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HEAD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정보의 헤더를 가져옴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POST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많은 데이터를 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PUT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서버로 파일을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서버의 정보를 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TRACE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요구 메시지를 그대로 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CONNECT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서버와 </a:t>
                      </a:r>
                      <a:r>
                        <a:rPr lang="en-US" altLang="ko-KR" dirty="0"/>
                        <a:t>SSL </a:t>
                      </a:r>
                      <a:r>
                        <a:rPr lang="ko-KR" altLang="en-US" dirty="0"/>
                        <a:t>터널 등을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30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주요 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일반 및 요청 헤더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1923" y="874455"/>
            <a:ext cx="103016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HTTP</a:t>
            </a:r>
            <a:r>
              <a:rPr lang="ko-KR" altLang="en-US" sz="2000" dirty="0"/>
              <a:t>의 요청 메시지는 명령을 지정하는 </a:t>
            </a:r>
            <a:r>
              <a:rPr lang="ko-KR" altLang="en-US" sz="2000" dirty="0" err="1"/>
              <a:t>메소드에</a:t>
            </a:r>
            <a:r>
              <a:rPr lang="ko-KR" altLang="en-US" sz="2000" dirty="0"/>
              <a:t> 이어</a:t>
            </a:r>
            <a:r>
              <a:rPr lang="en-US" altLang="ko-KR" sz="2000" dirty="0"/>
              <a:t>, </a:t>
            </a:r>
            <a:r>
              <a:rPr lang="ko-KR" altLang="en-US" sz="2000" dirty="0"/>
              <a:t>보다 상세하게 지정하기 위한</a:t>
            </a:r>
            <a:br>
              <a:rPr lang="en-US" altLang="ko-KR" sz="2000" dirty="0"/>
            </a:br>
            <a:r>
              <a:rPr lang="en-US" altLang="ko-KR" sz="2000" dirty="0"/>
              <a:t>HTTP</a:t>
            </a:r>
            <a:r>
              <a:rPr lang="ko-KR" altLang="en-US" sz="2000" dirty="0"/>
              <a:t>의 일반 헤더나 요청 헤더를 갖추고 있음</a:t>
            </a:r>
            <a:endParaRPr lang="en-US" altLang="ko-KR" sz="2000" dirty="0"/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어떤 문서를 가져올지 지정 가능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55294"/>
              </p:ext>
            </p:extLst>
          </p:nvPr>
        </p:nvGraphicFramePr>
        <p:xfrm>
          <a:off x="2144439" y="1947515"/>
          <a:ext cx="8436634" cy="438983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2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요청 헤더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Accept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클라이언트가 받아들일 수 있는 문서 형식의 리스트를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User-Agent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요청을 한 웹 브라우저의 정보를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Referer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직전에 참조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액세스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한 </a:t>
                      </a:r>
                      <a:r>
                        <a:rPr lang="en-US" altLang="ko-KR" dirty="0"/>
                        <a:t>URI</a:t>
                      </a:r>
                      <a:r>
                        <a:rPr lang="ko-KR" altLang="en-US" dirty="0"/>
                        <a:t>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Host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호스트명</a:t>
                      </a:r>
                      <a:r>
                        <a:rPr lang="ko-KR" altLang="en-US" dirty="0"/>
                        <a:t> 및 포트 번호를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Connection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접속 처리를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쿠키 정보를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DNT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추적을 금지함 </a:t>
                      </a:r>
                      <a:r>
                        <a:rPr lang="en-US" altLang="ko-KR" dirty="0"/>
                        <a:t>(Do Not Tracking)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91066" y="5895417"/>
            <a:ext cx="538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3] HTTP </a:t>
            </a:r>
            <a:r>
              <a:rPr lang="ko-KR" altLang="en-US" dirty="0"/>
              <a:t>요청 </a:t>
            </a:r>
            <a:r>
              <a:rPr lang="ko-KR" altLang="en-US" dirty="0" err="1"/>
              <a:t>패킷에</a:t>
            </a:r>
            <a:r>
              <a:rPr lang="ko-KR" altLang="en-US" dirty="0"/>
              <a:t> 포함되는 주요 헤더</a:t>
            </a:r>
          </a:p>
        </p:txBody>
      </p:sp>
    </p:spTree>
    <p:extLst>
      <p:ext uri="{BB962C8B-B14F-4D97-AF65-F5344CB8AC3E}">
        <p14:creationId xmlns:p14="http://schemas.microsoft.com/office/powerpoint/2010/main" val="52489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주요 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응답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1527" y="5505338"/>
            <a:ext cx="269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4] HTTP </a:t>
            </a:r>
            <a:r>
              <a:rPr lang="ko-KR" altLang="en-US" dirty="0"/>
              <a:t>응답 코드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270676"/>
              </p:ext>
            </p:extLst>
          </p:nvPr>
        </p:nvGraphicFramePr>
        <p:xfrm>
          <a:off x="1481636" y="1638801"/>
          <a:ext cx="9810340" cy="3778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8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메시지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설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OK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클라이언트의 요청은 정상적으로 처리됨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리 </a:t>
                      </a:r>
                      <a:r>
                        <a:rPr lang="ko-KR" altLang="en-US" dirty="0" err="1"/>
                        <a:t>다이렉트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</a:t>
                      </a:r>
                      <a:r>
                        <a:rPr lang="en-US" altLang="ko-KR" baseline="0" dirty="0"/>
                        <a:t> Modified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요청된 문서는 변경되지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1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클라이언트 에러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Bad Request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비정상적인 요청임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10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</a:t>
                      </a:r>
                      <a:r>
                        <a:rPr lang="en-US" altLang="ko-KR" baseline="0" dirty="0"/>
                        <a:t> Found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요청된 </a:t>
                      </a:r>
                      <a:r>
                        <a:rPr lang="en-US" altLang="ko-KR" dirty="0"/>
                        <a:t>URI</a:t>
                      </a:r>
                      <a:r>
                        <a:rPr lang="ko-KR" altLang="en-US" baseline="0" dirty="0"/>
                        <a:t>가 서버상에 존재하지 않음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1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서버에러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Internal Sever Error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서버 내부에 문제가 발생함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10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503</a:t>
                      </a:r>
                      <a:endParaRPr lang="ko-KR" alt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Service Unavailable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서비스를 이용할 수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6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주요 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응답 코드 예시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337" y="4999687"/>
            <a:ext cx="350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5] HTTP </a:t>
            </a:r>
            <a:r>
              <a:rPr lang="ko-KR" altLang="en-US" dirty="0"/>
              <a:t>응답 코드 예시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11" y="1745400"/>
            <a:ext cx="6165114" cy="30495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348" y="1761915"/>
            <a:ext cx="4740051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8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주요 </a:t>
            </a:r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응답 헤더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1923" y="874455"/>
            <a:ext cx="107793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HTTP </a:t>
            </a:r>
            <a:r>
              <a:rPr lang="ko-KR" altLang="en-US" sz="2000" dirty="0"/>
              <a:t>응답 메시지도 요청 메시지와 마찬가지로</a:t>
            </a:r>
            <a:r>
              <a:rPr lang="en-US" altLang="ko-KR" sz="2000" dirty="0"/>
              <a:t>, </a:t>
            </a:r>
            <a:r>
              <a:rPr lang="ko-KR" altLang="en-US" sz="2000" dirty="0"/>
              <a:t>상세한 정보를 추가하기 위해</a:t>
            </a:r>
            <a:r>
              <a:rPr lang="en-US" altLang="ko-KR" sz="2000" dirty="0"/>
              <a:t> [</a:t>
            </a:r>
            <a:r>
              <a:rPr lang="ko-KR" altLang="en-US" sz="2000" dirty="0"/>
              <a:t>그림 </a:t>
            </a:r>
            <a:r>
              <a:rPr lang="en-US" altLang="ko-KR" sz="2000" dirty="0"/>
              <a:t>6]</a:t>
            </a:r>
            <a:r>
              <a:rPr lang="ko-KR" altLang="en-US" sz="2000" dirty="0"/>
              <a:t>과 </a:t>
            </a:r>
            <a:br>
              <a:rPr lang="en-US" altLang="ko-KR" sz="2000" dirty="0"/>
            </a:br>
            <a:r>
              <a:rPr lang="ko-KR" altLang="en-US" sz="2000" dirty="0"/>
              <a:t>같이 여러 개의 </a:t>
            </a:r>
            <a:r>
              <a:rPr lang="en-US" altLang="ko-KR" sz="2000" dirty="0"/>
              <a:t>HTTP </a:t>
            </a:r>
            <a:r>
              <a:rPr lang="ko-KR" altLang="en-US" sz="2000" dirty="0"/>
              <a:t>일반 헤더 및 응답헤더를 갖추고 있음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637147"/>
              </p:ext>
            </p:extLst>
          </p:nvPr>
        </p:nvGraphicFramePr>
        <p:xfrm>
          <a:off x="2144439" y="1947515"/>
          <a:ext cx="8436634" cy="438983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2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응답 헤더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Set-Cookie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클라이언트의 웹 브라우저에 쿠키를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Location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요청된 </a:t>
                      </a:r>
                      <a:r>
                        <a:rPr lang="en-US" altLang="ko-KR" dirty="0"/>
                        <a:t>URI</a:t>
                      </a:r>
                      <a:r>
                        <a:rPr lang="ko-KR" altLang="en-US" dirty="0"/>
                        <a:t>의 정확한 위치를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Server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응답을 할 웹 서버의 정보를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r>
                        <a:rPr lang="en-US" altLang="ko-KR" baseline="0" dirty="0"/>
                        <a:t> Tag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페이지를 식별하기 위한 고유의 정보를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Connection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접속 상태를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Content-Type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페이지의 형식을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75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391066" y="5403711"/>
            <a:ext cx="538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6] HTTP </a:t>
            </a:r>
            <a:r>
              <a:rPr lang="ko-KR" altLang="en-US" dirty="0"/>
              <a:t>응답 </a:t>
            </a:r>
            <a:r>
              <a:rPr lang="ko-KR" altLang="en-US" dirty="0" err="1"/>
              <a:t>패킷에</a:t>
            </a:r>
            <a:r>
              <a:rPr lang="ko-KR" altLang="en-US" dirty="0"/>
              <a:t> 포함되는 주요 헤더</a:t>
            </a:r>
          </a:p>
        </p:txBody>
      </p:sp>
    </p:spTree>
    <p:extLst>
      <p:ext uri="{BB962C8B-B14F-4D97-AF65-F5344CB8AC3E}">
        <p14:creationId xmlns:p14="http://schemas.microsoft.com/office/powerpoint/2010/main" val="97794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86" y="748104"/>
            <a:ext cx="8632154" cy="5649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87669" y="6258452"/>
            <a:ext cx="323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7] </a:t>
            </a:r>
            <a:r>
              <a:rPr lang="en-US" altLang="ko-KR" dirty="0" err="1"/>
              <a:t>WireShark</a:t>
            </a:r>
            <a:r>
              <a:rPr lang="en-US" altLang="ko-KR" dirty="0"/>
              <a:t> </a:t>
            </a:r>
            <a:r>
              <a:rPr lang="ko-KR" altLang="en-US" dirty="0"/>
              <a:t>기본화면</a:t>
            </a:r>
          </a:p>
        </p:txBody>
      </p:sp>
    </p:spTree>
    <p:extLst>
      <p:ext uri="{BB962C8B-B14F-4D97-AF65-F5344CB8AC3E}">
        <p14:creationId xmlns:p14="http://schemas.microsoft.com/office/powerpoint/2010/main" val="364853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7669" y="6258452"/>
            <a:ext cx="355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8] </a:t>
            </a:r>
            <a:r>
              <a:rPr lang="en-US" altLang="ko-KR" dirty="0" err="1"/>
              <a:t>Naver</a:t>
            </a:r>
            <a:r>
              <a:rPr lang="en-US" altLang="ko-KR" dirty="0"/>
              <a:t> - JTBC </a:t>
            </a:r>
            <a:r>
              <a:rPr lang="ko-KR" altLang="en-US" dirty="0"/>
              <a:t>검색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85" y="748104"/>
            <a:ext cx="8694334" cy="551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6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8393" y="6258452"/>
            <a:ext cx="156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9] JTBC</a:t>
            </a:r>
            <a:endParaRPr lang="ko-KR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686" y="869192"/>
            <a:ext cx="8754718" cy="538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6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5215" y="6258452"/>
            <a:ext cx="224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10] http </a:t>
            </a:r>
            <a:r>
              <a:rPr lang="ko-KR" altLang="en-US" dirty="0"/>
              <a:t>입력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243" y="869192"/>
            <a:ext cx="8787039" cy="541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2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5215" y="6258452"/>
            <a:ext cx="2241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11] HTTP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733" y="869193"/>
            <a:ext cx="8861067" cy="538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7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2903" y="3388722"/>
            <a:ext cx="236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12] GET, HTTP</a:t>
            </a:r>
            <a:endParaRPr lang="ko-KR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2" y="841381"/>
            <a:ext cx="10283020" cy="236240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934045"/>
              </p:ext>
            </p:extLst>
          </p:nvPr>
        </p:nvGraphicFramePr>
        <p:xfrm>
          <a:off x="1405772" y="4035997"/>
          <a:ext cx="1028302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8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프레임 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출발지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목적지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프로토콜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개요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192.168.219.134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211.218.152.108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요청 메시지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536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211.218.152.108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192.168.219.134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응답 메시지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정상응답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71088" y="5426460"/>
            <a:ext cx="1072421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GET / HTTP/1.1</a:t>
            </a:r>
            <a:r>
              <a:rPr lang="ko-KR" altLang="en-US" sz="2000" dirty="0"/>
              <a:t> </a:t>
            </a:r>
            <a:r>
              <a:rPr lang="en-US" altLang="ko-KR" sz="2000" dirty="0"/>
              <a:t>: GET </a:t>
            </a:r>
            <a:r>
              <a:rPr lang="ko-KR" altLang="en-US" sz="2000" dirty="0" err="1"/>
              <a:t>메소드를</a:t>
            </a:r>
            <a:r>
              <a:rPr lang="ko-KR" altLang="en-US" sz="2000" dirty="0"/>
              <a:t> 이용하여 </a:t>
            </a:r>
            <a:r>
              <a:rPr lang="en-US" altLang="ko-KR" sz="2000" dirty="0"/>
              <a:t>HTTP1.1 </a:t>
            </a:r>
            <a:r>
              <a:rPr lang="ko-KR" altLang="en-US" sz="2000" dirty="0"/>
              <a:t>프로토콜로 웹 페이지</a:t>
            </a:r>
            <a:r>
              <a:rPr lang="en-US" altLang="ko-KR" sz="2000" dirty="0"/>
              <a:t>(joins.jtbc.com)</a:t>
            </a:r>
            <a:br>
              <a:rPr lang="en-US" altLang="ko-KR" sz="2000" dirty="0"/>
            </a:br>
            <a:r>
              <a:rPr lang="ko-KR" altLang="en-US" sz="2000" dirty="0"/>
              <a:t>를 가져오라는 명령</a:t>
            </a:r>
            <a:endParaRPr lang="en-US" altLang="ko-KR" sz="2000" dirty="0"/>
          </a:p>
          <a:p>
            <a:endParaRPr lang="en-US" altLang="ko-KR" sz="1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ko-KR" altLang="en-US" sz="2000" dirty="0"/>
              <a:t>환경에 따라 홈페이지가 전부 적혀있는 경우</a:t>
            </a:r>
            <a:r>
              <a:rPr lang="en-US" altLang="ko-KR" sz="2000" dirty="0"/>
              <a:t>, /r/n</a:t>
            </a:r>
            <a:r>
              <a:rPr lang="ko-KR" altLang="en-US" sz="2000" dirty="0"/>
              <a:t>이 적혀있는 경우 등이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12096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0770" y="6258452"/>
            <a:ext cx="466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13] HTTP </a:t>
            </a:r>
            <a:r>
              <a:rPr lang="ko-KR" altLang="en-US" dirty="0"/>
              <a:t>요청 메시지 상세 분석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733" y="869193"/>
            <a:ext cx="8861067" cy="538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42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0181" y="2825426"/>
            <a:ext cx="2891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14] Expert Info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703" y="892117"/>
            <a:ext cx="6858594" cy="1882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1088" y="3245764"/>
            <a:ext cx="9993249" cy="340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[Expert Info (Chat/Sequence) : GET / HTTP/1.1\r\n]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Wireshark</a:t>
            </a:r>
            <a:r>
              <a:rPr lang="ko-KR" altLang="en-US" sz="2000" dirty="0"/>
              <a:t> 전문가 기능에 추가된 필드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중요도는 </a:t>
            </a:r>
            <a:r>
              <a:rPr lang="en-US" altLang="ko-KR" sz="2000" dirty="0"/>
              <a:t>Chat, HTTP</a:t>
            </a:r>
            <a:r>
              <a:rPr lang="ko-KR" altLang="en-US" sz="2000" dirty="0"/>
              <a:t>의 시퀀스로 분류</a:t>
            </a:r>
            <a:r>
              <a:rPr lang="en-US" altLang="ko-KR" sz="2000" dirty="0"/>
              <a:t>, GET / HTTP/1.1\r\n </a:t>
            </a:r>
            <a:r>
              <a:rPr lang="ko-KR" altLang="en-US" sz="2000" dirty="0"/>
              <a:t>메시지를 송신 중</a:t>
            </a:r>
            <a:endParaRPr lang="en-US" altLang="ko-KR" sz="2000" dirty="0"/>
          </a:p>
          <a:p>
            <a:pPr lvl="1"/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Request Method : GET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홈페이지를 가져오라는 </a:t>
            </a:r>
            <a:r>
              <a:rPr lang="en-US" altLang="ko-KR" sz="2000" dirty="0"/>
              <a:t>GET </a:t>
            </a:r>
            <a:r>
              <a:rPr lang="ko-KR" altLang="en-US" sz="2000" dirty="0" err="1"/>
              <a:t>메소드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Request URI : /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홈페이지의 위치에 대해 </a:t>
            </a:r>
            <a:r>
              <a:rPr lang="en-US" altLang="ko-KR" sz="2000" dirty="0"/>
              <a:t>joins.jtbc.com</a:t>
            </a:r>
            <a:r>
              <a:rPr lang="ko-KR" altLang="en-US" sz="2000" dirty="0"/>
              <a:t>이라는 </a:t>
            </a:r>
            <a:r>
              <a:rPr lang="ko-KR" altLang="en-US" sz="2000" dirty="0" err="1"/>
              <a:t>웹페이지를</a:t>
            </a:r>
            <a:r>
              <a:rPr lang="ko-KR" altLang="en-US" sz="2000" dirty="0"/>
              <a:t> 가져오라는 명령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무선 </a:t>
            </a:r>
            <a:r>
              <a:rPr lang="ko-KR" altLang="en-US" sz="2000" dirty="0" err="1"/>
              <a:t>랜에서는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패킷</a:t>
            </a:r>
            <a:r>
              <a:rPr lang="ko-KR" altLang="en-US" sz="2000" dirty="0"/>
              <a:t> 분석이 제대로 안될 수 있음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Request Version : HTTP/1.1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홈페이지를 가져올 때 </a:t>
            </a:r>
            <a:r>
              <a:rPr lang="en-US" altLang="ko-KR" sz="2000" dirty="0"/>
              <a:t>HTTP </a:t>
            </a:r>
            <a:r>
              <a:rPr lang="ko-KR" altLang="en-US" sz="2000" dirty="0"/>
              <a:t>버전 </a:t>
            </a:r>
            <a:r>
              <a:rPr lang="en-US" altLang="ko-KR" sz="2000" dirty="0"/>
              <a:t>1.1</a:t>
            </a:r>
            <a:r>
              <a:rPr lang="ko-KR" altLang="en-US" sz="2000" dirty="0"/>
              <a:t>을 사용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669889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5898" y="1983324"/>
            <a:ext cx="335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15] Host, Connection..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71088" y="2712502"/>
            <a:ext cx="373692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Host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필드에 접속하는 호스트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Connection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필드 접속 상태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User-Agent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브라우저의</a:t>
            </a:r>
            <a:r>
              <a:rPr lang="en-US" altLang="ko-KR" sz="2000" dirty="0"/>
              <a:t> </a:t>
            </a:r>
            <a:r>
              <a:rPr lang="ko-KR" altLang="en-US" sz="2000" dirty="0"/>
              <a:t>종류</a:t>
            </a:r>
            <a:endParaRPr lang="en-US" altLang="ko-KR" sz="2000" dirty="0"/>
          </a:p>
          <a:p>
            <a:pPr lvl="1"/>
            <a:endParaRPr lang="en-US" altLang="ko-KR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8" y="892116"/>
            <a:ext cx="10104996" cy="9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16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4913" y="2098976"/>
            <a:ext cx="335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16] HTTP </a:t>
            </a:r>
            <a:r>
              <a:rPr lang="ko-KR" altLang="en-US" dirty="0"/>
              <a:t>요청 헤더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88" y="2746251"/>
            <a:ext cx="589135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Accept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브라우저가 받아들일 수 있는 필드 형식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 err="1"/>
              <a:t>Referer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페이지 호출 전 경로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Accept-Encoding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브라우저가 지원하고 있는 </a:t>
            </a:r>
            <a:r>
              <a:rPr lang="ko-KR" altLang="en-US" sz="2000" dirty="0" err="1"/>
              <a:t>인코딩</a:t>
            </a:r>
            <a:r>
              <a:rPr lang="ko-KR" altLang="en-US" sz="2000" dirty="0"/>
              <a:t> 방식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Accept-Language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브라우저가 받아들일 수 있는 언어 설정</a:t>
            </a:r>
            <a:endParaRPr lang="en-US" altLang="ko-KR" sz="2000" dirty="0"/>
          </a:p>
          <a:p>
            <a:endParaRPr lang="en-US" altLang="ko-KR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841381"/>
            <a:ext cx="10150287" cy="102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19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5238" y="2755421"/>
            <a:ext cx="335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17] Cookie, Request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71088" y="3175684"/>
            <a:ext cx="700704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Cookie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브라우저가 웹 서버에 송신하는 쿠키 정보가 지정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Full Request URI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요청하는 주소</a:t>
            </a:r>
            <a:br>
              <a:rPr lang="en-US" altLang="ko-KR" sz="2000" dirty="0"/>
            </a:b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Response in 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응답 받는 프레임</a:t>
            </a:r>
            <a:endParaRPr lang="en-US" altLang="ko-KR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7" y="841381"/>
            <a:ext cx="10253804" cy="190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5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86265" y="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146" y="6362511"/>
            <a:ext cx="352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18] HTTP </a:t>
            </a:r>
            <a:r>
              <a:rPr lang="ko-KR" altLang="en-US" dirty="0"/>
              <a:t>응답 메시지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2" y="841381"/>
            <a:ext cx="10403790" cy="540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1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0181" y="2825426"/>
            <a:ext cx="2891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19] Expert Info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71088" y="3245764"/>
            <a:ext cx="1107476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[Expert Info (Chat/Sequence) : HTTP/1.1 200 200\r\n]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Wireshark</a:t>
            </a:r>
            <a:r>
              <a:rPr lang="ko-KR" altLang="en-US" sz="2000" dirty="0"/>
              <a:t> 전문가 기능에 추가된 필드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중요도는 </a:t>
            </a:r>
            <a:r>
              <a:rPr lang="en-US" altLang="ko-KR" sz="2000" dirty="0"/>
              <a:t>Chat, HTTP</a:t>
            </a:r>
            <a:r>
              <a:rPr lang="ko-KR" altLang="en-US" sz="2000" dirty="0"/>
              <a:t>의 시퀀스로 분류</a:t>
            </a:r>
            <a:r>
              <a:rPr lang="en-US" altLang="ko-KR" sz="2000" dirty="0"/>
              <a:t>, HTTP/1.1 200 OK\r\n </a:t>
            </a:r>
            <a:r>
              <a:rPr lang="ko-KR" altLang="en-US" sz="2000" dirty="0"/>
              <a:t>라는 정상 응답을 </a:t>
            </a:r>
            <a:r>
              <a:rPr lang="ko-KR" altLang="en-US" sz="2000" dirty="0" err="1"/>
              <a:t>수신중</a:t>
            </a:r>
            <a:endParaRPr lang="en-US" altLang="ko-KR" sz="2000" dirty="0"/>
          </a:p>
          <a:p>
            <a:pPr lvl="1"/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Request Version : HTTP/1.1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홈페이지를 가져올 때 </a:t>
            </a:r>
            <a:r>
              <a:rPr lang="en-US" altLang="ko-KR" sz="2000" dirty="0"/>
              <a:t>HTTP </a:t>
            </a:r>
            <a:r>
              <a:rPr lang="ko-KR" altLang="en-US" sz="2000" dirty="0"/>
              <a:t>버전 </a:t>
            </a:r>
            <a:r>
              <a:rPr lang="en-US" altLang="ko-KR" sz="2000" dirty="0"/>
              <a:t>1.1</a:t>
            </a:r>
            <a:r>
              <a:rPr lang="ko-KR" altLang="en-US" sz="2000" dirty="0"/>
              <a:t>을 사용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Status Code : 200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응답 코드를 나타냄 </a:t>
            </a:r>
            <a:r>
              <a:rPr lang="en-US" altLang="ko-KR" sz="2000" dirty="0"/>
              <a:t>(</a:t>
            </a:r>
            <a:r>
              <a:rPr lang="ko-KR" altLang="en-US" sz="2000" dirty="0"/>
              <a:t>정상 </a:t>
            </a:r>
            <a:r>
              <a:rPr lang="en-US" altLang="ko-KR" sz="2000" dirty="0"/>
              <a:t>200, </a:t>
            </a:r>
            <a:r>
              <a:rPr lang="ko-KR" altLang="en-US" sz="2000" dirty="0"/>
              <a:t>문서를 찾을 수 없을 경우 </a:t>
            </a:r>
            <a:r>
              <a:rPr lang="en-US" altLang="ko-KR" sz="2000" dirty="0"/>
              <a:t>404 -&gt; HTTP </a:t>
            </a:r>
            <a:r>
              <a:rPr lang="ko-KR" altLang="en-US" sz="2000" dirty="0"/>
              <a:t>응답코드 참고</a:t>
            </a:r>
            <a:r>
              <a:rPr lang="en-US" altLang="ko-KR" sz="2000" dirty="0"/>
              <a:t>)</a:t>
            </a:r>
            <a:endParaRPr lang="en-US" altLang="ko-KR" sz="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666" y="870965"/>
            <a:ext cx="6550091" cy="185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55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4863" y="3520929"/>
            <a:ext cx="478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20] HTTP </a:t>
            </a:r>
            <a:r>
              <a:rPr lang="ko-KR" altLang="en-US" dirty="0"/>
              <a:t>응답 메시지 상세 분석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48" y="869194"/>
            <a:ext cx="8928651" cy="25986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1088" y="3943370"/>
            <a:ext cx="5987986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Date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웹 서버가 응답을 한 시각</a:t>
            </a:r>
            <a:endParaRPr lang="en-US" altLang="ko-KR" sz="2000" dirty="0"/>
          </a:p>
          <a:p>
            <a:pPr lvl="1"/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Connection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필드 접속에 관한 설정</a:t>
            </a:r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Time since request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HTTP </a:t>
            </a:r>
            <a:r>
              <a:rPr lang="ko-KR" altLang="en-US" sz="2000" dirty="0"/>
              <a:t>요청 메시지로 부터 응답 시간을 지정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dirty="0"/>
              <a:t> Request in 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요청하는 프레임</a:t>
            </a:r>
            <a:endParaRPr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500" dirty="0"/>
          </a:p>
        </p:txBody>
      </p:sp>
    </p:spTree>
    <p:extLst>
      <p:ext uri="{BB962C8B-B14F-4D97-AF65-F5344CB8AC3E}">
        <p14:creationId xmlns:p14="http://schemas.microsoft.com/office/powerpoint/2010/main" val="408189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덤프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7340" y="4506238"/>
            <a:ext cx="335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21] Line-based text date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71086" y="5042139"/>
            <a:ext cx="57134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2000" dirty="0"/>
              <a:t>Line-based text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HTML </a:t>
            </a:r>
            <a:r>
              <a:rPr lang="ko-KR" altLang="en-US" sz="2000" dirty="0"/>
              <a:t>형식 홈페이지의 메시지 본문 내용</a:t>
            </a:r>
            <a:endParaRPr lang="en-US" altLang="ko-KR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086" y="878866"/>
            <a:ext cx="10245177" cy="358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64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" y="9170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71088" y="102447"/>
            <a:ext cx="8709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HTTP </a:t>
            </a:r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덤프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9702" y="6152419"/>
            <a:ext cx="504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22] </a:t>
            </a:r>
            <a:r>
              <a:rPr lang="ko-KR" altLang="en-US" dirty="0"/>
              <a:t>덤프에 자주 등장 하는 </a:t>
            </a:r>
            <a:r>
              <a:rPr lang="en-US" altLang="ko-KR" dirty="0"/>
              <a:t>HTTP </a:t>
            </a:r>
            <a:r>
              <a:rPr lang="ko-KR" altLang="en-US" dirty="0"/>
              <a:t>헤더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02300"/>
              </p:ext>
            </p:extLst>
          </p:nvPr>
        </p:nvGraphicFramePr>
        <p:xfrm>
          <a:off x="1405772" y="748104"/>
          <a:ext cx="10144998" cy="5312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2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1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헤더명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설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표시 필터식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Host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접속 대상 </a:t>
                      </a:r>
                      <a:r>
                        <a:rPr lang="ko-KR" altLang="en-US" dirty="0" err="1"/>
                        <a:t>호스트명</a:t>
                      </a:r>
                      <a:r>
                        <a:rPr lang="ko-KR" altLang="en-US" dirty="0"/>
                        <a:t> 및 포트번호를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http.host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Server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서버의 정보를 나타냄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http.server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Cache-Control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페이지의 캐시 정보를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http.cache_control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Content-Type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페이지의 데이터 형식을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http.content_type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User-Agent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브라우저의 정보를 나타냄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http.user_agent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Referer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하이퍼링크를 사용해서 액세스한 경우에 직접 참조한 웹</a:t>
                      </a:r>
                      <a:r>
                        <a:rPr lang="ko-KR" altLang="en-US" baseline="0" dirty="0"/>
                        <a:t> 페이지를 나타냄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http.referer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Location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페이지를 표시한 직후에 다시 다른 웹 페이지로 이동하도록 할 경우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이를 </a:t>
                      </a:r>
                      <a:r>
                        <a:rPr lang="ko-KR" altLang="en-US" dirty="0" err="1"/>
                        <a:t>리다이렉트라</a:t>
                      </a:r>
                      <a:r>
                        <a:rPr lang="ko-KR" altLang="en-US" dirty="0"/>
                        <a:t> 함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새로운 </a:t>
                      </a:r>
                      <a:r>
                        <a:rPr lang="ko-KR" altLang="en-US" dirty="0" err="1"/>
                        <a:t>웹페이지를</a:t>
                      </a:r>
                      <a:r>
                        <a:rPr lang="ko-KR" altLang="en-US" dirty="0"/>
                        <a:t> 지정함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http.location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브라우저가 저장하고 있는 캐시 값을 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Set-Cookie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웹 서버가 웹 브라우저에 쿠키를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http.set_cookie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218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0" y="102447"/>
            <a:ext cx="12166784" cy="684883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50000">
                <a:srgbClr val="FCFDFE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58611" y="194106"/>
            <a:ext cx="8471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1</a:t>
            </a:r>
            <a:endParaRPr lang="ko-KR" altLang="en-US" sz="66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" y="0"/>
            <a:ext cx="92302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5"/>
          <p:cNvCxnSpPr/>
          <p:nvPr/>
        </p:nvCxnSpPr>
        <p:spPr>
          <a:xfrm>
            <a:off x="2291632" y="0"/>
            <a:ext cx="0" cy="119634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945" y="-1"/>
            <a:ext cx="5441400" cy="36834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405" y="2262953"/>
            <a:ext cx="1482766" cy="43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32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16880" y="2433711"/>
            <a:ext cx="5596598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solidFill>
                  <a:schemeClr val="accent1">
                    <a:lumMod val="50000"/>
                  </a:schemeClr>
                </a:solidFill>
              </a:rPr>
              <a:t>감사합니다</a:t>
            </a:r>
            <a:r>
              <a:rPr lang="en-US" altLang="ko-KR" sz="6600" b="1" dirty="0">
                <a:solidFill>
                  <a:schemeClr val="accent1">
                    <a:lumMod val="50000"/>
                  </a:schemeClr>
                </a:solidFill>
              </a:rPr>
              <a:t>!</a:t>
            </a:r>
            <a:endParaRPr lang="ko-KR" altLang="en-US" sz="6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1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952</Words>
  <Application>Microsoft Office PowerPoint</Application>
  <PresentationFormat>와이드스크린</PresentationFormat>
  <Paragraphs>278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Adobe 고딕 Std B</vt:lpstr>
      <vt:lpstr>HY견고딕</vt:lpstr>
      <vt:lpstr>맑은 고딕</vt:lpstr>
      <vt:lpstr>Arial</vt:lpstr>
      <vt:lpstr>Wingdings</vt:lpstr>
      <vt:lpstr>Office 테마</vt:lpstr>
      <vt:lpstr>2_디자인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이한별</dc:creator>
  <cp:lastModifiedBy>김 진일</cp:lastModifiedBy>
  <cp:revision>60</cp:revision>
  <dcterms:created xsi:type="dcterms:W3CDTF">2016-06-21T09:09:19Z</dcterms:created>
  <dcterms:modified xsi:type="dcterms:W3CDTF">2019-06-19T11:25:36Z</dcterms:modified>
</cp:coreProperties>
</file>