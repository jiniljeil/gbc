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0" r:id="rId3"/>
    <p:sldId id="265" r:id="rId4"/>
    <p:sldId id="256" r:id="rId5"/>
    <p:sldId id="257" r:id="rId6"/>
    <p:sldId id="258" r:id="rId7"/>
    <p:sldId id="259" r:id="rId8"/>
    <p:sldId id="261" r:id="rId9"/>
    <p:sldId id="262" r:id="rId10"/>
    <p:sldId id="266" r:id="rId11"/>
    <p:sldId id="263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71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32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54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46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00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5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92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22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26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44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290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8261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155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503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757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962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60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694A444-BAA4-4E26-BF36-A07AFC7C5611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B6BD2-B6C3-400D-A486-95B7098697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111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minj2477/221379719523" TargetMode="External"/><Relationship Id="rId2" Type="http://schemas.openxmlformats.org/officeDocument/2006/relationships/hyperlink" Target="https://blog.naver.com/varkiry05/22132945573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fcats.com/1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9668E4-4773-42ED-9AB9-FC16920FB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894202"/>
            <a:ext cx="8946541" cy="3354197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GBC </a:t>
            </a:r>
            <a:r>
              <a:rPr lang="ko-KR" altLang="en-US" sz="2800" dirty="0"/>
              <a:t>알고리즘 </a:t>
            </a:r>
            <a:endParaRPr lang="en-US" altLang="ko-KR" sz="2800" dirty="0"/>
          </a:p>
          <a:p>
            <a:pPr algn="ctr"/>
            <a:r>
              <a:rPr lang="en-US" altLang="ko-KR" sz="2800" dirty="0"/>
              <a:t>(BFS, Binary</a:t>
            </a:r>
            <a:r>
              <a:rPr lang="ko-KR" altLang="en-US" sz="2800" dirty="0"/>
              <a:t> </a:t>
            </a:r>
            <a:r>
              <a:rPr lang="en-US" altLang="ko-KR" sz="2800" dirty="0"/>
              <a:t>Search)</a:t>
            </a:r>
          </a:p>
          <a:p>
            <a:pPr algn="ctr"/>
            <a:r>
              <a:rPr lang="ko-KR" altLang="en-US" sz="2800" dirty="0"/>
              <a:t>김진일</a:t>
            </a:r>
          </a:p>
        </p:txBody>
      </p:sp>
    </p:spTree>
    <p:extLst>
      <p:ext uri="{BB962C8B-B14F-4D97-AF65-F5344CB8AC3E}">
        <p14:creationId xmlns:p14="http://schemas.microsoft.com/office/powerpoint/2010/main" val="243872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4C81AA-16E2-4C67-8218-02BF0A895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064" y="704676"/>
            <a:ext cx="9336789" cy="55437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>
              <a:latin typeface="+mj-ea"/>
            </a:endParaRPr>
          </a:p>
          <a:p>
            <a:endParaRPr lang="en-US" altLang="ko-KR" dirty="0">
              <a:latin typeface="+mj-ea"/>
            </a:endParaRPr>
          </a:p>
          <a:p>
            <a:endParaRPr lang="en-US" altLang="ko-KR" dirty="0">
              <a:latin typeface="+mj-ea"/>
            </a:endParaRPr>
          </a:p>
          <a:p>
            <a:r>
              <a:rPr lang="en-US" altLang="ko-KR" dirty="0">
                <a:latin typeface="+mj-ea"/>
              </a:rPr>
              <a:t>1. BFS </a:t>
            </a:r>
            <a:r>
              <a:rPr lang="ko-KR" altLang="en-US" dirty="0">
                <a:latin typeface="+mj-ea"/>
              </a:rPr>
              <a:t>개념</a:t>
            </a:r>
            <a:r>
              <a:rPr lang="en-US" altLang="ko-KR" dirty="0">
                <a:latin typeface="+mj-ea"/>
              </a:rPr>
              <a:t>(</a:t>
            </a:r>
            <a:r>
              <a:rPr lang="ko-KR" altLang="en-US" dirty="0">
                <a:latin typeface="+mj-ea"/>
              </a:rPr>
              <a:t>너비 우선 탐색</a:t>
            </a:r>
            <a:r>
              <a:rPr lang="en-US" altLang="ko-KR" dirty="0">
                <a:latin typeface="+mj-ea"/>
              </a:rPr>
              <a:t>)</a:t>
            </a:r>
          </a:p>
          <a:p>
            <a:pPr fontAlgn="base"/>
            <a:r>
              <a:rPr lang="ko-KR" altLang="en-US" dirty="0">
                <a:latin typeface="+mj-ea"/>
              </a:rPr>
              <a:t>루트 노드 </a:t>
            </a:r>
            <a:r>
              <a:rPr lang="en-US" altLang="ko-KR" dirty="0">
                <a:latin typeface="+mj-ea"/>
              </a:rPr>
              <a:t>(</a:t>
            </a:r>
            <a:r>
              <a:rPr lang="ko-KR" altLang="en-US" dirty="0">
                <a:latin typeface="+mj-ea"/>
              </a:rPr>
              <a:t>시작점</a:t>
            </a:r>
            <a:r>
              <a:rPr lang="en-US" altLang="ko-KR" dirty="0">
                <a:latin typeface="+mj-ea"/>
              </a:rPr>
              <a:t>) </a:t>
            </a:r>
            <a:r>
              <a:rPr lang="ko-KR" altLang="en-US" dirty="0">
                <a:latin typeface="+mj-ea"/>
              </a:rPr>
              <a:t>으로부터 인접한 모든 정점을 방문한 후 시작 정점에 </a:t>
            </a:r>
            <a:endParaRPr lang="en-US" altLang="ko-KR" dirty="0">
              <a:latin typeface="+mj-ea"/>
            </a:endParaRPr>
          </a:p>
          <a:p>
            <a:pPr marL="0" indent="0" fontAlgn="base">
              <a:buNone/>
            </a:pPr>
            <a:r>
              <a:rPr lang="ko-KR" altLang="en-US" dirty="0">
                <a:latin typeface="+mj-ea"/>
              </a:rPr>
              <a:t>    인접한 모든 정점을 우선적으로 방문하는 방법입니다</a:t>
            </a:r>
            <a:r>
              <a:rPr lang="en-US" altLang="ko-KR" dirty="0">
                <a:latin typeface="+mj-ea"/>
              </a:rPr>
              <a:t>. </a:t>
            </a:r>
          </a:p>
          <a:p>
            <a:pPr marL="0" indent="0" fontAlgn="base">
              <a:buNone/>
            </a:pPr>
            <a:endParaRPr lang="en-US" altLang="ko-KR" dirty="0">
              <a:latin typeface="+mj-ea"/>
            </a:endParaRPr>
          </a:p>
          <a:p>
            <a:pPr marL="0" indent="0" fontAlgn="base">
              <a:buNone/>
            </a:pPr>
            <a:r>
              <a:rPr lang="en-US" altLang="ko-KR" dirty="0">
                <a:latin typeface="+mj-ea"/>
              </a:rPr>
              <a:t>    </a:t>
            </a:r>
            <a:r>
              <a:rPr lang="ko-KR" altLang="en-US" dirty="0">
                <a:latin typeface="+mj-ea"/>
              </a:rPr>
              <a:t> 즉</a:t>
            </a:r>
            <a:r>
              <a:rPr lang="en-US" altLang="ko-KR" dirty="0">
                <a:latin typeface="+mj-ea"/>
              </a:rPr>
              <a:t>, </a:t>
            </a:r>
            <a:r>
              <a:rPr lang="ko-KR" altLang="en-US" dirty="0">
                <a:latin typeface="+mj-ea"/>
              </a:rPr>
              <a:t>시작점에서 가까운 점을 먼저 방문하고</a:t>
            </a:r>
            <a:r>
              <a:rPr lang="en-US" altLang="ko-KR" dirty="0">
                <a:latin typeface="+mj-ea"/>
              </a:rPr>
              <a:t>, </a:t>
            </a:r>
            <a:r>
              <a:rPr lang="ko-KR" altLang="en-US" dirty="0">
                <a:latin typeface="+mj-ea"/>
              </a:rPr>
              <a:t>멀리 떨어져 있는 점은 나중에 </a:t>
            </a:r>
            <a:endParaRPr lang="en-US" altLang="ko-KR" dirty="0">
              <a:latin typeface="+mj-ea"/>
            </a:endParaRPr>
          </a:p>
          <a:p>
            <a:pPr marL="0" indent="0" fontAlgn="base">
              <a:buNone/>
            </a:pPr>
            <a:r>
              <a:rPr lang="en-US" altLang="ko-KR" dirty="0">
                <a:latin typeface="+mj-ea"/>
              </a:rPr>
              <a:t>     </a:t>
            </a:r>
            <a:r>
              <a:rPr lang="ko-KR" altLang="en-US" dirty="0">
                <a:latin typeface="+mj-ea"/>
              </a:rPr>
              <a:t>방문하는 탐색 방법입니다</a:t>
            </a:r>
            <a:r>
              <a:rPr lang="en-US" altLang="ko-KR" dirty="0">
                <a:latin typeface="+mj-ea"/>
              </a:rPr>
              <a:t>. </a:t>
            </a:r>
          </a:p>
          <a:p>
            <a:pPr marL="0" indent="0" fontAlgn="base">
              <a:buNone/>
            </a:pPr>
            <a:endParaRPr lang="ko-KR" altLang="en-US" dirty="0"/>
          </a:p>
          <a:p>
            <a:pPr marL="0" indent="0" fontAlgn="base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818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806A87-259D-48A6-B7DC-06B6589C6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562" y="1348243"/>
            <a:ext cx="9726875" cy="4800888"/>
          </a:xfrm>
        </p:spPr>
        <p:txBody>
          <a:bodyPr/>
          <a:lstStyle/>
          <a:p>
            <a:pPr marL="0" indent="0" fontAlgn="base">
              <a:buNone/>
            </a:pPr>
            <a:r>
              <a:rPr lang="en-US" altLang="ko-KR" dirty="0"/>
              <a:t>2. </a:t>
            </a:r>
            <a:r>
              <a:rPr lang="en-US" altLang="ko-KR" dirty="0">
                <a:latin typeface="+mj-ea"/>
              </a:rPr>
              <a:t>BFS </a:t>
            </a:r>
            <a:r>
              <a:rPr lang="ko-KR" altLang="en-US" dirty="0">
                <a:latin typeface="+mj-ea"/>
              </a:rPr>
              <a:t>특징</a:t>
            </a:r>
          </a:p>
          <a:p>
            <a:pPr fontAlgn="base"/>
            <a:r>
              <a:rPr lang="en-US" altLang="ko-KR" dirty="0">
                <a:latin typeface="+mj-ea"/>
              </a:rPr>
              <a:t>BFS</a:t>
            </a:r>
            <a:r>
              <a:rPr lang="ko-KR" altLang="en-US" dirty="0">
                <a:latin typeface="+mj-ea"/>
              </a:rPr>
              <a:t>는 시작 노드에서 시작해 거리에 따라 탐색하기 때문에 직관적이지 </a:t>
            </a:r>
            <a:endParaRPr lang="en-US" altLang="ko-KR" dirty="0">
              <a:latin typeface="+mj-ea"/>
            </a:endParaRPr>
          </a:p>
          <a:p>
            <a:pPr marL="0" indent="0" fontAlgn="base">
              <a:buNone/>
            </a:pPr>
            <a:r>
              <a:rPr lang="en-US" altLang="ko-KR" dirty="0">
                <a:latin typeface="+mj-ea"/>
              </a:rPr>
              <a:t>    </a:t>
            </a:r>
            <a:r>
              <a:rPr lang="ko-KR" altLang="en-US" dirty="0">
                <a:latin typeface="+mj-ea"/>
              </a:rPr>
              <a:t>않을 수 있음</a:t>
            </a:r>
          </a:p>
          <a:p>
            <a:pPr fontAlgn="base"/>
            <a:r>
              <a:rPr lang="ko-KR" altLang="en-US" dirty="0">
                <a:latin typeface="+mj-ea"/>
              </a:rPr>
              <a:t>재귀적으로 동작하지 않음</a:t>
            </a:r>
            <a:r>
              <a:rPr lang="en-US" altLang="ko-KR" dirty="0">
                <a:latin typeface="+mj-ea"/>
              </a:rPr>
              <a:t>.</a:t>
            </a:r>
            <a:endParaRPr lang="ko-KR" altLang="en-US" dirty="0">
              <a:latin typeface="+mj-ea"/>
            </a:endParaRPr>
          </a:p>
          <a:p>
            <a:pPr fontAlgn="base"/>
            <a:r>
              <a:rPr lang="ko-KR" altLang="en-US" dirty="0">
                <a:latin typeface="+mj-ea"/>
              </a:rPr>
              <a:t>방문한 인접 노드에 대해서는 </a:t>
            </a:r>
            <a:r>
              <a:rPr lang="en-US" altLang="ko-KR" dirty="0">
                <a:latin typeface="+mj-ea"/>
              </a:rPr>
              <a:t>Check</a:t>
            </a:r>
            <a:r>
              <a:rPr lang="ko-KR" altLang="en-US" dirty="0">
                <a:latin typeface="+mj-ea"/>
              </a:rPr>
              <a:t> 해야함</a:t>
            </a:r>
            <a:r>
              <a:rPr lang="en-US" altLang="ko-KR" dirty="0">
                <a:latin typeface="+mj-ea"/>
              </a:rPr>
              <a:t>.</a:t>
            </a:r>
            <a:endParaRPr lang="ko-KR" altLang="en-US" dirty="0">
              <a:latin typeface="+mj-ea"/>
            </a:endParaRPr>
          </a:p>
          <a:p>
            <a:pPr fontAlgn="base"/>
            <a:r>
              <a:rPr lang="ko-KR" altLang="en-US" dirty="0">
                <a:latin typeface="+mj-ea"/>
              </a:rPr>
              <a:t>위 에서와 같이 </a:t>
            </a:r>
            <a:r>
              <a:rPr lang="en-US" altLang="ko-KR" dirty="0">
                <a:latin typeface="+mj-ea"/>
              </a:rPr>
              <a:t>FIFO(First In First Out) </a:t>
            </a:r>
            <a:r>
              <a:rPr lang="ko-KR" altLang="en-US" dirty="0">
                <a:latin typeface="+mj-ea"/>
              </a:rPr>
              <a:t>기능을 하는 자료구조인 </a:t>
            </a:r>
            <a:r>
              <a:rPr lang="en-US" altLang="ko-KR" dirty="0">
                <a:latin typeface="+mj-ea"/>
              </a:rPr>
              <a:t>Queue</a:t>
            </a:r>
            <a:r>
              <a:rPr lang="ko-KR" altLang="en-US" dirty="0">
                <a:latin typeface="+mj-ea"/>
              </a:rPr>
              <a:t>를</a:t>
            </a:r>
            <a:endParaRPr lang="en-US" altLang="ko-KR" dirty="0">
              <a:latin typeface="+mj-ea"/>
            </a:endParaRPr>
          </a:p>
          <a:p>
            <a:pPr marL="0" indent="0" fontAlgn="base">
              <a:buNone/>
            </a:pPr>
            <a:r>
              <a:rPr lang="en-US" altLang="ko-KR" dirty="0">
                <a:latin typeface="+mj-ea"/>
              </a:rPr>
              <a:t>     </a:t>
            </a:r>
            <a:r>
              <a:rPr lang="ko-KR" altLang="en-US" dirty="0">
                <a:latin typeface="+mj-ea"/>
              </a:rPr>
              <a:t>사용하여 구현 해야함</a:t>
            </a:r>
            <a:r>
              <a:rPr lang="en-US" altLang="ko-KR" dirty="0">
                <a:latin typeface="+mj-ea"/>
              </a:rPr>
              <a:t>.</a:t>
            </a:r>
            <a:endParaRPr lang="ko-KR" altLang="en-US" dirty="0">
              <a:latin typeface="+mj-ea"/>
            </a:endParaRPr>
          </a:p>
          <a:p>
            <a:pPr fontAlgn="base"/>
            <a:r>
              <a:rPr lang="ko-KR" altLang="en-US" dirty="0">
                <a:latin typeface="+mj-ea"/>
              </a:rPr>
              <a:t>무한 그래프의 경우 끝낼 수 없다는 단점</a:t>
            </a:r>
          </a:p>
          <a:p>
            <a:pPr fontAlgn="base"/>
            <a:r>
              <a:rPr lang="ko-KR" altLang="en-US" dirty="0">
                <a:latin typeface="+mj-ea"/>
              </a:rPr>
              <a:t>두 노드 사이의 최단 경로 또는 임의의 경로를 찾고자 할 때 사용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822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1.daumcdn.net/cfile/tistory/265F7F3458C2B50114">
            <a:extLst>
              <a:ext uri="{FF2B5EF4-FFF2-40B4-BE49-F238E27FC236}">
                <a16:creationId xmlns:a16="http://schemas.microsoft.com/office/drawing/2014/main" id="{F8D9875B-C6BF-4333-9BBE-55B0705AD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12" y="2192986"/>
            <a:ext cx="515302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t1.daumcdn.net/cfile/tistory/2759843958C2B4EA02">
            <a:extLst>
              <a:ext uri="{FF2B5EF4-FFF2-40B4-BE49-F238E27FC236}">
                <a16:creationId xmlns:a16="http://schemas.microsoft.com/office/drawing/2014/main" id="{594BC204-3D58-4DBC-8199-EB3972FE9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704" y="2165286"/>
            <a:ext cx="544830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27C7911-1E91-4C79-874C-266B5704E01E}"/>
              </a:ext>
            </a:extLst>
          </p:cNvPr>
          <p:cNvSpPr/>
          <p:nvPr/>
        </p:nvSpPr>
        <p:spPr>
          <a:xfrm>
            <a:off x="692312" y="133575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>
                <a:solidFill>
                  <a:srgbClr val="00B0F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연두색은 아직 방문하지 않은 정점</a:t>
            </a:r>
            <a:r>
              <a:rPr lang="en-US" altLang="ko-KR" b="1" dirty="0">
                <a:solidFill>
                  <a:srgbClr val="00B0F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00B0F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회색은 예약되어 </a:t>
            </a:r>
            <a:r>
              <a:rPr lang="en-US" altLang="ko-KR" b="1" dirty="0">
                <a:solidFill>
                  <a:srgbClr val="00B0F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Queue</a:t>
            </a:r>
            <a:r>
              <a:rPr lang="ko-KR" altLang="en-US" b="1" dirty="0">
                <a:solidFill>
                  <a:srgbClr val="00B0F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</a:t>
            </a:r>
            <a:r>
              <a:rPr lang="ko-KR" altLang="en-US" b="1" dirty="0" err="1">
                <a:solidFill>
                  <a:srgbClr val="00B0F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넣어놓은</a:t>
            </a:r>
            <a:r>
              <a:rPr lang="ko-KR" altLang="en-US" b="1" dirty="0">
                <a:solidFill>
                  <a:srgbClr val="00B0F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정점</a:t>
            </a:r>
            <a:r>
              <a:rPr lang="en-US" altLang="ko-KR" b="1" dirty="0">
                <a:solidFill>
                  <a:srgbClr val="00B0F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 </a:t>
            </a:r>
            <a:r>
              <a:rPr lang="ko-KR" altLang="en-US" b="1" dirty="0">
                <a:solidFill>
                  <a:srgbClr val="00B0F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주황색은 이미 방문한 정점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6DD00-D0E2-4C0A-8226-8D5ACCD28520}"/>
              </a:ext>
            </a:extLst>
          </p:cNvPr>
          <p:cNvSpPr txBox="1"/>
          <p:nvPr/>
        </p:nvSpPr>
        <p:spPr>
          <a:xfrm>
            <a:off x="692311" y="537812"/>
            <a:ext cx="375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B0F0"/>
                </a:solidFill>
              </a:rPr>
              <a:t>Breadth First Search</a:t>
            </a:r>
            <a:endParaRPr lang="ko-KR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10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t1.daumcdn.net/cfile/tistory/264F963858C2B4DF38">
            <a:extLst>
              <a:ext uri="{FF2B5EF4-FFF2-40B4-BE49-F238E27FC236}">
                <a16:creationId xmlns:a16="http://schemas.microsoft.com/office/drawing/2014/main" id="{0EF11969-E8BB-4BDA-8166-2D77DA784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13" y="1924836"/>
            <a:ext cx="5314950" cy="387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t1.daumcdn.net/cfile/tistory/2406BD3658C2B5670F">
            <a:extLst>
              <a:ext uri="{FF2B5EF4-FFF2-40B4-BE49-F238E27FC236}">
                <a16:creationId xmlns:a16="http://schemas.microsoft.com/office/drawing/2014/main" id="{6DE17996-DC36-4FBE-95B5-3BB7ED7C8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999" y="1924836"/>
            <a:ext cx="531495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7185FF-2976-46D5-A27B-352F9915B353}"/>
              </a:ext>
            </a:extLst>
          </p:cNvPr>
          <p:cNvSpPr txBox="1"/>
          <p:nvPr/>
        </p:nvSpPr>
        <p:spPr>
          <a:xfrm>
            <a:off x="692311" y="537812"/>
            <a:ext cx="375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B0F0"/>
                </a:solidFill>
              </a:rPr>
              <a:t>Breadth First Search</a:t>
            </a:r>
            <a:endParaRPr lang="ko-KR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702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t1.daumcdn.net/cfile/tistory/243B7B3858C2B5A815">
            <a:extLst>
              <a:ext uri="{FF2B5EF4-FFF2-40B4-BE49-F238E27FC236}">
                <a16:creationId xmlns:a16="http://schemas.microsoft.com/office/drawing/2014/main" id="{33A5ED0B-1373-496C-BA44-C5E336942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96" y="1711585"/>
            <a:ext cx="520065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t1.daumcdn.net/cfile/tistory/2234D53A58C2B5F829">
            <a:extLst>
              <a:ext uri="{FF2B5EF4-FFF2-40B4-BE49-F238E27FC236}">
                <a16:creationId xmlns:a16="http://schemas.microsoft.com/office/drawing/2014/main" id="{0F96B31C-1FCF-4781-82B7-E73218E46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11585"/>
            <a:ext cx="5278016" cy="371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B37DE7-41C6-4DAA-9DD0-C3CCC9475D14}"/>
              </a:ext>
            </a:extLst>
          </p:cNvPr>
          <p:cNvSpPr txBox="1"/>
          <p:nvPr/>
        </p:nvSpPr>
        <p:spPr>
          <a:xfrm>
            <a:off x="692311" y="546201"/>
            <a:ext cx="375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B0F0"/>
                </a:solidFill>
              </a:rPr>
              <a:t>Breadth First Search</a:t>
            </a:r>
            <a:endParaRPr lang="ko-KR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13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t1.daumcdn.net/cfile/tistory/2448243A58C2B61501">
            <a:extLst>
              <a:ext uri="{FF2B5EF4-FFF2-40B4-BE49-F238E27FC236}">
                <a16:creationId xmlns:a16="http://schemas.microsoft.com/office/drawing/2014/main" id="{A2A96002-91B8-4B3A-9309-BE673ECE7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61" y="1703614"/>
            <a:ext cx="512445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t1.daumcdn.net/cfile/tistory/255D093558C2B62439">
            <a:extLst>
              <a:ext uri="{FF2B5EF4-FFF2-40B4-BE49-F238E27FC236}">
                <a16:creationId xmlns:a16="http://schemas.microsoft.com/office/drawing/2014/main" id="{7BCDC6B6-ACEA-49A3-84E6-DFA53CD8B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03613"/>
            <a:ext cx="5124450" cy="358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53A4745-759D-4ED3-A7BF-7CFD10B51C89}"/>
              </a:ext>
            </a:extLst>
          </p:cNvPr>
          <p:cNvSpPr/>
          <p:nvPr/>
        </p:nvSpPr>
        <p:spPr>
          <a:xfrm>
            <a:off x="5468835" y="1200846"/>
            <a:ext cx="5918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더이상 </a:t>
            </a:r>
            <a:r>
              <a:rPr lang="en-US" altLang="ko-KR" b="1" dirty="0">
                <a:solidFill>
                  <a:srgbClr val="FF000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Queue</a:t>
            </a:r>
            <a:r>
              <a:rPr lang="ko-KR" altLang="en-US" b="1" dirty="0">
                <a:solidFill>
                  <a:srgbClr val="FF000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남아있는 정점이 없을 때</a:t>
            </a:r>
            <a:r>
              <a:rPr lang="en-US" altLang="ko-KR" b="1" dirty="0">
                <a:solidFill>
                  <a:srgbClr val="FF000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탐색을 종료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67147-BA39-493B-AD3A-3006455A242F}"/>
              </a:ext>
            </a:extLst>
          </p:cNvPr>
          <p:cNvSpPr txBox="1"/>
          <p:nvPr/>
        </p:nvSpPr>
        <p:spPr>
          <a:xfrm>
            <a:off x="692311" y="537812"/>
            <a:ext cx="375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B0F0"/>
                </a:solidFill>
              </a:rPr>
              <a:t>Breadth First Search</a:t>
            </a:r>
            <a:endParaRPr lang="ko-KR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936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863F91-9A82-4F83-93FE-1C23E2240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015068"/>
            <a:ext cx="8946541" cy="5233331"/>
          </a:xfrm>
        </p:spPr>
        <p:txBody>
          <a:bodyPr>
            <a:normAutofit lnSpcReduction="10000"/>
          </a:bodyPr>
          <a:lstStyle/>
          <a:p>
            <a:endParaRPr lang="en-US" altLang="ko-KR" dirty="0"/>
          </a:p>
          <a:p>
            <a:r>
              <a:rPr lang="en-US" altLang="ko-KR" dirty="0"/>
              <a:t>Binary Search</a:t>
            </a:r>
          </a:p>
          <a:p>
            <a:r>
              <a:rPr lang="ko-KR" altLang="en-US" dirty="0"/>
              <a:t>가장 기초적인 알고리즘으로 꼽히며 검색 범위를 줄여 나가면서 원하는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데이터를 검색하는 알고리즘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r>
              <a:rPr lang="ko-KR" altLang="en-US" dirty="0"/>
              <a:t>검색할 항목이 있으면 가운데 지점의 값을 비교해보고 찾는 값보다 크면 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뒤쪽 반을 자르고</a:t>
            </a:r>
            <a:r>
              <a:rPr lang="en-US" altLang="ko-KR" dirty="0"/>
              <a:t>, </a:t>
            </a:r>
            <a:r>
              <a:rPr lang="ko-KR" altLang="en-US" dirty="0"/>
              <a:t>작으면 앞쪽 반을 자름</a:t>
            </a:r>
            <a:r>
              <a:rPr lang="en-US" altLang="ko-KR" dirty="0"/>
              <a:t>. </a:t>
            </a:r>
            <a:r>
              <a:rPr lang="ko-KR" altLang="en-US" dirty="0"/>
              <a:t>또한 잘린 리스트를 대상으로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똑같은 행동을 반복합니다</a:t>
            </a:r>
            <a:r>
              <a:rPr lang="en-US" altLang="ko-KR" dirty="0"/>
              <a:t>. </a:t>
            </a:r>
          </a:p>
          <a:p>
            <a:endParaRPr lang="en-US" altLang="ko-KR" dirty="0"/>
          </a:p>
          <a:p>
            <a:r>
              <a:rPr lang="ko-KR" altLang="en-US" dirty="0"/>
              <a:t>사실 이러한 행위는 재귀함수와 닮았으며</a:t>
            </a:r>
            <a:r>
              <a:rPr lang="en-US" altLang="ko-KR" dirty="0"/>
              <a:t>, </a:t>
            </a:r>
            <a:r>
              <a:rPr lang="ko-KR" altLang="en-US" dirty="0"/>
              <a:t>대부분 이진검색은 비재귀로 구현되지만 본질은 재귀함수와 비슷함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>
              <a:buNone/>
            </a:pP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241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3716D0-3C12-43B5-9C65-840518E74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198" y="545284"/>
            <a:ext cx="8946541" cy="5417889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다만 이진검색을 용이하게 쓰기 위해서는 데이터가 미리 정렬되어 있어야함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그 이유는 가운데를 잘라 크고 작은 것을 판단하여 움직이기 때문에 </a:t>
            </a:r>
            <a:r>
              <a:rPr lang="ko-KR" altLang="en-US" dirty="0">
                <a:solidFill>
                  <a:srgbClr val="00B0F0"/>
                </a:solidFill>
              </a:rPr>
              <a:t>만약 정렬</a:t>
            </a:r>
            <a:endParaRPr lang="en-US" altLang="ko-KR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rgbClr val="00B0F0"/>
                </a:solidFill>
              </a:rPr>
              <a:t>되어 있지 않다면 쓰기 곤란한 단점을 </a:t>
            </a:r>
            <a:r>
              <a:rPr lang="ko-KR" altLang="en-US" dirty="0" err="1">
                <a:solidFill>
                  <a:srgbClr val="00B0F0"/>
                </a:solidFill>
              </a:rPr>
              <a:t>갖고있음</a:t>
            </a:r>
            <a:r>
              <a:rPr lang="en-US" altLang="ko-KR" dirty="0">
                <a:solidFill>
                  <a:srgbClr val="00B0F0"/>
                </a:solidFill>
              </a:rPr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그래서 연결리스트 같은 것은 이진검색을 쓰기 </a:t>
            </a:r>
            <a:r>
              <a:rPr lang="ko-KR" altLang="en-US" dirty="0" err="1"/>
              <a:t>힘듬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연결리스트는 이전이나 다음의 노드의 위치를 함께 저장하기에 정렬이 필요한 이진검색에서는 사용하기 </a:t>
            </a:r>
            <a:r>
              <a:rPr lang="ko-KR" altLang="en-US" dirty="0" err="1"/>
              <a:t>힘듬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717235-7ED6-48C2-AA31-6765E6F38670}"/>
              </a:ext>
            </a:extLst>
          </p:cNvPr>
          <p:cNvSpPr/>
          <p:nvPr/>
        </p:nvSpPr>
        <p:spPr>
          <a:xfrm>
            <a:off x="1052199" y="3682507"/>
            <a:ext cx="10087603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고딕"/>
              </a:rPr>
              <a:t>Ex)</a:t>
            </a:r>
            <a:r>
              <a:rPr lang="ko-KR" altLang="en-US" sz="2000" dirty="0">
                <a:latin typeface="나눔고딕"/>
              </a:rPr>
              <a:t>이진검색의 경우 </a:t>
            </a:r>
            <a:r>
              <a:rPr lang="en-US" altLang="ko-KR" sz="2000" dirty="0">
                <a:latin typeface="나눔고딕"/>
              </a:rPr>
              <a:t>(73</a:t>
            </a:r>
            <a:r>
              <a:rPr lang="ko-KR" altLang="en-US" sz="2000" dirty="0">
                <a:latin typeface="나눔고딕"/>
              </a:rPr>
              <a:t>번째에 데이터가 있는 경우</a:t>
            </a:r>
            <a:r>
              <a:rPr lang="en-US" altLang="ko-KR" sz="2000" dirty="0">
                <a:latin typeface="나눔고딕"/>
              </a:rPr>
              <a:t>)</a:t>
            </a:r>
          </a:p>
          <a:p>
            <a:endParaRPr lang="en-US" altLang="ko-KR" sz="2000" dirty="0">
              <a:latin typeface="나눔고딕"/>
            </a:endParaRPr>
          </a:p>
          <a:p>
            <a:r>
              <a:rPr lang="en-US" altLang="ko-KR" sz="2000" dirty="0">
                <a:latin typeface="나눔고딕"/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latin typeface="나눔고딕"/>
              </a:rPr>
              <a:t>첫번째 </a:t>
            </a:r>
            <a:r>
              <a:rPr lang="en-US" altLang="ko-KR" sz="2000" dirty="0">
                <a:latin typeface="나눔고딕"/>
              </a:rPr>
              <a:t>0</a:t>
            </a:r>
            <a:r>
              <a:rPr lang="ko-KR" altLang="en-US" sz="2000" dirty="0">
                <a:latin typeface="나눔고딕"/>
              </a:rPr>
              <a:t>과 </a:t>
            </a:r>
            <a:r>
              <a:rPr lang="en-US" altLang="ko-KR" sz="2000" dirty="0">
                <a:latin typeface="나눔고딕"/>
              </a:rPr>
              <a:t>100</a:t>
            </a:r>
            <a:r>
              <a:rPr lang="ko-KR" altLang="en-US" sz="2000" dirty="0">
                <a:latin typeface="나눔고딕"/>
              </a:rPr>
              <a:t>을 더해 </a:t>
            </a:r>
            <a:r>
              <a:rPr lang="en-US" altLang="ko-KR" sz="2000" dirty="0">
                <a:latin typeface="나눔고딕"/>
              </a:rPr>
              <a:t>2</a:t>
            </a:r>
            <a:r>
              <a:rPr lang="ko-KR" altLang="en-US" sz="2000" dirty="0">
                <a:latin typeface="나눔고딕"/>
              </a:rPr>
              <a:t>를 나누어 나오는 숫자인 </a:t>
            </a:r>
            <a:r>
              <a:rPr lang="en-US" altLang="ko-KR" sz="2000" dirty="0">
                <a:latin typeface="나눔고딕"/>
              </a:rPr>
              <a:t>50</a:t>
            </a:r>
            <a:r>
              <a:rPr lang="ko-KR" altLang="en-US" sz="2000" dirty="0">
                <a:latin typeface="나눔고딕"/>
              </a:rPr>
              <a:t>으로 접근</a:t>
            </a:r>
            <a:endParaRPr lang="en-US" altLang="ko-KR" sz="2000" dirty="0">
              <a:latin typeface="나눔고딕"/>
            </a:endParaRPr>
          </a:p>
          <a:p>
            <a:r>
              <a:rPr lang="en-US" altLang="ko-KR" sz="2000" dirty="0">
                <a:latin typeface="나눔고딕"/>
                <a:sym typeface="Wingdings" panose="05000000000000000000" pitchFamily="2" charset="2"/>
              </a:rPr>
              <a:t></a:t>
            </a:r>
            <a:r>
              <a:rPr lang="en-US" altLang="ko-KR" sz="2000" dirty="0">
                <a:latin typeface="나눔고딕"/>
              </a:rPr>
              <a:t>73</a:t>
            </a:r>
            <a:r>
              <a:rPr lang="ko-KR" altLang="en-US" sz="2000" dirty="0">
                <a:latin typeface="나눔고딕"/>
              </a:rPr>
              <a:t>은 </a:t>
            </a:r>
            <a:r>
              <a:rPr lang="en-US" altLang="ko-KR" sz="2000" dirty="0">
                <a:latin typeface="나눔고딕"/>
              </a:rPr>
              <a:t>50</a:t>
            </a:r>
            <a:r>
              <a:rPr lang="ko-KR" altLang="en-US" sz="2000" dirty="0">
                <a:latin typeface="나눔고딕"/>
              </a:rPr>
              <a:t>보다 크기 때문에 이번에는 </a:t>
            </a:r>
            <a:r>
              <a:rPr lang="en-US" altLang="ko-KR" sz="2000" dirty="0">
                <a:latin typeface="나눔고딕"/>
              </a:rPr>
              <a:t>(50 + 100) / 2 </a:t>
            </a:r>
            <a:r>
              <a:rPr lang="ko-KR" altLang="en-US" sz="2000" dirty="0">
                <a:latin typeface="나눔고딕"/>
              </a:rPr>
              <a:t>를 실행하여 나온 </a:t>
            </a:r>
            <a:r>
              <a:rPr lang="en-US" altLang="ko-KR" sz="2000" dirty="0">
                <a:latin typeface="나눔고딕"/>
              </a:rPr>
              <a:t>75</a:t>
            </a:r>
            <a:r>
              <a:rPr lang="ko-KR" altLang="en-US" sz="2000" dirty="0">
                <a:latin typeface="나눔고딕"/>
              </a:rPr>
              <a:t>로 접근</a:t>
            </a:r>
            <a:endParaRPr lang="en-US" altLang="ko-KR" sz="2000" dirty="0">
              <a:latin typeface="나눔고딕"/>
            </a:endParaRPr>
          </a:p>
          <a:p>
            <a:r>
              <a:rPr lang="en-US" altLang="ko-KR" sz="2000" dirty="0">
                <a:latin typeface="나눔고딕"/>
                <a:sym typeface="Wingdings" panose="05000000000000000000" pitchFamily="2" charset="2"/>
              </a:rPr>
              <a:t></a:t>
            </a:r>
            <a:r>
              <a:rPr lang="en-US" altLang="ko-KR" sz="2000" dirty="0">
                <a:latin typeface="나눔고딕"/>
              </a:rPr>
              <a:t>73</a:t>
            </a:r>
            <a:r>
              <a:rPr lang="ko-KR" altLang="en-US" sz="2000" dirty="0">
                <a:latin typeface="나눔고딕"/>
              </a:rPr>
              <a:t>은 </a:t>
            </a:r>
            <a:r>
              <a:rPr lang="en-US" altLang="ko-KR" sz="2000" dirty="0">
                <a:latin typeface="나눔고딕"/>
              </a:rPr>
              <a:t>75</a:t>
            </a:r>
            <a:r>
              <a:rPr lang="ko-KR" altLang="en-US" sz="2000" dirty="0">
                <a:latin typeface="나눔고딕"/>
              </a:rPr>
              <a:t>보다 작으므로 이면엔 </a:t>
            </a:r>
            <a:r>
              <a:rPr lang="en-US" altLang="ko-KR" sz="2000" dirty="0">
                <a:latin typeface="나눔고딕"/>
              </a:rPr>
              <a:t>(50 + 75) / 2 </a:t>
            </a:r>
            <a:r>
              <a:rPr lang="ko-KR" altLang="en-US" sz="2000" dirty="0">
                <a:latin typeface="나눔고딕"/>
              </a:rPr>
              <a:t>를 실행하여 </a:t>
            </a:r>
            <a:r>
              <a:rPr lang="en-US" altLang="ko-KR" sz="2000" dirty="0">
                <a:latin typeface="나눔고딕"/>
              </a:rPr>
              <a:t>62</a:t>
            </a:r>
            <a:r>
              <a:rPr lang="ko-KR" altLang="en-US" sz="2000" dirty="0">
                <a:latin typeface="나눔고딕"/>
              </a:rPr>
              <a:t>를 접근합니다</a:t>
            </a:r>
            <a:endParaRPr lang="en-US" altLang="ko-KR" sz="2000" dirty="0">
              <a:latin typeface="나눔고딕"/>
            </a:endParaRPr>
          </a:p>
          <a:p>
            <a:r>
              <a:rPr lang="en-US" altLang="ko-KR" sz="2000" dirty="0">
                <a:latin typeface="나눔고딕"/>
              </a:rPr>
              <a:t>    </a:t>
            </a:r>
            <a:r>
              <a:rPr lang="ko-KR" altLang="en-US" sz="2000" dirty="0">
                <a:latin typeface="나눔고딕"/>
              </a:rPr>
              <a:t>이런 식으로 차이를 점점 좁혀서 검색하고자 하는 값을 찾음</a:t>
            </a:r>
            <a:r>
              <a:rPr lang="en-US" altLang="ko-KR" sz="2000" dirty="0">
                <a:latin typeface="나눔고딕"/>
              </a:rPr>
              <a:t>.</a:t>
            </a:r>
          </a:p>
          <a:p>
            <a:endParaRPr lang="en-US" altLang="ko-KR" sz="2000" dirty="0">
              <a:latin typeface="나눔고딕"/>
            </a:endParaRPr>
          </a:p>
          <a:p>
            <a:r>
              <a:rPr lang="ko-KR" altLang="en-US" sz="2000" dirty="0"/>
              <a:t>식으로 정리하면 </a:t>
            </a:r>
            <a:r>
              <a:rPr lang="en-US" altLang="ko-KR" sz="2000" dirty="0"/>
              <a:t>O(log n)</a:t>
            </a:r>
            <a:r>
              <a:rPr lang="ko-KR" altLang="en-US" sz="2000" dirty="0"/>
              <a:t>이 됩니다</a:t>
            </a:r>
            <a:r>
              <a:rPr lang="en-US" altLang="ko-KR" sz="2000" dirty="0"/>
              <a:t>.</a:t>
            </a: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6617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6CBD2A-5C26-4AFC-A391-DC7D93290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40" y="864066"/>
            <a:ext cx="10830188" cy="5384333"/>
          </a:xfrm>
        </p:spPr>
        <p:txBody>
          <a:bodyPr/>
          <a:lstStyle/>
          <a:p>
            <a:r>
              <a:rPr lang="ko-KR" altLang="en-US" dirty="0"/>
              <a:t>식으로 정리하면 </a:t>
            </a:r>
            <a:r>
              <a:rPr lang="en-US" altLang="ko-KR" dirty="0"/>
              <a:t>O(log n)</a:t>
            </a:r>
            <a:r>
              <a:rPr lang="ko-KR" altLang="en-US" dirty="0"/>
              <a:t>이 됩니다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>
                <a:solidFill>
                  <a:srgbClr val="00B0F0"/>
                </a:solidFill>
              </a:rPr>
              <a:t>이진검색의 장점</a:t>
            </a:r>
            <a:endParaRPr lang="en-US" altLang="ko-KR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데이터가 많아질수록 다른 알고리즘에 비해 속도가 매우 빠르다는 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ex) 1</a:t>
            </a:r>
            <a:r>
              <a:rPr lang="ko-KR" altLang="en-US" dirty="0"/>
              <a:t>번의 함수가 실행되는데 </a:t>
            </a:r>
            <a:r>
              <a:rPr lang="en-US" altLang="ko-KR" dirty="0"/>
              <a:t>1</a:t>
            </a:r>
            <a:r>
              <a:rPr lang="ko-KR" altLang="en-US" dirty="0"/>
              <a:t>초가 걸린다고 하면 순차검색의 경우 데이터의 크기 </a:t>
            </a:r>
            <a:r>
              <a:rPr lang="en-US" altLang="ko-KR" dirty="0"/>
              <a:t>x 1</a:t>
            </a:r>
            <a:r>
              <a:rPr lang="ko-KR" altLang="en-US" dirty="0"/>
              <a:t>초 의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시간이 소요되지만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00B0F0"/>
                </a:solidFill>
              </a:rPr>
              <a:t>이진검색은 아래의 표처럼 처리 </a:t>
            </a:r>
            <a:r>
              <a:rPr lang="ko-KR" altLang="en-US" dirty="0" err="1">
                <a:solidFill>
                  <a:srgbClr val="00B0F0"/>
                </a:solidFill>
              </a:rPr>
              <a:t>시간량이</a:t>
            </a:r>
            <a:r>
              <a:rPr lang="ko-KR" altLang="en-US" dirty="0">
                <a:solidFill>
                  <a:srgbClr val="00B0F0"/>
                </a:solidFill>
              </a:rPr>
              <a:t> 크게 늘어나지 않는 장점을 </a:t>
            </a:r>
            <a:endParaRPr lang="en-US" altLang="ko-KR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00B0F0"/>
                </a:solidFill>
              </a:rPr>
              <a:t>    </a:t>
            </a:r>
            <a:r>
              <a:rPr lang="ko-KR" altLang="en-US" dirty="0">
                <a:solidFill>
                  <a:srgbClr val="00B0F0"/>
                </a:solidFill>
              </a:rPr>
              <a:t>지님</a:t>
            </a:r>
            <a:r>
              <a:rPr lang="en-US" altLang="ko-KR" dirty="0">
                <a:solidFill>
                  <a:srgbClr val="00B0F0"/>
                </a:solidFill>
              </a:rPr>
              <a:t>.</a:t>
            </a:r>
            <a:endParaRPr lang="ko-KR" altLang="en-US" dirty="0">
              <a:solidFill>
                <a:srgbClr val="00B0F0"/>
              </a:solidFill>
            </a:endParaRPr>
          </a:p>
          <a:p>
            <a:endParaRPr lang="ko-KR" altLang="en-US" dirty="0"/>
          </a:p>
        </p:txBody>
      </p:sp>
      <p:pic>
        <p:nvPicPr>
          <p:cNvPr id="5122" name="Picture 2" descr="https://postfiles.pstatic.net/MjAxODA3MzBfOTMg/MDAxNTMyOTM3MDI1Mjkw.MuCJ8z0v0qCktEAoH6gkY1S0ZDpA7msuv3-BeBKuCwIg.olypakLSEKEHgVGVIeHYW0fZ3h5q5d1i9-0Z-5NZhJAg.PNG.varkiry05/2.png?type=w966">
            <a:extLst>
              <a:ext uri="{FF2B5EF4-FFF2-40B4-BE49-F238E27FC236}">
                <a16:creationId xmlns:a16="http://schemas.microsoft.com/office/drawing/2014/main" id="{A6CF3217-A42A-48C5-801D-9A36D51B9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423" y="3429000"/>
            <a:ext cx="5085618" cy="314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096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blogfiles.pstatic.net/MjAxODA3MzBfMjg5/MDAxNTMyOTM2OTYxODk1.Ar0walMGq466JORu7fGr-u_U-R3GaYX8lGEqbX-gayIg.Q-H7zLd6P5wLQAyGDlUWRyhbmICOglmP5A6apRSY7HYg.PNG.varkiry05/1.png">
            <a:extLst>
              <a:ext uri="{FF2B5EF4-FFF2-40B4-BE49-F238E27FC236}">
                <a16:creationId xmlns:a16="http://schemas.microsoft.com/office/drawing/2014/main" id="{284DBD0A-0F5A-4267-BB59-93A089A2DB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932"/>
          <a:stretch/>
        </p:blipFill>
        <p:spPr bwMode="auto">
          <a:xfrm>
            <a:off x="3179428" y="1410881"/>
            <a:ext cx="7172587" cy="474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4DFAAE-AA9C-4EC0-AEB3-DC8607DA3666}"/>
              </a:ext>
            </a:extLst>
          </p:cNvPr>
          <p:cNvSpPr txBox="1"/>
          <p:nvPr/>
        </p:nvSpPr>
        <p:spPr>
          <a:xfrm>
            <a:off x="780177" y="701742"/>
            <a:ext cx="2969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B0F0"/>
                </a:solidFill>
              </a:rPr>
              <a:t>Binary Search</a:t>
            </a:r>
            <a:endParaRPr lang="ko-KR" alt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198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blogfiles.pstatic.net/MjAxODA3MzBfMjg5/MDAxNTMyOTM2OTYxODk1.Ar0walMGq466JORu7fGr-u_U-R3GaYX8lGEqbX-gayIg.Q-H7zLd6P5wLQAyGDlUWRyhbmICOglmP5A6apRSY7HYg.PNG.varkiry05/1.png">
            <a:extLst>
              <a:ext uri="{FF2B5EF4-FFF2-40B4-BE49-F238E27FC236}">
                <a16:creationId xmlns:a16="http://schemas.microsoft.com/office/drawing/2014/main" id="{1ACA2876-19FD-4D21-85F6-602E422BF5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50"/>
          <a:stretch/>
        </p:blipFill>
        <p:spPr bwMode="auto">
          <a:xfrm>
            <a:off x="3166539" y="1384183"/>
            <a:ext cx="7049849" cy="490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748CFF-DB2E-4179-B7F3-14EE904E916D}"/>
              </a:ext>
            </a:extLst>
          </p:cNvPr>
          <p:cNvSpPr txBox="1"/>
          <p:nvPr/>
        </p:nvSpPr>
        <p:spPr>
          <a:xfrm>
            <a:off x="780177" y="701742"/>
            <a:ext cx="2969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B0F0"/>
                </a:solidFill>
              </a:rPr>
              <a:t>Binary Search</a:t>
            </a:r>
            <a:endParaRPr lang="ko-KR" alt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463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2C11C-8A0B-460D-AA47-38ABAFCD3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https://blog.naver.com/varkiry05/221329455730</a:t>
            </a:r>
            <a:endParaRPr lang="en-US" altLang="ko-KR" dirty="0"/>
          </a:p>
          <a:p>
            <a:r>
              <a:rPr lang="en-US" altLang="ko-K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https://blog.naver.com/minj2477/221379719523</a:t>
            </a:r>
            <a:endParaRPr lang="en-US" altLang="ko-KR" dirty="0"/>
          </a:p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https://www.leafcats.com/108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7843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이온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719</TotalTime>
  <Words>158</Words>
  <Application>Microsoft Office PowerPoint</Application>
  <PresentationFormat>와이드스크린</PresentationFormat>
  <Paragraphs>63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나눔고딕</vt:lpstr>
      <vt:lpstr>맑은 고딕</vt:lpstr>
      <vt:lpstr>맑은 고딕</vt:lpstr>
      <vt:lpstr>Arial</vt:lpstr>
      <vt:lpstr>Century Gothic</vt:lpstr>
      <vt:lpstr>Wingdings</vt:lpstr>
      <vt:lpstr>Wingdings 3</vt:lpstr>
      <vt:lpstr>이온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5</cp:revision>
  <dcterms:created xsi:type="dcterms:W3CDTF">2019-07-02T09:28:25Z</dcterms:created>
  <dcterms:modified xsi:type="dcterms:W3CDTF">2019-07-02T21:27:42Z</dcterms:modified>
</cp:coreProperties>
</file>