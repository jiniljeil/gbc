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58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26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020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35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21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19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41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09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555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35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79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BEB28-970B-454C-BA11-CA07BEB53ABC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27F5B-577F-4879-B12C-422AD7C79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858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8ADDB85-5293-4090-8EB3-E7558FA7D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5086"/>
            <a:ext cx="9144000" cy="2122714"/>
          </a:xfrm>
        </p:spPr>
        <p:txBody>
          <a:bodyPr/>
          <a:lstStyle/>
          <a:p>
            <a:r>
              <a:rPr lang="en-US" altLang="ko-KR" dirty="0"/>
              <a:t>GBC </a:t>
            </a:r>
            <a:r>
              <a:rPr lang="ko-KR" altLang="en-US" dirty="0"/>
              <a:t>알고리즘 </a:t>
            </a:r>
            <a:r>
              <a:rPr lang="en-US" altLang="ko-KR" dirty="0"/>
              <a:t>-1 </a:t>
            </a:r>
            <a:r>
              <a:rPr lang="ko-KR" altLang="en-US" dirty="0"/>
              <a:t>오후 </a:t>
            </a:r>
            <a:endParaRPr lang="en-US" altLang="ko-KR" dirty="0"/>
          </a:p>
          <a:p>
            <a:r>
              <a:rPr lang="en-US" altLang="ko-KR" dirty="0"/>
              <a:t>21900195</a:t>
            </a:r>
            <a:r>
              <a:rPr lang="ko-KR" altLang="en-US" dirty="0"/>
              <a:t> 김진일</a:t>
            </a:r>
          </a:p>
        </p:txBody>
      </p:sp>
    </p:spTree>
    <p:extLst>
      <p:ext uri="{BB962C8B-B14F-4D97-AF65-F5344CB8AC3E}">
        <p14:creationId xmlns:p14="http://schemas.microsoft.com/office/powerpoint/2010/main" val="15743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CB803-10EF-4D29-BF1C-1D34DCF77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5780"/>
            <a:ext cx="10515600" cy="5421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 Dynamic Programming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문제를 여러 개의 하위 문제</a:t>
            </a:r>
            <a:r>
              <a:rPr lang="en-US" altLang="ko-KR" sz="2000" dirty="0"/>
              <a:t>(subproblem)</a:t>
            </a:r>
            <a:r>
              <a:rPr lang="ko-KR" altLang="en-US" sz="2000" dirty="0"/>
              <a:t>로 나누어 푼 다음</a:t>
            </a:r>
            <a:r>
              <a:rPr lang="en-US" altLang="ko-KR" sz="2000" dirty="0"/>
              <a:t>, </a:t>
            </a:r>
            <a:r>
              <a:rPr lang="ko-KR" altLang="en-US" sz="2000" dirty="0"/>
              <a:t>그것을 결합하여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최종적인 목적에 도달하는 것 </a:t>
            </a:r>
            <a:r>
              <a:rPr lang="en-US" altLang="ko-KR" sz="2000" dirty="0"/>
              <a:t>(</a:t>
            </a:r>
            <a:r>
              <a:rPr lang="ko-KR" altLang="en-US" sz="2000" dirty="0"/>
              <a:t>동적 계획법은 계산 횟수를 줄일 수 있음</a:t>
            </a:r>
            <a:r>
              <a:rPr lang="en-US" altLang="ko-KR" sz="2000" dirty="0"/>
              <a:t>) </a:t>
            </a:r>
          </a:p>
          <a:p>
            <a:pPr marL="0" indent="0">
              <a:buNone/>
            </a:pPr>
            <a:r>
              <a:rPr lang="en-US" altLang="ko-KR" sz="2000" b="1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ko-KR" altLang="en-US" sz="2000" dirty="0"/>
              <a:t>최적화 기법 중 하나로 재귀</a:t>
            </a:r>
            <a:r>
              <a:rPr lang="en-US" altLang="ko-KR" sz="2000" dirty="0"/>
              <a:t>(recursion)</a:t>
            </a:r>
            <a:r>
              <a:rPr lang="ko-KR" altLang="en-US" sz="2000" dirty="0"/>
              <a:t>를 이용하여 최적화 솔루션을 얻어내는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ko-KR" altLang="en-US" sz="2000" dirty="0"/>
              <a:t>중간 계산 과정을 잠시 어딘가 저장해 두었다가 사용을 하는 최적화 풀이 알고리즘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1026" name="Picture 2" descr="https://t1.daumcdn.net/cfile/tistory/225D9D4D5936338C27">
            <a:extLst>
              <a:ext uri="{FF2B5EF4-FFF2-40B4-BE49-F238E27FC236}">
                <a16:creationId xmlns:a16="http://schemas.microsoft.com/office/drawing/2014/main" id="{1CFF421B-9019-4678-8112-93F4B0438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917" y="3347563"/>
            <a:ext cx="7383213" cy="274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A1848A-3906-471F-A0E0-E2BCFD78D897}"/>
              </a:ext>
            </a:extLst>
          </p:cNvPr>
          <p:cNvSpPr txBox="1"/>
          <p:nvPr/>
        </p:nvSpPr>
        <p:spPr>
          <a:xfrm>
            <a:off x="8951053" y="3907173"/>
            <a:ext cx="1567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오버헤드가 증가함으로 결국 비효율적인 코드가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34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AAEDB-ADA5-48C6-BEC5-008FFCA91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599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 </a:t>
            </a:r>
            <a:r>
              <a:rPr lang="ko-KR" altLang="en-US" sz="2000" dirty="0"/>
              <a:t>중복을 제거 하기 위해서 </a:t>
            </a:r>
            <a:r>
              <a:rPr lang="ko-KR" altLang="en-US" sz="2000" dirty="0" err="1"/>
              <a:t>메모이제이션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Memoization</a:t>
            </a:r>
            <a:r>
              <a:rPr lang="en-US" altLang="ko-KR" sz="2000" dirty="0"/>
              <a:t>)</a:t>
            </a:r>
            <a:r>
              <a:rPr lang="ko-KR" altLang="en-US" sz="2000" dirty="0"/>
              <a:t>이라는 테크닉 사용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ko-KR" altLang="en-US" sz="2000" dirty="0"/>
              <a:t>계산된 값을 버리지 말고 저장한다는 뜻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이렇게 저장되는 배열을</a:t>
            </a:r>
            <a:r>
              <a:rPr lang="ko-KR" altLang="en-US" sz="2000" b="1" dirty="0"/>
              <a:t> </a:t>
            </a:r>
            <a:r>
              <a:rPr lang="en-US" altLang="ko-KR" sz="2000" b="1" dirty="0"/>
              <a:t>'</a:t>
            </a:r>
            <a:r>
              <a:rPr lang="ko-KR" altLang="en-US" sz="2000" b="1" dirty="0"/>
              <a:t>캐시</a:t>
            </a:r>
            <a:r>
              <a:rPr lang="en-US" altLang="ko-KR" sz="2000" b="1" dirty="0"/>
              <a:t>'</a:t>
            </a:r>
            <a:r>
              <a:rPr lang="ko-KR" altLang="en-US" sz="2000" dirty="0"/>
              <a:t>라고 하며</a:t>
            </a:r>
            <a:r>
              <a:rPr lang="en-US" altLang="ko-KR" sz="2000" dirty="0"/>
              <a:t>, </a:t>
            </a:r>
            <a:r>
              <a:rPr lang="ko-KR" altLang="en-US" sz="2000" dirty="0"/>
              <a:t>중간에 저장하는 걸</a:t>
            </a:r>
            <a:r>
              <a:rPr lang="ko-KR" altLang="en-US" sz="2000" b="1" dirty="0"/>
              <a:t> </a:t>
            </a:r>
            <a:r>
              <a:rPr lang="en-US" altLang="ko-KR" sz="2000" b="1" dirty="0"/>
              <a:t>'</a:t>
            </a:r>
            <a:r>
              <a:rPr lang="ko-KR" altLang="en-US" sz="2000" b="1" dirty="0" err="1"/>
              <a:t>캐싱한다</a:t>
            </a:r>
            <a:r>
              <a:rPr lang="en-US" altLang="ko-KR" sz="2000" b="1" dirty="0"/>
              <a:t>'</a:t>
            </a:r>
            <a:r>
              <a:rPr lang="ko-KR" altLang="en-US" sz="2000" dirty="0"/>
              <a:t>라고 부른다</a:t>
            </a:r>
          </a:p>
        </p:txBody>
      </p:sp>
      <p:pic>
        <p:nvPicPr>
          <p:cNvPr id="4100" name="Picture 4" descr="https://t1.daumcdn.net/cfile/tistory/262CD735593635962F">
            <a:extLst>
              <a:ext uri="{FF2B5EF4-FFF2-40B4-BE49-F238E27FC236}">
                <a16:creationId xmlns:a16="http://schemas.microsoft.com/office/drawing/2014/main" id="{8E669D45-3487-4C89-9111-61540B219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496" y="2286204"/>
            <a:ext cx="6641862" cy="374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96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1BEE96-AFB1-42F2-99BF-5170383B8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0177"/>
            <a:ext cx="10515600" cy="539678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000" dirty="0"/>
              <a:t>중복된 계산을 피하는 방법으로는 </a:t>
            </a:r>
            <a:r>
              <a:rPr lang="en-US" altLang="ko-KR" sz="2000" dirty="0"/>
              <a:t>Bottom up </a:t>
            </a:r>
            <a:r>
              <a:rPr lang="ko-KR" altLang="en-US" sz="2000" dirty="0"/>
              <a:t>이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재귀 함수가 </a:t>
            </a:r>
            <a:r>
              <a:rPr lang="en-US" altLang="ko-KR" sz="2000" dirty="0"/>
              <a:t>Top down </a:t>
            </a:r>
            <a:r>
              <a:rPr lang="ko-KR" altLang="en-US" sz="2000" dirty="0"/>
              <a:t>임에 반해</a:t>
            </a:r>
            <a:r>
              <a:rPr lang="en-US" altLang="ko-KR" sz="2000" dirty="0"/>
              <a:t>, Bottom up</a:t>
            </a:r>
            <a:r>
              <a:rPr lang="ko-KR" altLang="en-US" sz="2000" dirty="0"/>
              <a:t>은 </a:t>
            </a:r>
            <a:r>
              <a:rPr lang="en-US" altLang="ko-KR" sz="2000" dirty="0"/>
              <a:t>f(1)</a:t>
            </a:r>
            <a:r>
              <a:rPr lang="ko-KR" altLang="en-US" sz="2000" dirty="0"/>
              <a:t>부터 </a:t>
            </a:r>
            <a:r>
              <a:rPr lang="en-US" altLang="ko-KR" sz="2000" dirty="0"/>
              <a:t>f(n)</a:t>
            </a:r>
            <a:r>
              <a:rPr lang="ko-KR" altLang="en-US" sz="2000" dirty="0"/>
              <a:t>까지 올라 오는 것을 의미한다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이 방식의 핵심은 아래에서 </a:t>
            </a:r>
            <a:r>
              <a:rPr lang="ko-KR" altLang="en-US" sz="2000" dirty="0" err="1"/>
              <a:t>부터</a:t>
            </a:r>
            <a:r>
              <a:rPr lang="ko-KR" altLang="en-US" sz="2000" dirty="0"/>
              <a:t> 올라가기 때문에 </a:t>
            </a:r>
            <a:r>
              <a:rPr lang="en-US" altLang="ko-KR" sz="2000" dirty="0"/>
              <a:t>f(n)</a:t>
            </a:r>
            <a:r>
              <a:rPr lang="ko-KR" altLang="en-US" sz="2000" dirty="0"/>
              <a:t>을 구하기 위해 </a:t>
            </a:r>
            <a:r>
              <a:rPr lang="en-US" altLang="ko-KR" sz="2000" dirty="0"/>
              <a:t>f(n-1)</a:t>
            </a:r>
            <a:r>
              <a:rPr lang="ko-KR" altLang="en-US" sz="2000" dirty="0"/>
              <a:t>과 </a:t>
            </a:r>
            <a:r>
              <a:rPr lang="en-US" altLang="ko-KR" sz="2000" dirty="0"/>
              <a:t>f(n-2)</a:t>
            </a:r>
            <a:r>
              <a:rPr lang="ko-KR" altLang="en-US" sz="2000" dirty="0"/>
              <a:t>을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계산해야 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따라서 가장 기본적인 값으로 특정한 값을 계산 하려고 하는 것을 </a:t>
            </a:r>
            <a:r>
              <a:rPr lang="en-US" altLang="ko-KR" sz="2000" dirty="0"/>
              <a:t>Bottom up</a:t>
            </a:r>
            <a:r>
              <a:rPr lang="ko-KR" altLang="en-US" sz="2000" dirty="0"/>
              <a:t>이라 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Bottom up </a:t>
            </a:r>
            <a:r>
              <a:rPr lang="ko-KR" altLang="en-US" sz="2000" dirty="0"/>
              <a:t>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=  </a:t>
            </a:r>
            <a:r>
              <a:rPr lang="ko-KR" altLang="en-US" sz="2000" dirty="0"/>
              <a:t>다이나믹 프로그래밍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2052" name="Picture 4" descr="https://t1.daumcdn.net/cfile/tistory/2156E4395936467E1B">
            <a:extLst>
              <a:ext uri="{FF2B5EF4-FFF2-40B4-BE49-F238E27FC236}">
                <a16:creationId xmlns:a16="http://schemas.microsoft.com/office/drawing/2014/main" id="{9CA2854C-2E2C-4ABA-8651-C89BB0735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304" y="3031547"/>
            <a:ext cx="6518990" cy="351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44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BE892-6CB9-4B74-BF1C-013EB63E7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2730"/>
            <a:ext cx="10515600" cy="5514233"/>
          </a:xfrm>
        </p:spPr>
        <p:txBody>
          <a:bodyPr/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Dynamic</a:t>
            </a:r>
            <a:r>
              <a:rPr lang="ko-KR" altLang="en-US" sz="2000" dirty="0"/>
              <a:t> </a:t>
            </a:r>
            <a:r>
              <a:rPr lang="en-US" altLang="ko-KR" sz="2000" dirty="0"/>
              <a:t>Programming </a:t>
            </a:r>
            <a:r>
              <a:rPr lang="ko-KR" altLang="en-US" sz="2000" dirty="0"/>
              <a:t>의 특징</a:t>
            </a:r>
            <a:endParaRPr lang="en-US" altLang="ko-KR" sz="2000" dirty="0"/>
          </a:p>
          <a:p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 </a:t>
            </a: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일반적으로 최적화문제 혹은 </a:t>
            </a:r>
            <a:r>
              <a:rPr lang="ko-KR" altLang="en-US" sz="20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카운팅</a:t>
            </a: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문제에 적용된다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 </a:t>
            </a: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주어진 문제에 대한 순환식을 정의한다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3. </a:t>
            </a: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순환식으로 </a:t>
            </a:r>
            <a:r>
              <a:rPr lang="en-US" altLang="ko-KR" sz="20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Memoization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또는 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Bottom up </a:t>
            </a: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푼다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 동적 계획법은 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subproblem</a:t>
            </a: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풀어서 원래 문제를 푸는 방식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이다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그런 의미에서 분할 정복법과 공통점을 가진다</a:t>
            </a:r>
            <a:r>
              <a:rPr lang="en-US" altLang="ko-KR" sz="2000" dirty="0"/>
              <a:t>.</a:t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650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6C4B9-F054-4304-B653-48996CD00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622"/>
            <a:ext cx="10515600" cy="5279341"/>
          </a:xfrm>
        </p:spPr>
        <p:txBody>
          <a:bodyPr/>
          <a:lstStyle/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ko-KR" altLang="en-US" sz="2200" dirty="0"/>
              <a:t>분할 </a:t>
            </a:r>
            <a:r>
              <a:rPr lang="ko-KR" altLang="en-US" sz="2200" dirty="0" err="1"/>
              <a:t>정복법</a:t>
            </a:r>
            <a:endParaRPr lang="en-US" altLang="ko-KR" sz="2200" dirty="0"/>
          </a:p>
          <a:p>
            <a:r>
              <a:rPr lang="en-US" altLang="ko-KR" sz="2000" dirty="0"/>
              <a:t> </a:t>
            </a:r>
            <a:r>
              <a:rPr lang="ko-KR" altLang="en-US" sz="2000" dirty="0" err="1"/>
              <a:t>퀵</a:t>
            </a:r>
            <a:r>
              <a:rPr lang="ko-KR" altLang="en-US" sz="2000" dirty="0"/>
              <a:t> 소트의 경우 </a:t>
            </a:r>
            <a:r>
              <a:rPr lang="ko-KR" altLang="en-US" sz="2000" dirty="0" err="1"/>
              <a:t>피봇을</a:t>
            </a:r>
            <a:r>
              <a:rPr lang="ko-KR" altLang="en-US" sz="2000" dirty="0"/>
              <a:t> 기준으로 두 부분으로 나뉘며</a:t>
            </a:r>
            <a:r>
              <a:rPr lang="en-US" altLang="ko-KR" sz="2000" dirty="0"/>
              <a:t>, </a:t>
            </a:r>
            <a:r>
              <a:rPr lang="ko-KR" altLang="en-US" sz="2000" dirty="0"/>
              <a:t>오른쪽과 왼쪽이 완전히 </a:t>
            </a:r>
            <a:r>
              <a:rPr lang="en-US" altLang="ko-KR" sz="2000" dirty="0"/>
              <a:t>disjoint</a:t>
            </a:r>
            <a:r>
              <a:rPr lang="ko-KR" altLang="en-US" sz="2000" dirty="0"/>
              <a:t>하다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왜냐하면 오른쪽의 계산 결과가 왼쪽에 전혀 영향을 미치지 않기 때문이다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122" name="Picture 2" descr="https://t1.daumcdn.net/cfile/tistory/2558F849593A6CF835">
            <a:extLst>
              <a:ext uri="{FF2B5EF4-FFF2-40B4-BE49-F238E27FC236}">
                <a16:creationId xmlns:a16="http://schemas.microsoft.com/office/drawing/2014/main" id="{072E72DF-7899-445E-A6A4-3978D2A5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152" y="2934049"/>
            <a:ext cx="5738249" cy="289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86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3C4F22-C749-4AC2-9616-CC3FC10B7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739"/>
            <a:ext cx="10515600" cy="5281224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000" dirty="0"/>
              <a:t> </a:t>
            </a:r>
            <a:endParaRPr lang="en-US" altLang="ko-KR" sz="2000" dirty="0"/>
          </a:p>
          <a:p>
            <a:r>
              <a:rPr lang="ko-KR" altLang="en-US" sz="2000" dirty="0"/>
              <a:t>동적 계획법의 일반적인 행렬 경로 문제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en-US" altLang="ko-KR" sz="2000" dirty="0" err="1"/>
              <a:t>i,j</a:t>
            </a:r>
            <a:r>
              <a:rPr lang="ko-KR" altLang="en-US" sz="2000" dirty="0"/>
              <a:t>까지 오는 경로를 </a:t>
            </a:r>
            <a:r>
              <a:rPr lang="ko-KR" altLang="en-US" sz="2000" dirty="0" err="1"/>
              <a:t>구할때</a:t>
            </a:r>
            <a:r>
              <a:rPr lang="ko-KR" altLang="en-US" sz="2000" dirty="0"/>
              <a:t> </a:t>
            </a:r>
            <a:r>
              <a:rPr lang="en-US" altLang="ko-KR" sz="2000" dirty="0"/>
              <a:t>(i-1, j)</a:t>
            </a:r>
            <a:r>
              <a:rPr lang="ko-KR" altLang="en-US" sz="2000" dirty="0"/>
              <a:t>와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, j-1)</a:t>
            </a:r>
            <a:r>
              <a:rPr lang="ko-KR" altLang="en-US" sz="2000" dirty="0"/>
              <a:t>까지 오는 </a:t>
            </a:r>
            <a:r>
              <a:rPr lang="en-US" altLang="ko-KR" sz="2000" dirty="0"/>
              <a:t>subproblem</a:t>
            </a:r>
            <a:r>
              <a:rPr lang="ko-KR" altLang="en-US" sz="2000" dirty="0"/>
              <a:t>들이 구해져야 하는데</a:t>
            </a:r>
          </a:p>
          <a:p>
            <a:pPr marL="0" indent="0">
              <a:buNone/>
            </a:pPr>
            <a:r>
              <a:rPr lang="ko-KR" altLang="en-US" sz="2000" dirty="0"/>
              <a:t>   이들이 서로 </a:t>
            </a:r>
            <a:r>
              <a:rPr lang="en-US" altLang="ko-KR" sz="2000" dirty="0"/>
              <a:t>disjoint</a:t>
            </a:r>
            <a:r>
              <a:rPr lang="ko-KR" altLang="en-US" sz="2000" dirty="0" err="1"/>
              <a:t>한것이</a:t>
            </a:r>
            <a:r>
              <a:rPr lang="ko-KR" altLang="en-US" sz="2000" dirty="0"/>
              <a:t> 아니라 영향을 미치기 때문에 분할 정복법과는 다른 모습을 보임</a:t>
            </a:r>
            <a:endParaRPr lang="en-US" altLang="ko-KR" sz="20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146" name="Picture 2" descr="https://t1.daumcdn.net/cfile/tistory/271B5B4D593A6DA72A">
            <a:extLst>
              <a:ext uri="{FF2B5EF4-FFF2-40B4-BE49-F238E27FC236}">
                <a16:creationId xmlns:a16="http://schemas.microsoft.com/office/drawing/2014/main" id="{A2B9F034-073F-4F39-9504-AEFA0BAC5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447" y="2721788"/>
            <a:ext cx="5625105" cy="331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46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431068-FE5F-40A3-AAC8-3C9051603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8231"/>
            <a:ext cx="10515600" cy="5438732"/>
          </a:xfrm>
        </p:spPr>
        <p:txBody>
          <a:bodyPr/>
          <a:lstStyle/>
          <a:p>
            <a:r>
              <a:rPr lang="en-US" altLang="ko-KR" sz="2000" dirty="0"/>
              <a:t>f(</a:t>
            </a:r>
            <a:r>
              <a:rPr lang="en-US" altLang="ko-KR" sz="2000" dirty="0" err="1"/>
              <a:t>a,b</a:t>
            </a:r>
            <a:r>
              <a:rPr lang="en-US" altLang="ko-KR" sz="2000" dirty="0"/>
              <a:t>) = f(a-1,b) + f(a,b-1) (</a:t>
            </a:r>
            <a:r>
              <a:rPr lang="en-US" altLang="ko-KR" sz="2000" dirty="0" err="1"/>
              <a:t>a,b</a:t>
            </a:r>
            <a:r>
              <a:rPr lang="en-US" altLang="ko-KR" sz="2000" dirty="0"/>
              <a:t> &gt;= 1 )</a:t>
            </a:r>
          </a:p>
          <a:p>
            <a:r>
              <a:rPr lang="en-US" altLang="ko-KR" sz="2000" dirty="0"/>
              <a:t>f(0,0) = 1, </a:t>
            </a:r>
            <a:r>
              <a:rPr lang="ko-KR" altLang="en-US" sz="2000" dirty="0"/>
              <a:t>임의의 자연수 </a:t>
            </a:r>
            <a:r>
              <a:rPr lang="en-US" altLang="ko-KR" sz="2000" dirty="0"/>
              <a:t>n</a:t>
            </a:r>
            <a:r>
              <a:rPr lang="ko-KR" altLang="en-US" sz="2000" dirty="0"/>
              <a:t>에 대해 </a:t>
            </a:r>
            <a:r>
              <a:rPr lang="en-US" altLang="ko-KR" sz="2000" dirty="0"/>
              <a:t>f(n,0) = f(0,n) = 1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</a:t>
            </a:r>
            <a:r>
              <a:rPr lang="ko-KR" altLang="en-US" sz="2000" dirty="0"/>
              <a:t>위와 같이 정의된 함수에서 주어진 임의의 </a:t>
            </a:r>
            <a:r>
              <a:rPr lang="en-US" altLang="ko-KR" sz="2000" dirty="0" err="1"/>
              <a:t>a,b</a:t>
            </a:r>
            <a:r>
              <a:rPr lang="ko-KR" altLang="en-US" sz="2000" dirty="0"/>
              <a:t>에 대해 </a:t>
            </a:r>
            <a:r>
              <a:rPr lang="en-US" altLang="ko-KR" sz="2000" dirty="0"/>
              <a:t>f(</a:t>
            </a:r>
            <a:r>
              <a:rPr lang="en-US" altLang="ko-KR" sz="2000" dirty="0" err="1"/>
              <a:t>a,b</a:t>
            </a:r>
            <a:r>
              <a:rPr lang="en-US" altLang="ko-KR" sz="2000" dirty="0"/>
              <a:t>)</a:t>
            </a:r>
            <a:r>
              <a:rPr lang="ko-KR" altLang="en-US" sz="2000" dirty="0"/>
              <a:t>의 값을 효율적으로 구하고자 할 때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동적 계획법을 적용 </a:t>
            </a:r>
            <a:r>
              <a:rPr lang="en-US" altLang="ko-KR" sz="2000" dirty="0"/>
              <a:t>ex) f(2,2)</a:t>
            </a:r>
            <a:r>
              <a:rPr lang="ko-KR" altLang="en-US" sz="2000" dirty="0"/>
              <a:t>을 계산</a:t>
            </a:r>
            <a:r>
              <a:rPr lang="en-US" altLang="ko-KR" sz="2000" dirty="0"/>
              <a:t> 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                 		</a:t>
            </a:r>
            <a:r>
              <a:rPr lang="ko-KR" altLang="en-US" sz="2000" dirty="0"/>
              <a:t> </a:t>
            </a:r>
            <a:r>
              <a:rPr lang="en-US" altLang="ko-KR" sz="2000" dirty="0"/>
              <a:t>f(2,2)</a:t>
            </a:r>
            <a:r>
              <a:rPr lang="ko-KR" altLang="en-US" sz="2000" dirty="0"/>
              <a:t>를 구하기 위해 총 </a:t>
            </a:r>
            <a:r>
              <a:rPr lang="en-US" altLang="ko-KR" sz="2000" dirty="0"/>
              <a:t>5</a:t>
            </a:r>
            <a:r>
              <a:rPr lang="ko-KR" altLang="en-US" sz="2000" dirty="0"/>
              <a:t>번의 연산을 </a:t>
            </a:r>
            <a:r>
              <a:rPr lang="ko-KR" altLang="en-US" sz="2000" dirty="0" err="1"/>
              <a:t>거쳐야하지만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			 </a:t>
            </a:r>
            <a:r>
              <a:rPr lang="ko-KR" altLang="en-US" sz="2000" dirty="0"/>
              <a:t>이 때 중복되는 부분 문제에 대한 답을 미리 계산 해놓고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			</a:t>
            </a:r>
            <a:r>
              <a:rPr lang="ko-KR" altLang="en-US" sz="2000" dirty="0"/>
              <a:t>연산 했을 때 계산횟수를 구해보면 </a:t>
            </a:r>
            <a:r>
              <a:rPr lang="en-US" altLang="ko-KR" sz="2000" dirty="0"/>
              <a:t>f(2,2)</a:t>
            </a:r>
            <a:r>
              <a:rPr lang="ko-KR" altLang="en-US" sz="2000" dirty="0"/>
              <a:t>를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			</a:t>
            </a:r>
            <a:r>
              <a:rPr lang="ko-KR" altLang="en-US" sz="2000" dirty="0"/>
              <a:t>구하기 위해 </a:t>
            </a:r>
            <a:r>
              <a:rPr lang="en-US" altLang="ko-KR" sz="2000" dirty="0"/>
              <a:t>4</a:t>
            </a:r>
            <a:r>
              <a:rPr lang="ko-KR" altLang="en-US" sz="2000" dirty="0"/>
              <a:t>번의 연산을 거쳐야한다</a:t>
            </a:r>
            <a:r>
              <a:rPr lang="en-US" altLang="ko-KR" sz="2000" dirty="0"/>
              <a:t>. </a:t>
            </a:r>
          </a:p>
          <a:p>
            <a:pPr marL="0" indent="0">
              <a:buNone/>
            </a:pPr>
            <a:r>
              <a:rPr lang="en-US" altLang="ko-KR" sz="2000" dirty="0"/>
              <a:t>				</a:t>
            </a:r>
          </a:p>
          <a:p>
            <a:pPr marL="0" indent="0">
              <a:buNone/>
            </a:pPr>
            <a:r>
              <a:rPr lang="en-US" altLang="ko-KR" sz="2000" dirty="0"/>
              <a:t>   				</a:t>
            </a:r>
            <a:r>
              <a:rPr lang="ko-KR" altLang="en-US" sz="2000" dirty="0"/>
              <a:t>중복되는 부분 문제가 </a:t>
            </a:r>
            <a:r>
              <a:rPr lang="en-US" altLang="ko-KR" sz="2000" dirty="0"/>
              <a:t>(1,1) </a:t>
            </a:r>
            <a:r>
              <a:rPr lang="ko-KR" altLang="en-US" sz="2000" dirty="0"/>
              <a:t>하나기에 큰 속도의 이득이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				</a:t>
            </a:r>
            <a:r>
              <a:rPr lang="ko-KR" altLang="en-US" sz="2000" dirty="0"/>
              <a:t>없어 보일 수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7170" name="Picture 2" descr="íì¼:external/s21.postimg.org/tree.png">
            <a:extLst>
              <a:ext uri="{FF2B5EF4-FFF2-40B4-BE49-F238E27FC236}">
                <a16:creationId xmlns:a16="http://schemas.microsoft.com/office/drawing/2014/main" id="{CF3A00FB-9D8C-4D84-9AFC-02DD8A2A0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91" y="2787009"/>
            <a:ext cx="3108679" cy="341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260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02E03A-DB05-4A1A-9E68-067F2A624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5009"/>
            <a:ext cx="10515600" cy="5421954"/>
          </a:xfrm>
        </p:spPr>
        <p:txBody>
          <a:bodyPr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 err="1"/>
              <a:t>a,b</a:t>
            </a:r>
            <a:r>
              <a:rPr lang="ko-KR" altLang="en-US" sz="2000" dirty="0"/>
              <a:t>의 값이 커질 수록 속도 면에서 엄청난 이득을 봄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실제로 </a:t>
            </a:r>
            <a:r>
              <a:rPr lang="en-US" altLang="ko-KR" sz="2000" dirty="0" err="1"/>
              <a:t>a,b</a:t>
            </a:r>
            <a:r>
              <a:rPr lang="ko-KR" altLang="en-US" sz="2000" dirty="0"/>
              <a:t>가 </a:t>
            </a:r>
            <a:r>
              <a:rPr lang="en-US" altLang="ko-KR" sz="2000" dirty="0"/>
              <a:t>1</a:t>
            </a:r>
            <a:r>
              <a:rPr lang="ko-KR" altLang="en-US" sz="2000" dirty="0"/>
              <a:t>증가할 때마다 연산 횟수는 기하급수적으로 증가하며</a:t>
            </a:r>
            <a:r>
              <a:rPr lang="en-US" altLang="ko-KR" sz="2000" dirty="0"/>
              <a:t>,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이 때 중복되는 부분 문제를 적절히 처리해줌으로써 높은 계산효율을 얻을 수 있는 것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376689-4E12-4678-8DE3-F0DBEE87E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87" y="2718178"/>
            <a:ext cx="5963482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53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2DCB69-B359-4930-AEED-92D07D3DC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0176"/>
            <a:ext cx="10515600" cy="539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200" b="1" dirty="0"/>
              <a:t>※ </a:t>
            </a:r>
            <a:r>
              <a:rPr lang="ko-KR" altLang="en-US" sz="2200" b="1" dirty="0"/>
              <a:t>동적 계획법</a:t>
            </a:r>
            <a:r>
              <a:rPr lang="en-US" altLang="ko-KR" sz="2200" b="1" dirty="0"/>
              <a:t>(DP) </a:t>
            </a:r>
            <a:r>
              <a:rPr lang="ko-KR" altLang="en-US" sz="2200" b="1" dirty="0"/>
              <a:t>기반의 알고리즘 동작 방식 </a:t>
            </a:r>
            <a:endParaRPr lang="ko-KR" altLang="en-US" sz="2200" dirty="0"/>
          </a:p>
          <a:p>
            <a:pPr marL="0" indent="0">
              <a:buNone/>
            </a:pPr>
            <a:br>
              <a:rPr lang="ko-KR" altLang="en-US" sz="2000" dirty="0"/>
            </a:br>
            <a:endParaRPr lang="ko-KR" altLang="en-US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구하고자 하는 큰 문제를 작은 부분문제로 나눈다</a:t>
            </a:r>
            <a:r>
              <a:rPr lang="en-US" altLang="ko-KR" sz="2000" dirty="0"/>
              <a:t>. </a:t>
            </a:r>
          </a:p>
          <a:p>
            <a:pPr marL="457200" indent="-457200">
              <a:buAutoNum type="arabicPeriod"/>
            </a:pP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가장 작은 부분 문제</a:t>
            </a:r>
            <a:r>
              <a:rPr lang="en-US" altLang="ko-KR" sz="2000" dirty="0"/>
              <a:t>(</a:t>
            </a:r>
            <a:r>
              <a:rPr lang="ko-KR" altLang="en-US" sz="2000" dirty="0"/>
              <a:t>종료 조건</a:t>
            </a:r>
            <a:r>
              <a:rPr lang="en-US" altLang="ko-KR" sz="2000" dirty="0"/>
              <a:t>, </a:t>
            </a:r>
            <a:r>
              <a:rPr lang="ko-KR" altLang="en-US" sz="2000" dirty="0"/>
              <a:t>주로 </a:t>
            </a:r>
            <a:r>
              <a:rPr lang="en-US" altLang="ko-KR" sz="2000" dirty="0"/>
              <a:t>0 </a:t>
            </a:r>
            <a:r>
              <a:rPr lang="ko-KR" altLang="en-US" sz="2000" dirty="0"/>
              <a:t>또는 </a:t>
            </a:r>
            <a:r>
              <a:rPr lang="en-US" altLang="ko-KR" sz="2000" dirty="0"/>
              <a:t>1</a:t>
            </a:r>
            <a:r>
              <a:rPr lang="ko-KR" altLang="en-US" sz="2000" dirty="0" err="1"/>
              <a:t>일때</a:t>
            </a:r>
            <a:r>
              <a:rPr lang="en-US" altLang="ko-KR" sz="2000" dirty="0"/>
              <a:t>)</a:t>
            </a:r>
            <a:r>
              <a:rPr lang="ko-KR" altLang="en-US" sz="2000" dirty="0"/>
              <a:t>부터 푼 뒤 값을 저장한다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en-US" altLang="ko-KR" sz="2000" dirty="0"/>
              <a:t> </a:t>
            </a:r>
            <a:r>
              <a:rPr lang="ko-KR" altLang="en-US" sz="2000" dirty="0" err="1"/>
              <a:t>메모이제이션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 err="1"/>
              <a:t>메모이제이션된</a:t>
            </a:r>
            <a:r>
              <a:rPr lang="ko-KR" altLang="en-US" sz="2000" dirty="0"/>
              <a:t> 부분 문제들의 해를 이용하여 차례로 더 큰 상위 문제의 답을 구한다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4. (3)</a:t>
            </a:r>
            <a:r>
              <a:rPr lang="ko-KR" altLang="en-US" sz="2000" dirty="0"/>
              <a:t>과정을 가장 큰 문제</a:t>
            </a:r>
            <a:r>
              <a:rPr lang="en-US" altLang="ko-KR" sz="2000" dirty="0"/>
              <a:t>(</a:t>
            </a:r>
            <a:r>
              <a:rPr lang="ko-KR" altLang="en-US" sz="2000" dirty="0"/>
              <a:t>구하고자 하는 큰 문제</a:t>
            </a:r>
            <a:r>
              <a:rPr lang="en-US" altLang="ko-KR" sz="2000" dirty="0"/>
              <a:t>)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도달할때까지</a:t>
            </a:r>
            <a:r>
              <a:rPr lang="ko-KR" altLang="en-US" sz="2000" dirty="0"/>
              <a:t> 반복한다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1316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394AE1-D534-4ADC-B9AA-950651C14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0176"/>
            <a:ext cx="10515600" cy="539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b="1" dirty="0"/>
              <a:t> </a:t>
            </a: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※ </a:t>
            </a:r>
            <a:r>
              <a:rPr lang="ko-KR" altLang="en-US" sz="2000" b="1" dirty="0"/>
              <a:t>동적 계획법</a:t>
            </a:r>
            <a:r>
              <a:rPr lang="en-US" altLang="ko-KR" sz="2000" b="1" dirty="0"/>
              <a:t>(DP) </a:t>
            </a:r>
            <a:r>
              <a:rPr lang="ko-KR" altLang="en-US" sz="2000" b="1" dirty="0"/>
              <a:t>문제 해결 방법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가이드 라인</a:t>
            </a:r>
            <a:r>
              <a:rPr lang="en-US" altLang="ko-KR" sz="2000" b="1" dirty="0"/>
              <a:t>)</a:t>
            </a:r>
            <a:endParaRPr lang="ko-KR" altLang="en-US" sz="2000" dirty="0"/>
          </a:p>
          <a:p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몇 차원</a:t>
            </a:r>
            <a:r>
              <a:rPr lang="en-US" altLang="ko-KR" sz="2000" dirty="0"/>
              <a:t>(=</a:t>
            </a:r>
            <a:r>
              <a:rPr lang="ko-KR" altLang="en-US" sz="2000" dirty="0"/>
              <a:t>변수 개수</a:t>
            </a:r>
            <a:r>
              <a:rPr lang="en-US" altLang="ko-KR" sz="2000" dirty="0"/>
              <a:t>) DP</a:t>
            </a:r>
            <a:r>
              <a:rPr lang="ko-KR" altLang="en-US" sz="2000" dirty="0"/>
              <a:t>를 할 것인가</a:t>
            </a:r>
            <a:r>
              <a:rPr lang="en-US" altLang="ko-KR" sz="2000" dirty="0"/>
              <a:t>?</a:t>
            </a: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변수 개수</a:t>
            </a:r>
            <a:r>
              <a:rPr lang="en-US" altLang="ko-KR" sz="2000" dirty="0"/>
              <a:t>(=</a:t>
            </a:r>
            <a:r>
              <a:rPr lang="ko-KR" altLang="en-US" sz="2000" dirty="0"/>
              <a:t>차원</a:t>
            </a:r>
            <a:r>
              <a:rPr lang="en-US" altLang="ko-KR" sz="2000" dirty="0"/>
              <a:t>)</a:t>
            </a:r>
            <a:r>
              <a:rPr lang="ko-KR" altLang="en-US" sz="2000" dirty="0"/>
              <a:t>가 정해졌으면 각각의 변수가 무슨 의미인가</a:t>
            </a:r>
            <a:r>
              <a:rPr lang="en-US" altLang="ko-KR" sz="2000" dirty="0"/>
              <a:t>?</a:t>
            </a: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3. DP</a:t>
            </a:r>
            <a:r>
              <a:rPr lang="ko-KR" altLang="en-US" sz="2000" dirty="0"/>
              <a:t>값이 어떤 의미인가</a:t>
            </a:r>
            <a:r>
              <a:rPr lang="en-US" altLang="ko-KR" sz="2000" dirty="0"/>
              <a:t>?</a:t>
            </a: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어떤 </a:t>
            </a:r>
            <a:r>
              <a:rPr lang="en-US" altLang="ko-KR" sz="2000" dirty="0"/>
              <a:t>DP</a:t>
            </a:r>
            <a:r>
              <a:rPr lang="ko-KR" altLang="en-US" sz="2000" dirty="0"/>
              <a:t>값과 다른 </a:t>
            </a:r>
            <a:r>
              <a:rPr lang="en-US" altLang="ko-KR" sz="2000" dirty="0"/>
              <a:t>DP</a:t>
            </a:r>
            <a:r>
              <a:rPr lang="ko-KR" altLang="en-US" sz="2000" dirty="0"/>
              <a:t>값의 관계가 있는가</a:t>
            </a:r>
            <a:r>
              <a:rPr lang="en-US" altLang="ko-KR" sz="2000" dirty="0"/>
              <a:t>? </a:t>
            </a:r>
            <a:r>
              <a:rPr lang="ko-KR" altLang="en-US" sz="2000" dirty="0"/>
              <a:t>있으면 어떤 관계인가</a:t>
            </a:r>
            <a:r>
              <a:rPr lang="en-US" altLang="ko-KR" sz="2000" dirty="0"/>
              <a:t>?</a:t>
            </a: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en-US" altLang="ko-KR" sz="2000" dirty="0"/>
              <a:t>4</a:t>
            </a:r>
            <a:r>
              <a:rPr lang="ko-KR" altLang="en-US" sz="2000" dirty="0"/>
              <a:t>를 알아내기 위해서 </a:t>
            </a:r>
            <a:r>
              <a:rPr lang="en-US" altLang="ko-KR" sz="2000" dirty="0"/>
              <a:t>DP </a:t>
            </a:r>
            <a:r>
              <a:rPr lang="ko-KR" altLang="en-US" sz="2000" dirty="0"/>
              <a:t>테이블을 직접 </a:t>
            </a:r>
            <a:r>
              <a:rPr lang="ko-KR" altLang="en-US" sz="2000" dirty="0" err="1"/>
              <a:t>채워보시면</a:t>
            </a:r>
            <a:r>
              <a:rPr lang="ko-KR" altLang="en-US" sz="2000" dirty="0"/>
              <a:t> 가장 확실하게 알 수 있음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5. 4</a:t>
            </a:r>
            <a:r>
              <a:rPr lang="ko-KR" altLang="en-US" sz="2000" dirty="0"/>
              <a:t>의 점화식을 이용하여 재귀 또는 </a:t>
            </a:r>
            <a:r>
              <a:rPr lang="en-US" altLang="ko-KR" sz="2000" dirty="0"/>
              <a:t>for</a:t>
            </a:r>
            <a:r>
              <a:rPr lang="ko-KR" altLang="en-US" sz="2000" dirty="0"/>
              <a:t>문 </a:t>
            </a:r>
            <a:r>
              <a:rPr lang="en-US" altLang="ko-KR" sz="2000" dirty="0"/>
              <a:t>DP</a:t>
            </a:r>
            <a:r>
              <a:rPr lang="ko-KR" altLang="en-US" sz="2000" dirty="0"/>
              <a:t>로 계산한다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>
              <a:buNone/>
            </a:pP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52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E7537-9796-421A-BA87-CA611DA82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3064"/>
            <a:ext cx="10515600" cy="5463899"/>
          </a:xfrm>
        </p:spPr>
        <p:txBody>
          <a:bodyPr/>
          <a:lstStyle/>
          <a:p>
            <a:pPr marL="0" indent="0">
              <a:buNone/>
            </a:pPr>
            <a:endParaRPr lang="en-US" altLang="ko-KR" sz="2200" b="1" dirty="0"/>
          </a:p>
          <a:p>
            <a:pPr marL="0" indent="0">
              <a:buNone/>
            </a:pPr>
            <a:endParaRPr lang="en-US" altLang="ko-KR" sz="2200" b="1" dirty="0"/>
          </a:p>
          <a:p>
            <a:pPr marL="0" indent="0">
              <a:buNone/>
            </a:pPr>
            <a:r>
              <a:rPr lang="en-US" altLang="ko-KR" sz="2200" b="1" dirty="0"/>
              <a:t>※ </a:t>
            </a:r>
            <a:r>
              <a:rPr lang="ko-KR" altLang="en-US" sz="2200" b="1" dirty="0"/>
              <a:t>동적 계획법의 초기화</a:t>
            </a:r>
            <a:endParaRPr lang="en-US" altLang="ko-KR" sz="2200" b="1" dirty="0"/>
          </a:p>
          <a:p>
            <a:endParaRPr lang="en-US" altLang="ko-KR" sz="2000" dirty="0"/>
          </a:p>
          <a:p>
            <a:r>
              <a:rPr lang="ko-KR" altLang="en-US" sz="2000" dirty="0"/>
              <a:t>이미 계산한 것을 다시 계산하지 않기 위해서는 계산한 것과 계산하지 않은 것의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차이가 있어야 한다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r>
              <a:rPr lang="ko-KR" altLang="en-US" sz="2000" dirty="0"/>
              <a:t>계산하지 않은 값은 초기값</a:t>
            </a:r>
            <a:r>
              <a:rPr lang="en-US" altLang="ko-KR" sz="2000" dirty="0"/>
              <a:t>(</a:t>
            </a:r>
            <a:r>
              <a:rPr lang="ko-KR" altLang="en-US" sz="2000" dirty="0"/>
              <a:t>초기화한 값</a:t>
            </a:r>
            <a:r>
              <a:rPr lang="en-US" altLang="ko-KR" sz="2000" dirty="0"/>
              <a:t>) </a:t>
            </a:r>
            <a:r>
              <a:rPr lang="ko-KR" altLang="en-US" sz="2000" dirty="0"/>
              <a:t>그대로이고 계산한 값은 바뀌어 있기 때문에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그것으로 구분한다</a:t>
            </a:r>
            <a:r>
              <a:rPr lang="en-US" altLang="ko-KR" sz="2000" dirty="0"/>
              <a:t>. </a:t>
            </a:r>
            <a:endParaRPr lang="ko-KR" altLang="en-US" sz="2000" dirty="0"/>
          </a:p>
          <a:p>
            <a:r>
              <a:rPr lang="ko-KR" altLang="en-US" sz="2000" dirty="0"/>
              <a:t>따라서 동적 계획법에서 계산한 값의 범위를 대략적으로 알아내서 그 범위에 있지 않은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값으로 초기화를 해주어야 한다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6422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C2608-067A-4F6F-BB6C-AD10C4C8B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1787"/>
            <a:ext cx="10515600" cy="5405176"/>
          </a:xfrm>
        </p:spPr>
        <p:txBody>
          <a:bodyPr/>
          <a:lstStyle/>
          <a:p>
            <a:pPr marL="0" indent="0">
              <a:buNone/>
            </a:pPr>
            <a:endParaRPr lang="en-US" altLang="ko-KR" sz="2200" b="1" dirty="0"/>
          </a:p>
          <a:p>
            <a:pPr marL="0" indent="0">
              <a:buNone/>
            </a:pPr>
            <a:endParaRPr lang="en-US" altLang="ko-KR" sz="2200" b="1" dirty="0"/>
          </a:p>
          <a:p>
            <a:pPr marL="0" indent="0">
              <a:buNone/>
            </a:pPr>
            <a:r>
              <a:rPr lang="en-US" altLang="ko-KR" sz="2200" b="1" dirty="0"/>
              <a:t> ※ TOP - DOWN VS BOTTOM – UP</a:t>
            </a:r>
          </a:p>
          <a:p>
            <a:r>
              <a:rPr lang="en-US" altLang="ko-KR" sz="2000" dirty="0"/>
              <a:t>TOP - DOWN </a:t>
            </a:r>
            <a:r>
              <a:rPr lang="ko-KR" altLang="en-US" sz="2000" dirty="0"/>
              <a:t>방식에 </a:t>
            </a:r>
            <a:r>
              <a:rPr lang="ko-KR" altLang="en-US" sz="2000" dirty="0" err="1"/>
              <a:t>메모이제이션을</a:t>
            </a:r>
            <a:r>
              <a:rPr lang="ko-KR" altLang="en-US" sz="2000" dirty="0"/>
              <a:t> 했다는 가정하에 </a:t>
            </a:r>
            <a:r>
              <a:rPr lang="ko-KR" altLang="en-US" sz="2000" dirty="0" err="1"/>
              <a:t>시간복잡도는</a:t>
            </a:r>
            <a:r>
              <a:rPr lang="ko-KR" altLang="en-US" sz="2000" dirty="0"/>
              <a:t> 같지만</a:t>
            </a:r>
          </a:p>
          <a:p>
            <a:pPr marL="0" indent="0">
              <a:buNone/>
            </a:pPr>
            <a:r>
              <a:rPr lang="ko-KR" altLang="en-US" sz="2000" dirty="0"/>
              <a:t>   실제 걸리는 시간은 </a:t>
            </a:r>
            <a:r>
              <a:rPr lang="en-US" altLang="ko-KR" sz="2000" dirty="0"/>
              <a:t>TOP - DOWN DP</a:t>
            </a:r>
            <a:r>
              <a:rPr lang="ko-KR" altLang="en-US" sz="2000" dirty="0"/>
              <a:t>가 더 길다고 일반적으로 알려져 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000" dirty="0"/>
          </a:p>
          <a:p>
            <a:r>
              <a:rPr lang="ko-KR" altLang="en-US" sz="2000" dirty="0"/>
              <a:t>재귀 </a:t>
            </a:r>
            <a:r>
              <a:rPr lang="en-US" altLang="ko-KR" sz="2000" dirty="0"/>
              <a:t>DP</a:t>
            </a:r>
            <a:r>
              <a:rPr lang="ko-KR" altLang="en-US" sz="2000" dirty="0"/>
              <a:t>의 장점은 </a:t>
            </a:r>
            <a:r>
              <a:rPr lang="ko-KR" altLang="en-US" sz="2000" dirty="0" err="1"/>
              <a:t>점화식</a:t>
            </a:r>
            <a:r>
              <a:rPr lang="ko-KR" altLang="en-US" sz="2000" dirty="0"/>
              <a:t> 그대로 호출이 되기 때문에 형식</a:t>
            </a:r>
            <a:r>
              <a:rPr lang="en-US" altLang="ko-KR" sz="2000" dirty="0"/>
              <a:t>/</a:t>
            </a:r>
            <a:r>
              <a:rPr lang="ko-KR" altLang="en-US" sz="2000" dirty="0"/>
              <a:t>순서에 얽매이지 않는다는 것</a:t>
            </a:r>
            <a:endParaRPr lang="en-US" altLang="ko-KR" sz="2000" dirty="0"/>
          </a:p>
          <a:p>
            <a:endParaRPr lang="ko-KR" altLang="en-US" sz="2000" dirty="0"/>
          </a:p>
          <a:p>
            <a:r>
              <a:rPr lang="en-US" altLang="ko-KR" sz="2000" dirty="0"/>
              <a:t>for</a:t>
            </a:r>
            <a:r>
              <a:rPr lang="ko-KR" altLang="en-US" sz="2000" dirty="0"/>
              <a:t>문 </a:t>
            </a:r>
            <a:r>
              <a:rPr lang="en-US" altLang="ko-KR" sz="2000" dirty="0"/>
              <a:t>DP</a:t>
            </a:r>
            <a:r>
              <a:rPr lang="ko-KR" altLang="en-US" sz="2000" dirty="0"/>
              <a:t>의 장점은 시간이 </a:t>
            </a:r>
            <a:r>
              <a:rPr lang="en-US" altLang="ko-KR" sz="2000" dirty="0"/>
              <a:t>(</a:t>
            </a:r>
            <a:r>
              <a:rPr lang="ko-KR" altLang="en-US" sz="2000" dirty="0"/>
              <a:t>조금은</a:t>
            </a:r>
            <a:r>
              <a:rPr lang="en-US" altLang="ko-KR" sz="2000" dirty="0"/>
              <a:t>) </a:t>
            </a:r>
            <a:r>
              <a:rPr lang="ko-KR" altLang="en-US" sz="2000" dirty="0"/>
              <a:t>적게 걸린다는 것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247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309</Words>
  <Application>Microsoft Office PowerPoint</Application>
  <PresentationFormat>와이드스크린</PresentationFormat>
  <Paragraphs>98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맑은 고딕 Semilight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9</cp:revision>
  <dcterms:created xsi:type="dcterms:W3CDTF">2019-07-01T08:38:19Z</dcterms:created>
  <dcterms:modified xsi:type="dcterms:W3CDTF">2019-07-01T10:23:13Z</dcterms:modified>
</cp:coreProperties>
</file>