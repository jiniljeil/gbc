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6E775-1CFB-4BC3-B82E-AFEC62138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FDE307-D2D0-4718-9491-3C24F9034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E522F-9C29-4983-B70C-8B0F7184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684C45-CF87-4464-B19F-3CB3934A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3F9D2-D465-4081-9FDC-EB55AF79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7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4F6DA-C83B-4FBC-A6E4-E0FD9B56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452A1-65BF-43E8-8857-93F845ACD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2C301-BCC3-4E21-94B8-B474D205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E9018C-2D43-4A34-A3DE-DA7CC024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D06AD-B968-4A82-AC62-8E8D18EC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7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6F699-B65C-4196-8752-02E3EDE9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FA11F0-CCE9-48FE-A677-AB45CDEEB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98FC6-4F0D-4FC0-82DE-77292391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75330B-A71B-494E-A359-88CFCD02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48159-34CA-4BE6-BA97-06FE1B09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90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BE38E-9D05-49F4-9D1D-22228CEA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5F37B-0088-4D69-80C9-38F3407D2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30CBAF-1F26-47BB-8822-7FC042BE7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EDD7E-C7F1-408B-8ACE-394820AE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CF99ED-8EA3-4595-9E67-B4ECD87E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329A60-BF5F-4BD9-818A-4A168319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80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85BA0-C9DD-453E-8840-782ACFDA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E91D5E-976A-4B42-AA70-FE73F0B65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F62D21-C51D-4AC9-96BE-EE69A72E9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CB63AC-9EC8-4524-939F-6F92D3230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15DF26-050B-46ED-AD79-330D24208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DD970B-B6DB-416E-BC3E-15141495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3F7C0D-7E70-440E-9DA2-63B1B09A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DFAAB6-2EB6-45AB-BA8B-742F5D74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82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17C7F-577A-4133-8BF0-DC6002A9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44E6BD-86B2-4836-87A0-28FD2941A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2CAB52-6425-41F8-AFD3-EEEB4E7A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C0E4F2-96C9-4697-BCC6-C71BAD29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66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1A520E-0503-4027-94E0-F11B76DA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C9477E-2F8A-46AB-AC37-553A7C7C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68CEBB-90B9-4C97-B836-F5C655BE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05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6E8F5-5290-4A07-AA32-2F8E57D6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0E3C2-B819-42A9-909C-4B7C53C2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44D681-A86A-4F01-B6F6-611E979C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2DF36D-9CA0-42A1-ABBB-5FC21AF6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B90681-C3F0-4D34-B4D8-5D13D241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0F1FA0-FBC8-4019-8EF7-80B839C7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36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1C763-5C02-444A-9E82-BFCCBBC0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D4D4C0-1536-4A54-A8D4-EA4F68A20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99F37-2227-4990-942C-C091E4ADD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F0F69B-8ABB-424B-BCD7-683013B8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8944E-FA7C-4666-913D-81118DA6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CB0FFB-8F6B-4803-908C-0916FC85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49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07D2F-3D03-43C6-AF6D-2303A3A3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8C1B73-9879-4225-ABFA-B65F5B357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BAD46-7FB4-4B17-A148-4D9E91A1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12B07-D299-4BA8-9167-39D3D59D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8807E1-690F-4A0A-BB9D-25F38AEF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06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BDA118-F5A2-452C-987A-986EAAC04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4D39D3-24B8-4C8C-9597-31CCD7DEF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B4DB31-0CD3-4999-90A2-34ECBE38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785A9-EFF1-42DD-B3E9-C8DAC7D0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9A2CD5-524D-4CE0-895D-6F2365E7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50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7208D9-6F04-4B7F-B3F8-A4FE3328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C2E55D-C5D5-4E9C-8168-458E20B2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95D70-A5D0-4360-BE8B-77242DA6C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C5A34-2694-44F6-A137-BDBBC4A84900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17599-89ED-46BB-A51E-5092D1959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4F681E-7080-44E4-8BA1-E0B49B237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37627-28CD-4C19-B90E-2D7BFB8BE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33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.blog.naver.com/PostView.nhn?blogId=jins8611&amp;logNo=110166546425&amp;proxyReferer=https://www.google.com/" TargetMode="External"/><Relationship Id="rId2" Type="http://schemas.openxmlformats.org/officeDocument/2006/relationships/hyperlink" Target="https://skmagic.tistory.com/16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ckdmask.tistory.com/67" TargetMode="External"/><Relationship Id="rId4" Type="http://schemas.openxmlformats.org/officeDocument/2006/relationships/hyperlink" Target="https://heekim0719.tistory.com/26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29474-A39C-431E-913C-F1E898D6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52925"/>
            <a:ext cx="10515598" cy="3224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000" dirty="0">
                <a:solidFill>
                  <a:srgbClr val="FFFFFF"/>
                </a:solidFill>
              </a:rPr>
              <a:t>GBC </a:t>
            </a:r>
            <a:r>
              <a:rPr lang="ko-KR" altLang="en-US" sz="3000" dirty="0">
                <a:solidFill>
                  <a:srgbClr val="FFFFFF"/>
                </a:solidFill>
              </a:rPr>
              <a:t>알고리즘 </a:t>
            </a:r>
            <a:endParaRPr lang="en-US" altLang="ko-KR" sz="30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altLang="ko-KR" sz="3000" dirty="0">
                <a:solidFill>
                  <a:srgbClr val="FFFFFF"/>
                </a:solidFill>
              </a:rPr>
              <a:t>21900195 </a:t>
            </a:r>
            <a:r>
              <a:rPr lang="ko-KR" altLang="en-US" sz="3000" dirty="0">
                <a:solidFill>
                  <a:srgbClr val="FFFFFF"/>
                </a:solidFill>
              </a:rPr>
              <a:t>김진일</a:t>
            </a:r>
          </a:p>
        </p:txBody>
      </p:sp>
    </p:spTree>
    <p:extLst>
      <p:ext uri="{BB962C8B-B14F-4D97-AF65-F5344CB8AC3E}">
        <p14:creationId xmlns:p14="http://schemas.microsoft.com/office/powerpoint/2010/main" val="393138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5412F-0890-4517-BF97-F786AEA8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3"/>
            <a:ext cx="10515598" cy="53632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STL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표준 </a:t>
            </a:r>
            <a:r>
              <a:rPr lang="en-US" altLang="ko-KR" sz="2000" dirty="0">
                <a:solidFill>
                  <a:srgbClr val="FFFFFF"/>
                </a:solidFill>
              </a:rPr>
              <a:t>C++ </a:t>
            </a:r>
            <a:r>
              <a:rPr lang="ko-KR" altLang="en-US" sz="2000" dirty="0">
                <a:solidFill>
                  <a:srgbClr val="FFFFFF"/>
                </a:solidFill>
              </a:rPr>
              <a:t>라이브러리 </a:t>
            </a:r>
            <a:r>
              <a:rPr lang="en-US" altLang="ko-KR" sz="2000" dirty="0">
                <a:solidFill>
                  <a:srgbClr val="FFFFFF"/>
                </a:solidFill>
              </a:rPr>
              <a:t>(Standard Template Library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프로그램에 필요한 자료구조와 알고리즘을 </a:t>
            </a:r>
            <a:r>
              <a:rPr lang="en-US" altLang="ko-KR" sz="2000" dirty="0">
                <a:solidFill>
                  <a:srgbClr val="FFFFFF"/>
                </a:solidFill>
              </a:rPr>
              <a:t>Template </a:t>
            </a:r>
            <a:r>
              <a:rPr lang="ko-KR" altLang="en-US" sz="2000" dirty="0">
                <a:solidFill>
                  <a:srgbClr val="FFFFFF"/>
                </a:solidFill>
              </a:rPr>
              <a:t>로 제공하는 라이브러리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구성요소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1. Container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2. Iterator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3. Algorithm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4. Function Object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5. Container Adaptor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6. Allocator</a:t>
            </a:r>
          </a:p>
        </p:txBody>
      </p:sp>
    </p:spTree>
    <p:extLst>
      <p:ext uri="{BB962C8B-B14F-4D97-AF65-F5344CB8AC3E}">
        <p14:creationId xmlns:p14="http://schemas.microsoft.com/office/powerpoint/2010/main" val="548999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9282E-05B3-4EC8-AE48-038CAA6F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15617"/>
            <a:ext cx="10515598" cy="5461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Container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객체를 저장하는 객체</a:t>
            </a:r>
            <a:r>
              <a:rPr lang="en-US" altLang="ko-KR" sz="2000" dirty="0">
                <a:solidFill>
                  <a:srgbClr val="FFFFFF"/>
                </a:solidFill>
              </a:rPr>
              <a:t> (= </a:t>
            </a:r>
            <a:r>
              <a:rPr lang="ko-KR" altLang="en-US" sz="2000" dirty="0">
                <a:solidFill>
                  <a:srgbClr val="FFFFFF"/>
                </a:solidFill>
              </a:rPr>
              <a:t>컬렉션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자료구조 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클래스 템플릿으로 구현되어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1. sequence container </a:t>
            </a:r>
            <a:r>
              <a:rPr lang="ko-KR" altLang="en-US" sz="2000" dirty="0">
                <a:solidFill>
                  <a:srgbClr val="FFFFFF"/>
                </a:solidFill>
              </a:rPr>
              <a:t>종류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: array (C ++ 11 ), vector, list , deque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2. associative container </a:t>
            </a:r>
            <a:r>
              <a:rPr lang="ko-KR" altLang="en-US" sz="2000" dirty="0">
                <a:solidFill>
                  <a:srgbClr val="FFFFFF"/>
                </a:solidFill>
              </a:rPr>
              <a:t>종류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: set, multiset , map , multimap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845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70FC5-4B03-4499-89A8-2DA15D8B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34887"/>
            <a:ext cx="10515598" cy="5630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Iterator (</a:t>
            </a:r>
            <a:r>
              <a:rPr lang="ko-KR" altLang="en-US" sz="2000" dirty="0">
                <a:solidFill>
                  <a:srgbClr val="FFFFFF"/>
                </a:solidFill>
              </a:rPr>
              <a:t>반복자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포인터와 비슷한 개념으로 컨테이너의 원소를 가리키고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가리키는 원소에 접근하여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다음 원소를 가리키는 기능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순회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Algorithm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정렬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삭제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검색 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  <a:r>
              <a:rPr lang="ko-KR" altLang="en-US" sz="2000" dirty="0">
                <a:solidFill>
                  <a:srgbClr val="FFFFFF"/>
                </a:solidFill>
              </a:rPr>
              <a:t>연산 등을 해결하는 일반화된 방법을 제공하는 함수 템플릿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Function Object (</a:t>
            </a:r>
            <a:r>
              <a:rPr lang="ko-KR" altLang="en-US" sz="2000" dirty="0">
                <a:solidFill>
                  <a:srgbClr val="FFFFFF"/>
                </a:solidFill>
              </a:rPr>
              <a:t>함수 객체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함수처럼 동작하는 객체로 </a:t>
            </a:r>
            <a:r>
              <a:rPr lang="en-US" altLang="ko-KR" sz="2000" dirty="0">
                <a:solidFill>
                  <a:srgbClr val="FFFFFF"/>
                </a:solidFill>
              </a:rPr>
              <a:t>operator() </a:t>
            </a:r>
            <a:r>
              <a:rPr lang="ko-KR" altLang="en-US" sz="2000" dirty="0">
                <a:solidFill>
                  <a:srgbClr val="FFFFFF"/>
                </a:solidFill>
              </a:rPr>
              <a:t>연산자를 오버로딩 한 객체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컨테이너와 알고리즘 등에 클라이언트 정책을 반영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927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291DD-0A90-43B8-9730-3C89FB5A5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66275"/>
            <a:ext cx="10515598" cy="5310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Container Adaptor (</a:t>
            </a:r>
            <a:r>
              <a:rPr lang="ko-KR" altLang="en-US" sz="2000" dirty="0">
                <a:solidFill>
                  <a:srgbClr val="FFFFFF"/>
                </a:solidFill>
              </a:rPr>
              <a:t>어댑터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구성요소의 인터페이스를 변경해 새로운 인터페이스를 갖는 구성요소로 변경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종류 </a:t>
            </a:r>
            <a:r>
              <a:rPr lang="en-US" altLang="ko-KR" sz="2000" dirty="0">
                <a:solidFill>
                  <a:srgbClr val="FFFFFF"/>
                </a:solidFill>
              </a:rPr>
              <a:t>: stack , queue , </a:t>
            </a:r>
            <a:r>
              <a:rPr lang="en-US" altLang="ko-KR" sz="2000" dirty="0" err="1">
                <a:solidFill>
                  <a:srgbClr val="FFFFFF"/>
                </a:solidFill>
              </a:rPr>
              <a:t>priority_queue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Allocator(</a:t>
            </a:r>
            <a:r>
              <a:rPr lang="ko-KR" altLang="en-US" sz="2000" dirty="0" err="1">
                <a:solidFill>
                  <a:srgbClr val="FFFFFF"/>
                </a:solidFill>
              </a:rPr>
              <a:t>할당기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컨테이너의 메모리 할당 정책을 </a:t>
            </a:r>
            <a:r>
              <a:rPr lang="ko-KR" altLang="en-US" sz="2000" dirty="0" err="1">
                <a:solidFill>
                  <a:srgbClr val="FFFFFF"/>
                </a:solidFill>
              </a:rPr>
              <a:t>캡슐화한</a:t>
            </a:r>
            <a:r>
              <a:rPr lang="ko-KR" altLang="en-US" sz="2000" dirty="0">
                <a:solidFill>
                  <a:srgbClr val="FFFFFF"/>
                </a:solidFill>
              </a:rPr>
              <a:t> 클래스 객체로 모든 컨테이너는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자신만의 할당기를 가지고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03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7EB77-A5D7-42AE-A6CB-3871760D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66275"/>
            <a:ext cx="10515598" cy="5310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STL </a:t>
            </a:r>
            <a:r>
              <a:rPr lang="ko-KR" altLang="en-US" sz="2000" dirty="0">
                <a:solidFill>
                  <a:srgbClr val="FFFFFF"/>
                </a:solidFill>
              </a:rPr>
              <a:t>에서 제공하는 자료구조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스택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큐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 err="1">
                <a:solidFill>
                  <a:srgbClr val="FFFFFF"/>
                </a:solidFill>
              </a:rPr>
              <a:t>덱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리스트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벡터 </a:t>
            </a:r>
            <a:r>
              <a:rPr lang="en-US" altLang="ko-KR" sz="2000" dirty="0">
                <a:solidFill>
                  <a:srgbClr val="FFFF00"/>
                </a:solidFill>
              </a:rPr>
              <a:t>( </a:t>
            </a:r>
            <a:r>
              <a:rPr lang="ko-KR" altLang="en-US" sz="2000" dirty="0">
                <a:solidFill>
                  <a:srgbClr val="FFFF00"/>
                </a:solidFill>
              </a:rPr>
              <a:t>동적배열 </a:t>
            </a:r>
            <a:r>
              <a:rPr lang="en-US" altLang="ko-KR" sz="2000" dirty="0">
                <a:solidFill>
                  <a:srgbClr val="FFFF00"/>
                </a:solidFill>
              </a:rPr>
              <a:t>)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스트링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맵 </a:t>
            </a:r>
            <a:r>
              <a:rPr lang="en-US" altLang="ko-KR" sz="2000" dirty="0">
                <a:solidFill>
                  <a:srgbClr val="FFFF00"/>
                </a:solidFill>
              </a:rPr>
              <a:t>(</a:t>
            </a:r>
            <a:r>
              <a:rPr lang="ko-KR" altLang="en-US" sz="2000" dirty="0">
                <a:solidFill>
                  <a:srgbClr val="FFFF00"/>
                </a:solidFill>
              </a:rPr>
              <a:t>트리</a:t>
            </a:r>
            <a:r>
              <a:rPr lang="en-US" altLang="ko-KR" sz="2000" dirty="0">
                <a:solidFill>
                  <a:srgbClr val="FFFF00"/>
                </a:solidFill>
              </a:rPr>
              <a:t>) , </a:t>
            </a:r>
            <a:r>
              <a:rPr lang="ko-KR" altLang="en-US" sz="2000" dirty="0">
                <a:solidFill>
                  <a:srgbClr val="FFFF00"/>
                </a:solidFill>
              </a:rPr>
              <a:t>셋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Time</a:t>
            </a:r>
            <a:r>
              <a:rPr lang="ko-KR" altLang="en-US" sz="2000" dirty="0"/>
              <a:t> </a:t>
            </a:r>
            <a:r>
              <a:rPr lang="en-US" altLang="ko-KR" sz="2000" dirty="0"/>
              <a:t>Complexity (</a:t>
            </a:r>
            <a:r>
              <a:rPr lang="ko-KR" altLang="en-US" sz="2000" dirty="0"/>
              <a:t>시간 복잡도</a:t>
            </a:r>
            <a:r>
              <a:rPr lang="en-US" altLang="ko-KR" sz="2000" dirty="0"/>
              <a:t>)</a:t>
            </a:r>
            <a:r>
              <a:rPr lang="ko-KR" altLang="en-US" sz="2000" dirty="0"/>
              <a:t>란 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Input </a:t>
            </a:r>
            <a:r>
              <a:rPr lang="ko-KR" altLang="en-US" sz="2000" dirty="0"/>
              <a:t>에서 </a:t>
            </a:r>
            <a:r>
              <a:rPr lang="en-US" altLang="ko-KR" sz="2000" dirty="0"/>
              <a:t>Output</a:t>
            </a:r>
            <a:r>
              <a:rPr lang="ko-KR" altLang="en-US" sz="2000" dirty="0"/>
              <a:t>이 될 때 까지 걸리는 시간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알고리즘을 구성한 명령어가 실행된 횟수 </a:t>
            </a:r>
            <a:r>
              <a:rPr lang="en-US" altLang="ko-KR" sz="2000" dirty="0"/>
              <a:t>(frequency of calling command)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알고리즘 배울 때의 핵심은 공간</a:t>
            </a:r>
            <a:r>
              <a:rPr lang="en-US" altLang="ko-KR" sz="2000" dirty="0"/>
              <a:t>, </a:t>
            </a:r>
            <a:r>
              <a:rPr lang="ko-KR" altLang="en-US" sz="2000" dirty="0"/>
              <a:t>시간 을 이용하는 것</a:t>
            </a:r>
            <a:r>
              <a:rPr lang="en-US" altLang="ko-KR" sz="2000" dirty="0"/>
              <a:t>. </a:t>
            </a:r>
            <a:r>
              <a:rPr lang="ko-KR" altLang="en-US" sz="2000" dirty="0"/>
              <a:t>이 때</a:t>
            </a:r>
            <a:r>
              <a:rPr lang="en-US" altLang="ko-KR" sz="2000" dirty="0"/>
              <a:t>, </a:t>
            </a:r>
            <a:r>
              <a:rPr lang="ko-KR" altLang="en-US" sz="2000" dirty="0"/>
              <a:t>공간과 시간은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거의 항상 반비례함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어떤 알고리즘이 얼마나 걸리느냐</a:t>
            </a:r>
            <a:r>
              <a:rPr lang="en-US" altLang="ko-KR" sz="2000" dirty="0"/>
              <a:t>? </a:t>
            </a:r>
            <a:r>
              <a:rPr lang="ko-KR" altLang="en-US" sz="2000" dirty="0"/>
              <a:t>이다</a:t>
            </a:r>
            <a:r>
              <a:rPr lang="en-US" altLang="ko-KR" sz="2000" dirty="0"/>
              <a:t>. (CPU </a:t>
            </a:r>
            <a:r>
              <a:rPr lang="ko-KR" altLang="en-US" sz="2000" dirty="0"/>
              <a:t>사용량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최적화를 위해 시간 복잡도를 고려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73428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8F99C3-50C2-405D-98BA-E0919B474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82317"/>
            <a:ext cx="10515598" cy="5294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시간 복잡도 그래프</a:t>
            </a:r>
            <a:r>
              <a:rPr lang="en-US" altLang="ko-KR" sz="2000" dirty="0"/>
              <a:t>(Big-O Complexity)</a:t>
            </a:r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시간 복잡도가 빠른 순</a:t>
            </a:r>
          </a:p>
          <a:p>
            <a:r>
              <a:rPr lang="en-US" altLang="ko-KR" sz="2000" dirty="0"/>
              <a:t>O(</a:t>
            </a:r>
            <a:r>
              <a:rPr lang="en-US" altLang="ko-KR" sz="2000" dirty="0" err="1"/>
              <a:t>logn</a:t>
            </a:r>
            <a:r>
              <a:rPr lang="en-US" altLang="ko-KR" sz="2000" dirty="0"/>
              <a:t>) &gt; O(n) &gt; O(</a:t>
            </a:r>
            <a:r>
              <a:rPr lang="en-US" altLang="ko-KR" sz="2000" dirty="0" err="1"/>
              <a:t>nlogn</a:t>
            </a:r>
            <a:r>
              <a:rPr lang="en-US" altLang="ko-KR" sz="2000" dirty="0"/>
              <a:t>) &gt; O(n^2) &gt; O(n^3) &gt; O(2^n) &gt; O(n!)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https://t1.daumcdn.net/cfile/tistory/9941F43B5ABDBF4E1F">
            <a:extLst>
              <a:ext uri="{FF2B5EF4-FFF2-40B4-BE49-F238E27FC236}">
                <a16:creationId xmlns:a16="http://schemas.microsoft.com/office/drawing/2014/main" id="{34C3328A-5A37-4257-9133-B7C1DC78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367" y="2214795"/>
            <a:ext cx="6484289" cy="376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044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4CEEA-43F4-48CF-9339-3FCCC74C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82601"/>
            <a:ext cx="10515598" cy="5376862"/>
          </a:xfrm>
        </p:spPr>
        <p:txBody>
          <a:bodyPr>
            <a:normAutofit fontScale="25000" lnSpcReduction="20000"/>
          </a:bodyPr>
          <a:lstStyle/>
          <a:p>
            <a:r>
              <a:rPr lang="ko-KR" altLang="en-US" sz="8000" dirty="0"/>
              <a:t>시간들의 설명</a:t>
            </a:r>
          </a:p>
          <a:p>
            <a:pPr marL="0" indent="0">
              <a:buNone/>
            </a:pPr>
            <a:r>
              <a:rPr lang="en-US" altLang="ko-KR" sz="8000" dirty="0"/>
              <a:t> O(1) : </a:t>
            </a:r>
            <a:r>
              <a:rPr lang="ko-KR" altLang="en-US" sz="8000" dirty="0"/>
              <a:t>입력자료의 수에 관계없이 일정한 실행시간을 갖음</a:t>
            </a:r>
            <a:endParaRPr lang="en-US" altLang="ko-KR" sz="8000" dirty="0"/>
          </a:p>
          <a:p>
            <a:pPr marL="0" indent="0">
              <a:buNone/>
            </a:pPr>
            <a:r>
              <a:rPr lang="en-US" altLang="ko-KR" sz="8000" dirty="0"/>
              <a:t> O(</a:t>
            </a:r>
            <a:r>
              <a:rPr lang="en-US" altLang="ko-KR" sz="8000" dirty="0" err="1"/>
              <a:t>logn</a:t>
            </a:r>
            <a:r>
              <a:rPr lang="en-US" altLang="ko-KR" sz="8000" dirty="0"/>
              <a:t>) : </a:t>
            </a:r>
            <a:r>
              <a:rPr lang="ko-KR" altLang="en-US" sz="8000" dirty="0"/>
              <a:t>입력자료의 수에 따라 시간이 흐를수록 시간이 조금씩 증가 </a:t>
            </a:r>
          </a:p>
          <a:p>
            <a:pPr marL="0" indent="0">
              <a:buNone/>
            </a:pPr>
            <a:r>
              <a:rPr lang="en-US" altLang="ko-KR" sz="8000" dirty="0"/>
              <a:t>   EX &gt; </a:t>
            </a:r>
            <a:r>
              <a:rPr lang="ko-KR" altLang="en-US" sz="8000" dirty="0"/>
              <a:t>큰 문제를 일정한 크기를 갖는 작은 문제로 쪼갤 때 나타남</a:t>
            </a:r>
            <a:endParaRPr lang="en-US" altLang="ko-KR" sz="8000" dirty="0"/>
          </a:p>
          <a:p>
            <a:pPr marL="0" indent="0">
              <a:buNone/>
            </a:pPr>
            <a:r>
              <a:rPr lang="ko-KR" altLang="en-US" sz="8000" dirty="0"/>
              <a:t>   </a:t>
            </a:r>
            <a:r>
              <a:rPr lang="en-US" altLang="ko-KR" sz="8000" dirty="0"/>
              <a:t>EX &gt; </a:t>
            </a:r>
            <a:r>
              <a:rPr lang="ko-KR" altLang="en-US" sz="8000" dirty="0"/>
              <a:t>이진탐색 같은 효율이 좋은 검색 알고리즘</a:t>
            </a:r>
          </a:p>
          <a:p>
            <a:pPr marL="0" indent="0">
              <a:buNone/>
            </a:pPr>
            <a:r>
              <a:rPr lang="en-US" altLang="ko-KR" sz="8000" dirty="0"/>
              <a:t> O(n) : </a:t>
            </a:r>
            <a:r>
              <a:rPr lang="ko-KR" altLang="en-US" sz="8000" dirty="0"/>
              <a:t>입력 자료의 수에 따라 선형적인 실행 시간이 걸리는 경우  </a:t>
            </a:r>
            <a:r>
              <a:rPr lang="en-US" altLang="ko-KR" sz="8000" dirty="0"/>
              <a:t>- </a:t>
            </a:r>
            <a:r>
              <a:rPr lang="ko-KR" altLang="en-US" sz="8000" dirty="0"/>
              <a:t>입력자료마다</a:t>
            </a:r>
            <a:endParaRPr lang="en-US" altLang="ko-KR" sz="8000" dirty="0"/>
          </a:p>
          <a:p>
            <a:pPr marL="0" indent="0">
              <a:buNone/>
            </a:pPr>
            <a:r>
              <a:rPr lang="ko-KR" altLang="en-US" sz="8000" dirty="0"/>
              <a:t> 일정 시간 할당</a:t>
            </a:r>
            <a:endParaRPr lang="en-US" altLang="ko-KR" sz="8000" dirty="0"/>
          </a:p>
          <a:p>
            <a:pPr marL="0" indent="0">
              <a:buNone/>
            </a:pPr>
            <a:r>
              <a:rPr lang="en-US" altLang="ko-KR" sz="8000" dirty="0"/>
              <a:t> O(</a:t>
            </a:r>
            <a:r>
              <a:rPr lang="en-US" altLang="ko-KR" sz="8000" dirty="0" err="1"/>
              <a:t>nlogn</a:t>
            </a:r>
            <a:r>
              <a:rPr lang="en-US" altLang="ko-KR" sz="8000" dirty="0"/>
              <a:t>) : </a:t>
            </a:r>
            <a:r>
              <a:rPr lang="ko-KR" altLang="en-US" sz="8000" dirty="0"/>
              <a:t>큰 문제를 일정 크기 갖는 문제로 쪼개고</a:t>
            </a:r>
            <a:r>
              <a:rPr lang="en-US" altLang="ko-KR" sz="8000" dirty="0"/>
              <a:t>(</a:t>
            </a:r>
            <a:r>
              <a:rPr lang="en-US" altLang="ko-KR" sz="8000" dirty="0" err="1"/>
              <a:t>logn+logn</a:t>
            </a:r>
            <a:r>
              <a:rPr lang="en-US" altLang="ko-KR" sz="8000" dirty="0"/>
              <a:t>+ .. + </a:t>
            </a:r>
            <a:r>
              <a:rPr lang="en-US" altLang="ko-KR" sz="8000" dirty="0" err="1"/>
              <a:t>logn</a:t>
            </a:r>
            <a:r>
              <a:rPr lang="en-US" altLang="ko-KR" sz="8000" dirty="0"/>
              <a:t>) </a:t>
            </a:r>
            <a:r>
              <a:rPr lang="ko-KR" altLang="en-US" sz="8000" dirty="0"/>
              <a:t>다시 그것을</a:t>
            </a:r>
            <a:endParaRPr lang="en-US" altLang="ko-KR" sz="8000" dirty="0"/>
          </a:p>
          <a:p>
            <a:pPr marL="0" indent="0">
              <a:buNone/>
            </a:pPr>
            <a:r>
              <a:rPr lang="ko-KR" altLang="en-US" sz="8000" dirty="0"/>
              <a:t> 모으는 경우</a:t>
            </a:r>
          </a:p>
          <a:p>
            <a:pPr marL="0" indent="0">
              <a:buNone/>
            </a:pPr>
            <a:r>
              <a:rPr lang="en-US" altLang="ko-KR" sz="8000" dirty="0"/>
              <a:t>   EX &gt; </a:t>
            </a:r>
            <a:r>
              <a:rPr lang="ko-KR" altLang="en-US" sz="8000" dirty="0"/>
              <a:t>효율 좋은 정렬 알고리즘</a:t>
            </a:r>
          </a:p>
          <a:p>
            <a:pPr marL="0" indent="0">
              <a:buNone/>
            </a:pPr>
            <a:r>
              <a:rPr lang="ko-KR" altLang="en-US" sz="8000" dirty="0"/>
              <a:t>   </a:t>
            </a:r>
            <a:r>
              <a:rPr lang="en-US" altLang="ko-KR" sz="8000" dirty="0"/>
              <a:t>EX &gt; quick sorting / heap sorting </a:t>
            </a:r>
            <a:r>
              <a:rPr lang="ko-KR" altLang="en-US" sz="8000" dirty="0"/>
              <a:t>등 </a:t>
            </a:r>
            <a:endParaRPr lang="en-US" altLang="ko-KR" sz="8000" dirty="0"/>
          </a:p>
          <a:p>
            <a:pPr marL="0" indent="0">
              <a:buNone/>
            </a:pPr>
            <a:r>
              <a:rPr lang="en-US" altLang="ko-KR" sz="8000" dirty="0"/>
              <a:t> O(n^2) : </a:t>
            </a:r>
            <a:r>
              <a:rPr lang="ko-KR" altLang="en-US" sz="8000" dirty="0"/>
              <a:t>이중 루프내에서 입력 자료를 처리할 때</a:t>
            </a:r>
          </a:p>
          <a:p>
            <a:pPr marL="0" indent="0">
              <a:buNone/>
            </a:pPr>
            <a:r>
              <a:rPr lang="ko-KR" altLang="en-US" sz="8000" dirty="0"/>
              <a:t> </a:t>
            </a:r>
            <a:r>
              <a:rPr lang="en-US" altLang="ko-KR" sz="8000" dirty="0"/>
              <a:t>EX &gt; </a:t>
            </a:r>
            <a:r>
              <a:rPr lang="ko-KR" altLang="en-US" sz="8000" dirty="0"/>
              <a:t>인접행렬이용한 </a:t>
            </a:r>
            <a:r>
              <a:rPr lang="en-US" altLang="ko-KR" sz="8000" dirty="0" err="1"/>
              <a:t>bfs</a:t>
            </a:r>
            <a:r>
              <a:rPr lang="en-US" altLang="ko-KR" sz="8000" dirty="0"/>
              <a:t>/</a:t>
            </a:r>
            <a:r>
              <a:rPr lang="en-US" altLang="ko-KR" sz="8000" dirty="0" err="1"/>
              <a:t>dfs</a:t>
            </a:r>
            <a:r>
              <a:rPr lang="en-US" altLang="ko-KR" sz="8000" dirty="0"/>
              <a:t> </a:t>
            </a:r>
            <a:r>
              <a:rPr lang="ko-KR" altLang="en-US" sz="8000" dirty="0"/>
              <a:t>알고리즘</a:t>
            </a:r>
          </a:p>
          <a:p>
            <a:pPr marL="0" indent="0">
              <a:buNone/>
            </a:pPr>
            <a:r>
              <a:rPr lang="en-US" altLang="ko-KR" sz="8000" dirty="0"/>
              <a:t> O(n^3) : </a:t>
            </a:r>
            <a:r>
              <a:rPr lang="ko-KR" altLang="en-US" sz="8000" dirty="0"/>
              <a:t>삼중 루프 내에서 입력자료 처리할 때</a:t>
            </a:r>
          </a:p>
          <a:p>
            <a:pPr marL="0" indent="0">
              <a:buNone/>
            </a:pPr>
            <a:br>
              <a:rPr lang="ko-KR" altLang="en-US" sz="8000" dirty="0"/>
            </a:br>
            <a:endParaRPr lang="ko-KR" altLang="en-US" sz="8000" dirty="0"/>
          </a:p>
          <a:p>
            <a:r>
              <a:rPr lang="ko-KR" altLang="en-US" sz="8000" dirty="0" err="1"/>
              <a:t>시간복잡도의</a:t>
            </a:r>
            <a:r>
              <a:rPr lang="ko-KR" altLang="en-US" sz="8000" dirty="0"/>
              <a:t> 계산</a:t>
            </a:r>
          </a:p>
          <a:p>
            <a:r>
              <a:rPr lang="ko-KR" altLang="en-US" sz="8000" dirty="0"/>
              <a:t>명령이 </a:t>
            </a:r>
            <a:r>
              <a:rPr lang="ko-KR" altLang="en-US" sz="8000" dirty="0" err="1"/>
              <a:t>끝날때마다</a:t>
            </a:r>
            <a:r>
              <a:rPr lang="ko-KR" altLang="en-US" sz="8000" dirty="0"/>
              <a:t> 실행 횟수를 적어봅니다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414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1333B-39B6-4408-95F1-C81F9AFE3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7401"/>
            <a:ext cx="10515598" cy="5389562"/>
          </a:xfrm>
        </p:spPr>
        <p:txBody>
          <a:bodyPr>
            <a:normAutofit/>
          </a:bodyPr>
          <a:lstStyle/>
          <a:p>
            <a:r>
              <a:rPr lang="en-US" altLang="ko-KR" sz="2200" b="1" dirty="0"/>
              <a:t>3.</a:t>
            </a:r>
            <a:r>
              <a:rPr lang="ko-KR" altLang="en-US" sz="2200" b="1" dirty="0"/>
              <a:t>시간 복잡도 표현법</a:t>
            </a:r>
            <a:br>
              <a:rPr lang="ko-KR" altLang="en-US" sz="2200" b="1" dirty="0"/>
            </a:br>
            <a:r>
              <a:rPr lang="ko-KR" altLang="en-US" sz="2200" b="1" dirty="0"/>
              <a:t> </a:t>
            </a:r>
            <a:endParaRPr lang="ko-KR" altLang="en-US" sz="2200" dirty="0"/>
          </a:p>
          <a:p>
            <a:r>
              <a:rPr lang="en-US" altLang="ko-KR" sz="2200" dirty="0"/>
              <a:t>Big O </a:t>
            </a:r>
            <a:r>
              <a:rPr lang="en-US" altLang="ko-KR" sz="2200" dirty="0" err="1"/>
              <a:t>Noration</a:t>
            </a:r>
            <a:r>
              <a:rPr lang="en-US" altLang="ko-KR" sz="2200" dirty="0"/>
              <a:t>(</a:t>
            </a:r>
            <a:r>
              <a:rPr lang="ko-KR" altLang="en-US" sz="2200" dirty="0"/>
              <a:t>빅</a:t>
            </a:r>
            <a:r>
              <a:rPr lang="en-US" altLang="ko-KR" sz="2200" dirty="0"/>
              <a:t>-</a:t>
            </a:r>
            <a:r>
              <a:rPr lang="ko-KR" altLang="en-US" sz="2200" dirty="0"/>
              <a:t>오 표기법</a:t>
            </a:r>
            <a:r>
              <a:rPr lang="en-US" altLang="ko-KR" sz="2200" dirty="0"/>
              <a:t>) --- </a:t>
            </a:r>
            <a:r>
              <a:rPr lang="en-US" altLang="ko-KR" sz="2200" b="1" dirty="0"/>
              <a:t>O(N)</a:t>
            </a:r>
            <a:endParaRPr lang="ko-KR" altLang="en-US" sz="2200" dirty="0"/>
          </a:p>
          <a:p>
            <a:r>
              <a:rPr lang="ko-KR" altLang="en-US" sz="2200" dirty="0"/>
              <a:t>가장 많이 쓰이는 표기법으로 알고리즘 실행시간의 상한을 나타낸 표기법</a:t>
            </a:r>
            <a:r>
              <a:rPr lang="en-US" altLang="ko-KR" sz="2200" dirty="0"/>
              <a:t>(</a:t>
            </a:r>
            <a:r>
              <a:rPr lang="ko-KR" altLang="en-US" sz="2200" dirty="0"/>
              <a:t>최악의 경우</a:t>
            </a:r>
            <a:r>
              <a:rPr lang="en-US" altLang="ko-KR" sz="2200" dirty="0"/>
              <a:t>)</a:t>
            </a:r>
          </a:p>
          <a:p>
            <a:pPr marL="0" indent="0">
              <a:buNone/>
            </a:pPr>
            <a:br>
              <a:rPr lang="en-US" altLang="ko-KR" sz="2200" dirty="0"/>
            </a:br>
            <a:endParaRPr lang="en-US" altLang="ko-KR" sz="2200" dirty="0"/>
          </a:p>
          <a:p>
            <a:r>
              <a:rPr lang="en-US" altLang="ko-KR" sz="2200" dirty="0"/>
              <a:t>Ω(</a:t>
            </a:r>
            <a:r>
              <a:rPr lang="ko-KR" altLang="en-US" sz="2200" dirty="0"/>
              <a:t>오메가</a:t>
            </a:r>
            <a:r>
              <a:rPr lang="en-US" altLang="ko-KR" sz="2200" dirty="0"/>
              <a:t>)</a:t>
            </a:r>
            <a:r>
              <a:rPr lang="ko-KR" altLang="en-US" sz="2200" dirty="0"/>
              <a:t>표기법 </a:t>
            </a:r>
            <a:r>
              <a:rPr lang="en-US" altLang="ko-KR" sz="2200" dirty="0"/>
              <a:t>--  </a:t>
            </a:r>
            <a:r>
              <a:rPr lang="en-US" altLang="ko-KR" sz="2200" b="1" dirty="0"/>
              <a:t>Ω(N)</a:t>
            </a:r>
            <a:endParaRPr lang="ko-KR" altLang="en-US" sz="2200" dirty="0"/>
          </a:p>
          <a:p>
            <a:r>
              <a:rPr lang="ko-KR" altLang="en-US" sz="2200" dirty="0"/>
              <a:t>오메가 표기법은 알고리즘 실행시간의 하한을 나타낸 표기법 </a:t>
            </a:r>
            <a:r>
              <a:rPr lang="en-US" altLang="ko-KR" sz="2200" dirty="0"/>
              <a:t>(</a:t>
            </a:r>
            <a:r>
              <a:rPr lang="ko-KR" altLang="en-US" sz="2200" dirty="0"/>
              <a:t>최상의 경우</a:t>
            </a:r>
            <a:r>
              <a:rPr lang="en-US" altLang="ko-KR" sz="2200" dirty="0"/>
              <a:t>)</a:t>
            </a:r>
          </a:p>
          <a:p>
            <a:pPr marL="0" indent="0">
              <a:buNone/>
            </a:pPr>
            <a:br>
              <a:rPr lang="en-US" altLang="ko-KR" sz="2200" dirty="0"/>
            </a:br>
            <a:endParaRPr lang="en-US" altLang="ko-KR" sz="2200" dirty="0"/>
          </a:p>
          <a:p>
            <a:r>
              <a:rPr lang="en-US" altLang="ko-KR" sz="2200" dirty="0"/>
              <a:t>Θ(</a:t>
            </a:r>
            <a:r>
              <a:rPr lang="ko-KR" altLang="en-US" sz="2200" dirty="0" err="1"/>
              <a:t>세타</a:t>
            </a:r>
            <a:r>
              <a:rPr lang="en-US" altLang="ko-KR" sz="2200" dirty="0"/>
              <a:t>)</a:t>
            </a:r>
            <a:r>
              <a:rPr lang="ko-KR" altLang="en-US" sz="2200" dirty="0"/>
              <a:t>표기법 </a:t>
            </a:r>
            <a:r>
              <a:rPr lang="en-US" altLang="ko-KR" sz="2200" dirty="0"/>
              <a:t>--- </a:t>
            </a:r>
            <a:r>
              <a:rPr lang="en-US" altLang="ko-KR" sz="2200" b="1" dirty="0"/>
              <a:t>Θ(N)</a:t>
            </a:r>
            <a:endParaRPr lang="ko-KR" altLang="en-US" sz="2200" dirty="0"/>
          </a:p>
          <a:p>
            <a:r>
              <a:rPr lang="ko-KR" altLang="en-US" sz="2200" dirty="0" err="1"/>
              <a:t>세타</a:t>
            </a:r>
            <a:r>
              <a:rPr lang="ko-KR" altLang="en-US" sz="2200" dirty="0"/>
              <a:t> 표기법은 알고리즘 실행시간의 평균시간을 나타낸 표기법</a:t>
            </a:r>
            <a:r>
              <a:rPr lang="en-US" altLang="ko-KR" sz="2200" dirty="0"/>
              <a:t>(</a:t>
            </a:r>
            <a:r>
              <a:rPr lang="ko-KR" altLang="en-US" sz="2200" dirty="0"/>
              <a:t>평균의 경우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808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54246-CD17-490B-88D6-906732A5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50901"/>
            <a:ext cx="10515598" cy="532606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void  </a:t>
            </a:r>
            <a:r>
              <a:rPr lang="en-US" altLang="ko-KR" sz="2000" dirty="0" err="1"/>
              <a:t>Func</a:t>
            </a:r>
            <a:r>
              <a:rPr lang="en-US" altLang="ko-KR" sz="2000" dirty="0"/>
              <a:t>(int *a, n)</a:t>
            </a:r>
          </a:p>
          <a:p>
            <a:pPr marL="0" indent="0">
              <a:buNone/>
            </a:pPr>
            <a:r>
              <a:rPr lang="en-US" altLang="ko-KR" sz="2000" dirty="0"/>
              <a:t> {</a:t>
            </a:r>
          </a:p>
          <a:p>
            <a:pPr marL="0" indent="0">
              <a:buNone/>
            </a:pPr>
            <a:r>
              <a:rPr lang="en-US" altLang="ko-KR" sz="2000" dirty="0"/>
              <a:t>        int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=0, j=0;                         1</a:t>
            </a:r>
          </a:p>
          <a:p>
            <a:pPr marL="0" indent="0">
              <a:buNone/>
            </a:pPr>
            <a:r>
              <a:rPr lang="en-US" altLang="ko-KR" sz="2000" dirty="0"/>
              <a:t>       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 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n-1 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         n     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=0</a:t>
            </a:r>
            <a:r>
              <a:rPr lang="ko-KR" altLang="en-US" sz="2000" dirty="0"/>
              <a:t>일때부터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=n-1</a:t>
            </a:r>
            <a:r>
              <a:rPr lang="ko-KR" altLang="en-US" sz="2000" dirty="0"/>
              <a:t>일때까지 계속 실행되죠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         for(j=i+1; j&lt;n ; </a:t>
            </a:r>
            <a:r>
              <a:rPr lang="en-US" altLang="ko-KR" sz="2000" dirty="0" err="1"/>
              <a:t>j++</a:t>
            </a:r>
            <a:r>
              <a:rPr lang="en-US" altLang="ko-KR" sz="2000" dirty="0"/>
              <a:t>)             (n-1) * n (</a:t>
            </a:r>
            <a:r>
              <a:rPr lang="ko-KR" altLang="en-US" sz="2000" dirty="0"/>
              <a:t>가장 많이 수행되는 경우 생각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         if (a[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== a[j]) a[j] = 0 ;        (n-1) * (n-1)</a:t>
            </a:r>
          </a:p>
          <a:p>
            <a:pPr marL="0" indent="0">
              <a:buNone/>
            </a:pPr>
            <a:r>
              <a:rPr lang="en-US" altLang="ko-KR" sz="2000" dirty="0"/>
              <a:t> }</a:t>
            </a:r>
            <a:br>
              <a:rPr lang="en-US" altLang="ko-KR" sz="2000" dirty="0"/>
            </a:br>
            <a:r>
              <a:rPr lang="en-US" altLang="ko-KR" sz="2000" dirty="0"/>
              <a:t> </a:t>
            </a:r>
          </a:p>
          <a:p>
            <a:r>
              <a:rPr lang="ko-KR" altLang="en-US" sz="2000" dirty="0"/>
              <a:t>명령어 실행횟수를 모두 더하면 </a:t>
            </a:r>
            <a:r>
              <a:rPr lang="en-US" altLang="ko-KR" sz="2000" dirty="0"/>
              <a:t>2n²-2n+2  -&gt;</a:t>
            </a:r>
            <a:r>
              <a:rPr lang="ko-KR" altLang="en-US" sz="2000" dirty="0"/>
              <a:t>상수는 생략하고 </a:t>
            </a:r>
            <a:r>
              <a:rPr lang="ko-KR" altLang="en-US" sz="2000" dirty="0" err="1"/>
              <a:t>최고차항만</a:t>
            </a:r>
            <a:r>
              <a:rPr lang="ko-KR" altLang="en-US" sz="2000" dirty="0"/>
              <a:t> 생각한다</a:t>
            </a:r>
            <a:r>
              <a:rPr lang="en-US" altLang="ko-KR" sz="2000" dirty="0"/>
              <a:t>. =&gt; O(n²)</a:t>
            </a:r>
            <a:r>
              <a:rPr lang="ko-KR" altLang="en-US" sz="2000" dirty="0"/>
              <a:t>로 표기합니다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135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9DE98-A94F-4FA2-8704-24448B2E8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22601"/>
            <a:ext cx="10515598" cy="4154361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FF"/>
                </a:solidFill>
                <a:hlinkClick r:id="rId2"/>
              </a:rPr>
              <a:t>https://skmagic.tistory.com/164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  <a:hlinkClick r:id="rId3"/>
              </a:rPr>
              <a:t>https://m.blog.naver.com/PostView.nhn?blogId=jins8611&amp;logNo=110166546425&amp;proxyReferer=https%3A%2F%2Fwww.google.com%2F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  <a:hlinkClick r:id="rId4"/>
              </a:rPr>
              <a:t>https://heekim0719.tistory.com/266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  <a:hlinkClick r:id="rId5"/>
              </a:rPr>
              <a:t>https://blockdmask.tistory.com/67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245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와이드스크린</PresentationFormat>
  <Paragraphs>101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1</cp:revision>
  <dcterms:created xsi:type="dcterms:W3CDTF">2019-07-01T04:05:03Z</dcterms:created>
  <dcterms:modified xsi:type="dcterms:W3CDTF">2019-07-01T04:05:11Z</dcterms:modified>
</cp:coreProperties>
</file>