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7/3/2019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jh20s/221310955726" TargetMode="External"/><Relationship Id="rId2" Type="http://schemas.openxmlformats.org/officeDocument/2006/relationships/hyperlink" Target="https://dyngina.tistory.com/1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naver.com/woaldlttek/22154774374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22A8B6CD-34FE-4A87-97B2-4E44D3D87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785145"/>
            <a:ext cx="8825658" cy="2853655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dirty="0">
                <a:solidFill>
                  <a:schemeClr val="tx1"/>
                </a:solidFill>
                <a:latin typeface="+mj-ea"/>
              </a:rPr>
              <a:t>GBC </a:t>
            </a:r>
            <a:r>
              <a:rPr lang="ko-KR" altLang="en-US" sz="3000" dirty="0">
                <a:solidFill>
                  <a:schemeClr val="tx1"/>
                </a:solidFill>
                <a:latin typeface="+mj-ea"/>
              </a:rPr>
              <a:t>알고리즘 </a:t>
            </a:r>
            <a:r>
              <a:rPr lang="en-US" altLang="ko-KR" sz="3000" dirty="0">
                <a:solidFill>
                  <a:schemeClr val="tx1"/>
                </a:solidFill>
                <a:latin typeface="+mj-ea"/>
              </a:rPr>
              <a:t>LIS</a:t>
            </a:r>
          </a:p>
          <a:p>
            <a:pPr algn="ctr"/>
            <a:r>
              <a:rPr lang="ko-KR" altLang="en-US" sz="3000" dirty="0">
                <a:solidFill>
                  <a:schemeClr val="tx1"/>
                </a:solidFill>
                <a:latin typeface="+mj-ea"/>
              </a:rPr>
              <a:t>김진일</a:t>
            </a:r>
          </a:p>
        </p:txBody>
      </p:sp>
    </p:spTree>
    <p:extLst>
      <p:ext uri="{BB962C8B-B14F-4D97-AF65-F5344CB8AC3E}">
        <p14:creationId xmlns:p14="http://schemas.microsoft.com/office/powerpoint/2010/main" val="761724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3D9C10-F9CD-4268-B300-94B5D336B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842" y="738232"/>
            <a:ext cx="10150679" cy="5510168"/>
          </a:xfrm>
        </p:spPr>
        <p:txBody>
          <a:bodyPr>
            <a:normAutofit/>
          </a:bodyPr>
          <a:lstStyle/>
          <a:p>
            <a:endParaRPr lang="en-US" altLang="ko-KR" b="1" dirty="0"/>
          </a:p>
          <a:p>
            <a:r>
              <a:rPr lang="en-US" altLang="ko-KR" b="1" dirty="0">
                <a:solidFill>
                  <a:srgbClr val="00B0F0"/>
                </a:solidFill>
              </a:rPr>
              <a:t>LIS. Longest Increasing Subsequence. </a:t>
            </a:r>
            <a:r>
              <a:rPr lang="ko-KR" altLang="en-US" dirty="0">
                <a:solidFill>
                  <a:srgbClr val="00B0F0"/>
                </a:solidFill>
              </a:rPr>
              <a:t>최대 부분 증가 수열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n</a:t>
            </a:r>
            <a:r>
              <a:rPr lang="ko-KR" altLang="en-US" dirty="0"/>
              <a:t>사이즈의 배열에서 일부 원소들을 뽑아내어 부분 수열을 만들어 </a:t>
            </a:r>
            <a:r>
              <a:rPr lang="ko-KR" altLang="en-US" dirty="0" err="1"/>
              <a:t>내었을</a:t>
            </a:r>
            <a:r>
              <a:rPr lang="ko-KR" altLang="en-US" dirty="0"/>
              <a:t> 때 </a:t>
            </a:r>
            <a:br>
              <a:rPr lang="ko-KR" altLang="en-US" dirty="0"/>
            </a:br>
            <a:br>
              <a:rPr lang="ko-KR" altLang="en-US" dirty="0"/>
            </a:br>
            <a:r>
              <a:rPr lang="ko-KR" altLang="en-US" dirty="0"/>
              <a:t>증가하는 수열이 되도록 </a:t>
            </a:r>
            <a:r>
              <a:rPr lang="ko-KR" altLang="en-US" dirty="0" err="1"/>
              <a:t>할때</a:t>
            </a:r>
            <a:r>
              <a:rPr lang="en-US" altLang="ko-KR" dirty="0"/>
              <a:t>, </a:t>
            </a:r>
            <a:r>
              <a:rPr lang="ko-KR" altLang="en-US" dirty="0"/>
              <a:t>가장 긴 길이를 구하는 문제를 </a:t>
            </a:r>
            <a:r>
              <a:rPr lang="en-US" altLang="ko-KR" dirty="0"/>
              <a:t>LIS</a:t>
            </a:r>
            <a:r>
              <a:rPr lang="ko-KR" altLang="en-US" dirty="0"/>
              <a:t>라고 합니다</a:t>
            </a:r>
            <a:r>
              <a:rPr lang="en-US" altLang="ko-KR" dirty="0"/>
              <a:t>. </a:t>
            </a:r>
            <a:br>
              <a:rPr lang="ko-KR" altLang="en-US" dirty="0"/>
            </a:b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10 20</a:t>
            </a:r>
            <a:r>
              <a:rPr lang="en-US" altLang="ko-KR" b="1" dirty="0"/>
              <a:t> 40</a:t>
            </a:r>
            <a:r>
              <a:rPr lang="en-US" altLang="ko-KR" b="1" dirty="0">
                <a:solidFill>
                  <a:srgbClr val="FF0000"/>
                </a:solidFill>
              </a:rPr>
              <a:t> 30 </a:t>
            </a:r>
            <a:r>
              <a:rPr lang="en-US" altLang="ko-KR" b="1" dirty="0"/>
              <a:t>70 </a:t>
            </a:r>
            <a:r>
              <a:rPr lang="en-US" altLang="ko-KR" b="1" dirty="0">
                <a:solidFill>
                  <a:srgbClr val="FF0000"/>
                </a:solidFill>
              </a:rPr>
              <a:t>50 60 </a:t>
            </a:r>
            <a:r>
              <a:rPr lang="en-US" altLang="ko-KR" b="1" dirty="0"/>
              <a:t>  (LIS</a:t>
            </a:r>
            <a:r>
              <a:rPr lang="ko-KR" altLang="en-US" b="1" dirty="0"/>
              <a:t>  길이 </a:t>
            </a:r>
            <a:r>
              <a:rPr lang="en-US" altLang="ko-KR" b="1" dirty="0"/>
              <a:t>= 5)</a:t>
            </a:r>
            <a:endParaRPr lang="en-US" altLang="ko-KR" dirty="0"/>
          </a:p>
          <a:p>
            <a:r>
              <a:rPr lang="ko-KR" altLang="en-US" dirty="0"/>
              <a:t>간단히 말해서</a:t>
            </a:r>
            <a:r>
              <a:rPr lang="en-US" altLang="ko-KR" dirty="0"/>
              <a:t>. </a:t>
            </a:r>
            <a:r>
              <a:rPr lang="ko-KR" altLang="en-US" b="1" dirty="0"/>
              <a:t>앞에부터 뒤로 숫자를 선택</a:t>
            </a:r>
            <a:r>
              <a:rPr lang="ko-KR" altLang="en-US" dirty="0"/>
              <a:t>해 나갈 때</a:t>
            </a:r>
            <a:r>
              <a:rPr lang="en-US" altLang="ko-KR" dirty="0"/>
              <a:t>, </a:t>
            </a:r>
            <a:br>
              <a:rPr lang="ko-KR" altLang="en-US" dirty="0"/>
            </a:br>
            <a:r>
              <a:rPr lang="ko-KR" altLang="en-US" b="1" dirty="0"/>
              <a:t>증가하는 순서대로</a:t>
            </a:r>
            <a:r>
              <a:rPr lang="ko-KR" altLang="en-US" dirty="0"/>
              <a:t> 고를 때</a:t>
            </a:r>
            <a:r>
              <a:rPr lang="en-US" altLang="ko-KR" dirty="0"/>
              <a:t>, </a:t>
            </a:r>
            <a:r>
              <a:rPr lang="ko-KR" altLang="en-US" b="1" dirty="0"/>
              <a:t>최대 길이를 갖는 수열</a:t>
            </a:r>
            <a:r>
              <a:rPr lang="ko-KR" altLang="en-US" dirty="0"/>
              <a:t>이라고 할 수 있습니다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예제에서 보면 </a:t>
            </a:r>
            <a:r>
              <a:rPr lang="en-US" altLang="ko-KR" b="1" dirty="0"/>
              <a:t>(10 20 30 50 60)</a:t>
            </a:r>
            <a:r>
              <a:rPr lang="ko-KR" altLang="en-US" dirty="0"/>
              <a:t> 도 되지만 </a:t>
            </a:r>
            <a:r>
              <a:rPr lang="en-US" altLang="ko-KR" b="1" dirty="0"/>
              <a:t>(10 20 40 50 60)</a:t>
            </a:r>
            <a:r>
              <a:rPr lang="ko-KR" altLang="en-US" dirty="0"/>
              <a:t> 도 됩니다</a:t>
            </a:r>
            <a:r>
              <a:rPr lang="en-US" altLang="ko-KR" dirty="0"/>
              <a:t>. </a:t>
            </a:r>
          </a:p>
          <a:p>
            <a:endParaRPr lang="en-US" altLang="ko-KR" dirty="0"/>
          </a:p>
          <a:p>
            <a:pPr marL="0" indent="0">
              <a:buNone/>
            </a:pP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8847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67AF73-F89E-4204-8C2C-FD6AFB71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19075"/>
            <a:ext cx="8946541" cy="4874003"/>
          </a:xfrm>
        </p:spPr>
        <p:txBody>
          <a:bodyPr>
            <a:normAutofit/>
          </a:bodyPr>
          <a:lstStyle/>
          <a:p>
            <a:r>
              <a:rPr lang="ko-KR" altLang="en-US" dirty="0"/>
              <a:t>일단 처음에 </a:t>
            </a:r>
            <a:r>
              <a:rPr lang="en-US" altLang="ko-KR" dirty="0"/>
              <a:t>10</a:t>
            </a:r>
            <a:r>
              <a:rPr lang="ko-KR" altLang="en-US" dirty="0"/>
              <a:t>을 넣어준 후 배열의 최대 사이즈는 </a:t>
            </a:r>
            <a:r>
              <a:rPr lang="en-US" altLang="ko-KR" dirty="0"/>
              <a:t>1</a:t>
            </a:r>
            <a:br>
              <a:rPr lang="ko-KR" altLang="en-US" dirty="0"/>
            </a:br>
            <a:r>
              <a:rPr lang="ko-KR" altLang="en-US" dirty="0"/>
              <a:t>그 다음 </a:t>
            </a:r>
            <a:r>
              <a:rPr lang="en-US" altLang="ko-KR" dirty="0"/>
              <a:t>20</a:t>
            </a:r>
            <a:r>
              <a:rPr lang="ko-KR" altLang="en-US" dirty="0"/>
              <a:t>이 들어갈 수 있고</a:t>
            </a:r>
            <a:r>
              <a:rPr lang="en-US" altLang="ko-KR" dirty="0"/>
              <a:t>, </a:t>
            </a:r>
            <a:r>
              <a:rPr lang="ko-KR" altLang="en-US" dirty="0"/>
              <a:t>배열 내에서 증가수열을 유지할 수 있는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최적의 장소를 </a:t>
            </a:r>
            <a:r>
              <a:rPr lang="en-US" altLang="ko-KR" dirty="0"/>
              <a:t>lower bound</a:t>
            </a:r>
            <a:r>
              <a:rPr lang="ko-KR" altLang="en-US" dirty="0"/>
              <a:t>를 이용하여 찾아줍니다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     들어갈 데가 없으므로 배열 뒤에 추가해줍니다</a:t>
            </a:r>
            <a:r>
              <a:rPr lang="en-US" altLang="ko-KR" dirty="0"/>
              <a:t>. (</a:t>
            </a:r>
            <a:r>
              <a:rPr lang="ko-KR" altLang="en-US" dirty="0"/>
              <a:t>배열 사이즈 </a:t>
            </a:r>
            <a:r>
              <a:rPr lang="en-US" altLang="ko-KR" dirty="0"/>
              <a:t>2)</a:t>
            </a:r>
            <a:br>
              <a:rPr lang="ko-KR" altLang="en-US" dirty="0"/>
            </a:br>
            <a:r>
              <a:rPr lang="en-US" altLang="ko-KR" dirty="0"/>
              <a:t>     4 </a:t>
            </a:r>
            <a:r>
              <a:rPr lang="ko-KR" altLang="en-US" dirty="0"/>
              <a:t>추가 </a:t>
            </a:r>
            <a:r>
              <a:rPr lang="en-US" altLang="ko-KR" dirty="0"/>
              <a:t>: </a:t>
            </a:r>
            <a:r>
              <a:rPr lang="ko-KR" altLang="en-US" dirty="0"/>
              <a:t>배열 사이즈 </a:t>
            </a:r>
            <a:r>
              <a:rPr lang="en-US" altLang="ko-KR" dirty="0"/>
              <a:t>3 (10,20,40)</a:t>
            </a:r>
            <a:br>
              <a:rPr lang="ko-KR" altLang="en-US" dirty="0"/>
            </a:br>
            <a:r>
              <a:rPr lang="ko-KR" altLang="en-US" dirty="0"/>
              <a:t>     </a:t>
            </a:r>
            <a:r>
              <a:rPr lang="en-US" altLang="ko-KR" dirty="0"/>
              <a:t>3 </a:t>
            </a:r>
            <a:r>
              <a:rPr lang="ko-KR" altLang="en-US" dirty="0"/>
              <a:t>추가 </a:t>
            </a:r>
            <a:r>
              <a:rPr lang="en-US" altLang="ko-KR" dirty="0"/>
              <a:t>: 40</a:t>
            </a:r>
            <a:r>
              <a:rPr lang="ko-KR" altLang="en-US" dirty="0"/>
              <a:t>이 있는 자리에 </a:t>
            </a:r>
            <a:r>
              <a:rPr lang="en-US" altLang="ko-KR" dirty="0"/>
              <a:t>30 </a:t>
            </a:r>
            <a:r>
              <a:rPr lang="ko-KR" altLang="en-US" dirty="0"/>
              <a:t>치환</a:t>
            </a:r>
            <a:r>
              <a:rPr lang="en-US" altLang="ko-KR" dirty="0"/>
              <a:t>. </a:t>
            </a:r>
            <a:r>
              <a:rPr lang="ko-KR" altLang="en-US" dirty="0"/>
              <a:t>배열 사이즈 </a:t>
            </a:r>
            <a:r>
              <a:rPr lang="en-US" altLang="ko-KR" dirty="0"/>
              <a:t>3 (10,20,30)</a:t>
            </a:r>
            <a:br>
              <a:rPr lang="ko-KR" altLang="en-US" dirty="0"/>
            </a:br>
            <a:r>
              <a:rPr lang="ko-KR" altLang="en-US" dirty="0"/>
              <a:t>     </a:t>
            </a:r>
            <a:r>
              <a:rPr lang="en-US" altLang="ko-KR" dirty="0"/>
              <a:t>7 </a:t>
            </a:r>
            <a:r>
              <a:rPr lang="ko-KR" altLang="en-US" dirty="0"/>
              <a:t>추가 </a:t>
            </a:r>
            <a:r>
              <a:rPr lang="en-US" altLang="ko-KR" dirty="0"/>
              <a:t>: </a:t>
            </a:r>
            <a:r>
              <a:rPr lang="ko-KR" altLang="en-US" dirty="0"/>
              <a:t>배열 사이즈 </a:t>
            </a:r>
            <a:r>
              <a:rPr lang="en-US" altLang="ko-KR" dirty="0"/>
              <a:t>4 (10,20,30,70)</a:t>
            </a:r>
            <a:br>
              <a:rPr lang="ko-KR" altLang="en-US" dirty="0"/>
            </a:br>
            <a:r>
              <a:rPr lang="ko-KR" altLang="en-US" dirty="0"/>
              <a:t>     </a:t>
            </a:r>
            <a:r>
              <a:rPr lang="en-US" altLang="ko-KR" dirty="0"/>
              <a:t>5 </a:t>
            </a:r>
            <a:r>
              <a:rPr lang="ko-KR" altLang="en-US" dirty="0"/>
              <a:t>추가 </a:t>
            </a:r>
            <a:r>
              <a:rPr lang="en-US" altLang="ko-KR" dirty="0"/>
              <a:t>: 70</a:t>
            </a:r>
            <a:r>
              <a:rPr lang="ko-KR" altLang="en-US" dirty="0"/>
              <a:t>이 있는 자리에 </a:t>
            </a:r>
            <a:r>
              <a:rPr lang="en-US" altLang="ko-KR" dirty="0"/>
              <a:t>50 </a:t>
            </a:r>
            <a:r>
              <a:rPr lang="ko-KR" altLang="en-US" dirty="0"/>
              <a:t>치환</a:t>
            </a:r>
            <a:r>
              <a:rPr lang="en-US" altLang="ko-KR" dirty="0"/>
              <a:t>. </a:t>
            </a:r>
            <a:r>
              <a:rPr lang="ko-KR" altLang="en-US" dirty="0"/>
              <a:t>배열 사이즈 </a:t>
            </a:r>
            <a:r>
              <a:rPr lang="en-US" altLang="ko-KR" dirty="0"/>
              <a:t>4 (10,20,30,50) </a:t>
            </a:r>
            <a:br>
              <a:rPr lang="ko-KR" altLang="en-US" dirty="0"/>
            </a:br>
            <a:r>
              <a:rPr lang="ko-KR" altLang="en-US" dirty="0"/>
              <a:t>     </a:t>
            </a:r>
            <a:r>
              <a:rPr lang="en-US" altLang="ko-KR" dirty="0"/>
              <a:t>6 </a:t>
            </a:r>
            <a:r>
              <a:rPr lang="ko-KR" altLang="en-US" dirty="0"/>
              <a:t>추가 </a:t>
            </a:r>
            <a:r>
              <a:rPr lang="en-US" altLang="ko-KR" dirty="0"/>
              <a:t>: </a:t>
            </a:r>
            <a:r>
              <a:rPr lang="ko-KR" altLang="en-US" dirty="0"/>
              <a:t>배열 사이즈 </a:t>
            </a:r>
            <a:r>
              <a:rPr lang="en-US" altLang="ko-KR" dirty="0"/>
              <a:t>5 (10,20,30,50,60)</a:t>
            </a:r>
            <a:br>
              <a:rPr lang="ko-KR" altLang="en-US" dirty="0"/>
            </a:br>
            <a:br>
              <a:rPr lang="ko-KR" altLang="en-US" dirty="0"/>
            </a:br>
            <a:r>
              <a:rPr lang="en-US" altLang="ko-KR" dirty="0"/>
              <a:t>	</a:t>
            </a:r>
            <a:r>
              <a:rPr lang="ko-KR" altLang="en-US" dirty="0"/>
              <a:t>최종적으로 배열 사이즈가 답이 됩니다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      이유는</a:t>
            </a:r>
            <a:r>
              <a:rPr lang="en-US" altLang="ko-KR" dirty="0"/>
              <a:t>: 10,20,30,70 </a:t>
            </a:r>
            <a:r>
              <a:rPr lang="ko-KR" altLang="en-US" dirty="0"/>
              <a:t>인 배열에 </a:t>
            </a:r>
            <a:r>
              <a:rPr lang="en-US" altLang="ko-KR" dirty="0"/>
              <a:t>50</a:t>
            </a:r>
            <a:r>
              <a:rPr lang="ko-KR" altLang="en-US" dirty="0"/>
              <a:t>을 넣는다고 칩시다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일단 </a:t>
            </a:r>
            <a:r>
              <a:rPr lang="en-US" altLang="ko-KR" dirty="0"/>
              <a:t>'70'</a:t>
            </a:r>
            <a:r>
              <a:rPr lang="ko-KR" altLang="en-US" dirty="0"/>
              <a:t>에 대한 값에 대한 배열의 의미는 </a:t>
            </a:r>
            <a:br>
              <a:rPr lang="ko-KR" altLang="en-US" dirty="0"/>
            </a:br>
            <a:r>
              <a:rPr lang="ko-KR" altLang="en-US" dirty="0"/>
              <a:t>  </a:t>
            </a:r>
            <a:r>
              <a:rPr lang="en-US" altLang="ko-KR" b="1" dirty="0"/>
              <a:t>70</a:t>
            </a:r>
            <a:r>
              <a:rPr lang="ko-KR" altLang="en-US" b="1" dirty="0"/>
              <a:t>을 마지막으로 포함하는 최대 </a:t>
            </a:r>
            <a:r>
              <a:rPr lang="en-US" altLang="ko-KR" b="1" dirty="0"/>
              <a:t>LIS</a:t>
            </a:r>
            <a:r>
              <a:rPr lang="ko-KR" altLang="en-US" b="1" dirty="0"/>
              <a:t>는 길이가 </a:t>
            </a:r>
            <a:r>
              <a:rPr lang="en-US" altLang="ko-KR" b="1" dirty="0"/>
              <a:t>4</a:t>
            </a:r>
            <a:r>
              <a:rPr lang="ko-KR" altLang="en-US" b="1" dirty="0"/>
              <a:t>라는 의미</a:t>
            </a: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850EE8-D99E-43A7-8045-1E0F0A165FC4}"/>
              </a:ext>
            </a:extLst>
          </p:cNvPr>
          <p:cNvSpPr/>
          <p:nvPr/>
        </p:nvSpPr>
        <p:spPr>
          <a:xfrm>
            <a:off x="977478" y="836694"/>
            <a:ext cx="3384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</a:rPr>
              <a:t>1. Lower Bound</a:t>
            </a:r>
            <a:r>
              <a:rPr lang="ko-KR" altLang="en-US" b="1" dirty="0">
                <a:solidFill>
                  <a:srgbClr val="00B0F0"/>
                </a:solidFill>
              </a:rPr>
              <a:t>를 이용한 방법</a:t>
            </a:r>
            <a:endParaRPr lang="en-US" altLang="ko-KR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833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81F192-DA4A-44E1-8FAD-60A8BEAFA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847288"/>
            <a:ext cx="8946541" cy="5796793"/>
          </a:xfrm>
        </p:spPr>
        <p:txBody>
          <a:bodyPr/>
          <a:lstStyle/>
          <a:p>
            <a:r>
              <a:rPr lang="ko-KR" altLang="en-US">
                <a:solidFill>
                  <a:srgbClr val="00B0F0"/>
                </a:solidFill>
              </a:rPr>
              <a:t>인덱스 트리를 이용한 방법</a:t>
            </a:r>
            <a:endParaRPr lang="en-US" altLang="ko-KR" dirty="0">
              <a:solidFill>
                <a:srgbClr val="00B0F0"/>
              </a:solidFill>
            </a:endParaRPr>
          </a:p>
          <a:p>
            <a:r>
              <a:rPr lang="ko-KR" altLang="en-US" b="1" dirty="0"/>
              <a:t>내부 값에 중복이 없다는 전제 하</a:t>
            </a:r>
            <a:r>
              <a:rPr lang="ko-KR" altLang="en-US" dirty="0"/>
              <a:t>에 배열 위치와 함께 정렬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원래 값</a:t>
            </a:r>
            <a:r>
              <a:rPr lang="en-US" altLang="ko-KR" dirty="0"/>
              <a:t>) 10 20 40 30 70 50 60 </a:t>
            </a:r>
          </a:p>
          <a:p>
            <a:pPr marL="0" indent="0">
              <a:buNone/>
            </a:pPr>
            <a:r>
              <a:rPr lang="en-US" altLang="ko-KR" dirty="0"/>
              <a:t>     (</a:t>
            </a:r>
            <a:r>
              <a:rPr lang="ko-KR" altLang="en-US" dirty="0"/>
              <a:t>위치</a:t>
            </a:r>
            <a:r>
              <a:rPr lang="en-US" altLang="ko-KR" dirty="0"/>
              <a:t>)  1   2  3   4   5    6   7    </a:t>
            </a:r>
          </a:p>
          <a:p>
            <a:pPr marL="0" indent="0">
              <a:buNone/>
            </a:pPr>
            <a:r>
              <a:rPr lang="en-US" altLang="ko-KR" dirty="0"/>
              <a:t>     (</a:t>
            </a:r>
            <a:r>
              <a:rPr lang="ko-KR" altLang="en-US" dirty="0"/>
              <a:t>값   </a:t>
            </a:r>
            <a:r>
              <a:rPr lang="en-US" altLang="ko-KR" dirty="0"/>
              <a:t>) 10 20 30 40 50 60 70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위치</a:t>
            </a:r>
            <a:r>
              <a:rPr lang="en-US" altLang="ko-KR" dirty="0"/>
              <a:t>) 1   2   4    3   6   7   5</a:t>
            </a:r>
          </a:p>
          <a:p>
            <a:endParaRPr lang="en-US" altLang="ko-KR" dirty="0"/>
          </a:p>
          <a:p>
            <a:r>
              <a:rPr lang="en-US" altLang="ko-KR" b="1" dirty="0">
                <a:solidFill>
                  <a:srgbClr val="00B0F0"/>
                </a:solidFill>
              </a:rPr>
              <a:t>LIS</a:t>
            </a:r>
            <a:r>
              <a:rPr lang="ko-KR" altLang="en-US" b="1" dirty="0">
                <a:solidFill>
                  <a:srgbClr val="00B0F0"/>
                </a:solidFill>
              </a:rPr>
              <a:t>에서 고려해야 할 것 </a:t>
            </a:r>
            <a:r>
              <a:rPr lang="en-US" altLang="ko-KR" b="1" dirty="0">
                <a:solidFill>
                  <a:srgbClr val="00B0F0"/>
                </a:solidFill>
              </a:rPr>
              <a:t>2</a:t>
            </a:r>
            <a:r>
              <a:rPr lang="ko-KR" altLang="en-US" b="1" dirty="0">
                <a:solidFill>
                  <a:srgbClr val="00B0F0"/>
                </a:solidFill>
              </a:rPr>
              <a:t>가지</a:t>
            </a:r>
            <a:br>
              <a:rPr lang="ko-KR" altLang="en-US" dirty="0"/>
            </a:b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1. LIS</a:t>
            </a:r>
            <a:r>
              <a:rPr lang="ko-KR" altLang="en-US" b="1" dirty="0"/>
              <a:t>에서 자신의 앞에 있는 요소가 자기보다 전부 작아야 한다는 것</a:t>
            </a:r>
            <a:r>
              <a:rPr lang="en-US" altLang="ko-KR" b="1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    </a:t>
            </a:r>
            <a:br>
              <a:rPr lang="ko-KR" altLang="en-US" dirty="0"/>
            </a:br>
            <a:r>
              <a:rPr lang="en-US" altLang="ko-KR" b="1" dirty="0"/>
              <a:t>2. LIS</a:t>
            </a:r>
            <a:r>
              <a:rPr lang="ko-KR" altLang="en-US" b="1" dirty="0"/>
              <a:t>에서 자신의 앞에 있는 요소가 원래 있는 위치보다 앞에 있어야 한다는 것</a:t>
            </a:r>
            <a:r>
              <a:rPr lang="en-US" altLang="ko-KR" b="1" dirty="0"/>
              <a:t>.</a:t>
            </a:r>
            <a:br>
              <a:rPr lang="ko-KR" altLang="en-US" dirty="0"/>
            </a:br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4934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E47164-777A-4B34-8292-0FFB6EC6B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74" y="931178"/>
            <a:ext cx="10159068" cy="5317221"/>
          </a:xfrm>
        </p:spPr>
        <p:txBody>
          <a:bodyPr/>
          <a:lstStyle/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값</a:t>
            </a:r>
            <a:r>
              <a:rPr lang="en-US" altLang="ko-KR" b="1" dirty="0"/>
              <a:t>'40'</a:t>
            </a:r>
            <a:r>
              <a:rPr lang="ko-KR" altLang="en-US" b="1" dirty="0"/>
              <a:t>를 처리한다고 했을 때</a:t>
            </a:r>
            <a:r>
              <a:rPr lang="en-US" altLang="ko-KR" b="1" dirty="0"/>
              <a:t>, </a:t>
            </a:r>
            <a:r>
              <a:rPr lang="ko-KR" altLang="en-US" b="1" dirty="0"/>
              <a:t>이미 처리된 것은</a:t>
            </a:r>
            <a:endParaRPr lang="ko-KR" altLang="en-US" dirty="0"/>
          </a:p>
          <a:p>
            <a:pPr marL="0" indent="0">
              <a:buNone/>
            </a:pPr>
            <a:r>
              <a:rPr lang="en-US" altLang="ko-KR" b="1" dirty="0"/>
              <a:t>     1</a:t>
            </a:r>
            <a:r>
              <a:rPr lang="ko-KR" altLang="en-US" b="1" dirty="0"/>
              <a:t>번째에 들어있던 </a:t>
            </a:r>
            <a:r>
              <a:rPr lang="en-US" altLang="ko-KR" b="1" dirty="0"/>
              <a:t>10, 2</a:t>
            </a:r>
            <a:r>
              <a:rPr lang="ko-KR" altLang="en-US" b="1" dirty="0"/>
              <a:t>번째에 들어있던 </a:t>
            </a:r>
            <a:r>
              <a:rPr lang="en-US" altLang="ko-KR" b="1" dirty="0"/>
              <a:t>20, 4</a:t>
            </a:r>
            <a:r>
              <a:rPr lang="ko-KR" altLang="en-US" b="1" dirty="0"/>
              <a:t>번째에 들어있던 </a:t>
            </a:r>
            <a:r>
              <a:rPr lang="en-US" altLang="ko-KR" b="1" dirty="0"/>
              <a:t>30 </a:t>
            </a:r>
            <a:r>
              <a:rPr lang="ko-KR" altLang="en-US" b="1" dirty="0"/>
              <a:t>입니다</a:t>
            </a:r>
            <a:r>
              <a:rPr lang="en-US" altLang="ko-KR" b="1" dirty="0"/>
              <a:t>.</a:t>
            </a:r>
            <a:endParaRPr lang="ko-KR" altLang="en-US" dirty="0"/>
          </a:p>
          <a:p>
            <a:pPr marL="0" indent="0">
              <a:buNone/>
            </a:pPr>
            <a:r>
              <a:rPr lang="ko-KR" altLang="en-US" b="1" dirty="0"/>
              <a:t>     그런데 자기의 위치</a:t>
            </a:r>
            <a:r>
              <a:rPr lang="en-US" altLang="ko-KR" b="1" dirty="0"/>
              <a:t>(40</a:t>
            </a:r>
            <a:r>
              <a:rPr lang="ko-KR" altLang="en-US" b="1" dirty="0"/>
              <a:t>이 있던 위치</a:t>
            </a:r>
            <a:r>
              <a:rPr lang="en-US" altLang="ko-KR" b="1" dirty="0"/>
              <a:t>)</a:t>
            </a:r>
            <a:r>
              <a:rPr lang="ko-KR" altLang="en-US" b="1" dirty="0"/>
              <a:t>는 </a:t>
            </a:r>
            <a:r>
              <a:rPr lang="en-US" altLang="ko-KR" b="1" dirty="0"/>
              <a:t>3 </a:t>
            </a:r>
            <a:r>
              <a:rPr lang="ko-KR" altLang="en-US" b="1" dirty="0"/>
              <a:t>이므로</a:t>
            </a:r>
            <a:r>
              <a:rPr lang="en-US" altLang="ko-KR" b="1" dirty="0"/>
              <a:t>, 4</a:t>
            </a:r>
            <a:r>
              <a:rPr lang="ko-KR" altLang="en-US" b="1" dirty="0"/>
              <a:t>번째에 들어있던 </a:t>
            </a:r>
            <a:r>
              <a:rPr lang="en-US" altLang="ko-KR" b="1" dirty="0"/>
              <a:t>30</a:t>
            </a:r>
            <a:r>
              <a:rPr lang="ko-KR" altLang="en-US" b="1" dirty="0"/>
              <a:t>에서는 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     </a:t>
            </a:r>
            <a:r>
              <a:rPr lang="ko-KR" altLang="en-US" b="1" dirty="0"/>
              <a:t>참조가 불가능하고</a:t>
            </a:r>
            <a:r>
              <a:rPr lang="en-US" altLang="ko-KR" b="1" dirty="0"/>
              <a:t> 1,2 </a:t>
            </a:r>
            <a:r>
              <a:rPr lang="ko-KR" altLang="en-US" b="1" dirty="0"/>
              <a:t>번째에 들어있던 값</a:t>
            </a:r>
            <a:r>
              <a:rPr lang="en-US" altLang="ko-KR" b="1" dirty="0"/>
              <a:t>'10'</a:t>
            </a:r>
            <a:r>
              <a:rPr lang="ko-KR" altLang="en-US" b="1" dirty="0"/>
              <a:t>과 값</a:t>
            </a:r>
            <a:r>
              <a:rPr lang="en-US" altLang="ko-KR" b="1" dirty="0"/>
              <a:t>'20'</a:t>
            </a:r>
            <a:r>
              <a:rPr lang="ko-KR" altLang="en-US" b="1" dirty="0"/>
              <a:t>에 대해서만 참조가 가능</a:t>
            </a:r>
            <a:r>
              <a:rPr lang="en-US" altLang="ko-KR" b="1" dirty="0"/>
              <a:t> </a:t>
            </a:r>
          </a:p>
          <a:p>
            <a:pPr marL="0" indent="0">
              <a:buNone/>
            </a:pPr>
            <a:r>
              <a:rPr lang="en-US" altLang="ko-KR" b="1" dirty="0"/>
              <a:t>     </a:t>
            </a:r>
          </a:p>
          <a:p>
            <a:pPr marL="0" indent="0">
              <a:buNone/>
            </a:pPr>
            <a:r>
              <a:rPr lang="en-US" altLang="ko-KR" b="1" dirty="0"/>
              <a:t>     </a:t>
            </a:r>
            <a:r>
              <a:rPr lang="ko-KR" altLang="en-US" b="1" dirty="0"/>
              <a:t>이 과정을 인덱스 트리를 이용하면 </a:t>
            </a:r>
            <a:r>
              <a:rPr lang="en-US" altLang="ko-KR" b="1" dirty="0"/>
              <a:t>N</a:t>
            </a:r>
            <a:r>
              <a:rPr lang="ko-KR" altLang="en-US" b="1" dirty="0"/>
              <a:t>에서 </a:t>
            </a:r>
            <a:r>
              <a:rPr lang="en-US" altLang="ko-KR" b="1" dirty="0"/>
              <a:t>log N </a:t>
            </a:r>
            <a:r>
              <a:rPr lang="ko-KR" altLang="en-US" b="1" dirty="0"/>
              <a:t>으로 줄일 수가 있음</a:t>
            </a:r>
            <a:r>
              <a:rPr lang="en-US" altLang="ko-KR" b="1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     </a:t>
            </a:r>
            <a:r>
              <a:rPr lang="ko-KR" altLang="en-US" b="1" dirty="0"/>
              <a:t>인덱스 트리를 </a:t>
            </a:r>
            <a:r>
              <a:rPr lang="en-US" altLang="ko-KR" b="1" dirty="0"/>
              <a:t>1</a:t>
            </a:r>
            <a:r>
              <a:rPr lang="ko-KR" altLang="en-US" b="1" dirty="0"/>
              <a:t>부터 자기 인덱스</a:t>
            </a:r>
            <a:r>
              <a:rPr lang="en-US" altLang="ko-KR" b="1" dirty="0"/>
              <a:t>-1 </a:t>
            </a:r>
            <a:r>
              <a:rPr lang="ko-KR" altLang="en-US" b="1" dirty="0"/>
              <a:t>로 범위를 제한해서 구해주면 됨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6743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t1.daumcdn.net/cfile/tistory/180DFC3C4EA23CFA1D">
            <a:extLst>
              <a:ext uri="{FF2B5EF4-FFF2-40B4-BE49-F238E27FC236}">
                <a16:creationId xmlns:a16="http://schemas.microsoft.com/office/drawing/2014/main" id="{8D0D75DC-6C31-479C-AB01-A25277AAAE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854"/>
          <a:stretch/>
        </p:blipFill>
        <p:spPr bwMode="auto">
          <a:xfrm>
            <a:off x="4035104" y="1552450"/>
            <a:ext cx="6411097" cy="425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F6071C-DC75-45CD-9078-3BAC6A2421CD}"/>
              </a:ext>
            </a:extLst>
          </p:cNvPr>
          <p:cNvSpPr txBox="1"/>
          <p:nvPr/>
        </p:nvSpPr>
        <p:spPr>
          <a:xfrm>
            <a:off x="704675" y="721453"/>
            <a:ext cx="3330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Longest</a:t>
            </a:r>
            <a:r>
              <a:rPr lang="ko-KR" altLang="en-US" sz="2400" dirty="0"/>
              <a:t> </a:t>
            </a:r>
            <a:r>
              <a:rPr lang="en-US" altLang="ko-KR" sz="2400" dirty="0"/>
              <a:t>Increasing Subsequence </a:t>
            </a:r>
            <a:r>
              <a:rPr lang="ko-KR" altLang="en-US" sz="2400" dirty="0"/>
              <a:t>과정</a:t>
            </a:r>
          </a:p>
        </p:txBody>
      </p:sp>
    </p:spTree>
    <p:extLst>
      <p:ext uri="{BB962C8B-B14F-4D97-AF65-F5344CB8AC3E}">
        <p14:creationId xmlns:p14="http://schemas.microsoft.com/office/powerpoint/2010/main" val="77327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t1.daumcdn.net/cfile/tistory/180DFC3C4EA23CFA1D">
            <a:extLst>
              <a:ext uri="{FF2B5EF4-FFF2-40B4-BE49-F238E27FC236}">
                <a16:creationId xmlns:a16="http://schemas.microsoft.com/office/drawing/2014/main" id="{5EC227CA-9803-4860-AF04-A4AFA57264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2" t="20428" b="56820"/>
          <a:stretch/>
        </p:blipFill>
        <p:spPr bwMode="auto">
          <a:xfrm>
            <a:off x="3917658" y="1427127"/>
            <a:ext cx="6014907" cy="470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ECEA04-58C2-4EBA-9E37-41F5EB10D054}"/>
              </a:ext>
            </a:extLst>
          </p:cNvPr>
          <p:cNvSpPr txBox="1"/>
          <p:nvPr/>
        </p:nvSpPr>
        <p:spPr>
          <a:xfrm>
            <a:off x="704675" y="721453"/>
            <a:ext cx="3330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Longest</a:t>
            </a:r>
            <a:r>
              <a:rPr lang="ko-KR" altLang="en-US" sz="2400" dirty="0"/>
              <a:t> </a:t>
            </a:r>
            <a:r>
              <a:rPr lang="en-US" altLang="ko-KR" sz="2400" dirty="0"/>
              <a:t>Increasing Subsequence </a:t>
            </a:r>
            <a:r>
              <a:rPr lang="ko-KR" altLang="en-US" sz="2400" dirty="0"/>
              <a:t>과정</a:t>
            </a:r>
          </a:p>
        </p:txBody>
      </p:sp>
    </p:spTree>
    <p:extLst>
      <p:ext uri="{BB962C8B-B14F-4D97-AF65-F5344CB8AC3E}">
        <p14:creationId xmlns:p14="http://schemas.microsoft.com/office/powerpoint/2010/main" val="1233246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t1.daumcdn.net/cfile/tistory/180DFC3C4EA23CFA1D">
            <a:extLst>
              <a:ext uri="{FF2B5EF4-FFF2-40B4-BE49-F238E27FC236}">
                <a16:creationId xmlns:a16="http://schemas.microsoft.com/office/drawing/2014/main" id="{C07BFFD5-E278-45E1-A8BD-553BB6CE8A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58" b="32966"/>
          <a:stretch/>
        </p:blipFill>
        <p:spPr bwMode="auto">
          <a:xfrm>
            <a:off x="3886758" y="1375794"/>
            <a:ext cx="5953527" cy="494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401AB5-A7B5-4C04-8F54-B261A60C1DA9}"/>
              </a:ext>
            </a:extLst>
          </p:cNvPr>
          <p:cNvSpPr txBox="1"/>
          <p:nvPr/>
        </p:nvSpPr>
        <p:spPr>
          <a:xfrm>
            <a:off x="704675" y="721453"/>
            <a:ext cx="3330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Longest</a:t>
            </a:r>
            <a:r>
              <a:rPr lang="ko-KR" altLang="en-US" sz="2400" dirty="0"/>
              <a:t> </a:t>
            </a:r>
            <a:r>
              <a:rPr lang="en-US" altLang="ko-KR" sz="2400" dirty="0"/>
              <a:t>Increasing Subsequence </a:t>
            </a:r>
            <a:r>
              <a:rPr lang="ko-KR" altLang="en-US" sz="2400" dirty="0"/>
              <a:t>과정</a:t>
            </a:r>
          </a:p>
        </p:txBody>
      </p:sp>
    </p:spTree>
    <p:extLst>
      <p:ext uri="{BB962C8B-B14F-4D97-AF65-F5344CB8AC3E}">
        <p14:creationId xmlns:p14="http://schemas.microsoft.com/office/powerpoint/2010/main" val="1666310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t1.daumcdn.net/cfile/tistory/180DFC3C4EA23CFA1D">
            <a:extLst>
              <a:ext uri="{FF2B5EF4-FFF2-40B4-BE49-F238E27FC236}">
                <a16:creationId xmlns:a16="http://schemas.microsoft.com/office/drawing/2014/main" id="{3FBF17D6-1E8A-4972-87CD-8ED3FAA02D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56"/>
          <a:stretch/>
        </p:blipFill>
        <p:spPr bwMode="auto">
          <a:xfrm>
            <a:off x="4284869" y="613806"/>
            <a:ext cx="5471528" cy="5848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438CA5-E8C9-4BFB-9049-136EA9F482AF}"/>
              </a:ext>
            </a:extLst>
          </p:cNvPr>
          <p:cNvSpPr txBox="1"/>
          <p:nvPr/>
        </p:nvSpPr>
        <p:spPr>
          <a:xfrm>
            <a:off x="704675" y="721453"/>
            <a:ext cx="3330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Longest</a:t>
            </a:r>
            <a:r>
              <a:rPr lang="ko-KR" altLang="en-US" sz="2400" dirty="0"/>
              <a:t> </a:t>
            </a:r>
            <a:r>
              <a:rPr lang="en-US" altLang="ko-KR" sz="2400" dirty="0"/>
              <a:t>Increasing Subsequence </a:t>
            </a:r>
            <a:r>
              <a:rPr lang="ko-KR" altLang="en-US" sz="2400" dirty="0"/>
              <a:t>과정</a:t>
            </a:r>
          </a:p>
        </p:txBody>
      </p:sp>
    </p:spTree>
    <p:extLst>
      <p:ext uri="{BB962C8B-B14F-4D97-AF65-F5344CB8AC3E}">
        <p14:creationId xmlns:p14="http://schemas.microsoft.com/office/powerpoint/2010/main" val="2149135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743FD66-9DE1-491D-BED7-3E897955A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211" y="1349144"/>
            <a:ext cx="6039693" cy="5077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40AD6A-F359-481E-AA82-F770C56594FF}"/>
              </a:ext>
            </a:extLst>
          </p:cNvPr>
          <p:cNvSpPr txBox="1"/>
          <p:nvPr/>
        </p:nvSpPr>
        <p:spPr>
          <a:xfrm>
            <a:off x="526671" y="577086"/>
            <a:ext cx="30787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Longest</a:t>
            </a:r>
            <a:r>
              <a:rPr lang="ko-KR" altLang="en-US" sz="2400" dirty="0"/>
              <a:t> </a:t>
            </a:r>
            <a:r>
              <a:rPr lang="en-US" altLang="ko-KR" sz="2400" dirty="0"/>
              <a:t>Increasing Subsequence </a:t>
            </a:r>
            <a:r>
              <a:rPr lang="ko-KR" altLang="en-US" sz="2400" dirty="0"/>
              <a:t>코딩</a:t>
            </a:r>
          </a:p>
        </p:txBody>
      </p:sp>
    </p:spTree>
    <p:extLst>
      <p:ext uri="{BB962C8B-B14F-4D97-AF65-F5344CB8AC3E}">
        <p14:creationId xmlns:p14="http://schemas.microsoft.com/office/powerpoint/2010/main" val="69952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ACD16B-4706-4420-AD8C-A90FD38E5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https://dyngina.tistory.com/16</a:t>
            </a:r>
            <a:endParaRPr lang="en-US" altLang="ko-KR" dirty="0"/>
          </a:p>
          <a:p>
            <a:r>
              <a:rPr lang="en-US" altLang="ko-K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https://blog.naver.com/jh20s/221310955726</a:t>
            </a:r>
            <a:endParaRPr lang="en-US" altLang="ko-KR" dirty="0"/>
          </a:p>
          <a:p>
            <a:r>
              <a:rPr lang="en-US" altLang="ko-K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https://blog.naver.com/woaldlttek/221547743745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50689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73</TotalTime>
  <Words>139</Words>
  <Application>Microsoft Office PowerPoint</Application>
  <PresentationFormat>와이드스크린</PresentationFormat>
  <Paragraphs>41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Century Gothic</vt:lpstr>
      <vt:lpstr>Wingdings 3</vt:lpstr>
      <vt:lpstr>이온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진일</dc:creator>
  <cp:lastModifiedBy>김 진일</cp:lastModifiedBy>
  <cp:revision>7</cp:revision>
  <dcterms:created xsi:type="dcterms:W3CDTF">2019-07-03T04:37:36Z</dcterms:created>
  <dcterms:modified xsi:type="dcterms:W3CDTF">2019-07-03T05:51:36Z</dcterms:modified>
</cp:coreProperties>
</file>