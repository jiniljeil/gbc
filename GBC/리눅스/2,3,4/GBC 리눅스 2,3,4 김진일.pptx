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71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8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0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6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6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16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22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68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73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0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D22BA-CFCF-4816-8D03-C7706DF34F05}" type="datetimeFigureOut">
              <a:rPr lang="ko-KR" altLang="en-US" smtClean="0"/>
              <a:t>2019-06-24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1FDB9-3D3F-4125-AA16-A02566B67C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725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ir.tistory.com/101" TargetMode="External"/><Relationship Id="rId2" Type="http://schemas.openxmlformats.org/officeDocument/2006/relationships/hyperlink" Target="http://mclab.silla.ac.kr/lecture/201501/sm/sm_lecture_04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5CE5F-13F5-4A60-9C9A-5AEEBB9E8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19368"/>
            <a:ext cx="10515598" cy="32575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000" dirty="0">
                <a:solidFill>
                  <a:srgbClr val="FFFFFF"/>
                </a:solidFill>
              </a:rPr>
              <a:t>GBC </a:t>
            </a:r>
            <a:r>
              <a:rPr lang="ko-KR" altLang="en-US" sz="3000" dirty="0">
                <a:solidFill>
                  <a:srgbClr val="FFFFFF"/>
                </a:solidFill>
              </a:rPr>
              <a:t>리눅스 </a:t>
            </a:r>
            <a:r>
              <a:rPr lang="en-US" altLang="ko-KR" sz="3000" dirty="0">
                <a:solidFill>
                  <a:srgbClr val="FFFFFF"/>
                </a:solidFill>
              </a:rPr>
              <a:t>2,3,4</a:t>
            </a:r>
          </a:p>
          <a:p>
            <a:pPr marL="0" indent="0" algn="ctr">
              <a:buNone/>
            </a:pPr>
            <a:r>
              <a:rPr lang="en-US" altLang="ko-KR" sz="3000" dirty="0">
                <a:solidFill>
                  <a:srgbClr val="FFFFFF"/>
                </a:solidFill>
              </a:rPr>
              <a:t>21900195 </a:t>
            </a:r>
            <a:r>
              <a:rPr lang="ko-KR" altLang="en-US" sz="3000" dirty="0">
                <a:solidFill>
                  <a:srgbClr val="FFFFFF"/>
                </a:solidFill>
              </a:rPr>
              <a:t>김 진 일 </a:t>
            </a:r>
          </a:p>
        </p:txBody>
      </p:sp>
    </p:spTree>
    <p:extLst>
      <p:ext uri="{BB962C8B-B14F-4D97-AF65-F5344CB8AC3E}">
        <p14:creationId xmlns:p14="http://schemas.microsoft.com/office/powerpoint/2010/main" val="105107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AA0021-6681-4164-9B8F-8C53AB62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31179"/>
            <a:ext cx="10515598" cy="5245784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리눅스 파일의 종류와 특징</a:t>
            </a:r>
          </a:p>
          <a:p>
            <a:pPr marL="0" indent="0">
              <a:buNone/>
            </a:pPr>
            <a:r>
              <a:rPr lang="ko-KR" altLang="en-US" sz="2400" dirty="0">
                <a:solidFill>
                  <a:srgbClr val="FFFFFF"/>
                </a:solidFill>
              </a:rPr>
              <a:t>    </a:t>
            </a:r>
            <a:r>
              <a:rPr lang="ko-KR" altLang="en-US" sz="2400" dirty="0">
                <a:solidFill>
                  <a:srgbClr val="FFFF00"/>
                </a:solidFill>
              </a:rPr>
              <a:t>파일 </a:t>
            </a:r>
            <a:r>
              <a:rPr lang="ko-KR" altLang="en-US" sz="2400" dirty="0">
                <a:solidFill>
                  <a:srgbClr val="FFFFFF"/>
                </a:solidFill>
              </a:rPr>
              <a:t>  </a:t>
            </a:r>
            <a:endParaRPr lang="en-US" altLang="ko-KR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일반 파일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데이터를 저장하는데 주로 사용 </a:t>
            </a:r>
            <a:r>
              <a:rPr lang="en-US" altLang="ko-KR" sz="2000" dirty="0">
                <a:solidFill>
                  <a:srgbClr val="FFFFFF"/>
                </a:solidFill>
              </a:rPr>
              <a:t>(ex : </a:t>
            </a:r>
            <a:r>
              <a:rPr lang="ko-KR" altLang="en-US" sz="2000" dirty="0">
                <a:solidFill>
                  <a:srgbClr val="FFFFFF"/>
                </a:solidFill>
              </a:rPr>
              <a:t>각종 텍스트 파일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실행 파일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이미지 파일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        </a:t>
            </a:r>
            <a:r>
              <a:rPr lang="ko-KR" altLang="en-US" sz="2000" dirty="0">
                <a:solidFill>
                  <a:srgbClr val="FFFFFF"/>
                </a:solidFill>
              </a:rPr>
              <a:t>바이너리 파일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데이터가 바이너리 형태로 저장 </a:t>
            </a:r>
            <a:r>
              <a:rPr lang="en-US" altLang="ko-KR" sz="2000" dirty="0">
                <a:solidFill>
                  <a:srgbClr val="FFFFFF"/>
                </a:solidFill>
              </a:rPr>
              <a:t>(ex : </a:t>
            </a:r>
            <a:r>
              <a:rPr lang="ko-KR" altLang="en-US" sz="2000" dirty="0">
                <a:solidFill>
                  <a:srgbClr val="FFFFFF"/>
                </a:solidFill>
              </a:rPr>
              <a:t>실행 파일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이미지 파일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디렉터리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파일로 취급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디렉터리 </a:t>
            </a:r>
            <a:r>
              <a:rPr lang="en-US" altLang="ko-KR" sz="2000" dirty="0">
                <a:solidFill>
                  <a:srgbClr val="FFFFFF"/>
                </a:solidFill>
              </a:rPr>
              <a:t>= </a:t>
            </a:r>
            <a:r>
              <a:rPr lang="ko-KR" altLang="en-US" sz="2000" dirty="0">
                <a:solidFill>
                  <a:srgbClr val="FFFFFF"/>
                </a:solidFill>
              </a:rPr>
              <a:t>폴더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 err="1">
                <a:solidFill>
                  <a:srgbClr val="FFFF00"/>
                </a:solidFill>
              </a:rPr>
              <a:t>심벌릭</a:t>
            </a:r>
            <a:r>
              <a:rPr lang="ko-KR" altLang="en-US" sz="2000" dirty="0">
                <a:solidFill>
                  <a:srgbClr val="FFFF00"/>
                </a:solidFill>
              </a:rPr>
              <a:t> 링크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원본 파일을 대신하여 다른 이름으로 파일명을 지정한 것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         (</a:t>
            </a:r>
            <a:r>
              <a:rPr lang="ko-KR" altLang="en-US" sz="2000" dirty="0">
                <a:solidFill>
                  <a:srgbClr val="FFFFFF"/>
                </a:solidFill>
              </a:rPr>
              <a:t>윈도우 바로가기 파일과 비슷하다고 볼 수 있음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장치파일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 err="1">
                <a:solidFill>
                  <a:srgbClr val="FFFFFF"/>
                </a:solidFill>
              </a:rPr>
              <a:t>리눅스시스템에</a:t>
            </a:r>
            <a:r>
              <a:rPr lang="ko-KR" altLang="en-US" sz="2000" dirty="0">
                <a:solidFill>
                  <a:srgbClr val="FFFFFF"/>
                </a:solidFill>
              </a:rPr>
              <a:t> 부착된 장치들을 관리하기 위한 특수 파일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         (</a:t>
            </a:r>
            <a:r>
              <a:rPr lang="ko-KR" altLang="en-US" sz="2000" dirty="0">
                <a:solidFill>
                  <a:srgbClr val="FFFFFF"/>
                </a:solidFill>
              </a:rPr>
              <a:t>하드디스크나 </a:t>
            </a:r>
            <a:r>
              <a:rPr lang="ko-KR" altLang="en-US" sz="2000" dirty="0" err="1">
                <a:solidFill>
                  <a:srgbClr val="FFFFFF"/>
                </a:solidFill>
              </a:rPr>
              <a:t>기보드</a:t>
            </a:r>
            <a:r>
              <a:rPr lang="ko-KR" altLang="en-US" sz="2000" dirty="0">
                <a:solidFill>
                  <a:srgbClr val="FFFFFF"/>
                </a:solidFill>
              </a:rPr>
              <a:t> 같은 각종 장치도 파일로 취급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36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B8676-87FB-44AA-9FD3-13AA48DA5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72455"/>
            <a:ext cx="10515598" cy="5304507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디렉터리 계층 구조 </a:t>
            </a:r>
            <a:endParaRPr lang="en-US" altLang="ko-KR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수많은 파일을 관리하기 위해 디렉터리를 사용하며 파일을 효율적으로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관리하기 위해 디렉터리를 계층적으로 구성 </a:t>
            </a:r>
            <a:r>
              <a:rPr lang="en-US" altLang="ko-KR" sz="2000" dirty="0">
                <a:solidFill>
                  <a:srgbClr val="FFFFFF"/>
                </a:solidFill>
              </a:rPr>
              <a:t>= </a:t>
            </a:r>
            <a:r>
              <a:rPr lang="ko-KR" altLang="en-US" sz="2000" dirty="0">
                <a:solidFill>
                  <a:srgbClr val="FFFFFF"/>
                </a:solidFill>
              </a:rPr>
              <a:t>트리구조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상위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부모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</a:rPr>
              <a:t>디렉터리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자신을 포함하고 있는 상단의 디렉터리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(</a:t>
            </a:r>
            <a:r>
              <a:rPr lang="ko-KR" altLang="en-US" sz="2000" dirty="0">
                <a:solidFill>
                  <a:srgbClr val="FFFFFF"/>
                </a:solidFill>
              </a:rPr>
              <a:t>루트 디렉터리는 유일하게 상위 디렉터리가 없음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하위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서브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</a:rPr>
              <a:t>디렉터리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디렉터리의 아래에 있는 디렉터리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홈 디렉터리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자신의 홈 디렉터리 아래에 파일이나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서브 디렉터리를 생성하며 작업 가능 </a:t>
            </a:r>
            <a:r>
              <a:rPr lang="en-US" altLang="ko-KR" sz="2000" dirty="0">
                <a:solidFill>
                  <a:srgbClr val="FFFFFF"/>
                </a:solidFill>
              </a:rPr>
              <a:t>(~ </a:t>
            </a:r>
            <a:r>
              <a:rPr lang="ko-KR" altLang="en-US" sz="2000" dirty="0">
                <a:solidFill>
                  <a:srgbClr val="FFFFFF"/>
                </a:solidFill>
              </a:rPr>
              <a:t>사용자 이름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ë¦¬ëì¤ ëë í ë¦¬ êµ¬ì¡°ì ëí ì´ë¯¸ì§ ê²ìê²°ê³¼">
            <a:extLst>
              <a:ext uri="{FF2B5EF4-FFF2-40B4-BE49-F238E27FC236}">
                <a16:creationId xmlns:a16="http://schemas.microsoft.com/office/drawing/2014/main" id="{057E7DBE-DEC7-4761-BF63-0CD85C84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762" y="2865213"/>
            <a:ext cx="4321992" cy="288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36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02A29-CDB3-4454-AE69-EC928F07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0177"/>
            <a:ext cx="10515598" cy="5396786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절대 경로명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항상 루트 </a:t>
            </a:r>
            <a:r>
              <a:rPr lang="en-US" altLang="ko-KR" sz="2000" dirty="0">
                <a:solidFill>
                  <a:srgbClr val="FFFFFF"/>
                </a:solidFill>
              </a:rPr>
              <a:t>(/)</a:t>
            </a:r>
            <a:r>
              <a:rPr lang="ko-KR" altLang="en-US" sz="2000" dirty="0">
                <a:solidFill>
                  <a:srgbClr val="FFFFFF"/>
                </a:solidFill>
              </a:rPr>
              <a:t>디렉터리부터 시작해서 특정 파일이나 디렉터리의 위치까지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이동하면서 거치게 되는 모든 중간 디렉터리의 이름을 표시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상대 경로명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현재 디렉터리를 기준으로 시작해서 서브 디렉터리의 이름을 추가해서 표시</a:t>
            </a:r>
          </a:p>
          <a:p>
            <a:endParaRPr lang="en-US" altLang="ko-KR" dirty="0">
              <a:solidFill>
                <a:srgbClr val="FFFF00"/>
              </a:solidFill>
            </a:endParaRPr>
          </a:p>
          <a:p>
            <a:r>
              <a:rPr lang="ko-KR" altLang="en-US" dirty="0">
                <a:solidFill>
                  <a:srgbClr val="FFFF00"/>
                </a:solidFill>
              </a:rPr>
              <a:t>디렉터리 이동 및 확인 </a:t>
            </a:r>
            <a:endParaRPr lang="en-US" altLang="ko-KR" dirty="0">
              <a:solidFill>
                <a:srgbClr val="FFFF00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현재 디렉터리 확인하는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pwd</a:t>
            </a:r>
            <a:r>
              <a:rPr lang="en-US" altLang="ko-KR" sz="2000" dirty="0">
                <a:solidFill>
                  <a:srgbClr val="FFFFFF"/>
                </a:solidFill>
              </a:rPr>
              <a:t> (print working directory)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디렉터리 이동하기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cd</a:t>
            </a:r>
            <a:r>
              <a:rPr lang="en-US" altLang="ko-KR" sz="2000" dirty="0">
                <a:solidFill>
                  <a:srgbClr val="FFFFFF"/>
                </a:solidFill>
              </a:rPr>
              <a:t> (change directory) [</a:t>
            </a:r>
            <a:r>
              <a:rPr lang="ko-KR" altLang="en-US" sz="2000" dirty="0">
                <a:solidFill>
                  <a:srgbClr val="FFFFFF"/>
                </a:solidFill>
              </a:rPr>
              <a:t>디렉터리명</a:t>
            </a:r>
            <a:r>
              <a:rPr lang="en-US" altLang="ko-KR" sz="2000" dirty="0">
                <a:solidFill>
                  <a:srgbClr val="FFFFFF"/>
                </a:solidFill>
              </a:rPr>
              <a:t>] 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홈 디렉터리로 이동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cd ~ , cd /home/</a:t>
            </a:r>
            <a:r>
              <a:rPr lang="ko-KR" altLang="en-US" sz="2000" dirty="0">
                <a:solidFill>
                  <a:srgbClr val="FFFF00"/>
                </a:solidFill>
              </a:rPr>
              <a:t>사용자 이름 </a:t>
            </a:r>
            <a:r>
              <a:rPr lang="ko-KR" altLang="en-US" sz="2000" dirty="0">
                <a:solidFill>
                  <a:srgbClr val="FFFFFF"/>
                </a:solidFill>
              </a:rPr>
              <a:t>등등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21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00974C-3B61-4573-9D7D-FC7D1C958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30511"/>
            <a:ext cx="10515598" cy="5346452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디렉터리 내용 출력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ls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[</a:t>
            </a:r>
            <a:r>
              <a:rPr lang="ko-KR" altLang="en-US" sz="2000" dirty="0">
                <a:solidFill>
                  <a:srgbClr val="FFFF00"/>
                </a:solidFill>
              </a:rPr>
              <a:t>파일 또는 디렉터리명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-a : </a:t>
            </a:r>
            <a:r>
              <a:rPr lang="ko-KR" altLang="en-US" sz="2000" dirty="0">
                <a:solidFill>
                  <a:srgbClr val="FFFFFF"/>
                </a:solidFill>
              </a:rPr>
              <a:t>숨김 파일을 포함하여 모든 파일 목록을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-d : </a:t>
            </a:r>
            <a:r>
              <a:rPr lang="ko-KR" altLang="en-US" sz="2000" dirty="0">
                <a:solidFill>
                  <a:srgbClr val="FFFFFF"/>
                </a:solidFill>
              </a:rPr>
              <a:t>지정한 디렉터리 자체의 정보를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-l : </a:t>
            </a:r>
            <a:r>
              <a:rPr lang="ko-KR" altLang="en-US" sz="2000" dirty="0">
                <a:solidFill>
                  <a:srgbClr val="FFFFFF"/>
                </a:solidFill>
              </a:rPr>
              <a:t>파일의 상세 정보를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-R : </a:t>
            </a:r>
            <a:r>
              <a:rPr lang="ko-KR" altLang="en-US" sz="2000" dirty="0">
                <a:solidFill>
                  <a:srgbClr val="FFFFFF"/>
                </a:solidFill>
              </a:rPr>
              <a:t>하위 디렉터리 목록까지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-F : </a:t>
            </a:r>
            <a:r>
              <a:rPr lang="ko-KR" altLang="en-US" sz="2000" dirty="0">
                <a:solidFill>
                  <a:srgbClr val="FFFFFF"/>
                </a:solidFill>
              </a:rPr>
              <a:t>파일을 구분하는 기호가 표시된 상태로 출력  등등 존재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파일 이름 뒤에   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ko-KR" altLang="en-US" sz="2000" dirty="0">
                <a:solidFill>
                  <a:srgbClr val="FFFFFF"/>
                </a:solidFill>
              </a:rPr>
              <a:t>이 붙으면 </a:t>
            </a:r>
            <a:r>
              <a:rPr lang="ko-KR" altLang="en-US" sz="2000" dirty="0">
                <a:solidFill>
                  <a:srgbClr val="FFFF00"/>
                </a:solidFill>
              </a:rPr>
              <a:t>디렉터리 </a:t>
            </a: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@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ko-KR" altLang="en-US" sz="2000" dirty="0" err="1">
                <a:solidFill>
                  <a:srgbClr val="FFFF00"/>
                </a:solidFill>
              </a:rPr>
              <a:t>심벌릭</a:t>
            </a:r>
            <a:r>
              <a:rPr lang="ko-KR" altLang="en-US" sz="2000" dirty="0">
                <a:solidFill>
                  <a:srgbClr val="FFFF00"/>
                </a:solidFill>
              </a:rPr>
              <a:t> 링크   *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ko-KR" altLang="en-US" sz="2000" dirty="0">
                <a:solidFill>
                  <a:srgbClr val="FFFF00"/>
                </a:solidFill>
              </a:rPr>
              <a:t>실행 파일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아무 표시도 없으면 일반 파일    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ls </a:t>
            </a:r>
            <a:r>
              <a:rPr lang="ko-KR" altLang="en-US" sz="2000" dirty="0">
                <a:solidFill>
                  <a:srgbClr val="FFFFFF"/>
                </a:solidFill>
              </a:rPr>
              <a:t>에 대한 </a:t>
            </a:r>
            <a:r>
              <a:rPr lang="ko-KR" altLang="en-US" sz="2000" dirty="0" err="1">
                <a:solidFill>
                  <a:srgbClr val="FFFFFF"/>
                </a:solidFill>
              </a:rPr>
              <a:t>심벌릭</a:t>
            </a:r>
            <a:r>
              <a:rPr lang="ko-KR" altLang="en-US" sz="2000" dirty="0">
                <a:solidFill>
                  <a:srgbClr val="FFFFFF"/>
                </a:solidFill>
              </a:rPr>
              <a:t> 링크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dir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ls -l </a:t>
            </a:r>
            <a:r>
              <a:rPr lang="ko-KR" altLang="en-US" sz="2000" dirty="0">
                <a:solidFill>
                  <a:srgbClr val="FFFFFF"/>
                </a:solidFill>
              </a:rPr>
              <a:t>에 대한 </a:t>
            </a:r>
            <a:r>
              <a:rPr lang="ko-KR" altLang="en-US" sz="2000" dirty="0" err="1">
                <a:solidFill>
                  <a:srgbClr val="FFFFFF"/>
                </a:solidFill>
              </a:rPr>
              <a:t>심벌릭</a:t>
            </a:r>
            <a:r>
              <a:rPr lang="ko-KR" altLang="en-US" sz="2000" dirty="0">
                <a:solidFill>
                  <a:srgbClr val="FFFFFF"/>
                </a:solidFill>
              </a:rPr>
              <a:t> 링크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vdir</a:t>
            </a:r>
            <a:endParaRPr lang="ko-KR" altLang="en-US" sz="2000" dirty="0">
              <a:solidFill>
                <a:srgbClr val="FFFF00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5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2B0B5-DBA6-4492-B80B-B9408853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47289"/>
            <a:ext cx="10515598" cy="5329674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디렉터리 생성 및 삭제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디렉터리 </a:t>
            </a:r>
            <a:r>
              <a:rPr lang="ko-KR" altLang="en-US" sz="2000" dirty="0">
                <a:solidFill>
                  <a:srgbClr val="FFFF00"/>
                </a:solidFill>
              </a:rPr>
              <a:t>생성</a:t>
            </a:r>
            <a:r>
              <a:rPr lang="ko-KR" altLang="en-US" sz="2000" dirty="0">
                <a:solidFill>
                  <a:srgbClr val="FFFFFF"/>
                </a:solidFill>
              </a:rPr>
              <a:t>하는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mkdir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-p : </a:t>
            </a:r>
            <a:r>
              <a:rPr lang="ko-KR" altLang="en-US" sz="2000" dirty="0">
                <a:solidFill>
                  <a:srgbClr val="FFFFFF"/>
                </a:solidFill>
              </a:rPr>
              <a:t>중간 디렉터리 자동으로 만들기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만들고 난 후 </a:t>
            </a:r>
            <a:r>
              <a:rPr lang="en-US" altLang="ko-KR" sz="2000" dirty="0">
                <a:solidFill>
                  <a:srgbClr val="FFFF00"/>
                </a:solidFill>
              </a:rPr>
              <a:t>ls -R </a:t>
            </a:r>
            <a:r>
              <a:rPr lang="ko-KR" altLang="en-US" sz="2000" dirty="0">
                <a:solidFill>
                  <a:srgbClr val="FFFF00"/>
                </a:solidFill>
              </a:rPr>
              <a:t>디렉터리명 </a:t>
            </a:r>
            <a:r>
              <a:rPr lang="en-US" altLang="ko-KR" sz="2000" dirty="0">
                <a:solidFill>
                  <a:srgbClr val="FFFF00"/>
                </a:solidFill>
              </a:rPr>
              <a:t>(</a:t>
            </a:r>
            <a:r>
              <a:rPr lang="ko-KR" altLang="en-US" sz="2000" dirty="0">
                <a:solidFill>
                  <a:srgbClr val="FFFF00"/>
                </a:solidFill>
              </a:rPr>
              <a:t>명령어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입력하여 확인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디렉터리 </a:t>
            </a:r>
            <a:r>
              <a:rPr lang="ko-KR" altLang="en-US" sz="2000" dirty="0">
                <a:solidFill>
                  <a:srgbClr val="FFFF00"/>
                </a:solidFill>
              </a:rPr>
              <a:t>삭제</a:t>
            </a:r>
            <a:r>
              <a:rPr lang="ko-KR" altLang="en-US" sz="2000" dirty="0">
                <a:solidFill>
                  <a:srgbClr val="FFFFFF"/>
                </a:solidFill>
              </a:rPr>
              <a:t>하는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00"/>
                </a:solidFill>
              </a:rPr>
              <a:t>rmdir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단 해당 경로에 가서 삭제 가능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</a:p>
          <a:p>
            <a:r>
              <a:rPr lang="ko-KR" altLang="en-US" sz="2400" dirty="0">
                <a:solidFill>
                  <a:srgbClr val="FFFF00"/>
                </a:solidFill>
              </a:rPr>
              <a:t>다양한 명령을 통한 파일의 내용 확인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텍스트 파일의 내용을 출력하는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cat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파일명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 옵션 </a:t>
            </a:r>
            <a:r>
              <a:rPr lang="en-US" altLang="ko-KR" sz="2000" dirty="0">
                <a:solidFill>
                  <a:srgbClr val="FFFFFF"/>
                </a:solidFill>
              </a:rPr>
              <a:t>-n : </a:t>
            </a:r>
            <a:r>
              <a:rPr lang="ko-KR" altLang="en-US" sz="2000" dirty="0">
                <a:solidFill>
                  <a:srgbClr val="FFFFFF"/>
                </a:solidFill>
              </a:rPr>
              <a:t>행 번호를 붙여서 출력 </a:t>
            </a:r>
          </a:p>
        </p:txBody>
      </p:sp>
    </p:spTree>
    <p:extLst>
      <p:ext uri="{BB962C8B-B14F-4D97-AF65-F5344CB8AC3E}">
        <p14:creationId xmlns:p14="http://schemas.microsoft.com/office/powerpoint/2010/main" val="11659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F54B40-65F0-4299-9A09-67865EC34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8565"/>
            <a:ext cx="10515598" cy="5388397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화면 단위로 파일 내용을 출력해주는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more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옵션 </a:t>
            </a:r>
            <a:r>
              <a:rPr lang="en-US" altLang="ko-KR" sz="2000" dirty="0">
                <a:solidFill>
                  <a:srgbClr val="FFFFFF"/>
                </a:solidFill>
              </a:rPr>
              <a:t>+</a:t>
            </a:r>
            <a:r>
              <a:rPr lang="ko-KR" altLang="en-US" sz="2000" dirty="0">
                <a:solidFill>
                  <a:srgbClr val="FFFFFF"/>
                </a:solidFill>
              </a:rPr>
              <a:t>행 번호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출력을 시작할 행 번호를 지정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more </a:t>
            </a:r>
            <a:r>
              <a:rPr lang="ko-KR" altLang="en-US" sz="2000" dirty="0">
                <a:solidFill>
                  <a:srgbClr val="FFFFFF"/>
                </a:solidFill>
              </a:rPr>
              <a:t>명령을 종료하는 키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q </a:t>
            </a:r>
            <a:r>
              <a:rPr lang="ko-KR" altLang="en-US" sz="2000" dirty="0">
                <a:solidFill>
                  <a:srgbClr val="FFFF00"/>
                </a:solidFill>
              </a:rPr>
              <a:t>키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파일 내용을 앞뒤로 스크롤하며 이동할 수 있게 하는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less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 뒷부분 출력하는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tail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 </a:t>
            </a:r>
            <a:r>
              <a:rPr lang="ko-KR" altLang="en-US" sz="2000" dirty="0">
                <a:solidFill>
                  <a:srgbClr val="FFFF00"/>
                </a:solidFill>
              </a:rPr>
              <a:t>파일명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+</a:t>
            </a:r>
            <a:r>
              <a:rPr lang="ko-KR" altLang="en-US" sz="2000" dirty="0">
                <a:solidFill>
                  <a:srgbClr val="FFFFFF"/>
                </a:solidFill>
              </a:rPr>
              <a:t>행 번호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지정한 행부터 끝까지 출력함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-</a:t>
            </a:r>
            <a:r>
              <a:rPr lang="ko-KR" altLang="en-US" sz="2000" dirty="0">
                <a:solidFill>
                  <a:srgbClr val="FFFFFF"/>
                </a:solidFill>
              </a:rPr>
              <a:t>숫자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화면에 출력할 행의 수를 지정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기본 값은 </a:t>
            </a:r>
            <a:r>
              <a:rPr lang="en-US" altLang="ko-KR" sz="2000" dirty="0">
                <a:solidFill>
                  <a:srgbClr val="FFFFFF"/>
                </a:solidFill>
              </a:rPr>
              <a:t>10)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-f : </a:t>
            </a:r>
            <a:r>
              <a:rPr lang="ko-KR" altLang="en-US" sz="2000" dirty="0">
                <a:solidFill>
                  <a:srgbClr val="FFFFFF"/>
                </a:solidFill>
              </a:rPr>
              <a:t>파일 출력이 종료되지 않고 주기적으로 계속 출력</a:t>
            </a:r>
          </a:p>
        </p:txBody>
      </p:sp>
    </p:spTree>
    <p:extLst>
      <p:ext uri="{BB962C8B-B14F-4D97-AF65-F5344CB8AC3E}">
        <p14:creationId xmlns:p14="http://schemas.microsoft.com/office/powerpoint/2010/main" val="253085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B09AC0-274F-4DA6-9E3C-D351FC77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72455"/>
            <a:ext cx="10515598" cy="53045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400" dirty="0">
                <a:solidFill>
                  <a:srgbClr val="FFFF00"/>
                </a:solidFill>
              </a:rPr>
              <a:t>파일 복사</a:t>
            </a:r>
            <a:r>
              <a:rPr lang="en-US" altLang="ko-KR" sz="2400" dirty="0">
                <a:solidFill>
                  <a:srgbClr val="FFFF00"/>
                </a:solidFill>
              </a:rPr>
              <a:t>, </a:t>
            </a:r>
            <a:r>
              <a:rPr lang="ko-KR" altLang="en-US" sz="2400" dirty="0">
                <a:solidFill>
                  <a:srgbClr val="FFFF00"/>
                </a:solidFill>
              </a:rPr>
              <a:t>이동</a:t>
            </a:r>
            <a:r>
              <a:rPr lang="en-US" altLang="ko-KR" sz="2400" dirty="0">
                <a:solidFill>
                  <a:srgbClr val="FFFF00"/>
                </a:solidFill>
              </a:rPr>
              <a:t>, </a:t>
            </a:r>
            <a:r>
              <a:rPr lang="ko-KR" altLang="en-US" sz="2400" dirty="0">
                <a:solidFill>
                  <a:srgbClr val="FFFF00"/>
                </a:solidFill>
              </a:rPr>
              <a:t>삭제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파일 복사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cp (copy)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1/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r>
              <a:rPr lang="en-US" altLang="ko-KR" sz="2000" dirty="0">
                <a:solidFill>
                  <a:srgbClr val="FFFF00"/>
                </a:solidFill>
              </a:rPr>
              <a:t>1 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2/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r>
              <a:rPr lang="en-US" altLang="ko-KR" sz="2000" dirty="0">
                <a:solidFill>
                  <a:srgbClr val="FFFF00"/>
                </a:solidFill>
              </a:rPr>
              <a:t>2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대화식 복사 방법으로 파일명</a:t>
            </a:r>
            <a:r>
              <a:rPr lang="en-US" altLang="ko-KR" sz="2000" dirty="0">
                <a:solidFill>
                  <a:srgbClr val="FFFFFF"/>
                </a:solidFill>
              </a:rPr>
              <a:t>2</a:t>
            </a:r>
            <a:r>
              <a:rPr lang="ko-KR" altLang="en-US" sz="2000" dirty="0">
                <a:solidFill>
                  <a:srgbClr val="FFFFFF"/>
                </a:solidFill>
              </a:rPr>
              <a:t>가 이미 존재할 경우 덮어쓸 것인지 물어본다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-r : </a:t>
            </a:r>
            <a:r>
              <a:rPr lang="ko-KR" altLang="en-US" sz="2000" dirty="0">
                <a:solidFill>
                  <a:srgbClr val="FFFFFF"/>
                </a:solidFill>
              </a:rPr>
              <a:t>디렉터리를 복사할 때 지정한다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ex ) cp file1 file2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 이동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mv (move)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1/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r>
              <a:rPr lang="en-US" altLang="ko-KR" sz="2000" dirty="0">
                <a:solidFill>
                  <a:srgbClr val="FFFF00"/>
                </a:solidFill>
              </a:rPr>
              <a:t>1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2/</a:t>
            </a:r>
            <a:r>
              <a:rPr lang="ko-KR" altLang="en-US" sz="2000" dirty="0">
                <a:solidFill>
                  <a:srgbClr val="FFFF00"/>
                </a:solidFill>
              </a:rPr>
              <a:t>디렉터리명</a:t>
            </a:r>
            <a:r>
              <a:rPr lang="en-US" altLang="ko-KR" sz="2000" dirty="0">
                <a:solidFill>
                  <a:srgbClr val="FFFF00"/>
                </a:solidFill>
              </a:rPr>
              <a:t>2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파일명</a:t>
            </a:r>
            <a:r>
              <a:rPr lang="en-US" altLang="ko-KR" sz="2000" dirty="0">
                <a:solidFill>
                  <a:srgbClr val="FFFFFF"/>
                </a:solidFill>
              </a:rPr>
              <a:t>2/</a:t>
            </a:r>
            <a:r>
              <a:rPr lang="ko-KR" altLang="en-US" sz="2000" dirty="0">
                <a:solidFill>
                  <a:srgbClr val="FFFFFF"/>
                </a:solidFill>
              </a:rPr>
              <a:t>디렉터리명</a:t>
            </a:r>
            <a:r>
              <a:rPr lang="en-US" altLang="ko-KR" sz="2000" dirty="0">
                <a:solidFill>
                  <a:srgbClr val="FFFFFF"/>
                </a:solidFill>
              </a:rPr>
              <a:t>2</a:t>
            </a:r>
            <a:r>
              <a:rPr lang="ko-KR" altLang="en-US" sz="2000" dirty="0">
                <a:solidFill>
                  <a:srgbClr val="FFFFFF"/>
                </a:solidFill>
              </a:rPr>
              <a:t>가 존재하면 덮어쓸 것인지 물어본다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ex ) mv file1 file2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 삭제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rm (remove)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ko-KR" altLang="en-US" sz="2000" dirty="0">
                <a:solidFill>
                  <a:srgbClr val="FFFF00"/>
                </a:solidFill>
              </a:rPr>
              <a:t>디렉터리명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지정한 파일을 삭제할 것인지 대화식으로 확인한다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-r : </a:t>
            </a:r>
            <a:r>
              <a:rPr lang="ko-KR" altLang="en-US" sz="2000" dirty="0">
                <a:solidFill>
                  <a:srgbClr val="FFFFFF"/>
                </a:solidFill>
              </a:rPr>
              <a:t>지정한 디렉터리를 삭제한다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ex) rm file , rm -r </a:t>
            </a:r>
            <a:r>
              <a:rPr lang="en-US" altLang="ko-KR" sz="2000" dirty="0" err="1">
                <a:solidFill>
                  <a:srgbClr val="FFFFFF"/>
                </a:solidFill>
              </a:rPr>
              <a:t>dir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714CE-BE1A-4EB9-9772-9ADD05A8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45953"/>
            <a:ext cx="10515598" cy="5531010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파일 링크의 특징</a:t>
            </a:r>
            <a:r>
              <a:rPr lang="en-US" altLang="ko-KR" sz="2400" dirty="0">
                <a:solidFill>
                  <a:srgbClr val="FFFF00"/>
                </a:solidFill>
              </a:rPr>
              <a:t>, </a:t>
            </a:r>
            <a:r>
              <a:rPr lang="ko-KR" altLang="en-US" sz="2400" dirty="0">
                <a:solidFill>
                  <a:srgbClr val="FFFF00"/>
                </a:solidFill>
              </a:rPr>
              <a:t>하드 링크와 </a:t>
            </a:r>
            <a:r>
              <a:rPr lang="ko-KR" altLang="en-US" sz="2400" dirty="0" err="1">
                <a:solidFill>
                  <a:srgbClr val="FFFF00"/>
                </a:solidFill>
              </a:rPr>
              <a:t>심벌릭</a:t>
            </a:r>
            <a:r>
              <a:rPr lang="ko-KR" altLang="en-US" sz="2400" dirty="0">
                <a:solidFill>
                  <a:srgbClr val="FFFF00"/>
                </a:solidFill>
              </a:rPr>
              <a:t> 링크 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파일 링크 생성 명령어 </a:t>
            </a:r>
            <a:r>
              <a:rPr lang="en-US" altLang="ko-KR" sz="2000" dirty="0">
                <a:solidFill>
                  <a:srgbClr val="FFFFFF"/>
                </a:solidFill>
              </a:rPr>
              <a:t>:  </a:t>
            </a:r>
            <a:r>
              <a:rPr lang="en-US" altLang="ko-KR" sz="2000" dirty="0">
                <a:solidFill>
                  <a:srgbClr val="FFFF00"/>
                </a:solidFill>
              </a:rPr>
              <a:t>ln 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원본파일명 링크파일명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-s : </a:t>
            </a:r>
            <a:r>
              <a:rPr lang="ko-KR" altLang="en-US" sz="2000" dirty="0" err="1">
                <a:solidFill>
                  <a:srgbClr val="FFFFFF"/>
                </a:solidFill>
              </a:rPr>
              <a:t>삼벌릭</a:t>
            </a:r>
            <a:r>
              <a:rPr lang="ko-KR" altLang="en-US" sz="2000" dirty="0">
                <a:solidFill>
                  <a:srgbClr val="FFFFFF"/>
                </a:solidFill>
              </a:rPr>
              <a:t> 링크 파일을 생성함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ex) ln -s data1 data1.sl 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 err="1">
                <a:solidFill>
                  <a:srgbClr val="FFFF00"/>
                </a:solidFill>
              </a:rPr>
              <a:t>심벌릭</a:t>
            </a:r>
            <a:r>
              <a:rPr lang="ko-KR" altLang="en-US" sz="2000" dirty="0">
                <a:solidFill>
                  <a:srgbClr val="FFFF00"/>
                </a:solidFill>
              </a:rPr>
              <a:t> 링크와 하드 링크의 차이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파일의 종류가 </a:t>
            </a:r>
            <a:r>
              <a:rPr lang="en-US" altLang="ko-KR" sz="2000" dirty="0">
                <a:solidFill>
                  <a:srgbClr val="FFFFFF"/>
                </a:solidFill>
              </a:rPr>
              <a:t>l(</a:t>
            </a:r>
            <a:r>
              <a:rPr lang="ko-KR" altLang="en-US" sz="2000" dirty="0">
                <a:solidFill>
                  <a:srgbClr val="FFFFFF"/>
                </a:solidFill>
              </a:rPr>
              <a:t>소문자 </a:t>
            </a:r>
            <a:r>
              <a:rPr lang="en-US" altLang="ko-KR" sz="2000" dirty="0">
                <a:solidFill>
                  <a:srgbClr val="FFFFFF"/>
                </a:solidFill>
              </a:rPr>
              <a:t>L)</a:t>
            </a:r>
            <a:r>
              <a:rPr lang="ko-KR" altLang="en-US" sz="2000" dirty="0">
                <a:solidFill>
                  <a:srgbClr val="FFFFFF"/>
                </a:solidFill>
              </a:rPr>
              <a:t>로 표시된다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하드 링크의 개수가 하나이다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즉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원본 파일에 이름을 추가하는 것이 아니다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3. </a:t>
            </a:r>
            <a:r>
              <a:rPr lang="ko-KR" altLang="en-US" sz="2000" dirty="0">
                <a:solidFill>
                  <a:srgbClr val="FFFFFF"/>
                </a:solidFill>
              </a:rPr>
              <a:t>파일 이름 뒤에 원본 파일의 이름이 표시된다</a:t>
            </a:r>
            <a:r>
              <a:rPr lang="en-US" altLang="ko-KR" sz="2000" dirty="0">
                <a:solidFill>
                  <a:srgbClr val="FFFFFF"/>
                </a:solidFill>
              </a:rPr>
              <a:t>.(-&gt;data1).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4. </a:t>
            </a:r>
            <a:r>
              <a:rPr lang="en-US" altLang="ko-KR" sz="2000" dirty="0" err="1">
                <a:solidFill>
                  <a:srgbClr val="FFFFFF"/>
                </a:solidFill>
              </a:rPr>
              <a:t>inode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번호가 원본 파일과 다르다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즉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원본 파일과 </a:t>
            </a:r>
            <a:r>
              <a:rPr lang="ko-KR" altLang="en-US" sz="2000" dirty="0" err="1">
                <a:solidFill>
                  <a:srgbClr val="FFFFFF"/>
                </a:solidFill>
              </a:rPr>
              <a:t>심벌릭</a:t>
            </a:r>
            <a:r>
              <a:rPr lang="ko-KR" altLang="en-US" sz="2000" dirty="0">
                <a:solidFill>
                  <a:srgbClr val="FFFFFF"/>
                </a:solidFill>
              </a:rPr>
              <a:t> 링크 파일은 별개의 파일임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심벌릭</a:t>
            </a:r>
            <a:r>
              <a:rPr lang="ko-KR" altLang="en-US" sz="2000" dirty="0">
                <a:solidFill>
                  <a:srgbClr val="FFFF00"/>
                </a:solidFill>
              </a:rPr>
              <a:t> 링크의 특징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 err="1">
                <a:solidFill>
                  <a:srgbClr val="FFFFFF"/>
                </a:solidFill>
              </a:rPr>
              <a:t>심벌릭</a:t>
            </a:r>
            <a:r>
              <a:rPr lang="ko-KR" altLang="en-US" sz="2000" dirty="0">
                <a:solidFill>
                  <a:srgbClr val="FFFFFF"/>
                </a:solidFill>
              </a:rPr>
              <a:t> 링크의 내용을 출력하면 원본 파일의 내용이 출력됨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68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DE740-3027-4A28-AF76-69BDD463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9842"/>
            <a:ext cx="10515598" cy="5738069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파일 내용과 위치 검색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빈 파일 만들기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수정 시간 변경하기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touch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파일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옵션 </a:t>
            </a:r>
            <a:r>
              <a:rPr lang="en-US" altLang="ko-KR" sz="2000" dirty="0">
                <a:solidFill>
                  <a:srgbClr val="FFFFFF"/>
                </a:solidFill>
              </a:rPr>
              <a:t>-a : </a:t>
            </a:r>
            <a:r>
              <a:rPr lang="ko-KR" altLang="en-US" sz="2000" dirty="0">
                <a:solidFill>
                  <a:srgbClr val="FFFFFF"/>
                </a:solidFill>
              </a:rPr>
              <a:t>접근 시간만 변경한다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-m : </a:t>
            </a:r>
            <a:r>
              <a:rPr lang="ko-KR" altLang="en-US" sz="2000" dirty="0">
                <a:solidFill>
                  <a:srgbClr val="FFFFFF"/>
                </a:solidFill>
              </a:rPr>
              <a:t>수정 시간만 변경한다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- t : </a:t>
            </a:r>
            <a:r>
              <a:rPr lang="ko-KR" altLang="en-US" sz="2000" dirty="0">
                <a:solidFill>
                  <a:srgbClr val="FFFFFF"/>
                </a:solidFill>
              </a:rPr>
              <a:t>시간을 직접 입력한다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현재 시각을 확인하는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date 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파일 내용 검색하기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grep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  <a:r>
              <a:rPr lang="ko-KR" altLang="en-US" sz="2000" dirty="0">
                <a:solidFill>
                  <a:srgbClr val="FFFF00"/>
                </a:solidFill>
              </a:rPr>
              <a:t>패턴 </a:t>
            </a:r>
            <a:r>
              <a:rPr lang="en-US" altLang="ko-KR" sz="2000" dirty="0">
                <a:solidFill>
                  <a:srgbClr val="FFFF00"/>
                </a:solidFill>
              </a:rPr>
              <a:t>[</a:t>
            </a:r>
            <a:r>
              <a:rPr lang="ko-KR" altLang="en-US" sz="2000" dirty="0">
                <a:solidFill>
                  <a:srgbClr val="FFFF00"/>
                </a:solidFill>
              </a:rPr>
              <a:t>파일명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대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  <a:r>
              <a:rPr lang="ko-KR" altLang="en-US" sz="2000" dirty="0">
                <a:solidFill>
                  <a:srgbClr val="FFFFFF"/>
                </a:solidFill>
              </a:rPr>
              <a:t>소문자를 모두 검색 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-l : </a:t>
            </a:r>
            <a:r>
              <a:rPr lang="ko-KR" altLang="en-US" sz="2000" dirty="0">
                <a:solidFill>
                  <a:srgbClr val="FFFFFF"/>
                </a:solidFill>
              </a:rPr>
              <a:t>해당 패턴을 포함하는 파일 이름을 출력함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-n : </a:t>
            </a:r>
            <a:r>
              <a:rPr lang="ko-KR" altLang="en-US" sz="2000" dirty="0">
                <a:solidFill>
                  <a:srgbClr val="FFFFFF"/>
                </a:solidFill>
              </a:rPr>
              <a:t>행 번호를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ex ) grep root 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/passwd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grep -n </a:t>
            </a:r>
            <a:r>
              <a:rPr lang="en-US" altLang="ko-KR" sz="2000" dirty="0" err="1">
                <a:solidFill>
                  <a:srgbClr val="FFFFFF"/>
                </a:solidFill>
              </a:rPr>
              <a:t>unix</a:t>
            </a:r>
            <a:r>
              <a:rPr lang="en-US" altLang="ko-KR" sz="2000" dirty="0">
                <a:solidFill>
                  <a:srgbClr val="FFFFFF"/>
                </a:solidFill>
              </a:rPr>
              <a:t> ~/",txt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grep -l hello ".c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61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53CEE-F2C5-4AB4-95CA-30051F43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8565"/>
            <a:ext cx="10515598" cy="5388397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 파일 찾기 명령어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find </a:t>
            </a:r>
            <a:r>
              <a:rPr lang="ko-KR" altLang="en-US" sz="2000" dirty="0">
                <a:solidFill>
                  <a:srgbClr val="FFFF00"/>
                </a:solidFill>
              </a:rPr>
              <a:t>경로 검색 조건 </a:t>
            </a:r>
            <a:r>
              <a:rPr lang="en-US" altLang="ko-KR" sz="2000" dirty="0">
                <a:solidFill>
                  <a:srgbClr val="FFFF00"/>
                </a:solidFill>
              </a:rPr>
              <a:t>[</a:t>
            </a:r>
            <a:r>
              <a:rPr lang="ko-KR" altLang="en-US" sz="2000" dirty="0">
                <a:solidFill>
                  <a:srgbClr val="FFFF00"/>
                </a:solidFill>
              </a:rPr>
              <a:t>동작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-name </a:t>
            </a:r>
            <a:r>
              <a:rPr lang="ko-KR" altLang="en-US" sz="2000" dirty="0">
                <a:solidFill>
                  <a:srgbClr val="FFFFFF"/>
                </a:solidFill>
              </a:rPr>
              <a:t>파일이름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파일 이름으로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-type </a:t>
            </a:r>
            <a:r>
              <a:rPr lang="ko-KR" altLang="en-US" sz="2000" dirty="0">
                <a:solidFill>
                  <a:srgbClr val="FFFFFF"/>
                </a:solidFill>
              </a:rPr>
              <a:t>파일 종류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파일의 종류로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-user </a:t>
            </a:r>
            <a:r>
              <a:rPr lang="en-US" altLang="ko-KR" sz="2000" dirty="0" err="1">
                <a:solidFill>
                  <a:srgbClr val="FFFFFF"/>
                </a:solidFill>
              </a:rPr>
              <a:t>loginID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지정한 사용자가 소유한 모든 파일을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-perm </a:t>
            </a:r>
            <a:r>
              <a:rPr lang="ko-KR" altLang="en-US" sz="2000" dirty="0">
                <a:solidFill>
                  <a:srgbClr val="FFFFFF"/>
                </a:solidFill>
              </a:rPr>
              <a:t>접근 전환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지정한 사용 권한과 일치하는 파일을 검색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동작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-exec </a:t>
            </a:r>
            <a:r>
              <a:rPr lang="ko-KR" altLang="en-US" sz="2000" dirty="0">
                <a:solidFill>
                  <a:srgbClr val="FFFFFF"/>
                </a:solidFill>
              </a:rPr>
              <a:t>명령 </a:t>
            </a:r>
            <a:r>
              <a:rPr lang="en-US" altLang="ko-KR" sz="2000" dirty="0">
                <a:solidFill>
                  <a:srgbClr val="FFFFFF"/>
                </a:solidFill>
              </a:rPr>
              <a:t>{} \; : </a:t>
            </a:r>
            <a:r>
              <a:rPr lang="ko-KR" altLang="en-US" sz="2000" dirty="0">
                <a:solidFill>
                  <a:srgbClr val="FFFFFF"/>
                </a:solidFill>
              </a:rPr>
              <a:t>검색된 파일에 명령을 실행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-ok </a:t>
            </a:r>
            <a:r>
              <a:rPr lang="ko-KR" altLang="en-US" sz="2000" dirty="0">
                <a:solidFill>
                  <a:srgbClr val="FFFFFF"/>
                </a:solidFill>
              </a:rPr>
              <a:t>명령 </a:t>
            </a:r>
            <a:r>
              <a:rPr lang="en-US" altLang="ko-KR" sz="2000" dirty="0">
                <a:solidFill>
                  <a:srgbClr val="FFFFFF"/>
                </a:solidFill>
              </a:rPr>
              <a:t>{} \; : </a:t>
            </a:r>
            <a:r>
              <a:rPr lang="ko-KR" altLang="en-US" sz="2000" dirty="0">
                <a:solidFill>
                  <a:srgbClr val="FFFFFF"/>
                </a:solidFill>
              </a:rPr>
              <a:t>사용자의 확인을 받아서 명령을 실행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-print : </a:t>
            </a:r>
            <a:r>
              <a:rPr lang="ko-KR" altLang="en-US" sz="2000" dirty="0">
                <a:solidFill>
                  <a:srgbClr val="FFFFFF"/>
                </a:solidFill>
              </a:rPr>
              <a:t>검색된 파일의 절대 경로명을 화면에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-ls : </a:t>
            </a:r>
            <a:r>
              <a:rPr lang="ko-KR" altLang="en-US" sz="2000" dirty="0">
                <a:solidFill>
                  <a:srgbClr val="FFFFFF"/>
                </a:solidFill>
              </a:rPr>
              <a:t>검색 결과를 긴 목록 형식으로 출력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</a:t>
            </a:r>
            <a:r>
              <a:rPr lang="en-US" altLang="ko-KR" sz="2000" dirty="0">
                <a:solidFill>
                  <a:srgbClr val="FFFFFF"/>
                </a:solidFill>
              </a:rPr>
              <a:t>ex ) find ~ -name </a:t>
            </a:r>
            <a:r>
              <a:rPr lang="en-US" altLang="ko-KR" sz="2000" dirty="0" err="1">
                <a:solidFill>
                  <a:srgbClr val="FFFFFF"/>
                </a:solidFill>
              </a:rPr>
              <a:t>hello.c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      find /</a:t>
            </a:r>
            <a:r>
              <a:rPr lang="en-US" altLang="ko-KR" sz="2000" dirty="0" err="1">
                <a:solidFill>
                  <a:srgbClr val="FFFFFF"/>
                </a:solidFill>
              </a:rPr>
              <a:t>tmp</a:t>
            </a:r>
            <a:r>
              <a:rPr lang="en-US" altLang="ko-KR" sz="2000" dirty="0">
                <a:solidFill>
                  <a:srgbClr val="FFFFFF"/>
                </a:solidFill>
              </a:rPr>
              <a:t> -user user10 -exec rm {}\;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5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9D643-37FB-40FC-BF3B-A900D3E0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46621"/>
            <a:ext cx="10515598" cy="543034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200" dirty="0">
                <a:solidFill>
                  <a:srgbClr val="FFFFFF"/>
                </a:solidFill>
              </a:rPr>
              <a:t>명령의 위치 찾기 명령어 </a:t>
            </a:r>
            <a:r>
              <a:rPr lang="en-US" altLang="ko-KR" sz="2200" dirty="0">
                <a:solidFill>
                  <a:srgbClr val="FFFFFF"/>
                </a:solidFill>
              </a:rPr>
              <a:t>: </a:t>
            </a:r>
            <a:r>
              <a:rPr lang="en-US" altLang="ko-KR" sz="2200" dirty="0" err="1">
                <a:solidFill>
                  <a:srgbClr val="FFFF00"/>
                </a:solidFill>
              </a:rPr>
              <a:t>whereis</a:t>
            </a:r>
            <a:r>
              <a:rPr lang="en-US" altLang="ko-KR" sz="2200" dirty="0">
                <a:solidFill>
                  <a:srgbClr val="FFFF00"/>
                </a:solidFill>
              </a:rPr>
              <a:t> [</a:t>
            </a:r>
            <a:r>
              <a:rPr lang="ko-KR" altLang="en-US" sz="2200" dirty="0">
                <a:solidFill>
                  <a:srgbClr val="FFFF00"/>
                </a:solidFill>
              </a:rPr>
              <a:t>옵션</a:t>
            </a:r>
            <a:r>
              <a:rPr lang="en-US" altLang="ko-KR" sz="2200" dirty="0">
                <a:solidFill>
                  <a:srgbClr val="FFFF00"/>
                </a:solidFill>
              </a:rPr>
              <a:t>] </a:t>
            </a:r>
            <a:r>
              <a:rPr lang="ko-KR" altLang="en-US" sz="2200" dirty="0">
                <a:solidFill>
                  <a:srgbClr val="FFFF00"/>
                </a:solidFill>
              </a:rPr>
              <a:t>명령 </a:t>
            </a:r>
            <a:r>
              <a:rPr lang="en-US" altLang="ko-KR" sz="2200" dirty="0">
                <a:solidFill>
                  <a:srgbClr val="FFFF00"/>
                </a:solidFill>
              </a:rPr>
              <a:t>, which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-b : </a:t>
            </a:r>
            <a:r>
              <a:rPr lang="ko-KR" altLang="en-US" sz="2000" dirty="0">
                <a:solidFill>
                  <a:srgbClr val="FFFFFF"/>
                </a:solidFill>
              </a:rPr>
              <a:t>바이너리 파일만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</a:t>
            </a:r>
            <a:r>
              <a:rPr lang="en-US" altLang="ko-KR" sz="2000" dirty="0">
                <a:solidFill>
                  <a:srgbClr val="FFFFFF"/>
                </a:solidFill>
              </a:rPr>
              <a:t>-m : </a:t>
            </a:r>
            <a:r>
              <a:rPr lang="ko-KR" altLang="en-US" sz="2000" dirty="0">
                <a:solidFill>
                  <a:srgbClr val="FFFFFF"/>
                </a:solidFill>
              </a:rPr>
              <a:t>메뉴얼 파일만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  </a:t>
            </a:r>
            <a:r>
              <a:rPr lang="en-US" altLang="ko-KR" sz="2000" dirty="0">
                <a:solidFill>
                  <a:srgbClr val="FFFFFF"/>
                </a:solidFill>
              </a:rPr>
              <a:t>-s : </a:t>
            </a:r>
            <a:r>
              <a:rPr lang="ko-KR" altLang="en-US" sz="2000" dirty="0">
                <a:solidFill>
                  <a:srgbClr val="FFFFFF"/>
                </a:solidFill>
              </a:rPr>
              <a:t>소스 파일만 검색  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600" dirty="0">
                <a:solidFill>
                  <a:srgbClr val="FFFF00"/>
                </a:solidFill>
              </a:rPr>
              <a:t>3. </a:t>
            </a:r>
            <a:r>
              <a:rPr lang="ko-KR" altLang="en-US" sz="2600" dirty="0">
                <a:solidFill>
                  <a:srgbClr val="FFFF00"/>
                </a:solidFill>
              </a:rPr>
              <a:t>리눅스의 문서 편집기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편집기 종류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행 단위 편집기 </a:t>
            </a:r>
            <a:r>
              <a:rPr lang="en-US" altLang="ko-KR" sz="2000" dirty="0">
                <a:solidFill>
                  <a:srgbClr val="FFFFFF"/>
                </a:solidFill>
              </a:rPr>
              <a:t>: ed, ex, sed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화면 단위 편집기 </a:t>
            </a:r>
            <a:r>
              <a:rPr lang="en-US" altLang="ko-KR" sz="2000" dirty="0">
                <a:solidFill>
                  <a:srgbClr val="FFFFFF"/>
                </a:solidFill>
              </a:rPr>
              <a:t>: vi ,emacs(</a:t>
            </a:r>
            <a:r>
              <a:rPr lang="ko-KR" altLang="en-US" sz="2000" dirty="0" err="1">
                <a:solidFill>
                  <a:srgbClr val="FFFFFF"/>
                </a:solidFill>
              </a:rPr>
              <a:t>이맥스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GUI </a:t>
            </a:r>
            <a:r>
              <a:rPr lang="ko-KR" altLang="en-US" sz="2000" dirty="0">
                <a:solidFill>
                  <a:srgbClr val="FFFFFF"/>
                </a:solidFill>
              </a:rPr>
              <a:t>편집기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 err="1">
                <a:solidFill>
                  <a:srgbClr val="FFFFFF"/>
                </a:solidFill>
              </a:rPr>
              <a:t>gedit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모드형 편집기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대표적인 예 </a:t>
            </a:r>
            <a:r>
              <a:rPr lang="en-US" altLang="ko-KR" sz="2000" dirty="0">
                <a:solidFill>
                  <a:srgbClr val="FFFFFF"/>
                </a:solidFill>
              </a:rPr>
              <a:t>: vi </a:t>
            </a:r>
            <a:r>
              <a:rPr lang="ko-KR" altLang="en-US" sz="2000" dirty="0">
                <a:solidFill>
                  <a:srgbClr val="FFFFFF"/>
                </a:solidFill>
              </a:rPr>
              <a:t>편집기 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입력 모드와 명령 모드가 구분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비모드형 편집기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   두 모드가 구분</a:t>
            </a:r>
            <a:r>
              <a:rPr lang="en-US" altLang="ko-KR" sz="2000" dirty="0">
                <a:solidFill>
                  <a:srgbClr val="FFFFFF"/>
                </a:solidFill>
              </a:rPr>
              <a:t>X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66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99F0B-6F76-470D-80C5-7CD6CD61A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13065"/>
            <a:ext cx="10515598" cy="5463898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vi </a:t>
            </a:r>
            <a:r>
              <a:rPr lang="ko-KR" altLang="en-US" sz="2400" dirty="0">
                <a:solidFill>
                  <a:srgbClr val="FFFF00"/>
                </a:solidFill>
              </a:rPr>
              <a:t>사용법 </a:t>
            </a:r>
            <a:r>
              <a:rPr lang="en-US" altLang="ko-KR" sz="2400" dirty="0">
                <a:solidFill>
                  <a:srgbClr val="FFFF00"/>
                </a:solidFill>
              </a:rPr>
              <a:t>vi [</a:t>
            </a:r>
            <a:r>
              <a:rPr lang="ko-KR" altLang="en-US" sz="2400" dirty="0">
                <a:solidFill>
                  <a:srgbClr val="FFFF00"/>
                </a:solidFill>
              </a:rPr>
              <a:t>파일명</a:t>
            </a:r>
            <a:r>
              <a:rPr lang="en-US" altLang="ko-KR" sz="2400" dirty="0">
                <a:solidFill>
                  <a:srgbClr val="FFFF00"/>
                </a:solidFill>
              </a:rPr>
              <a:t>]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지정한 파일을 편집하고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파일명을 지정하지 않으면 빈 파일이 열리고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이 빈 파일의 파일명은 별도로 지정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입력 모드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텍스트를 입력할 수 있는 모드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명령 모드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텍스트를 수정하거나 삭제하고 복사와 붙이기 등 편집을 하는 모드 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파일 저장과 종료 명령키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마지막 행 모드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:q    </a:t>
            </a:r>
            <a:r>
              <a:rPr lang="en-US" altLang="ko-KR" sz="2000" dirty="0">
                <a:solidFill>
                  <a:srgbClr val="FFFFFF"/>
                </a:solidFill>
              </a:rPr>
              <a:t>vi</a:t>
            </a:r>
            <a:r>
              <a:rPr lang="ko-KR" altLang="en-US" sz="2000" dirty="0">
                <a:solidFill>
                  <a:srgbClr val="FFFFFF"/>
                </a:solidFill>
              </a:rPr>
              <a:t>에서 작업한 것이 없을 때 그냥 종료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         </a:t>
            </a:r>
            <a:r>
              <a:rPr lang="en-US" altLang="ko-KR" sz="2000" dirty="0">
                <a:solidFill>
                  <a:srgbClr val="FFFF00"/>
                </a:solidFill>
              </a:rPr>
              <a:t>:q!  </a:t>
            </a:r>
            <a:r>
              <a:rPr lang="ko-KR" altLang="en-US" sz="2000" dirty="0">
                <a:solidFill>
                  <a:srgbClr val="FFFFFF"/>
                </a:solidFill>
              </a:rPr>
              <a:t>작업한 내용을 저장하지 않고 종료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         </a:t>
            </a:r>
            <a:r>
              <a:rPr lang="en-US" altLang="ko-KR" sz="2000" dirty="0">
                <a:solidFill>
                  <a:srgbClr val="FFFF00"/>
                </a:solidFill>
              </a:rPr>
              <a:t>:w   </a:t>
            </a:r>
            <a:r>
              <a:rPr lang="ko-KR" altLang="en-US" sz="2000" dirty="0">
                <a:solidFill>
                  <a:srgbClr val="FFFFFF"/>
                </a:solidFill>
              </a:rPr>
              <a:t>파일명 작업한 내용을 저장 만한다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         :</a:t>
            </a:r>
            <a:r>
              <a:rPr lang="en-US" altLang="ko-KR" sz="2000" dirty="0" err="1">
                <a:solidFill>
                  <a:srgbClr val="FFFF00"/>
                </a:solidFill>
              </a:rPr>
              <a:t>wq,wq</a:t>
            </a:r>
            <a:r>
              <a:rPr lang="en-US" altLang="ko-KR" sz="2000" dirty="0">
                <a:solidFill>
                  <a:srgbClr val="FFFF00"/>
                </a:solidFill>
              </a:rPr>
              <a:t>! </a:t>
            </a:r>
            <a:r>
              <a:rPr lang="ko-KR" altLang="en-US" sz="2000" dirty="0">
                <a:solidFill>
                  <a:srgbClr val="FFFFFF"/>
                </a:solidFill>
              </a:rPr>
              <a:t>작업한 내용을 저장하고 </a:t>
            </a:r>
            <a:r>
              <a:rPr lang="en-US" altLang="ko-KR" sz="2000" dirty="0">
                <a:solidFill>
                  <a:srgbClr val="FFFFFF"/>
                </a:solidFill>
              </a:rPr>
              <a:t>vi </a:t>
            </a:r>
            <a:r>
              <a:rPr lang="ko-KR" altLang="en-US" sz="2000" dirty="0">
                <a:solidFill>
                  <a:srgbClr val="FFFFFF"/>
                </a:solidFill>
              </a:rPr>
              <a:t>종료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 명령모드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-ZZ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작업한 내용을 저장하고 </a:t>
            </a:r>
            <a:r>
              <a:rPr lang="en-US" altLang="ko-KR" sz="2000" dirty="0">
                <a:solidFill>
                  <a:srgbClr val="FFFFFF"/>
                </a:solidFill>
              </a:rPr>
              <a:t>vi </a:t>
            </a:r>
            <a:r>
              <a:rPr lang="ko-KR" altLang="en-US" sz="2000" dirty="0">
                <a:solidFill>
                  <a:srgbClr val="FFFFFF"/>
                </a:solidFill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3527097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9B86B-645C-4377-9C95-AEF34D8A7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38899"/>
            <a:ext cx="10515598" cy="5338063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Vi (</a:t>
            </a:r>
            <a:r>
              <a:rPr lang="ko-KR" altLang="en-US" sz="2400" dirty="0">
                <a:solidFill>
                  <a:srgbClr val="FFFF00"/>
                </a:solidFill>
              </a:rPr>
              <a:t>편집기</a:t>
            </a:r>
            <a:r>
              <a:rPr lang="en-US" altLang="ko-KR" sz="2400" dirty="0">
                <a:solidFill>
                  <a:srgbClr val="FFFF00"/>
                </a:solidFill>
              </a:rPr>
              <a:t>)</a:t>
            </a:r>
            <a:r>
              <a:rPr lang="ko-KR" altLang="en-US" sz="2400" dirty="0">
                <a:solidFill>
                  <a:srgbClr val="FFFF00"/>
                </a:solidFill>
              </a:rPr>
              <a:t>에 대해</a:t>
            </a:r>
            <a:endParaRPr lang="en-US" altLang="ko-KR" sz="2400" dirty="0">
              <a:solidFill>
                <a:srgbClr val="FFFF00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명령 키를 사용해 입력모드로 전환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커서 앞 입력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a : </a:t>
            </a:r>
            <a:r>
              <a:rPr lang="ko-KR" altLang="en-US" sz="2000" dirty="0">
                <a:solidFill>
                  <a:srgbClr val="FFFFFF"/>
                </a:solidFill>
              </a:rPr>
              <a:t>커서 뒤 입력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o : </a:t>
            </a:r>
            <a:r>
              <a:rPr lang="ko-KR" altLang="en-US" sz="2000" dirty="0">
                <a:solidFill>
                  <a:srgbClr val="FFFFFF"/>
                </a:solidFill>
              </a:rPr>
              <a:t>커서가 위치한 행의 다음 행에 입력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내용 수정 명령 키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r  : </a:t>
            </a:r>
            <a:r>
              <a:rPr lang="ko-KR" altLang="en-US" sz="2000" dirty="0">
                <a:solidFill>
                  <a:srgbClr val="FFFFFF"/>
                </a:solidFill>
              </a:rPr>
              <a:t>한 글자 수정하기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 err="1">
                <a:solidFill>
                  <a:srgbClr val="FFFFFF"/>
                </a:solidFill>
              </a:rPr>
              <a:t>cw</a:t>
            </a:r>
            <a:r>
              <a:rPr lang="en-US" altLang="ko-KR" sz="2000" dirty="0">
                <a:solidFill>
                  <a:srgbClr val="FFFFFF"/>
                </a:solidFill>
              </a:rPr>
              <a:t>, #</a:t>
            </a:r>
            <a:r>
              <a:rPr lang="en-US" altLang="ko-KR" sz="2000" dirty="0" err="1">
                <a:solidFill>
                  <a:srgbClr val="FFFFFF"/>
                </a:solidFill>
              </a:rPr>
              <a:t>cw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커서 위치부터 현재 단어의 끝까지 수정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s, #s : </a:t>
            </a:r>
            <a:r>
              <a:rPr lang="ko-KR" altLang="en-US" sz="2000" dirty="0">
                <a:solidFill>
                  <a:srgbClr val="FFFFFF"/>
                </a:solidFill>
              </a:rPr>
              <a:t>커서 위치부터 </a:t>
            </a:r>
            <a:r>
              <a:rPr lang="en-US" altLang="ko-KR" sz="2000" dirty="0">
                <a:solidFill>
                  <a:srgbClr val="FFFFFF"/>
                </a:solidFill>
              </a:rPr>
              <a:t>Esc </a:t>
            </a:r>
            <a:r>
              <a:rPr lang="ko-KR" altLang="en-US" sz="2000" dirty="0">
                <a:solidFill>
                  <a:srgbClr val="FFFFFF"/>
                </a:solidFill>
              </a:rPr>
              <a:t>키를 입력할 때 까지 수정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cc : </a:t>
            </a:r>
            <a:r>
              <a:rPr lang="ko-KR" altLang="en-US" sz="2000" dirty="0">
                <a:solidFill>
                  <a:srgbClr val="FFFFFF"/>
                </a:solidFill>
              </a:rPr>
              <a:t>커서가 위치한 행의 내용을 모두 수정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C : </a:t>
            </a:r>
            <a:r>
              <a:rPr lang="ko-KR" altLang="en-US" sz="2000" dirty="0">
                <a:solidFill>
                  <a:srgbClr val="FFFFFF"/>
                </a:solidFill>
              </a:rPr>
              <a:t>커서 위치부터 행의 끝까지 수정</a:t>
            </a:r>
          </a:p>
        </p:txBody>
      </p:sp>
    </p:spTree>
    <p:extLst>
      <p:ext uri="{BB962C8B-B14F-4D97-AF65-F5344CB8AC3E}">
        <p14:creationId xmlns:p14="http://schemas.microsoft.com/office/powerpoint/2010/main" val="250668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03C94-EC4F-4B75-B256-BDBD5E22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90569"/>
            <a:ext cx="10515598" cy="5086393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내용 삭제 명령 키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x, #x : </a:t>
            </a:r>
            <a:r>
              <a:rPr lang="ko-KR" altLang="en-US" sz="2000" dirty="0">
                <a:solidFill>
                  <a:srgbClr val="FFFFFF"/>
                </a:solidFill>
              </a:rPr>
              <a:t>커서 위치의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한</a:t>
            </a:r>
            <a:r>
              <a:rPr lang="en-US" altLang="ko-KR" sz="2000" dirty="0">
                <a:solidFill>
                  <a:srgbClr val="FFFFFF"/>
                </a:solidFill>
              </a:rPr>
              <a:t>) </a:t>
            </a:r>
            <a:r>
              <a:rPr lang="ko-KR" altLang="en-US" sz="2000" dirty="0">
                <a:solidFill>
                  <a:srgbClr val="FFFFFF"/>
                </a:solidFill>
              </a:rPr>
              <a:t>글자를 삭제</a:t>
            </a:r>
            <a:r>
              <a:rPr lang="en-US" altLang="ko-KR" sz="2000" dirty="0">
                <a:solidFill>
                  <a:srgbClr val="FFFFFF"/>
                </a:solidFill>
              </a:rPr>
              <a:t>, #</a:t>
            </a:r>
            <a:r>
              <a:rPr lang="ko-KR" altLang="en-US" sz="2000" dirty="0">
                <a:solidFill>
                  <a:srgbClr val="FFFFFF"/>
                </a:solidFill>
              </a:rPr>
              <a:t>에는 삭제할 글자 수를 지정 </a:t>
            </a:r>
            <a:r>
              <a:rPr lang="en-US" altLang="ko-KR" sz="2000" dirty="0">
                <a:solidFill>
                  <a:srgbClr val="FFFFFF"/>
                </a:solidFill>
              </a:rPr>
              <a:t>ex) #3x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FF"/>
                </a:solidFill>
              </a:rPr>
              <a:t>dw</a:t>
            </a:r>
            <a:r>
              <a:rPr lang="en-US" altLang="ko-KR" sz="2000" dirty="0">
                <a:solidFill>
                  <a:srgbClr val="FFFFFF"/>
                </a:solidFill>
              </a:rPr>
              <a:t>, #</a:t>
            </a:r>
            <a:r>
              <a:rPr lang="en-US" altLang="ko-KR" sz="2000" dirty="0" err="1">
                <a:solidFill>
                  <a:srgbClr val="FFFFFF"/>
                </a:solidFill>
              </a:rPr>
              <a:t>dw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커서 위의 단어를 삭제</a:t>
            </a:r>
            <a:r>
              <a:rPr lang="en-US" altLang="ko-KR" sz="2000" dirty="0">
                <a:solidFill>
                  <a:srgbClr val="FFFFFF"/>
                </a:solidFill>
              </a:rPr>
              <a:t>, # </a:t>
            </a:r>
            <a:r>
              <a:rPr lang="ko-KR" altLang="en-US" sz="2000" dirty="0">
                <a:solidFill>
                  <a:srgbClr val="FFFFFF"/>
                </a:solidFill>
              </a:rPr>
              <a:t>위와 삭제할 단어 수 지정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dd, #dd : </a:t>
            </a:r>
            <a:r>
              <a:rPr lang="ko-KR" altLang="en-US" sz="2000" dirty="0">
                <a:solidFill>
                  <a:srgbClr val="FFFFFF"/>
                </a:solidFill>
              </a:rPr>
              <a:t>커서 위치의 행을 삭제 </a:t>
            </a:r>
            <a:r>
              <a:rPr lang="en-US" altLang="ko-KR" sz="2000" dirty="0">
                <a:solidFill>
                  <a:srgbClr val="FFFFFF"/>
                </a:solidFill>
              </a:rPr>
              <a:t># </a:t>
            </a:r>
            <a:r>
              <a:rPr lang="ko-KR" altLang="en-US" sz="2000" dirty="0">
                <a:solidFill>
                  <a:srgbClr val="FFFFFF"/>
                </a:solidFill>
              </a:rPr>
              <a:t>위에 삭제할 행의 수 지정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D : </a:t>
            </a:r>
            <a:r>
              <a:rPr lang="ko-KR" altLang="en-US" sz="2000" dirty="0">
                <a:solidFill>
                  <a:srgbClr val="FFFFFF"/>
                </a:solidFill>
              </a:rPr>
              <a:t>커서 위치부터 행의 끝까지 삭제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명령 취소하는 명령키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u : </a:t>
            </a:r>
            <a:r>
              <a:rPr lang="ko-KR" altLang="en-US" sz="2000" dirty="0">
                <a:solidFill>
                  <a:srgbClr val="FFFFFF"/>
                </a:solidFill>
              </a:rPr>
              <a:t>명령을 취소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U : </a:t>
            </a:r>
            <a:r>
              <a:rPr lang="ko-KR" altLang="en-US" sz="2000" dirty="0">
                <a:solidFill>
                  <a:srgbClr val="FFFFFF"/>
                </a:solidFill>
              </a:rPr>
              <a:t>해당 행에서 한 모든 명령을 취소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</a:rPr>
              <a:t>:e! : </a:t>
            </a:r>
            <a:r>
              <a:rPr lang="ko-KR" altLang="en-US" sz="2000" dirty="0">
                <a:solidFill>
                  <a:srgbClr val="FFFFFF"/>
                </a:solidFill>
              </a:rPr>
              <a:t>마지막으로 저장한 내용 이후의 것을 버리고 새로운 작업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20342-CDAA-4AD5-9A97-E26952EBA53E}"/>
              </a:ext>
            </a:extLst>
          </p:cNvPr>
          <p:cNvSpPr txBox="1"/>
          <p:nvPr/>
        </p:nvSpPr>
        <p:spPr>
          <a:xfrm>
            <a:off x="876299" y="409531"/>
            <a:ext cx="2504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3F5640-945F-4784-97A7-CED4C98A4336}"/>
              </a:ext>
            </a:extLst>
          </p:cNvPr>
          <p:cNvSpPr/>
          <p:nvPr/>
        </p:nvSpPr>
        <p:spPr>
          <a:xfrm>
            <a:off x="876299" y="681038"/>
            <a:ext cx="27051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Vi (</a:t>
            </a:r>
            <a:r>
              <a:rPr lang="ko-KR" altLang="en-US" sz="2400" dirty="0">
                <a:solidFill>
                  <a:srgbClr val="FFFF00"/>
                </a:solidFill>
              </a:rPr>
              <a:t>편집기</a:t>
            </a:r>
            <a:r>
              <a:rPr lang="en-US" altLang="ko-KR" sz="2400" dirty="0">
                <a:solidFill>
                  <a:srgbClr val="FFFF00"/>
                </a:solidFill>
              </a:rPr>
              <a:t>)</a:t>
            </a:r>
            <a:r>
              <a:rPr lang="ko-KR" altLang="en-US" sz="2400" dirty="0">
                <a:solidFill>
                  <a:srgbClr val="FFFF00"/>
                </a:solidFill>
              </a:rPr>
              <a:t>에 대해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50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27F32-F32E-447B-8E99-C1CEC39B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89901"/>
            <a:ext cx="10515598" cy="5187061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복사하기 또는 잘라서 붙이기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p : </a:t>
            </a:r>
            <a:r>
              <a:rPr lang="ko-KR" altLang="en-US" sz="2000" dirty="0">
                <a:solidFill>
                  <a:srgbClr val="FFFFFF"/>
                </a:solidFill>
              </a:rPr>
              <a:t>복사하여 붙이기 명령키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dd : </a:t>
            </a:r>
            <a:r>
              <a:rPr lang="ko-KR" altLang="en-US" sz="2000" dirty="0">
                <a:solidFill>
                  <a:srgbClr val="FFFFFF"/>
                </a:solidFill>
              </a:rPr>
              <a:t>행을 삭제하는 것과 동시에 </a:t>
            </a:r>
            <a:r>
              <a:rPr lang="ko-KR" altLang="en-US" sz="2000" dirty="0" err="1">
                <a:solidFill>
                  <a:srgbClr val="FFFFFF"/>
                </a:solidFill>
              </a:rPr>
              <a:t>잘라내기</a:t>
            </a:r>
            <a:r>
              <a:rPr lang="ko-KR" altLang="en-US" sz="2000" dirty="0">
                <a:solidFill>
                  <a:srgbClr val="FFFFFF"/>
                </a:solidFill>
              </a:rPr>
              <a:t> 명령키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 err="1">
                <a:solidFill>
                  <a:srgbClr val="FFFFFF"/>
                </a:solidFill>
              </a:rPr>
              <a:t>yy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해당 행이 복사되는 명령키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ex) 1G --&gt; --&gt;</a:t>
            </a:r>
            <a:r>
              <a:rPr lang="en-US" altLang="ko-KR" sz="2000" dirty="0" err="1">
                <a:solidFill>
                  <a:srgbClr val="FFFFFF"/>
                </a:solidFill>
              </a:rPr>
              <a:t>yy</a:t>
            </a:r>
            <a:r>
              <a:rPr lang="en-US" altLang="ko-KR" sz="2000" dirty="0">
                <a:solidFill>
                  <a:srgbClr val="FFFFFF"/>
                </a:solidFill>
              </a:rPr>
              <a:t> --&gt; </a:t>
            </a:r>
            <a:r>
              <a:rPr lang="en-US" altLang="ko-KR" sz="2000" dirty="0" err="1">
                <a:solidFill>
                  <a:srgbClr val="FFFFFF"/>
                </a:solidFill>
              </a:rPr>
              <a:t>jj</a:t>
            </a:r>
            <a:r>
              <a:rPr lang="en-US" altLang="ko-KR" sz="2000" dirty="0">
                <a:solidFill>
                  <a:srgbClr val="FFFFFF"/>
                </a:solidFill>
              </a:rPr>
              <a:t> --&gt; p  : 1</a:t>
            </a:r>
            <a:r>
              <a:rPr lang="ko-KR" altLang="en-US" sz="2000" dirty="0">
                <a:solidFill>
                  <a:srgbClr val="FFFFFF"/>
                </a:solidFill>
              </a:rPr>
              <a:t>번 째 행을 복사해서 커서의 위치에 붙여넣기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검색하기 명령키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/</a:t>
            </a:r>
            <a:r>
              <a:rPr lang="ko-KR" altLang="en-US" sz="2000" dirty="0">
                <a:solidFill>
                  <a:srgbClr val="FFFFFF"/>
                </a:solidFill>
              </a:rPr>
              <a:t>문자열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문자열을 아래 방향으로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?</a:t>
            </a:r>
            <a:r>
              <a:rPr lang="ko-KR" altLang="en-US" sz="2000" dirty="0">
                <a:solidFill>
                  <a:srgbClr val="FFFFFF"/>
                </a:solidFill>
              </a:rPr>
              <a:t>문자열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문자열을 위 방향으로 검색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n : </a:t>
            </a:r>
            <a:r>
              <a:rPr lang="ko-KR" altLang="en-US" sz="2000" dirty="0">
                <a:solidFill>
                  <a:srgbClr val="FFFFFF"/>
                </a:solidFill>
              </a:rPr>
              <a:t>원래 찾던 방향으로 다음 문자열을 찾음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N : </a:t>
            </a:r>
            <a:r>
              <a:rPr lang="ko-KR" altLang="en-US" sz="2000" dirty="0">
                <a:solidFill>
                  <a:srgbClr val="FFFFFF"/>
                </a:solidFill>
              </a:rPr>
              <a:t>역방향으로 다음 문자열을 찾음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97A9F5-9DAC-43D9-A994-0627B19BE7B2}"/>
              </a:ext>
            </a:extLst>
          </p:cNvPr>
          <p:cNvSpPr/>
          <p:nvPr/>
        </p:nvSpPr>
        <p:spPr>
          <a:xfrm>
            <a:off x="981008" y="681038"/>
            <a:ext cx="26003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Vi (</a:t>
            </a:r>
            <a:r>
              <a:rPr lang="ko-KR" altLang="en-US" sz="2400" dirty="0">
                <a:solidFill>
                  <a:srgbClr val="FFFF00"/>
                </a:solidFill>
              </a:rPr>
              <a:t>편집기</a:t>
            </a:r>
            <a:r>
              <a:rPr lang="en-US" altLang="ko-KR" sz="2400" dirty="0">
                <a:solidFill>
                  <a:srgbClr val="FFFF00"/>
                </a:solidFill>
              </a:rPr>
              <a:t>)</a:t>
            </a:r>
            <a:r>
              <a:rPr lang="ko-KR" altLang="en-US" sz="2400" dirty="0">
                <a:solidFill>
                  <a:srgbClr val="FFFF00"/>
                </a:solidFill>
              </a:rPr>
              <a:t>에 대해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315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D7F94-D2FC-4A22-8406-9E9931158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80845"/>
            <a:ext cx="10515598" cy="529611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FF"/>
                </a:solidFill>
              </a:rPr>
              <a:t>vi</a:t>
            </a:r>
            <a:r>
              <a:rPr lang="ko-KR" altLang="en-US" sz="2000" dirty="0">
                <a:solidFill>
                  <a:srgbClr val="FFFFFF"/>
                </a:solidFill>
              </a:rPr>
              <a:t>는 사용자가 환경을 설정할 수 있도록 </a:t>
            </a:r>
            <a:r>
              <a:rPr lang="en-US" altLang="ko-KR" sz="2000" dirty="0">
                <a:solidFill>
                  <a:srgbClr val="FFFF00"/>
                </a:solidFill>
              </a:rPr>
              <a:t>set </a:t>
            </a:r>
            <a:r>
              <a:rPr lang="ko-KR" altLang="en-US" sz="2000" dirty="0">
                <a:solidFill>
                  <a:srgbClr val="FFFF00"/>
                </a:solidFill>
              </a:rPr>
              <a:t>명령</a:t>
            </a:r>
            <a:r>
              <a:rPr lang="ko-KR" altLang="en-US" sz="2000" dirty="0">
                <a:solidFill>
                  <a:srgbClr val="FFFFFF"/>
                </a:solidFill>
              </a:rPr>
              <a:t>을 제공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vi</a:t>
            </a:r>
            <a:r>
              <a:rPr lang="ko-KR" altLang="en-US" sz="2000" dirty="0">
                <a:solidFill>
                  <a:srgbClr val="FFFFFF"/>
                </a:solidFill>
              </a:rPr>
              <a:t>의 환경을 설정하는 데 </a:t>
            </a:r>
            <a:r>
              <a:rPr lang="ko-KR" altLang="en-US" sz="2000" dirty="0">
                <a:solidFill>
                  <a:srgbClr val="FFFF00"/>
                </a:solidFill>
              </a:rPr>
              <a:t>세 가지 방법 </a:t>
            </a:r>
            <a:r>
              <a:rPr lang="ko-KR" altLang="en-US" sz="2000" dirty="0">
                <a:solidFill>
                  <a:srgbClr val="FFFFFF"/>
                </a:solidFill>
              </a:rPr>
              <a:t>사용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1. </a:t>
            </a:r>
            <a:r>
              <a:rPr lang="ko-KR" altLang="en-US" sz="2000" dirty="0">
                <a:solidFill>
                  <a:srgbClr val="FFFFFF"/>
                </a:solidFill>
              </a:rPr>
              <a:t>사용자 홈 디렉터리에 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r>
              <a:rPr lang="en-US" altLang="ko-KR" sz="2000" dirty="0" err="1">
                <a:solidFill>
                  <a:srgbClr val="FFFFFF"/>
                </a:solidFill>
              </a:rPr>
              <a:t>exrc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파일로 저장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2. </a:t>
            </a:r>
            <a:r>
              <a:rPr lang="ko-KR" altLang="en-US" sz="2000" dirty="0">
                <a:solidFill>
                  <a:srgbClr val="FFFFFF"/>
                </a:solidFill>
              </a:rPr>
              <a:t>환경 변수 </a:t>
            </a:r>
            <a:r>
              <a:rPr lang="en-US" altLang="ko-KR" sz="2000" dirty="0">
                <a:solidFill>
                  <a:srgbClr val="FFFFFF"/>
                </a:solidFill>
              </a:rPr>
              <a:t>EXTINIT</a:t>
            </a:r>
            <a:r>
              <a:rPr lang="ko-KR" altLang="en-US" sz="2000" dirty="0">
                <a:solidFill>
                  <a:srgbClr val="FFFFFF"/>
                </a:solidFill>
              </a:rPr>
              <a:t>에 지정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3. vi</a:t>
            </a:r>
            <a:r>
              <a:rPr lang="ko-KR" altLang="en-US" sz="2000" dirty="0">
                <a:solidFill>
                  <a:srgbClr val="FFFFFF"/>
                </a:solidFill>
              </a:rPr>
              <a:t>의 마지막 행 모드에서 명령으로 실행 가능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6AA76-9A00-41DE-B09F-F60CC394AD91}"/>
              </a:ext>
            </a:extLst>
          </p:cNvPr>
          <p:cNvSpPr txBox="1"/>
          <p:nvPr/>
        </p:nvSpPr>
        <p:spPr>
          <a:xfrm>
            <a:off x="838201" y="3438407"/>
            <a:ext cx="895944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</a:rPr>
              <a:t> vi </a:t>
            </a:r>
            <a:r>
              <a:rPr lang="ko-KR" altLang="en-US" sz="2000" dirty="0">
                <a:solidFill>
                  <a:srgbClr val="FFFF00"/>
                </a:solidFill>
              </a:rPr>
              <a:t>환경 설정 명령 키 </a:t>
            </a:r>
          </a:p>
          <a:p>
            <a:r>
              <a:rPr lang="en-US" altLang="ko-KR" dirty="0"/>
              <a:t> set nu : </a:t>
            </a:r>
            <a:r>
              <a:rPr lang="ko-KR" altLang="en-US" dirty="0"/>
              <a:t>파일 내용의 각 행에 행 번호를 표시 </a:t>
            </a:r>
          </a:p>
          <a:p>
            <a:r>
              <a:rPr lang="en-US" altLang="ko-KR" dirty="0"/>
              <a:t> set </a:t>
            </a:r>
            <a:r>
              <a:rPr lang="en-US" altLang="ko-KR" dirty="0" err="1"/>
              <a:t>nonu</a:t>
            </a:r>
            <a:r>
              <a:rPr lang="en-US" altLang="ko-KR" dirty="0"/>
              <a:t> : </a:t>
            </a:r>
            <a:r>
              <a:rPr lang="ko-KR" altLang="en-US" dirty="0"/>
              <a:t>행 번호를 감춘다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set list :  </a:t>
            </a:r>
            <a:r>
              <a:rPr lang="ko-KR" altLang="en-US" dirty="0"/>
              <a:t>눈에 보이지 않는 특수 문자를 표시</a:t>
            </a:r>
          </a:p>
          <a:p>
            <a:r>
              <a:rPr lang="en-US" altLang="ko-KR" dirty="0"/>
              <a:t> set </a:t>
            </a:r>
            <a:r>
              <a:rPr lang="en-US" altLang="ko-KR" dirty="0" err="1"/>
              <a:t>nolist</a:t>
            </a:r>
            <a:r>
              <a:rPr lang="en-US" altLang="ko-KR" dirty="0"/>
              <a:t> : </a:t>
            </a:r>
            <a:r>
              <a:rPr lang="ko-KR" altLang="en-US" dirty="0"/>
              <a:t>특수 문자를 감춤</a:t>
            </a:r>
          </a:p>
          <a:p>
            <a:r>
              <a:rPr lang="en-US" altLang="ko-KR" dirty="0"/>
              <a:t> set </a:t>
            </a:r>
            <a:r>
              <a:rPr lang="en-US" altLang="ko-KR" dirty="0" err="1"/>
              <a:t>showmode</a:t>
            </a:r>
            <a:r>
              <a:rPr lang="en-US" altLang="ko-KR" dirty="0"/>
              <a:t> : </a:t>
            </a:r>
            <a:r>
              <a:rPr lang="ko-KR" altLang="en-US" dirty="0"/>
              <a:t>현재 모드 표시 </a:t>
            </a:r>
          </a:p>
          <a:p>
            <a:r>
              <a:rPr lang="en-US" altLang="ko-KR" dirty="0"/>
              <a:t> set </a:t>
            </a:r>
            <a:r>
              <a:rPr lang="en-US" altLang="ko-KR" dirty="0" err="1"/>
              <a:t>noshowmode</a:t>
            </a:r>
            <a:r>
              <a:rPr lang="en-US" altLang="ko-KR" dirty="0"/>
              <a:t> : </a:t>
            </a:r>
            <a:r>
              <a:rPr lang="ko-KR" altLang="en-US" dirty="0"/>
              <a:t>현재 모드를 감춘다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set : set</a:t>
            </a:r>
            <a:r>
              <a:rPr lang="ko-KR" altLang="en-US" dirty="0"/>
              <a:t>로 설정한 모든 </a:t>
            </a:r>
            <a:r>
              <a:rPr lang="en-US" altLang="ko-KR" dirty="0"/>
              <a:t>vi </a:t>
            </a:r>
            <a:r>
              <a:rPr lang="ko-KR" altLang="en-US" dirty="0"/>
              <a:t>환경 설정 값을 출력</a:t>
            </a:r>
          </a:p>
          <a:p>
            <a:r>
              <a:rPr lang="en-US" altLang="ko-KR" dirty="0"/>
              <a:t> set all : </a:t>
            </a:r>
            <a:r>
              <a:rPr lang="ko-KR" altLang="en-US" dirty="0"/>
              <a:t>모든 </a:t>
            </a:r>
            <a:r>
              <a:rPr lang="en-US" altLang="ko-KR" dirty="0"/>
              <a:t>vi </a:t>
            </a:r>
            <a:r>
              <a:rPr lang="ko-KR" altLang="en-US" dirty="0"/>
              <a:t>환경변수와 현재 값을 출력</a:t>
            </a:r>
          </a:p>
        </p:txBody>
      </p:sp>
    </p:spTree>
    <p:extLst>
      <p:ext uri="{BB962C8B-B14F-4D97-AF65-F5344CB8AC3E}">
        <p14:creationId xmlns:p14="http://schemas.microsoft.com/office/powerpoint/2010/main" val="346355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A8E9F3-6733-4C37-B425-016F72CC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8565"/>
            <a:ext cx="10515598" cy="5388397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4. </a:t>
            </a:r>
            <a:r>
              <a:rPr lang="ko-KR" altLang="en-US" sz="2400" dirty="0">
                <a:solidFill>
                  <a:srgbClr val="FFFF00"/>
                </a:solidFill>
              </a:rPr>
              <a:t>셸 사용하기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셸의 기능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명령어 해석기 기능 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 err="1">
                <a:solidFill>
                  <a:srgbClr val="FFFF00"/>
                </a:solidFill>
              </a:rPr>
              <a:t>프로개르밍</a:t>
            </a:r>
            <a:r>
              <a:rPr lang="ko-KR" altLang="en-US" sz="2000" dirty="0">
                <a:solidFill>
                  <a:srgbClr val="FFFF00"/>
                </a:solidFill>
              </a:rPr>
              <a:t> 기능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사용자 환경 설정 기능 </a:t>
            </a:r>
            <a:r>
              <a:rPr lang="ko-KR" altLang="en-US" sz="2000" dirty="0">
                <a:solidFill>
                  <a:srgbClr val="FFFFFF"/>
                </a:solidFill>
              </a:rPr>
              <a:t>세가지로 구분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셸의 종류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본 셸</a:t>
            </a:r>
            <a:r>
              <a:rPr lang="en-US" altLang="ko-KR" sz="2000" dirty="0">
                <a:solidFill>
                  <a:srgbClr val="FFFFFF"/>
                </a:solidFill>
              </a:rPr>
              <a:t>, C </a:t>
            </a:r>
            <a:r>
              <a:rPr lang="ko-KR" altLang="en-US" sz="2000" dirty="0">
                <a:solidFill>
                  <a:srgbClr val="FFFFFF"/>
                </a:solidFill>
              </a:rPr>
              <a:t>셸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콘 셸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배시 셸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 err="1">
                <a:solidFill>
                  <a:srgbClr val="FFFFFF"/>
                </a:solidFill>
              </a:rPr>
              <a:t>에일리어스</a:t>
            </a:r>
            <a:r>
              <a:rPr lang="ko-KR" altLang="en-US" sz="2000" dirty="0">
                <a:solidFill>
                  <a:srgbClr val="FFFFFF"/>
                </a:solidFill>
              </a:rPr>
              <a:t> 설정이나 초기화 파일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스크립트를 작성하는 문법 등에 약간씩 차이를 가짐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셸의 기본 사용법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자신의 셸 확인 </a:t>
            </a:r>
            <a:r>
              <a:rPr lang="en-US" altLang="ko-KR" sz="2000" dirty="0">
                <a:solidFill>
                  <a:srgbClr val="FFFFFF"/>
                </a:solidFill>
              </a:rPr>
              <a:t>:  </a:t>
            </a:r>
            <a:r>
              <a:rPr lang="en-US" altLang="ko-KR" sz="2000" dirty="0">
                <a:solidFill>
                  <a:srgbClr val="FFFF00"/>
                </a:solidFill>
              </a:rPr>
              <a:t>grep </a:t>
            </a:r>
            <a:r>
              <a:rPr lang="ko-KR" altLang="en-US" sz="2000" dirty="0">
                <a:solidFill>
                  <a:srgbClr val="FFFF00"/>
                </a:solidFill>
              </a:rPr>
              <a:t>사용자 이름 </a:t>
            </a:r>
            <a:r>
              <a:rPr lang="en-US" altLang="ko-KR" sz="2000" dirty="0">
                <a:solidFill>
                  <a:srgbClr val="FFFF00"/>
                </a:solidFill>
              </a:rPr>
              <a:t>/</a:t>
            </a:r>
            <a:r>
              <a:rPr lang="en-US" altLang="ko-KR" sz="2000" dirty="0" err="1">
                <a:solidFill>
                  <a:srgbClr val="FFFF00"/>
                </a:solidFill>
              </a:rPr>
              <a:t>etc</a:t>
            </a:r>
            <a:r>
              <a:rPr lang="en-US" altLang="ko-KR" sz="2000" dirty="0">
                <a:solidFill>
                  <a:srgbClr val="FFFF00"/>
                </a:solidFill>
              </a:rPr>
              <a:t>/passwd 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기본 셸 바꾸기 </a:t>
            </a:r>
            <a:r>
              <a:rPr lang="en-US" altLang="ko-KR" sz="2000" dirty="0">
                <a:solidFill>
                  <a:srgbClr val="FFFFFF"/>
                </a:solidFill>
              </a:rPr>
              <a:t>:  </a:t>
            </a:r>
            <a:r>
              <a:rPr lang="en-US" altLang="ko-KR" sz="2000" dirty="0" err="1">
                <a:solidFill>
                  <a:srgbClr val="FFFF00"/>
                </a:solidFill>
              </a:rPr>
              <a:t>chsh</a:t>
            </a:r>
            <a:r>
              <a:rPr lang="en-US" altLang="ko-KR" sz="2000" dirty="0">
                <a:solidFill>
                  <a:srgbClr val="FFFF00"/>
                </a:solidFill>
              </a:rPr>
              <a:t> [</a:t>
            </a:r>
            <a:r>
              <a:rPr lang="ko-KR" altLang="en-US" sz="2000" dirty="0">
                <a:solidFill>
                  <a:srgbClr val="FFFF00"/>
                </a:solidFill>
              </a:rPr>
              <a:t>옵션</a:t>
            </a:r>
            <a:r>
              <a:rPr lang="en-US" altLang="ko-KR" sz="2000" dirty="0">
                <a:solidFill>
                  <a:srgbClr val="FFFF00"/>
                </a:solidFill>
              </a:rPr>
              <a:t>] [</a:t>
            </a:r>
            <a:r>
              <a:rPr lang="ko-KR" altLang="en-US" sz="2000" dirty="0">
                <a:solidFill>
                  <a:srgbClr val="FFFF00"/>
                </a:solidFill>
              </a:rPr>
              <a:t>사용자명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-s shell : </a:t>
            </a:r>
            <a:r>
              <a:rPr lang="ko-KR" altLang="en-US" sz="2000" dirty="0">
                <a:solidFill>
                  <a:srgbClr val="FFFFFF"/>
                </a:solidFill>
              </a:rPr>
              <a:t>지정하는 셸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절대 경로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로 로그인 셸을 바꾼다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-l :  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/shells </a:t>
            </a:r>
            <a:r>
              <a:rPr lang="ko-KR" altLang="en-US" sz="2000" dirty="0">
                <a:solidFill>
                  <a:srgbClr val="FFFFFF"/>
                </a:solidFill>
              </a:rPr>
              <a:t>파일에 지정된 셸을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  </a:t>
            </a:r>
            <a:r>
              <a:rPr lang="en-US" altLang="ko-KR" sz="2000" dirty="0">
                <a:solidFill>
                  <a:srgbClr val="FFFFFF"/>
                </a:solidFill>
              </a:rPr>
              <a:t>ex ) </a:t>
            </a:r>
            <a:r>
              <a:rPr lang="en-US" altLang="ko-KR" sz="2000" dirty="0" err="1">
                <a:solidFill>
                  <a:srgbClr val="FFFFFF"/>
                </a:solidFill>
              </a:rPr>
              <a:t>chsh</a:t>
            </a:r>
            <a:r>
              <a:rPr lang="en-US" altLang="ko-KR" sz="2000" dirty="0">
                <a:solidFill>
                  <a:srgbClr val="FFFFFF"/>
                </a:solidFill>
              </a:rPr>
              <a:t> -l, </a:t>
            </a:r>
            <a:r>
              <a:rPr lang="en-US" altLang="ko-KR" sz="2000" dirty="0" err="1">
                <a:solidFill>
                  <a:srgbClr val="FFFFFF"/>
                </a:solidFill>
              </a:rPr>
              <a:t>chsh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현재 바꿀 수 있는 셸 종류 출력 </a:t>
            </a:r>
            <a:r>
              <a:rPr lang="en-US" altLang="ko-KR" sz="2000" dirty="0">
                <a:solidFill>
                  <a:srgbClr val="FFFF00"/>
                </a:solidFill>
              </a:rPr>
              <a:t>: cat /</a:t>
            </a:r>
            <a:r>
              <a:rPr lang="en-US" altLang="ko-KR" sz="2000" dirty="0" err="1">
                <a:solidFill>
                  <a:srgbClr val="FFFF00"/>
                </a:solidFill>
              </a:rPr>
              <a:t>etc</a:t>
            </a:r>
            <a:r>
              <a:rPr lang="en-US" altLang="ko-KR" sz="2000" dirty="0">
                <a:solidFill>
                  <a:srgbClr val="FFFF00"/>
                </a:solidFill>
              </a:rPr>
              <a:t>/shells 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733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3FF36-2C80-4A87-910A-F44F01B8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55009"/>
            <a:ext cx="10515598" cy="5421954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400" dirty="0">
                <a:solidFill>
                  <a:srgbClr val="FFFF00"/>
                </a:solidFill>
              </a:rPr>
              <a:t>로그인 셸과 </a:t>
            </a:r>
            <a:r>
              <a:rPr lang="ko-KR" altLang="en-US" sz="2400" dirty="0" err="1">
                <a:solidFill>
                  <a:srgbClr val="FFFF00"/>
                </a:solidFill>
              </a:rPr>
              <a:t>서브셸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셸 내장 명령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대표적인 셸 내장 명령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en-US" altLang="ko-KR" sz="2000" dirty="0">
                <a:solidFill>
                  <a:srgbClr val="FFFF00"/>
                </a:solidFill>
              </a:rPr>
              <a:t>cd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file /</a:t>
            </a:r>
            <a:r>
              <a:rPr lang="en-US" altLang="ko-KR" sz="2000" dirty="0" err="1">
                <a:solidFill>
                  <a:srgbClr val="FFFFFF"/>
                </a:solidFill>
              </a:rPr>
              <a:t>usr</a:t>
            </a:r>
            <a:r>
              <a:rPr lang="en-US" altLang="ko-KR" sz="2000" dirty="0">
                <a:solidFill>
                  <a:srgbClr val="FFFFFF"/>
                </a:solidFill>
              </a:rPr>
              <a:t>/bin/cd  : file </a:t>
            </a:r>
            <a:r>
              <a:rPr lang="ko-KR" altLang="en-US" sz="2000" dirty="0">
                <a:solidFill>
                  <a:srgbClr val="FFFFFF"/>
                </a:solidFill>
              </a:rPr>
              <a:t>명령은 파일의 종류를 알려줌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출력</a:t>
            </a:r>
            <a:r>
              <a:rPr lang="ko-KR" altLang="en-US" sz="2000" dirty="0">
                <a:solidFill>
                  <a:srgbClr val="FFFFFF"/>
                </a:solidFill>
              </a:rPr>
              <a:t>하기 명령어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</a:t>
            </a:r>
            <a:r>
              <a:rPr lang="en-US" altLang="ko-KR" sz="2000" dirty="0">
                <a:solidFill>
                  <a:srgbClr val="FFFF00"/>
                </a:solidFill>
              </a:rPr>
              <a:t>echo [-n] [</a:t>
            </a:r>
            <a:r>
              <a:rPr lang="ko-KR" altLang="en-US" sz="2000" dirty="0">
                <a:solidFill>
                  <a:srgbClr val="FFFF00"/>
                </a:solidFill>
              </a:rPr>
              <a:t>문자열 </a:t>
            </a:r>
            <a:r>
              <a:rPr lang="en-US" altLang="ko-KR" sz="2000" dirty="0">
                <a:solidFill>
                  <a:srgbClr val="FFFF00"/>
                </a:solidFill>
              </a:rPr>
              <a:t>..]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</a:t>
            </a:r>
            <a:r>
              <a:rPr lang="ko-KR" altLang="en-US" sz="2000" dirty="0">
                <a:solidFill>
                  <a:srgbClr val="FFFFFF"/>
                </a:solidFill>
              </a:rPr>
              <a:t>옵션  </a:t>
            </a:r>
            <a:r>
              <a:rPr lang="en-US" altLang="ko-KR" sz="2000" dirty="0">
                <a:solidFill>
                  <a:srgbClr val="FFFFFF"/>
                </a:solidFill>
              </a:rPr>
              <a:t>-n : </a:t>
            </a:r>
            <a:r>
              <a:rPr lang="ko-KR" altLang="en-US" sz="2000" dirty="0">
                <a:solidFill>
                  <a:srgbClr val="FFFFFF"/>
                </a:solidFill>
              </a:rPr>
              <a:t>마지막에 줄 </a:t>
            </a:r>
            <a:r>
              <a:rPr lang="ko-KR" altLang="en-US" sz="2000" dirty="0" err="1">
                <a:solidFill>
                  <a:srgbClr val="FFFFFF"/>
                </a:solidFill>
              </a:rPr>
              <a:t>바꿈하지</a:t>
            </a:r>
            <a:r>
              <a:rPr lang="ko-KR" altLang="en-US" sz="2000" dirty="0">
                <a:solidFill>
                  <a:srgbClr val="FFFFFF"/>
                </a:solidFill>
              </a:rPr>
              <a:t> 않는다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 err="1">
                <a:solidFill>
                  <a:srgbClr val="FFFF00"/>
                </a:solidFill>
              </a:rPr>
              <a:t>printf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형식 </a:t>
            </a:r>
            <a:r>
              <a:rPr lang="en-US" altLang="ko-KR" sz="2000" dirty="0">
                <a:solidFill>
                  <a:srgbClr val="FFFF00"/>
                </a:solidFill>
              </a:rPr>
              <a:t>[</a:t>
            </a:r>
            <a:r>
              <a:rPr lang="ko-KR" altLang="en-US" sz="2000" dirty="0">
                <a:solidFill>
                  <a:srgbClr val="FFFF00"/>
                </a:solidFill>
              </a:rPr>
              <a:t>인수</a:t>
            </a:r>
            <a:r>
              <a:rPr lang="en-US" altLang="ko-KR" sz="2000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%d, \n </a:t>
            </a:r>
            <a:r>
              <a:rPr lang="ko-KR" altLang="en-US" sz="2000" dirty="0">
                <a:solidFill>
                  <a:srgbClr val="FFFFFF"/>
                </a:solidFill>
              </a:rPr>
              <a:t>등 </a:t>
            </a:r>
            <a:r>
              <a:rPr lang="en-US" altLang="ko-KR" sz="2000" dirty="0">
                <a:solidFill>
                  <a:srgbClr val="FFFFFF"/>
                </a:solidFill>
              </a:rPr>
              <a:t>C </a:t>
            </a:r>
            <a:r>
              <a:rPr lang="ko-KR" altLang="en-US" sz="2000" dirty="0">
                <a:solidFill>
                  <a:srgbClr val="FFFFFF"/>
                </a:solidFill>
              </a:rPr>
              <a:t>언어의 </a:t>
            </a:r>
            <a:r>
              <a:rPr lang="en-US" altLang="ko-KR" sz="2000" dirty="0" err="1">
                <a:solidFill>
                  <a:srgbClr val="FFFFFF"/>
                </a:solidFill>
              </a:rPr>
              <a:t>printf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 형식을 지정 </a:t>
            </a:r>
          </a:p>
        </p:txBody>
      </p:sp>
      <p:pic>
        <p:nvPicPr>
          <p:cNvPr id="2050" name="Picture 2" descr="ë¡ê·¸ì¸ ì¸ê³¼ ìë¸ì¸ì ëí ì´ë¯¸ì§ ê²ìê²°ê³¼">
            <a:extLst>
              <a:ext uri="{FF2B5EF4-FFF2-40B4-BE49-F238E27FC236}">
                <a16:creationId xmlns:a16="http://schemas.microsoft.com/office/drawing/2014/main" id="{57DAD3B2-905F-4BEE-A84D-A6F6FCA34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143" y="1266736"/>
            <a:ext cx="3692098" cy="40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85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A9D6A-C343-4074-B515-B53F0EC2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2731"/>
            <a:ext cx="10515598" cy="5514232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특수 문자 사용하기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특수 문자 </a:t>
            </a:r>
            <a:r>
              <a:rPr lang="en-US" altLang="ko-KR" sz="2000" dirty="0">
                <a:solidFill>
                  <a:srgbClr val="FFFF00"/>
                </a:solidFill>
              </a:rPr>
              <a:t>: *, ? , | , ; . [] . ~. " ", ' '. `` </a:t>
            </a:r>
            <a:r>
              <a:rPr lang="ko-KR" altLang="en-US" sz="2000" dirty="0">
                <a:solidFill>
                  <a:srgbClr val="FFFF00"/>
                </a:solidFill>
              </a:rPr>
              <a:t>등이 존재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 *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00"/>
                </a:solidFill>
              </a:rPr>
              <a:t>주로 여러 파일의 이름을 나열할 때 파일 이름을 간단히 표시하는데 사용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명령을 실행할 때 파일 이름을 </a:t>
            </a:r>
            <a:r>
              <a:rPr lang="ko-KR" altLang="en-US" sz="2000" dirty="0" err="1">
                <a:solidFill>
                  <a:srgbClr val="FFFFFF"/>
                </a:solidFill>
              </a:rPr>
              <a:t>적어야하는</a:t>
            </a:r>
            <a:r>
              <a:rPr lang="ko-KR" altLang="en-US" sz="2000" dirty="0">
                <a:solidFill>
                  <a:srgbClr val="FFFFFF"/>
                </a:solidFill>
              </a:rPr>
              <a:t> 자리에 *를 사용하면 모든 파일을 나타냄 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?,[] : </a:t>
            </a:r>
            <a:r>
              <a:rPr lang="ko-KR" altLang="en-US" sz="2000" dirty="0">
                <a:solidFill>
                  <a:srgbClr val="FFFF00"/>
                </a:solidFill>
              </a:rPr>
              <a:t>모두 하나의 문자를 나타내는데 사용</a:t>
            </a:r>
            <a:r>
              <a:rPr lang="en-US" altLang="ko-KR" sz="2000" dirty="0">
                <a:solidFill>
                  <a:srgbClr val="FFFFFF"/>
                </a:solidFill>
              </a:rPr>
              <a:t>, ?</a:t>
            </a:r>
            <a:r>
              <a:rPr lang="ko-KR" altLang="en-US" sz="2000" dirty="0">
                <a:solidFill>
                  <a:srgbClr val="FFFFFF"/>
                </a:solidFill>
              </a:rPr>
              <a:t>는 길이가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인 임의의 한 문자를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[]</a:t>
            </a:r>
            <a:r>
              <a:rPr lang="ko-KR" altLang="en-US" sz="2000" dirty="0">
                <a:solidFill>
                  <a:srgbClr val="FFFFFF"/>
                </a:solidFill>
              </a:rPr>
              <a:t>는 괄호 안에 포함된 문자 중 하나를 나타내며 사용할 여러 문자를 나열 및 범위 지정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~,- : </a:t>
            </a:r>
            <a:r>
              <a:rPr lang="ko-KR" altLang="en-US" sz="2000" dirty="0">
                <a:solidFill>
                  <a:srgbClr val="FFFF00"/>
                </a:solidFill>
              </a:rPr>
              <a:t>디렉터리를 나타내는 특수 문자 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~</a:t>
            </a:r>
            <a:r>
              <a:rPr lang="ko-KR" altLang="en-US" sz="2000" dirty="0">
                <a:solidFill>
                  <a:srgbClr val="FFFF00"/>
                </a:solidFill>
              </a:rPr>
              <a:t>만</a:t>
            </a:r>
            <a:r>
              <a:rPr lang="ko-KR" altLang="en-US" sz="2000" dirty="0">
                <a:solidFill>
                  <a:srgbClr val="FFFFFF"/>
                </a:solidFill>
              </a:rPr>
              <a:t> 사용하면 </a:t>
            </a:r>
            <a:r>
              <a:rPr lang="ko-KR" altLang="en-US" sz="2000" dirty="0">
                <a:solidFill>
                  <a:srgbClr val="FFFF00"/>
                </a:solidFill>
              </a:rPr>
              <a:t>현재 작업 중인 사용자의 홈 디렉터리를 나타냄 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</a:t>
            </a:r>
            <a:r>
              <a:rPr lang="ko-KR" altLang="en-US" sz="2000" dirty="0">
                <a:solidFill>
                  <a:srgbClr val="FFFFFF"/>
                </a:solidFill>
              </a:rPr>
              <a:t>다른 사용자의 로그인 </a:t>
            </a:r>
            <a:r>
              <a:rPr lang="en-US" altLang="ko-KR" sz="2000" dirty="0">
                <a:solidFill>
                  <a:srgbClr val="FFFFFF"/>
                </a:solidFill>
              </a:rPr>
              <a:t>ID</a:t>
            </a:r>
            <a:r>
              <a:rPr lang="ko-KR" altLang="en-US" sz="2000" dirty="0">
                <a:solidFill>
                  <a:srgbClr val="FFFFFF"/>
                </a:solidFill>
              </a:rPr>
              <a:t>와 함께 사용하면 해당 사용자의 홈 디렉터리를 나타냄</a:t>
            </a:r>
            <a:r>
              <a:rPr lang="en-US" altLang="ko-KR" sz="2000" dirty="0">
                <a:solidFill>
                  <a:srgbClr val="FFFFFF"/>
                </a:solidFill>
              </a:rPr>
              <a:t>. 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-</a:t>
            </a:r>
            <a:r>
              <a:rPr lang="ko-KR" altLang="en-US" sz="2000" dirty="0">
                <a:solidFill>
                  <a:srgbClr val="FFFF00"/>
                </a:solidFill>
              </a:rPr>
              <a:t>는 </a:t>
            </a:r>
            <a:r>
              <a:rPr lang="en-US" altLang="ko-KR" sz="2000" dirty="0">
                <a:solidFill>
                  <a:srgbClr val="FFFFFF"/>
                </a:solidFill>
              </a:rPr>
              <a:t>cd </a:t>
            </a:r>
            <a:r>
              <a:rPr lang="ko-KR" altLang="en-US" sz="2000" dirty="0">
                <a:solidFill>
                  <a:srgbClr val="FFFFFF"/>
                </a:solidFill>
              </a:rPr>
              <a:t>명령으로 디렉터리를 </a:t>
            </a:r>
            <a:r>
              <a:rPr lang="ko-KR" altLang="en-US" sz="2000" dirty="0">
                <a:solidFill>
                  <a:srgbClr val="FFFF00"/>
                </a:solidFill>
              </a:rPr>
              <a:t>이전하기 직전의 작업 디렉터리를 나타냄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ex ) cd - : </a:t>
            </a:r>
            <a:r>
              <a:rPr lang="ko-KR" altLang="en-US" sz="2000" dirty="0">
                <a:solidFill>
                  <a:srgbClr val="FFFFFF"/>
                </a:solidFill>
              </a:rPr>
              <a:t>이전 작업 디렉터리로 이동 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407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D5CDB-9B49-44F8-9ED6-6FA2B1440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04675"/>
            <a:ext cx="10515598" cy="5696125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;(</a:t>
            </a:r>
            <a:r>
              <a:rPr lang="ko-KR" altLang="en-US" sz="2000" dirty="0">
                <a:solidFill>
                  <a:srgbClr val="FFFF00"/>
                </a:solidFill>
              </a:rPr>
              <a:t>세미콜론</a:t>
            </a:r>
            <a:r>
              <a:rPr lang="en-US" altLang="ko-KR" sz="2000" dirty="0">
                <a:solidFill>
                  <a:srgbClr val="FFFF00"/>
                </a:solidFill>
              </a:rPr>
              <a:t>),|(</a:t>
            </a:r>
            <a:r>
              <a:rPr lang="ko-KR" altLang="en-US" sz="2000" dirty="0">
                <a:solidFill>
                  <a:srgbClr val="FFFF00"/>
                </a:solidFill>
              </a:rPr>
              <a:t>파이프</a:t>
            </a:r>
            <a:r>
              <a:rPr lang="en-US" altLang="ko-KR" sz="2000" dirty="0">
                <a:solidFill>
                  <a:srgbClr val="FFFF00"/>
                </a:solidFill>
              </a:rPr>
              <a:t>) : </a:t>
            </a:r>
            <a:r>
              <a:rPr lang="ko-KR" altLang="en-US" sz="2000" dirty="0">
                <a:solidFill>
                  <a:srgbClr val="FFFF00"/>
                </a:solidFill>
              </a:rPr>
              <a:t>명령과 명령을 연결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;(</a:t>
            </a:r>
            <a:r>
              <a:rPr lang="ko-KR" altLang="en-US" sz="2000" dirty="0">
                <a:solidFill>
                  <a:srgbClr val="FFFF00"/>
                </a:solidFill>
              </a:rPr>
              <a:t>세미콜론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는 연결된 명령을 왼쪽부터 차례로 실행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|(</a:t>
            </a:r>
            <a:r>
              <a:rPr lang="ko-KR" altLang="en-US" sz="2000" dirty="0">
                <a:solidFill>
                  <a:srgbClr val="FFFF00"/>
                </a:solidFill>
              </a:rPr>
              <a:t>파이프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는 왼쪽 명령의 실행 결과를 오른쪽 명령의 입력으로 전달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' ' ," " : </a:t>
            </a:r>
            <a:r>
              <a:rPr lang="ko-KR" altLang="en-US" sz="2000" dirty="0">
                <a:solidFill>
                  <a:srgbClr val="FFFF00"/>
                </a:solidFill>
              </a:rPr>
              <a:t>문자를 감싸서 문자열로 만들어주고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문자열 안에 사용된 특수 문자의 기능을 없앰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 ' ' </a:t>
            </a:r>
            <a:r>
              <a:rPr lang="ko-KR" altLang="en-US" sz="2000" dirty="0">
                <a:solidFill>
                  <a:srgbClr val="FFFFFF"/>
                </a:solidFill>
              </a:rPr>
              <a:t>는 모든 특수 문자를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en-US" altLang="ko-KR" sz="2000" dirty="0">
                <a:solidFill>
                  <a:srgbClr val="FFFF00"/>
                </a:solidFill>
              </a:rPr>
              <a:t>" " 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en-US" altLang="ko-KR" sz="2000" dirty="0">
                <a:solidFill>
                  <a:srgbClr val="FFFF00"/>
                </a:solidFill>
              </a:rPr>
              <a:t>$,`,\</a:t>
            </a:r>
            <a:r>
              <a:rPr lang="ko-KR" altLang="en-US" sz="2000" dirty="0">
                <a:solidFill>
                  <a:srgbClr val="FFFFFF"/>
                </a:solidFill>
              </a:rPr>
              <a:t>을 제외한 모든 특수 문자를 일반 문자로 간주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``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셸은 </a:t>
            </a:r>
            <a:r>
              <a:rPr lang="en-US" altLang="ko-KR" sz="2000" dirty="0">
                <a:solidFill>
                  <a:srgbClr val="FFFFFF"/>
                </a:solidFill>
              </a:rPr>
              <a:t>` ` </a:t>
            </a:r>
            <a:r>
              <a:rPr lang="ko-KR" altLang="en-US" sz="2000" dirty="0">
                <a:solidFill>
                  <a:srgbClr val="FFFFFF"/>
                </a:solidFill>
              </a:rPr>
              <a:t>로 감싸인 문자열을 명령으로 해석하여 명령의 실행 결과로 바뀌게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00"/>
                </a:solidFill>
              </a:rPr>
              <a:t> \ </a:t>
            </a:r>
            <a:r>
              <a:rPr lang="ko-KR" altLang="en-US" sz="2000" dirty="0">
                <a:solidFill>
                  <a:srgbClr val="FFFFFF"/>
                </a:solidFill>
              </a:rPr>
              <a:t>는 특수 문자 바로 앞에 사용되는데 해당 특수 문자의 효과를 없애고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일만 문자처럼 처리한다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&gt;,&lt; , &gt;&gt; </a:t>
            </a:r>
            <a:r>
              <a:rPr lang="ko-KR" altLang="en-US" sz="2000" dirty="0">
                <a:solidFill>
                  <a:srgbClr val="FFFFFF"/>
                </a:solidFill>
              </a:rPr>
              <a:t>는 </a:t>
            </a:r>
            <a:r>
              <a:rPr lang="ko-KR" altLang="en-US" sz="2000" dirty="0">
                <a:solidFill>
                  <a:srgbClr val="FFFF00"/>
                </a:solidFill>
              </a:rPr>
              <a:t>입출력의 방향을 바꾸는 특수 문자</a:t>
            </a:r>
          </a:p>
        </p:txBody>
      </p:sp>
    </p:spTree>
    <p:extLst>
      <p:ext uri="{BB962C8B-B14F-4D97-AF65-F5344CB8AC3E}">
        <p14:creationId xmlns:p14="http://schemas.microsoft.com/office/powerpoint/2010/main" val="2497078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AEF57-9466-4B7F-9B6C-79F3F7CB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55009"/>
            <a:ext cx="10515598" cy="5519955"/>
          </a:xfrm>
        </p:spPr>
        <p:txBody>
          <a:bodyPr>
            <a:normAutofit lnSpcReduction="10000"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입출력 방향 바꾸기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표준 입출력 장치를 파일로 바꾸는 것</a:t>
            </a:r>
            <a:r>
              <a:rPr lang="ko-KR" altLang="en-US" sz="2000" dirty="0">
                <a:solidFill>
                  <a:srgbClr val="FFFFFF"/>
                </a:solidFill>
              </a:rPr>
              <a:t>을 </a:t>
            </a:r>
            <a:r>
              <a:rPr lang="en-US" altLang="ko-KR" sz="2000" dirty="0">
                <a:solidFill>
                  <a:srgbClr val="FFFF00"/>
                </a:solidFill>
              </a:rPr>
              <a:t>'</a:t>
            </a:r>
            <a:r>
              <a:rPr lang="ko-KR" altLang="en-US" sz="2000" dirty="0" err="1">
                <a:solidFill>
                  <a:srgbClr val="FFFF00"/>
                </a:solidFill>
              </a:rPr>
              <a:t>리다이렉션</a:t>
            </a:r>
            <a:r>
              <a:rPr lang="en-US" altLang="ko-KR" sz="2000" dirty="0">
                <a:solidFill>
                  <a:srgbClr val="FFFF00"/>
                </a:solidFill>
              </a:rPr>
              <a:t>' </a:t>
            </a:r>
            <a:r>
              <a:rPr lang="ko-KR" altLang="en-US" sz="2000" dirty="0" err="1">
                <a:solidFill>
                  <a:srgbClr val="FFFFFF"/>
                </a:solidFill>
              </a:rPr>
              <a:t>이라함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리다이렉션</a:t>
            </a:r>
            <a:r>
              <a:rPr lang="ko-KR" altLang="en-US" sz="2000" dirty="0">
                <a:solidFill>
                  <a:srgbClr val="FFFF00"/>
                </a:solidFill>
              </a:rPr>
              <a:t> 두가지 방법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파일 덮어쓰기 </a:t>
            </a:r>
            <a:r>
              <a:rPr lang="en-US" altLang="ko-KR" sz="2000" dirty="0">
                <a:solidFill>
                  <a:srgbClr val="FFFFFF"/>
                </a:solidFill>
              </a:rPr>
              <a:t>: &gt; ,  </a:t>
            </a:r>
            <a:r>
              <a:rPr lang="ko-KR" altLang="en-US" sz="2000" dirty="0">
                <a:solidFill>
                  <a:srgbClr val="FFFFFF"/>
                </a:solidFill>
              </a:rPr>
              <a:t>명령  </a:t>
            </a:r>
            <a:r>
              <a:rPr lang="en-US" altLang="ko-KR" sz="2000" dirty="0">
                <a:solidFill>
                  <a:srgbClr val="FFFFFF"/>
                </a:solidFill>
              </a:rPr>
              <a:t>&gt; </a:t>
            </a:r>
            <a:r>
              <a:rPr lang="ko-KR" altLang="en-US" sz="2000" dirty="0">
                <a:solidFill>
                  <a:srgbClr val="FFFFFF"/>
                </a:solidFill>
              </a:rPr>
              <a:t>파일 이름 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</a:t>
            </a:r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파일에 내용 추가하기 </a:t>
            </a:r>
            <a:r>
              <a:rPr lang="en-US" altLang="ko-KR" sz="2000" dirty="0">
                <a:solidFill>
                  <a:srgbClr val="FFFFFF"/>
                </a:solidFill>
              </a:rPr>
              <a:t>: &gt;&gt; ,   </a:t>
            </a:r>
            <a:r>
              <a:rPr lang="ko-KR" altLang="en-US" sz="2000" dirty="0">
                <a:solidFill>
                  <a:srgbClr val="FFFFFF"/>
                </a:solidFill>
              </a:rPr>
              <a:t>명령 </a:t>
            </a:r>
            <a:r>
              <a:rPr lang="en-US" altLang="ko-KR" sz="2000" dirty="0">
                <a:solidFill>
                  <a:srgbClr val="FFFFFF"/>
                </a:solidFill>
              </a:rPr>
              <a:t>&gt;&gt; </a:t>
            </a:r>
            <a:r>
              <a:rPr lang="ko-KR" altLang="en-US" sz="2000" dirty="0">
                <a:solidFill>
                  <a:srgbClr val="FFFFFF"/>
                </a:solidFill>
              </a:rPr>
              <a:t>파일이름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오류 </a:t>
            </a:r>
            <a:r>
              <a:rPr lang="ko-KR" altLang="en-US" sz="2000" dirty="0" err="1">
                <a:solidFill>
                  <a:srgbClr val="FFFF00"/>
                </a:solidFill>
              </a:rPr>
              <a:t>리다이렉션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기능 </a:t>
            </a:r>
            <a:r>
              <a:rPr lang="en-US" altLang="ko-KR" sz="2000" dirty="0">
                <a:solidFill>
                  <a:srgbClr val="FFFF00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표준 오류 메세지를 파일에 저장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명령어 </a:t>
            </a:r>
            <a:r>
              <a:rPr lang="en-US" altLang="ko-KR" sz="2000" dirty="0">
                <a:solidFill>
                  <a:srgbClr val="FFFF00"/>
                </a:solidFill>
              </a:rPr>
              <a:t>: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명령 </a:t>
            </a:r>
            <a:r>
              <a:rPr lang="en-US" altLang="ko-KR" sz="2000" dirty="0">
                <a:solidFill>
                  <a:srgbClr val="FFFFFF"/>
                </a:solidFill>
              </a:rPr>
              <a:t>2&gt; </a:t>
            </a:r>
            <a:r>
              <a:rPr lang="ko-KR" altLang="en-US" sz="2000" dirty="0">
                <a:solidFill>
                  <a:srgbClr val="FFFFFF"/>
                </a:solidFill>
              </a:rPr>
              <a:t>파일 이름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표준 출력과 표준 오류를 한 파일로 </a:t>
            </a:r>
            <a:r>
              <a:rPr lang="ko-KR" altLang="en-US" sz="2000" dirty="0" err="1">
                <a:solidFill>
                  <a:srgbClr val="FFFF00"/>
                </a:solidFill>
              </a:rPr>
              <a:t>리다이렉션</a:t>
            </a:r>
            <a:r>
              <a:rPr lang="ko-KR" altLang="en-US" sz="2000" dirty="0">
                <a:solidFill>
                  <a:srgbClr val="FFFF00"/>
                </a:solidFill>
              </a:rPr>
              <a:t> 하는 방법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명령의 정상 실행 결과를 파일로 </a:t>
            </a:r>
            <a:r>
              <a:rPr lang="ko-KR" altLang="en-US" sz="2000" dirty="0" err="1">
                <a:solidFill>
                  <a:srgbClr val="FFFFFF"/>
                </a:solidFill>
              </a:rPr>
              <a:t>리다이렉션한다</a:t>
            </a: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그 명령 전체의 오류 메세지를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번 파일로 </a:t>
            </a:r>
            <a:r>
              <a:rPr lang="ko-KR" altLang="en-US" sz="2000" dirty="0" err="1">
                <a:solidFill>
                  <a:srgbClr val="FFFFFF"/>
                </a:solidFill>
              </a:rPr>
              <a:t>리다이렉션한다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906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D9FE9-3A13-48CD-B6DC-72664DEC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9509"/>
            <a:ext cx="10515598" cy="54974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입력 </a:t>
            </a:r>
            <a:r>
              <a:rPr lang="ko-KR" altLang="en-US" sz="2000" dirty="0" err="1">
                <a:solidFill>
                  <a:srgbClr val="FFFF00"/>
                </a:solidFill>
              </a:rPr>
              <a:t>리다이렉션</a:t>
            </a:r>
            <a:r>
              <a:rPr lang="ko-KR" altLang="en-US" sz="2000" dirty="0">
                <a:solidFill>
                  <a:srgbClr val="FFFF00"/>
                </a:solidFill>
              </a:rPr>
              <a:t> 명령어 </a:t>
            </a:r>
            <a:r>
              <a:rPr lang="en-US" altLang="ko-KR" sz="2000" dirty="0">
                <a:solidFill>
                  <a:srgbClr val="FFFF00"/>
                </a:solidFill>
              </a:rPr>
              <a:t>: &lt; , </a:t>
            </a:r>
            <a:r>
              <a:rPr lang="ko-KR" altLang="en-US" sz="2000" dirty="0">
                <a:solidFill>
                  <a:srgbClr val="FFFF00"/>
                </a:solidFill>
              </a:rPr>
              <a:t>명령 </a:t>
            </a:r>
            <a:r>
              <a:rPr lang="en-US" altLang="ko-KR" sz="2000" dirty="0">
                <a:solidFill>
                  <a:srgbClr val="FFFF00"/>
                </a:solidFill>
              </a:rPr>
              <a:t>&lt; </a:t>
            </a:r>
            <a:r>
              <a:rPr lang="ko-KR" altLang="en-US" sz="2000" dirty="0">
                <a:solidFill>
                  <a:srgbClr val="FFFF00"/>
                </a:solidFill>
              </a:rPr>
              <a:t>파일이름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배시 셸 환경 설정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셸은 셸의 환경을 설정하기 위한 값을 저장 할 수 있도록 셸 변수와 환경 변수를 제공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셸 변수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해당 셸의 지역 변수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환경 변수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현재 셸과 서브 셸에서 공통적으로 사용할 수 있는 전역 변수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셸 변수 출력 명령어 </a:t>
            </a:r>
            <a:r>
              <a:rPr lang="en-US" altLang="ko-KR" sz="2000" dirty="0">
                <a:solidFill>
                  <a:srgbClr val="FFFF00"/>
                </a:solidFill>
              </a:rPr>
              <a:t>: set, env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set : </a:t>
            </a:r>
            <a:r>
              <a:rPr lang="ko-KR" altLang="en-US" sz="2000" dirty="0">
                <a:solidFill>
                  <a:srgbClr val="FFFFFF"/>
                </a:solidFill>
              </a:rPr>
              <a:t>셸 변수와 환경 변수를 모두 출력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env : </a:t>
            </a:r>
            <a:r>
              <a:rPr lang="ko-KR" altLang="en-US" sz="2000" dirty="0">
                <a:solidFill>
                  <a:srgbClr val="FFFFFF"/>
                </a:solidFill>
              </a:rPr>
              <a:t>환경 변수만 출력 </a:t>
            </a:r>
          </a:p>
        </p:txBody>
      </p:sp>
    </p:spTree>
    <p:extLst>
      <p:ext uri="{BB962C8B-B14F-4D97-AF65-F5344CB8AC3E}">
        <p14:creationId xmlns:p14="http://schemas.microsoft.com/office/powerpoint/2010/main" val="766266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2583A-705F-408C-A906-F786C514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3"/>
            <a:ext cx="10515598" cy="5363230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주요 셸 환경 변수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HISTSIZE : </a:t>
            </a:r>
            <a:r>
              <a:rPr lang="ko-KR" altLang="en-US" sz="2000" dirty="0">
                <a:solidFill>
                  <a:srgbClr val="FFFFFF"/>
                </a:solidFill>
              </a:rPr>
              <a:t>히스토리 저장 크기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HOME : </a:t>
            </a:r>
            <a:r>
              <a:rPr lang="ko-KR" altLang="en-US" sz="2000" dirty="0">
                <a:solidFill>
                  <a:srgbClr val="FFFFFF"/>
                </a:solidFill>
              </a:rPr>
              <a:t>사용자 홈 디렉터리의 절대 경로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LANG : </a:t>
            </a:r>
            <a:r>
              <a:rPr lang="ko-KR" altLang="en-US" sz="2000" dirty="0">
                <a:solidFill>
                  <a:srgbClr val="FFFFFF"/>
                </a:solidFill>
              </a:rPr>
              <a:t>사용하는 언어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LOGNAME : </a:t>
            </a:r>
            <a:r>
              <a:rPr lang="ko-KR" altLang="en-US" sz="2000" dirty="0">
                <a:solidFill>
                  <a:srgbClr val="FFFFFF"/>
                </a:solidFill>
              </a:rPr>
              <a:t>사용자 계정 이름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PATH : </a:t>
            </a:r>
            <a:r>
              <a:rPr lang="ko-KR" altLang="en-US" sz="2000" dirty="0">
                <a:solidFill>
                  <a:srgbClr val="FFFFFF"/>
                </a:solidFill>
              </a:rPr>
              <a:t>명령을 탐색할 경로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PWD : </a:t>
            </a:r>
            <a:r>
              <a:rPr lang="ko-KR" altLang="en-US" sz="2000" dirty="0">
                <a:solidFill>
                  <a:srgbClr val="FFFFFF"/>
                </a:solidFill>
              </a:rPr>
              <a:t>작업 디렉터리 절대 경로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SHELL : </a:t>
            </a:r>
            <a:r>
              <a:rPr lang="ko-KR" altLang="en-US" sz="2000" dirty="0">
                <a:solidFill>
                  <a:srgbClr val="FFFFFF"/>
                </a:solidFill>
              </a:rPr>
              <a:t>로그인 셸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특정 변수 출력하기 </a:t>
            </a:r>
            <a:r>
              <a:rPr lang="en-US" altLang="ko-KR" sz="2000" dirty="0">
                <a:solidFill>
                  <a:srgbClr val="FFFF00"/>
                </a:solidFill>
              </a:rPr>
              <a:t>: echo $</a:t>
            </a:r>
            <a:r>
              <a:rPr lang="ko-KR" altLang="en-US" sz="2000" dirty="0">
                <a:solidFill>
                  <a:srgbClr val="FFFF00"/>
                </a:solidFill>
              </a:rPr>
              <a:t>환경변수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232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9B8E3-60CE-45FB-80E3-E02A27F8A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96287"/>
            <a:ext cx="10515598" cy="5480676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셸 변수 설정 </a:t>
            </a:r>
            <a:r>
              <a:rPr lang="en-US" altLang="ko-KR" sz="2000" dirty="0">
                <a:solidFill>
                  <a:srgbClr val="FFFF00"/>
                </a:solidFill>
              </a:rPr>
              <a:t>:  </a:t>
            </a:r>
            <a:r>
              <a:rPr lang="ko-KR" altLang="en-US" sz="2000" dirty="0">
                <a:solidFill>
                  <a:srgbClr val="FFFF00"/>
                </a:solidFill>
              </a:rPr>
              <a:t>변수 이름 </a:t>
            </a:r>
            <a:r>
              <a:rPr lang="en-US" altLang="ko-KR" sz="2000" dirty="0">
                <a:solidFill>
                  <a:srgbClr val="FFFF00"/>
                </a:solidFill>
              </a:rPr>
              <a:t>= </a:t>
            </a:r>
            <a:r>
              <a:rPr lang="ko-KR" altLang="en-US" sz="2000" dirty="0">
                <a:solidFill>
                  <a:srgbClr val="FFFF00"/>
                </a:solidFill>
              </a:rPr>
              <a:t>문자열</a:t>
            </a: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ex ) SOME = test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환경 변수 설정 </a:t>
            </a:r>
            <a:r>
              <a:rPr lang="en-US" altLang="ko-KR" sz="2000" dirty="0">
                <a:solidFill>
                  <a:srgbClr val="FFFF00"/>
                </a:solidFill>
              </a:rPr>
              <a:t>: export [-n] [</a:t>
            </a:r>
            <a:r>
              <a:rPr lang="ko-KR" altLang="en-US" sz="2000" dirty="0">
                <a:solidFill>
                  <a:srgbClr val="FFFF00"/>
                </a:solidFill>
              </a:rPr>
              <a:t>셸 변수</a:t>
            </a:r>
            <a:r>
              <a:rPr lang="en-US" altLang="ko-KR" sz="2000" dirty="0">
                <a:solidFill>
                  <a:srgbClr val="FFFF00"/>
                </a:solidFill>
              </a:rPr>
              <a:t>]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기능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지정한 </a:t>
            </a:r>
            <a:r>
              <a:rPr lang="ko-KR" altLang="en-US" sz="2000" dirty="0">
                <a:solidFill>
                  <a:srgbClr val="FFFF00"/>
                </a:solidFill>
              </a:rPr>
              <a:t>셸 변수를 환경 변수로 바꿈 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옵션 </a:t>
            </a:r>
            <a:r>
              <a:rPr lang="en-US" altLang="ko-KR" sz="2000" dirty="0">
                <a:solidFill>
                  <a:srgbClr val="FFFFFF"/>
                </a:solidFill>
              </a:rPr>
              <a:t>-n  : </a:t>
            </a:r>
            <a:r>
              <a:rPr lang="ko-KR" altLang="en-US" sz="2000" dirty="0">
                <a:solidFill>
                  <a:srgbClr val="FFFFFF"/>
                </a:solidFill>
              </a:rPr>
              <a:t>환경 변수를 셸 변수로 바꿈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변수 해제하기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기능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지정한 변수를 해체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명령어 </a:t>
            </a:r>
            <a:r>
              <a:rPr lang="en-US" altLang="ko-KR" sz="2000" dirty="0">
                <a:solidFill>
                  <a:srgbClr val="FFFF00"/>
                </a:solidFill>
              </a:rPr>
              <a:t>: unset    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400" dirty="0" err="1">
                <a:solidFill>
                  <a:srgbClr val="FFFF00"/>
                </a:solidFill>
              </a:rPr>
              <a:t>에일리어스</a:t>
            </a:r>
            <a:r>
              <a:rPr lang="ko-KR" altLang="en-US" sz="2400" dirty="0">
                <a:solidFill>
                  <a:srgbClr val="FFFF00"/>
                </a:solidFill>
              </a:rPr>
              <a:t>  </a:t>
            </a:r>
            <a:r>
              <a:rPr lang="en-US" altLang="ko-KR" sz="2400" dirty="0">
                <a:solidFill>
                  <a:srgbClr val="FFFF00"/>
                </a:solidFill>
              </a:rPr>
              <a:t>= </a:t>
            </a:r>
            <a:r>
              <a:rPr lang="ko-KR" altLang="en-US" sz="2400" dirty="0">
                <a:solidFill>
                  <a:srgbClr val="FFFF00"/>
                </a:solidFill>
              </a:rPr>
              <a:t>별명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기능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기존의 명령을 대신하여 다른 이름을 붙일 수 있도록 하는 기능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형식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: alias </a:t>
            </a:r>
            <a:r>
              <a:rPr lang="ko-KR" altLang="en-US" sz="2000" dirty="0">
                <a:solidFill>
                  <a:srgbClr val="FFFF00"/>
                </a:solidFill>
              </a:rPr>
              <a:t>이름 </a:t>
            </a:r>
            <a:r>
              <a:rPr lang="en-US" altLang="ko-KR" sz="2000" dirty="0">
                <a:solidFill>
                  <a:srgbClr val="FFFF00"/>
                </a:solidFill>
              </a:rPr>
              <a:t>= '</a:t>
            </a:r>
            <a:r>
              <a:rPr lang="ko-KR" altLang="en-US" sz="2000" dirty="0">
                <a:solidFill>
                  <a:srgbClr val="FFFF00"/>
                </a:solidFill>
              </a:rPr>
              <a:t>명령</a:t>
            </a:r>
            <a:r>
              <a:rPr lang="en-US" altLang="ko-KR" sz="2000" dirty="0">
                <a:solidFill>
                  <a:srgbClr val="FFFF00"/>
                </a:solidFill>
              </a:rPr>
              <a:t>'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</a:p>
          <a:p>
            <a:r>
              <a:rPr lang="ko-KR" altLang="en-US" sz="2000" dirty="0" err="1">
                <a:solidFill>
                  <a:srgbClr val="FFFFFF"/>
                </a:solidFill>
              </a:rPr>
              <a:t>에일리어스</a:t>
            </a:r>
            <a:r>
              <a:rPr lang="ko-KR" altLang="en-US" sz="2000" dirty="0">
                <a:solidFill>
                  <a:srgbClr val="FFFFFF"/>
                </a:solidFill>
              </a:rPr>
              <a:t> 해체 명령어 </a:t>
            </a:r>
            <a:r>
              <a:rPr lang="en-US" altLang="ko-KR" sz="2000" dirty="0">
                <a:solidFill>
                  <a:srgbClr val="FFFF00"/>
                </a:solidFill>
              </a:rPr>
              <a:t>: unalias </a:t>
            </a:r>
            <a:r>
              <a:rPr lang="ko-KR" altLang="en-US" sz="2000" dirty="0">
                <a:solidFill>
                  <a:srgbClr val="FFFF00"/>
                </a:solidFill>
              </a:rPr>
              <a:t>지정한 명령어</a:t>
            </a:r>
          </a:p>
        </p:txBody>
      </p:sp>
    </p:spTree>
    <p:extLst>
      <p:ext uri="{BB962C8B-B14F-4D97-AF65-F5344CB8AC3E}">
        <p14:creationId xmlns:p14="http://schemas.microsoft.com/office/powerpoint/2010/main" val="3573250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A70B15-8FA2-46DF-B3B9-A9207FD61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29843"/>
            <a:ext cx="10515598" cy="544712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히스토리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기능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명령어를 입력하는 경우 오타로 인해 그 명령어를 다시 </a:t>
            </a:r>
            <a:r>
              <a:rPr lang="ko-KR" altLang="en-US" sz="2000" dirty="0" err="1">
                <a:solidFill>
                  <a:srgbClr val="FFFFFF"/>
                </a:solidFill>
              </a:rPr>
              <a:t>입력해야하는</a:t>
            </a:r>
            <a:r>
              <a:rPr lang="ko-KR" altLang="en-US" sz="2000" dirty="0">
                <a:solidFill>
                  <a:srgbClr val="FFFFFF"/>
                </a:solidFill>
              </a:rPr>
              <a:t> 경우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이전에 입력한 명령을 다시 불러 사용하는 기능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히스토리를 출력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명령어 </a:t>
            </a:r>
            <a:r>
              <a:rPr lang="en-US" altLang="ko-KR" sz="2000" dirty="0">
                <a:solidFill>
                  <a:srgbClr val="FFFF00"/>
                </a:solidFill>
              </a:rPr>
              <a:t>: history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명령 재실행하기 </a:t>
            </a:r>
            <a:r>
              <a:rPr lang="en-US" altLang="ko-KR" sz="2000" dirty="0">
                <a:solidFill>
                  <a:srgbClr val="FFFF00"/>
                </a:solidFill>
              </a:rPr>
              <a:t>: !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!!</a:t>
            </a:r>
            <a:r>
              <a:rPr lang="en-US" altLang="ko-KR" sz="2000" dirty="0">
                <a:solidFill>
                  <a:srgbClr val="FFFFFF"/>
                </a:solidFill>
              </a:rPr>
              <a:t> : </a:t>
            </a:r>
            <a:r>
              <a:rPr lang="ko-KR" altLang="en-US" sz="2000" dirty="0">
                <a:solidFill>
                  <a:srgbClr val="FFFFFF"/>
                </a:solidFill>
              </a:rPr>
              <a:t>바로 직전에 수행한 명령을 재실행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!</a:t>
            </a:r>
            <a:r>
              <a:rPr lang="ko-KR" altLang="en-US" sz="2000" dirty="0">
                <a:solidFill>
                  <a:srgbClr val="FFFF00"/>
                </a:solidFill>
              </a:rPr>
              <a:t>번호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히스토리에서 해당 번호의 명령을 재실행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00"/>
                </a:solidFill>
              </a:rPr>
              <a:t>!</a:t>
            </a:r>
            <a:r>
              <a:rPr lang="ko-KR" altLang="en-US" sz="2000" dirty="0">
                <a:solidFill>
                  <a:srgbClr val="FFFF00"/>
                </a:solidFill>
              </a:rPr>
              <a:t>문자열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히스토리에서 해당 문자열로 시작하는 마지막 명령을 재실행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잘못 입력한 명령어 수정하는 경우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프롬프트에서 </a:t>
            </a:r>
            <a:r>
              <a:rPr lang="ko-KR" altLang="en-US" sz="2000" dirty="0" err="1">
                <a:solidFill>
                  <a:srgbClr val="FFFF00"/>
                </a:solidFill>
              </a:rPr>
              <a:t>윗쪽</a:t>
            </a:r>
            <a:r>
              <a:rPr lang="ko-KR" altLang="en-US" sz="2000" dirty="0">
                <a:solidFill>
                  <a:srgbClr val="FFFF00"/>
                </a:solidFill>
              </a:rPr>
              <a:t> 화살표 </a:t>
            </a:r>
            <a:r>
              <a:rPr lang="ko-KR" altLang="en-US" sz="2000" dirty="0">
                <a:solidFill>
                  <a:srgbClr val="FFFFFF"/>
                </a:solidFill>
              </a:rPr>
              <a:t>누르면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 직전에 입력했던 명령어가 다시 나타남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히스토리 저장하기</a:t>
            </a:r>
            <a:r>
              <a:rPr lang="en-US" altLang="ko-KR" sz="2000" dirty="0">
                <a:solidFill>
                  <a:srgbClr val="FFFF00"/>
                </a:solidFill>
              </a:rPr>
              <a:t>: more ~/.</a:t>
            </a:r>
            <a:r>
              <a:rPr lang="en-US" altLang="ko-KR" sz="2000" dirty="0" err="1">
                <a:solidFill>
                  <a:srgbClr val="FFFF00"/>
                </a:solidFill>
              </a:rPr>
              <a:t>bash_history</a:t>
            </a:r>
            <a:endParaRPr lang="en-US" altLang="ko-KR" sz="2000" dirty="0">
              <a:solidFill>
                <a:srgbClr val="FFFF00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00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2A04D-83FD-4487-B5F8-693AB2FE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38231"/>
            <a:ext cx="10515598" cy="5438732"/>
          </a:xfrm>
        </p:spPr>
        <p:txBody>
          <a:bodyPr>
            <a:normAutofit lnSpcReduction="10000"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프롬프트 설정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 환경 변수 </a:t>
            </a:r>
            <a:r>
              <a:rPr lang="en-US" altLang="ko-KR" sz="2000" dirty="0">
                <a:solidFill>
                  <a:srgbClr val="FFFF00"/>
                </a:solidFill>
              </a:rPr>
              <a:t>:PS1</a:t>
            </a:r>
            <a:r>
              <a:rPr lang="ko-KR" altLang="en-US" sz="2000" dirty="0">
                <a:solidFill>
                  <a:srgbClr val="FFFF00"/>
                </a:solidFill>
              </a:rPr>
              <a:t>에 프롬프트로 사용할 문자열을 저장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이스케이프 문자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: \</a:t>
            </a:r>
            <a:r>
              <a:rPr lang="ko-KR" altLang="en-US" sz="2000" dirty="0">
                <a:solidFill>
                  <a:srgbClr val="FFFFFF"/>
                </a:solidFill>
              </a:rPr>
              <a:t>으로 시작하는 특별한 문자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이스케이프 문자는 화면에 문자 그대로 출력되지 않고 </a:t>
            </a:r>
            <a:r>
              <a:rPr lang="ko-KR" altLang="en-US" sz="2000" dirty="0">
                <a:solidFill>
                  <a:srgbClr val="FFFF00"/>
                </a:solidFill>
              </a:rPr>
              <a:t>셸이 문자의 의미를 해석하여 실행함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ex) \u : </a:t>
            </a:r>
            <a:r>
              <a:rPr lang="ko-KR" altLang="en-US" sz="2000" dirty="0">
                <a:solidFill>
                  <a:srgbClr val="FFFFFF"/>
                </a:solidFill>
              </a:rPr>
              <a:t>사용자 이름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>
                <a:solidFill>
                  <a:srgbClr val="FFFFFF"/>
                </a:solidFill>
              </a:rPr>
              <a:t>\h : </a:t>
            </a:r>
            <a:r>
              <a:rPr lang="ko-KR" altLang="en-US" sz="2000" dirty="0">
                <a:solidFill>
                  <a:srgbClr val="FFFFFF"/>
                </a:solidFill>
              </a:rPr>
              <a:t>호스트 이름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>
                <a:solidFill>
                  <a:srgbClr val="FFFFFF"/>
                </a:solidFill>
              </a:rPr>
              <a:t>\W : </a:t>
            </a:r>
            <a:r>
              <a:rPr lang="ko-KR" altLang="en-US" sz="2000" dirty="0">
                <a:solidFill>
                  <a:srgbClr val="FFFFFF"/>
                </a:solidFill>
              </a:rPr>
              <a:t>현재 작업 디렉터리 이름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>
                <a:solidFill>
                  <a:srgbClr val="FFFFFF"/>
                </a:solidFill>
              </a:rPr>
              <a:t>\s : </a:t>
            </a:r>
            <a:r>
              <a:rPr lang="ko-KR" altLang="en-US" sz="2000" dirty="0">
                <a:solidFill>
                  <a:srgbClr val="FFFFFF"/>
                </a:solidFill>
              </a:rPr>
              <a:t>셸 이름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>
                <a:solidFill>
                  <a:srgbClr val="FFFFFF"/>
                </a:solidFill>
              </a:rPr>
              <a:t>\! : </a:t>
            </a:r>
            <a:r>
              <a:rPr lang="ko-KR" altLang="en-US" sz="2000" dirty="0">
                <a:solidFill>
                  <a:srgbClr val="FFFFFF"/>
                </a:solidFill>
              </a:rPr>
              <a:t>현재 명령의 히스토리 번호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>
                <a:solidFill>
                  <a:srgbClr val="FFFFFF"/>
                </a:solidFill>
              </a:rPr>
              <a:t>\[ : </a:t>
            </a:r>
            <a:r>
              <a:rPr lang="ko-KR" altLang="en-US" sz="2000" dirty="0">
                <a:solidFill>
                  <a:srgbClr val="FFFFFF"/>
                </a:solidFill>
              </a:rPr>
              <a:t>출력하지 않을 문자열의 시작 부분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</a:t>
            </a:r>
            <a:r>
              <a:rPr lang="en-US" altLang="ko-KR" sz="2000" dirty="0">
                <a:solidFill>
                  <a:srgbClr val="FFFFFF"/>
                </a:solidFill>
              </a:rPr>
              <a:t>\a : ASCLL </a:t>
            </a:r>
            <a:r>
              <a:rPr lang="ko-KR" altLang="en-US" sz="2000" dirty="0">
                <a:solidFill>
                  <a:srgbClr val="FFFFFF"/>
                </a:solidFill>
              </a:rPr>
              <a:t>종소리 문자  등등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</a:t>
            </a:r>
            <a:r>
              <a:rPr lang="en-US" altLang="ko-KR" sz="2000" dirty="0">
                <a:solidFill>
                  <a:srgbClr val="FFFFFF"/>
                </a:solidFill>
              </a:rPr>
              <a:t>ex) PS1='`</a:t>
            </a:r>
            <a:r>
              <a:rPr lang="en-US" altLang="ko-KR" sz="2000" dirty="0" err="1">
                <a:solidFill>
                  <a:srgbClr val="FFFFFF"/>
                </a:solidFill>
              </a:rPr>
              <a:t>uname</a:t>
            </a:r>
            <a:r>
              <a:rPr lang="en-US" altLang="ko-KR" sz="2000" dirty="0">
                <a:solidFill>
                  <a:srgbClr val="FFFFFF"/>
                </a:solidFill>
              </a:rPr>
              <a:t> -n` \! $'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   PS1='[\u \T] \!$ ' 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69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9F8C82-36D5-4CCB-810A-B75DD46F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56345"/>
            <a:ext cx="10515598" cy="5220617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컬러 프롬프트 설정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형식 </a:t>
            </a:r>
            <a:r>
              <a:rPr lang="en-US" altLang="ko-KR" sz="2000" dirty="0">
                <a:solidFill>
                  <a:srgbClr val="FFFF00"/>
                </a:solidFill>
              </a:rPr>
              <a:t>: PS1= '\[\e[</a:t>
            </a:r>
            <a:r>
              <a:rPr lang="en-US" altLang="ko-KR" sz="2000" dirty="0" err="1">
                <a:solidFill>
                  <a:srgbClr val="FFFF00"/>
                </a:solidFill>
              </a:rPr>
              <a:t>x;y;nm</a:t>
            </a:r>
            <a:r>
              <a:rPr lang="en-US" altLang="ko-KR" sz="2000" dirty="0">
                <a:solidFill>
                  <a:srgbClr val="FFFF00"/>
                </a:solidFill>
              </a:rPr>
              <a:t>\] </a:t>
            </a:r>
            <a:r>
              <a:rPr lang="ko-KR" altLang="en-US" sz="2000" dirty="0">
                <a:solidFill>
                  <a:srgbClr val="FFFF00"/>
                </a:solidFill>
              </a:rPr>
              <a:t>프롬프트 </a:t>
            </a:r>
            <a:r>
              <a:rPr lang="en-US" altLang="ko-KR" sz="2000" dirty="0">
                <a:solidFill>
                  <a:srgbClr val="FFFF00"/>
                </a:solidFill>
              </a:rPr>
              <a:t>\[\e[x;y;0m\]'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\[ </a:t>
            </a:r>
            <a:r>
              <a:rPr lang="ko-KR" altLang="en-US" sz="2000" dirty="0">
                <a:solidFill>
                  <a:srgbClr val="FFFFFF"/>
                </a:solidFill>
              </a:rPr>
              <a:t>는 화면에 출력하지 않을 문자의 시작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\e </a:t>
            </a:r>
            <a:r>
              <a:rPr lang="ko-KR" altLang="en-US" sz="2000" dirty="0">
                <a:solidFill>
                  <a:srgbClr val="FFFFFF"/>
                </a:solidFill>
              </a:rPr>
              <a:t>터미널 제어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 err="1">
                <a:solidFill>
                  <a:srgbClr val="FFFFFF"/>
                </a:solidFill>
              </a:rPr>
              <a:t>x;y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컬러 번호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n </a:t>
            </a:r>
            <a:r>
              <a:rPr lang="ko-KR" altLang="en-US" sz="2000" dirty="0">
                <a:solidFill>
                  <a:srgbClr val="FFFFFF"/>
                </a:solidFill>
              </a:rPr>
              <a:t>밑줄이나 역상 표시 등 특수 기능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프롬프트 컬러 번호 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프롬프트 특수 기능 번호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BC6F7E-7EED-4F85-9D10-68C0601F0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210" y="4047572"/>
            <a:ext cx="7497874" cy="2172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029388-18E4-4693-B022-AE0EB033C9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0"/>
          <a:stretch/>
        </p:blipFill>
        <p:spPr>
          <a:xfrm>
            <a:off x="6458118" y="1767763"/>
            <a:ext cx="4991797" cy="208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22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27C456-56BF-4E82-9DB7-24278A82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10204"/>
            <a:ext cx="10515598" cy="4154361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환경 설정 파일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사용자가 로그인할 때마다 자동으로 실행되는 명령을 저장한 것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olidFill>
                  <a:srgbClr val="FFFFFF"/>
                </a:solidFill>
              </a:rPr>
              <a:t>로그인할 때마다 </a:t>
            </a:r>
            <a:r>
              <a:rPr lang="ko-KR" altLang="en-US" sz="2000" dirty="0" err="1">
                <a:solidFill>
                  <a:srgbClr val="FFFFFF"/>
                </a:solidFill>
              </a:rPr>
              <a:t>에일리어스</a:t>
            </a:r>
            <a:r>
              <a:rPr lang="ko-KR" altLang="en-US" sz="2000" dirty="0">
                <a:solidFill>
                  <a:srgbClr val="FFFFFF"/>
                </a:solidFill>
              </a:rPr>
              <a:t> 등을 새로 설정하는 번거로움을 피하는 방법에 유용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 </a:t>
            </a:r>
            <a:r>
              <a:rPr lang="en-US" altLang="ko-KR" sz="2000" dirty="0">
                <a:solidFill>
                  <a:srgbClr val="FFFFFF"/>
                </a:solidFill>
              </a:rPr>
              <a:t>ex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/profile ,  /</a:t>
            </a:r>
            <a:r>
              <a:rPr lang="en-US" altLang="ko-KR" sz="2000" dirty="0" err="1">
                <a:solidFill>
                  <a:srgbClr val="FFFFFF"/>
                </a:solidFill>
              </a:rPr>
              <a:t>etc</a:t>
            </a:r>
            <a:r>
              <a:rPr lang="en-US" altLang="ko-KR" sz="2000" dirty="0">
                <a:solidFill>
                  <a:srgbClr val="FFFFFF"/>
                </a:solidFill>
              </a:rPr>
              <a:t>/</a:t>
            </a:r>
            <a:r>
              <a:rPr lang="en-US" altLang="ko-KR" sz="2000" dirty="0" err="1">
                <a:solidFill>
                  <a:srgbClr val="FFFFFF"/>
                </a:solidFill>
              </a:rPr>
              <a:t>bashrc</a:t>
            </a:r>
            <a:r>
              <a:rPr lang="en-US" altLang="ko-KR" sz="2000" dirty="0">
                <a:solidFill>
                  <a:srgbClr val="FFFFFF"/>
                </a:solidFill>
              </a:rPr>
              <a:t>/ , /etc/profile.d/*.sh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사용자 환경 설정 파일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각 사용자의 홈 디렉터리에 숨김 파일로 있으며 사용자가 내용을 수정하고 관리할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ex)  ~/.</a:t>
            </a:r>
            <a:r>
              <a:rPr lang="en-US" altLang="ko-KR" sz="2000" dirty="0" err="1">
                <a:solidFill>
                  <a:srgbClr val="FFFFFF"/>
                </a:solidFill>
              </a:rPr>
              <a:t>bash_profile</a:t>
            </a:r>
            <a:r>
              <a:rPr lang="en-US" altLang="ko-KR" sz="2000" dirty="0">
                <a:solidFill>
                  <a:srgbClr val="FFFFFF"/>
                </a:solidFill>
              </a:rPr>
              <a:t> , ~/.</a:t>
            </a:r>
            <a:r>
              <a:rPr lang="en-US" altLang="ko-KR" sz="2000" dirty="0" err="1">
                <a:solidFill>
                  <a:srgbClr val="FFFFFF"/>
                </a:solidFill>
              </a:rPr>
              <a:t>bashrc</a:t>
            </a:r>
            <a:r>
              <a:rPr lang="en-US" altLang="ko-KR" sz="2000" dirty="0">
                <a:solidFill>
                  <a:srgbClr val="FFFFFF"/>
                </a:solidFill>
              </a:rPr>
              <a:t> , ~/.</a:t>
            </a:r>
            <a:r>
              <a:rPr lang="en-US" altLang="ko-KR" sz="2000" dirty="0" err="1">
                <a:solidFill>
                  <a:srgbClr val="FFFFFF"/>
                </a:solidFill>
              </a:rPr>
              <a:t>bash_logout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76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46A31-842F-4FC0-9112-DAC5FC107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23" y="747384"/>
            <a:ext cx="10515600" cy="5363231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linkClick r:id="rId2"/>
              </a:rPr>
              <a:t>http://mclab.silla.ac.kr/lecture/201501/sm/sm_lecture_04.pdf</a:t>
            </a:r>
            <a:endParaRPr lang="en-US" altLang="ko-KR" sz="2000" dirty="0"/>
          </a:p>
          <a:p>
            <a:r>
              <a:rPr lang="en-US" altLang="ko-KR" sz="2000" dirty="0">
                <a:hlinkClick r:id="rId3"/>
              </a:rPr>
              <a:t>https://webdir.tistory.com/101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1591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2764</Words>
  <Application>Microsoft Office PowerPoint</Application>
  <PresentationFormat>와이드스크린</PresentationFormat>
  <Paragraphs>356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9</cp:revision>
  <dcterms:created xsi:type="dcterms:W3CDTF">2019-06-24T15:45:06Z</dcterms:created>
  <dcterms:modified xsi:type="dcterms:W3CDTF">2019-06-24T16:10:05Z</dcterms:modified>
</cp:coreProperties>
</file>