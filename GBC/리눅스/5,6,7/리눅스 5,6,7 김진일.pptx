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62" r:id="rId26"/>
    <p:sldId id="283" r:id="rId27"/>
    <p:sldId id="287" r:id="rId28"/>
    <p:sldId id="288" r:id="rId29"/>
    <p:sldId id="289" r:id="rId30"/>
    <p:sldId id="290" r:id="rId31"/>
    <p:sldId id="291" r:id="rId32"/>
    <p:sldId id="292" r:id="rId33"/>
    <p:sldId id="284" r:id="rId34"/>
    <p:sldId id="285" r:id="rId35"/>
    <p:sldId id="294" r:id="rId36"/>
    <p:sldId id="295" r:id="rId37"/>
    <p:sldId id="296" r:id="rId38"/>
    <p:sldId id="297" r:id="rId39"/>
    <p:sldId id="293" r:id="rId40"/>
    <p:sldId id="28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C563-841D-4D34-8881-8EED1AC0C491}" type="datetimeFigureOut">
              <a:rPr lang="ko-KR" altLang="en-US" smtClean="0"/>
              <a:t>2019-06-25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6413-50F0-4ABD-9691-304AD74CE2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184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C563-841D-4D34-8881-8EED1AC0C491}" type="datetimeFigureOut">
              <a:rPr lang="ko-KR" altLang="en-US" smtClean="0"/>
              <a:t>2019-06-25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6413-50F0-4ABD-9691-304AD74CE2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731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C563-841D-4D34-8881-8EED1AC0C491}" type="datetimeFigureOut">
              <a:rPr lang="ko-KR" altLang="en-US" smtClean="0"/>
              <a:t>2019-06-25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6413-50F0-4ABD-9691-304AD74CE2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18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C563-841D-4D34-8881-8EED1AC0C491}" type="datetimeFigureOut">
              <a:rPr lang="ko-KR" altLang="en-US" smtClean="0"/>
              <a:t>2019-06-25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6413-50F0-4ABD-9691-304AD74CE2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024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C563-841D-4D34-8881-8EED1AC0C491}" type="datetimeFigureOut">
              <a:rPr lang="ko-KR" altLang="en-US" smtClean="0"/>
              <a:t>2019-06-25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6413-50F0-4ABD-9691-304AD74CE2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94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C563-841D-4D34-8881-8EED1AC0C491}" type="datetimeFigureOut">
              <a:rPr lang="ko-KR" altLang="en-US" smtClean="0"/>
              <a:t>2019-06-25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6413-50F0-4ABD-9691-304AD74CE2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28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C563-841D-4D34-8881-8EED1AC0C491}" type="datetimeFigureOut">
              <a:rPr lang="ko-KR" altLang="en-US" smtClean="0"/>
              <a:t>2019-06-25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6413-50F0-4ABD-9691-304AD74CE2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726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C563-841D-4D34-8881-8EED1AC0C491}" type="datetimeFigureOut">
              <a:rPr lang="ko-KR" altLang="en-US" smtClean="0"/>
              <a:t>2019-06-25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6413-50F0-4ABD-9691-304AD74CE2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632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C563-841D-4D34-8881-8EED1AC0C491}" type="datetimeFigureOut">
              <a:rPr lang="ko-KR" altLang="en-US" smtClean="0"/>
              <a:t>2019-06-25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6413-50F0-4ABD-9691-304AD74CE2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50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C563-841D-4D34-8881-8EED1AC0C491}" type="datetimeFigureOut">
              <a:rPr lang="ko-KR" altLang="en-US" smtClean="0"/>
              <a:t>2019-06-25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6413-50F0-4ABD-9691-304AD74CE2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41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C563-841D-4D34-8881-8EED1AC0C491}" type="datetimeFigureOut">
              <a:rPr lang="ko-KR" altLang="en-US" smtClean="0"/>
              <a:t>2019-06-25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6413-50F0-4ABD-9691-304AD74CE2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21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6C563-841D-4D34-8881-8EED1AC0C491}" type="datetimeFigureOut">
              <a:rPr lang="ko-KR" altLang="en-US" smtClean="0"/>
              <a:t>2019-06-25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B6413-50F0-4ABD-9691-304AD74CE2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476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kimhyun2017.tistory.com/23" TargetMode="External"/><Relationship Id="rId3" Type="http://schemas.openxmlformats.org/officeDocument/2006/relationships/hyperlink" Target="https://sksstar.tistory.com/9" TargetMode="External"/><Relationship Id="rId7" Type="http://schemas.openxmlformats.org/officeDocument/2006/relationships/hyperlink" Target="https://m.blog.naver.com/PostView.nhn?blogId=dudwo567890&amp;logNo=130156968885&amp;proxyReferer=https%3A%2F%2Fwww.google.com%2F" TargetMode="External"/><Relationship Id="rId12" Type="http://schemas.openxmlformats.org/officeDocument/2006/relationships/hyperlink" Target="https://rrhh234cm.tistory.com/184" TargetMode="External"/><Relationship Id="rId2" Type="http://schemas.openxmlformats.org/officeDocument/2006/relationships/hyperlink" Target="http://mclab.silla.ac.kr/lecture/201501/sm/sm_lecture_06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unguru-infra.blogspot.com/2018/03/centos-66-9.html" TargetMode="External"/><Relationship Id="rId11" Type="http://schemas.openxmlformats.org/officeDocument/2006/relationships/hyperlink" Target="https://rrhh234cm.tistory.com/185" TargetMode="External"/><Relationship Id="rId5" Type="http://schemas.openxmlformats.org/officeDocument/2006/relationships/hyperlink" Target="http://mclab.silla.ac.kr/lecture/201501/sm/sm_lecture_05.pdf" TargetMode="External"/><Relationship Id="rId10" Type="http://schemas.openxmlformats.org/officeDocument/2006/relationships/hyperlink" Target="https://zeromini0.tistory.com/30" TargetMode="External"/><Relationship Id="rId4" Type="http://schemas.openxmlformats.org/officeDocument/2006/relationships/hyperlink" Target="https://jin1ib.tistory.com/86" TargetMode="External"/><Relationship Id="rId9" Type="http://schemas.openxmlformats.org/officeDocument/2006/relationships/hyperlink" Target="https://rrhh234cm.tistory.com/19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342095-C3F2-4905-90FF-647D69BBC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280095"/>
            <a:ext cx="10515598" cy="2896867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altLang="ko-KR" sz="4000" dirty="0">
                <a:solidFill>
                  <a:srgbClr val="FFFFFF"/>
                </a:solidFill>
              </a:rPr>
              <a:t>GBC </a:t>
            </a:r>
            <a:r>
              <a:rPr lang="ko-KR" altLang="en-US" sz="4000" dirty="0">
                <a:solidFill>
                  <a:srgbClr val="FFFFFF"/>
                </a:solidFill>
              </a:rPr>
              <a:t>리눅스 </a:t>
            </a:r>
            <a:r>
              <a:rPr lang="en-US" altLang="ko-KR" sz="4000" dirty="0">
                <a:solidFill>
                  <a:srgbClr val="FFFFFF"/>
                </a:solidFill>
              </a:rPr>
              <a:t>5,6,7</a:t>
            </a:r>
          </a:p>
          <a:p>
            <a:pPr marL="457200" lvl="1" indent="0" algn="ctr">
              <a:buNone/>
            </a:pPr>
            <a:r>
              <a:rPr lang="en-US" altLang="ko-KR" sz="3000" dirty="0">
                <a:solidFill>
                  <a:srgbClr val="FFFFFF"/>
                </a:solidFill>
              </a:rPr>
              <a:t>21900195 </a:t>
            </a:r>
            <a:r>
              <a:rPr lang="ko-KR" altLang="en-US" sz="3000" dirty="0">
                <a:solidFill>
                  <a:srgbClr val="FFFFFF"/>
                </a:solidFill>
              </a:rPr>
              <a:t>김 진 일 </a:t>
            </a:r>
          </a:p>
        </p:txBody>
      </p:sp>
    </p:spTree>
    <p:extLst>
      <p:ext uri="{BB962C8B-B14F-4D97-AF65-F5344CB8AC3E}">
        <p14:creationId xmlns:p14="http://schemas.microsoft.com/office/powerpoint/2010/main" val="702760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8153FC-86C4-49A4-B690-648283AF2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65111"/>
            <a:ext cx="10515598" cy="5411852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FFFF"/>
                </a:solidFill>
              </a:rPr>
              <a:t>파일의 속성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ls –l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명령을 통해 파일의 상세 정보를 출력하게 되면 나오는 상세 정보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1028" name="Picture 4" descr="ë¦¬ëì¤ íì¼ì ìì±ì ëí ì´ë¯¸ì§ ê²ìê²°ê³¼">
            <a:extLst>
              <a:ext uri="{FF2B5EF4-FFF2-40B4-BE49-F238E27FC236}">
                <a16:creationId xmlns:a16="http://schemas.microsoft.com/office/drawing/2014/main" id="{59C9F5BB-D1A4-4CC1-8A55-4D0E5F2D5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821" y="2035012"/>
            <a:ext cx="6074714" cy="3442338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400207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0AD707-A48A-49A4-AEE5-901A8E81B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27789"/>
            <a:ext cx="10515598" cy="5449174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FFFF"/>
                </a:solidFill>
              </a:rPr>
              <a:t>사용 형식 </a:t>
            </a:r>
            <a:endParaRPr lang="en-US" altLang="ko-KR" sz="24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00"/>
                </a:solidFill>
              </a:rPr>
              <a:t>file</a:t>
            </a:r>
            <a:r>
              <a:rPr lang="ko-KR" altLang="en-US" sz="2000" dirty="0">
                <a:solidFill>
                  <a:srgbClr val="FFFFFF"/>
                </a:solidFill>
              </a:rPr>
              <a:t> 파일명 </a:t>
            </a:r>
            <a:r>
              <a:rPr lang="en-US" altLang="ko-KR" sz="2000" dirty="0">
                <a:solidFill>
                  <a:srgbClr val="FFFFFF"/>
                </a:solidFill>
              </a:rPr>
              <a:t>: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지정한 파일의 종류를 알려주는 명령어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ex) file /</a:t>
            </a:r>
            <a:r>
              <a:rPr lang="en-US" altLang="ko-KR" sz="2000" dirty="0" err="1">
                <a:solidFill>
                  <a:srgbClr val="FFFFFF"/>
                </a:solidFill>
              </a:rPr>
              <a:t>etc</a:t>
            </a:r>
            <a:r>
              <a:rPr lang="en-US" altLang="ko-KR" sz="2000" dirty="0">
                <a:solidFill>
                  <a:srgbClr val="FFFFFF"/>
                </a:solidFill>
              </a:rPr>
              <a:t>/services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파일의 접근 권한 표시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ex ) –</a:t>
            </a:r>
            <a:r>
              <a:rPr lang="en-US" altLang="ko-KR" sz="2000" dirty="0" err="1">
                <a:solidFill>
                  <a:srgbClr val="FFFFFF"/>
                </a:solidFill>
              </a:rPr>
              <a:t>rw</a:t>
            </a:r>
            <a:r>
              <a:rPr lang="en-US" altLang="ko-KR" sz="2000" dirty="0">
                <a:solidFill>
                  <a:srgbClr val="FFFFFF"/>
                </a:solidFill>
              </a:rPr>
              <a:t>-r-x—x.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1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chemeClr val="accent2"/>
                </a:solidFill>
              </a:rPr>
              <a:t>root </a:t>
            </a:r>
            <a:r>
              <a:rPr lang="en-US" altLang="ko-KR" sz="2000" dirty="0" err="1">
                <a:solidFill>
                  <a:srgbClr val="92D050"/>
                </a:solidFill>
              </a:rPr>
              <a:t>root</a:t>
            </a:r>
            <a:r>
              <a:rPr lang="en-US" altLang="ko-KR" sz="2000" dirty="0">
                <a:solidFill>
                  <a:srgbClr val="92D050"/>
                </a:solidFill>
              </a:rPr>
              <a:t> </a:t>
            </a:r>
            <a:r>
              <a:rPr lang="en-US" altLang="ko-KR" sz="2000" dirty="0">
                <a:solidFill>
                  <a:srgbClr val="00B0F0"/>
                </a:solidFill>
              </a:rPr>
              <a:t>158</a:t>
            </a:r>
            <a:r>
              <a:rPr lang="en-US" altLang="ko-KR" sz="2000" dirty="0">
                <a:solidFill>
                  <a:srgbClr val="FFFFFF"/>
                </a:solidFill>
              </a:rPr>
              <a:t> 8</a:t>
            </a:r>
            <a:r>
              <a:rPr lang="ko-KR" altLang="en-US" sz="2000" dirty="0">
                <a:solidFill>
                  <a:srgbClr val="FFFFFF"/>
                </a:solidFill>
              </a:rPr>
              <a:t>월 </a:t>
            </a:r>
            <a:r>
              <a:rPr lang="en-US" altLang="ko-KR" sz="2000" dirty="0">
                <a:solidFill>
                  <a:srgbClr val="FFFFFF"/>
                </a:solidFill>
              </a:rPr>
              <a:t>6 2012 test.txt</a:t>
            </a:r>
            <a:r>
              <a:rPr lang="ko-KR" altLang="en-US" sz="2000" dirty="0">
                <a:solidFill>
                  <a:srgbClr val="FFFFFF"/>
                </a:solidFill>
              </a:rPr>
              <a:t>여기서 </a:t>
            </a:r>
            <a:r>
              <a:rPr lang="en-US" altLang="ko-KR" sz="2000" dirty="0" err="1">
                <a:solidFill>
                  <a:srgbClr val="FFFFFF"/>
                </a:solidFill>
              </a:rPr>
              <a:t>rw</a:t>
            </a:r>
            <a:r>
              <a:rPr lang="en-US" altLang="ko-KR" sz="2000" dirty="0">
                <a:solidFill>
                  <a:srgbClr val="FFFFFF"/>
                </a:solidFill>
              </a:rPr>
              <a:t>-r-x—x </a:t>
            </a:r>
            <a:r>
              <a:rPr lang="ko-KR" altLang="en-US" sz="2000" dirty="0">
                <a:solidFill>
                  <a:srgbClr val="FFFFFF"/>
                </a:solidFill>
              </a:rPr>
              <a:t>는 </a:t>
            </a:r>
            <a:r>
              <a:rPr lang="ko-KR" altLang="en-US" sz="2000" dirty="0">
                <a:solidFill>
                  <a:srgbClr val="FFFF00"/>
                </a:solidFill>
              </a:rPr>
              <a:t>접근 권한을 </a:t>
            </a:r>
            <a:r>
              <a:rPr lang="ko-KR" altLang="en-US" sz="2000" dirty="0">
                <a:solidFill>
                  <a:srgbClr val="FFFFFF"/>
                </a:solidFill>
              </a:rPr>
              <a:t>나타냄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접근 권한은 파일의 소유자가 </a:t>
            </a:r>
            <a:r>
              <a:rPr lang="en-US" altLang="ko-KR" sz="2000" dirty="0" err="1">
                <a:solidFill>
                  <a:srgbClr val="FFFF00"/>
                </a:solidFill>
              </a:rPr>
              <a:t>chmod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명령</a:t>
            </a:r>
            <a:r>
              <a:rPr lang="ko-KR" altLang="en-US" sz="2000" dirty="0">
                <a:solidFill>
                  <a:srgbClr val="FFFFFF"/>
                </a:solidFill>
              </a:rPr>
              <a:t>을 사용하여 마음대로 수정 가능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00"/>
                </a:solidFill>
              </a:rPr>
              <a:t>하드 링크 개수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접근 권한을 나타내는 곳 뒤의 숫자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chemeClr val="accent2"/>
                </a:solidFill>
              </a:rPr>
              <a:t>파일 소유자의 로그인 </a:t>
            </a:r>
            <a:r>
              <a:rPr lang="en-US" altLang="ko-KR" sz="2000" dirty="0">
                <a:solidFill>
                  <a:schemeClr val="accent2"/>
                </a:solidFill>
              </a:rPr>
              <a:t>ID </a:t>
            </a:r>
            <a:r>
              <a:rPr lang="en-US" altLang="ko-KR" sz="2000" dirty="0">
                <a:solidFill>
                  <a:srgbClr val="FFFFFF"/>
                </a:solidFill>
              </a:rPr>
              <a:t>: root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92D050"/>
                </a:solidFill>
              </a:rPr>
              <a:t>파일 소유자의 그룹 이름 </a:t>
            </a:r>
            <a:r>
              <a:rPr lang="en-US" altLang="ko-KR" sz="2000" dirty="0">
                <a:solidFill>
                  <a:srgbClr val="FFFFFF"/>
                </a:solidFill>
              </a:rPr>
              <a:t>: root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00B0F0"/>
                </a:solidFill>
              </a:rPr>
              <a:t>파일의 크기 </a:t>
            </a:r>
            <a:r>
              <a:rPr lang="en-US" altLang="ko-KR" sz="2000" dirty="0">
                <a:solidFill>
                  <a:srgbClr val="FFFFFF"/>
                </a:solidFill>
              </a:rPr>
              <a:t>: 158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3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FB53C3-4430-489E-905E-EE7D868AE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55781"/>
            <a:ext cx="10515598" cy="5421182"/>
          </a:xfrm>
        </p:spPr>
        <p:txBody>
          <a:bodyPr>
            <a:normAutofit/>
          </a:bodyPr>
          <a:lstStyle/>
          <a:p>
            <a:endParaRPr lang="en-US" altLang="ko-KR" sz="2200" dirty="0">
              <a:solidFill>
                <a:srgbClr val="FFFFFF"/>
              </a:solidFill>
            </a:endParaRPr>
          </a:p>
          <a:p>
            <a:r>
              <a:rPr lang="en-US" altLang="ko-KR" sz="2200" dirty="0">
                <a:solidFill>
                  <a:srgbClr val="FFFFFF"/>
                </a:solidFill>
              </a:rPr>
              <a:t>groups :</a:t>
            </a:r>
            <a:r>
              <a:rPr lang="ko-KR" altLang="en-US" sz="2200" dirty="0">
                <a:solidFill>
                  <a:srgbClr val="FFFFFF"/>
                </a:solidFill>
              </a:rPr>
              <a:t>파일 소유자의 그룹을 알려주는 명령</a:t>
            </a:r>
            <a:endParaRPr lang="en-US" altLang="ko-KR" sz="2200" dirty="0">
              <a:solidFill>
                <a:srgbClr val="FFFFFF"/>
              </a:solidFill>
            </a:endParaRPr>
          </a:p>
          <a:p>
            <a:endParaRPr lang="en-US" altLang="ko-KR" sz="22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200" dirty="0">
                <a:solidFill>
                  <a:srgbClr val="FFFFFF"/>
                </a:solidFill>
              </a:rPr>
              <a:t>   </a:t>
            </a:r>
            <a:r>
              <a:rPr lang="ko-KR" altLang="en-US" sz="2200" dirty="0">
                <a:solidFill>
                  <a:srgbClr val="FFFFFF"/>
                </a:solidFill>
              </a:rPr>
              <a:t>파일 접근 권한 </a:t>
            </a:r>
            <a:r>
              <a:rPr lang="ko-KR" altLang="en-US" sz="2200" dirty="0">
                <a:solidFill>
                  <a:srgbClr val="FFFF00"/>
                </a:solidFill>
              </a:rPr>
              <a:t>사용자</a:t>
            </a:r>
            <a:r>
              <a:rPr lang="ko-KR" altLang="en-US" sz="2200" dirty="0">
                <a:solidFill>
                  <a:srgbClr val="FFFFFF"/>
                </a:solidFill>
              </a:rPr>
              <a:t> </a:t>
            </a:r>
            <a:endParaRPr lang="en-US" altLang="ko-KR" sz="22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200" dirty="0">
                <a:solidFill>
                  <a:srgbClr val="FFFFFF"/>
                </a:solidFill>
              </a:rPr>
              <a:t>  : </a:t>
            </a:r>
            <a:r>
              <a:rPr lang="ko-KR" altLang="en-US" sz="2200" dirty="0">
                <a:solidFill>
                  <a:srgbClr val="FFFFFF"/>
                </a:solidFill>
              </a:rPr>
              <a:t>파일의 소유자</a:t>
            </a:r>
            <a:r>
              <a:rPr lang="en-US" altLang="ko-KR" sz="2200" dirty="0">
                <a:solidFill>
                  <a:srgbClr val="FFFFFF"/>
                </a:solidFill>
              </a:rPr>
              <a:t>(user), </a:t>
            </a:r>
            <a:r>
              <a:rPr lang="ko-KR" altLang="en-US" sz="2200" dirty="0">
                <a:solidFill>
                  <a:srgbClr val="FFFFFF"/>
                </a:solidFill>
              </a:rPr>
              <a:t>파일이 속한 그룹</a:t>
            </a:r>
            <a:r>
              <a:rPr lang="en-US" altLang="ko-KR" sz="2200" dirty="0">
                <a:solidFill>
                  <a:srgbClr val="FFFFFF"/>
                </a:solidFill>
              </a:rPr>
              <a:t>(group), </a:t>
            </a:r>
            <a:r>
              <a:rPr lang="ko-KR" altLang="en-US" sz="2200" dirty="0">
                <a:solidFill>
                  <a:srgbClr val="FFFFFF"/>
                </a:solidFill>
              </a:rPr>
              <a:t>그 외 기타 사용자</a:t>
            </a:r>
            <a:r>
              <a:rPr lang="en-US" altLang="ko-KR" sz="2200" dirty="0">
                <a:solidFill>
                  <a:srgbClr val="FFFFFF"/>
                </a:solidFill>
              </a:rPr>
              <a:t>(others) </a:t>
            </a:r>
          </a:p>
          <a:p>
            <a:pPr marL="0" indent="0">
              <a:buNone/>
            </a:pPr>
            <a:r>
              <a:rPr lang="en-US" altLang="ko-KR" sz="2200" dirty="0">
                <a:solidFill>
                  <a:srgbClr val="FFFFFF"/>
                </a:solidFill>
              </a:rPr>
              <a:t>    </a:t>
            </a:r>
          </a:p>
          <a:p>
            <a:pPr marL="0" indent="0">
              <a:buNone/>
            </a:pPr>
            <a:r>
              <a:rPr lang="en-US" altLang="ko-KR" sz="2200" dirty="0">
                <a:solidFill>
                  <a:srgbClr val="FFFFFF"/>
                </a:solidFill>
              </a:rPr>
              <a:t>   </a:t>
            </a:r>
            <a:r>
              <a:rPr lang="ko-KR" altLang="en-US" sz="2200" dirty="0">
                <a:solidFill>
                  <a:srgbClr val="FFFFFF"/>
                </a:solidFill>
              </a:rPr>
              <a:t>파일의 접근 권한 </a:t>
            </a:r>
            <a:r>
              <a:rPr lang="ko-KR" altLang="en-US" sz="2200" dirty="0">
                <a:solidFill>
                  <a:srgbClr val="FFFF00"/>
                </a:solidFill>
              </a:rPr>
              <a:t>종류</a:t>
            </a:r>
            <a:r>
              <a:rPr lang="ko-KR" altLang="en-US" sz="2200" dirty="0">
                <a:solidFill>
                  <a:srgbClr val="FFFFFF"/>
                </a:solidFill>
              </a:rPr>
              <a:t> </a:t>
            </a:r>
            <a:endParaRPr lang="en-US" altLang="ko-KR" sz="22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200" dirty="0">
                <a:solidFill>
                  <a:srgbClr val="FFFFFF"/>
                </a:solidFill>
              </a:rPr>
              <a:t>  : </a:t>
            </a:r>
            <a:r>
              <a:rPr lang="ko-KR" altLang="en-US" sz="2000" dirty="0">
                <a:solidFill>
                  <a:srgbClr val="FFFF00"/>
                </a:solidFill>
              </a:rPr>
              <a:t>읽기 권한 </a:t>
            </a:r>
            <a:r>
              <a:rPr lang="en-US" altLang="ko-KR" sz="2000" dirty="0">
                <a:solidFill>
                  <a:srgbClr val="FFFF00"/>
                </a:solidFill>
              </a:rPr>
              <a:t>, </a:t>
            </a:r>
            <a:r>
              <a:rPr lang="ko-KR" altLang="en-US" sz="2000" dirty="0">
                <a:solidFill>
                  <a:srgbClr val="FFFF00"/>
                </a:solidFill>
              </a:rPr>
              <a:t>쓰기 권한</a:t>
            </a:r>
            <a:r>
              <a:rPr lang="en-US" altLang="ko-KR" sz="2000" dirty="0">
                <a:solidFill>
                  <a:srgbClr val="FFFF00"/>
                </a:solidFill>
              </a:rPr>
              <a:t>, </a:t>
            </a:r>
            <a:r>
              <a:rPr lang="ko-KR" altLang="en-US" sz="2000" dirty="0">
                <a:solidFill>
                  <a:srgbClr val="FFFF00"/>
                </a:solidFill>
              </a:rPr>
              <a:t>실행 권한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(</a:t>
            </a:r>
            <a:r>
              <a:rPr lang="ko-KR" altLang="en-US" sz="2000" dirty="0">
                <a:solidFill>
                  <a:srgbClr val="FFFF00"/>
                </a:solidFill>
              </a:rPr>
              <a:t>파일  </a:t>
            </a:r>
            <a:r>
              <a:rPr lang="en-US" altLang="ko-KR" sz="2000" dirty="0">
                <a:solidFill>
                  <a:srgbClr val="FFFF00"/>
                </a:solidFill>
              </a:rPr>
              <a:t>/ </a:t>
            </a:r>
            <a:r>
              <a:rPr lang="ko-KR" altLang="en-US" sz="2000" dirty="0">
                <a:solidFill>
                  <a:srgbClr val="FFFF00"/>
                </a:solidFill>
              </a:rPr>
              <a:t>디렉터리 </a:t>
            </a:r>
            <a:r>
              <a:rPr lang="en-US" altLang="ko-KR" sz="2000" dirty="0">
                <a:solidFill>
                  <a:srgbClr val="FFFF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</a:t>
            </a:r>
            <a:r>
              <a:rPr lang="ko-KR" altLang="en-US" sz="2000" dirty="0"/>
              <a:t>읽기 권한 </a:t>
            </a:r>
            <a:r>
              <a:rPr lang="en-US" altLang="ko-KR" sz="2000" dirty="0"/>
              <a:t>: </a:t>
            </a:r>
            <a:r>
              <a:rPr lang="ko-KR" altLang="en-US" sz="2000" dirty="0"/>
              <a:t>파일을 읽거나 복사할 수 있다</a:t>
            </a:r>
            <a:r>
              <a:rPr lang="en-US" altLang="ko-KR" sz="2000" dirty="0"/>
              <a:t>. / ls </a:t>
            </a:r>
            <a:r>
              <a:rPr lang="ko-KR" altLang="en-US" sz="2000" dirty="0"/>
              <a:t>명령으로 디렉터리 목록을 볼 수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쓰기 권한 </a:t>
            </a:r>
            <a:r>
              <a:rPr lang="en-US" altLang="ko-KR" sz="2000" dirty="0"/>
              <a:t>: </a:t>
            </a:r>
            <a:r>
              <a:rPr lang="ko-KR" altLang="en-US" sz="2000" dirty="0"/>
              <a:t>파일을 수정</a:t>
            </a:r>
            <a:r>
              <a:rPr lang="en-US" altLang="ko-KR" sz="2000" dirty="0"/>
              <a:t>, </a:t>
            </a:r>
            <a:r>
              <a:rPr lang="ko-KR" altLang="en-US" sz="2000" dirty="0"/>
              <a:t>이동</a:t>
            </a:r>
            <a:r>
              <a:rPr lang="en-US" altLang="ko-KR" sz="2000" dirty="0"/>
              <a:t>, </a:t>
            </a:r>
            <a:r>
              <a:rPr lang="ko-KR" altLang="en-US" sz="2000" dirty="0"/>
              <a:t>삭제할 수 있다</a:t>
            </a:r>
            <a:r>
              <a:rPr lang="en-US" altLang="ko-KR" sz="2000" dirty="0"/>
              <a:t>. / </a:t>
            </a:r>
            <a:r>
              <a:rPr lang="ko-KR" altLang="en-US" sz="2000" dirty="0"/>
              <a:t>파일을 생성하거나 삭제 가능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실행 권한 </a:t>
            </a:r>
            <a:r>
              <a:rPr lang="en-US" altLang="ko-KR" sz="2000" dirty="0"/>
              <a:t>: </a:t>
            </a:r>
            <a:r>
              <a:rPr lang="ko-KR" altLang="en-US" sz="2000" dirty="0"/>
              <a:t>파일을 실행할 수 있다</a:t>
            </a:r>
            <a:r>
              <a:rPr lang="en-US" altLang="ko-KR" sz="2000" dirty="0"/>
              <a:t>. / cd </a:t>
            </a:r>
            <a:r>
              <a:rPr lang="ko-KR" altLang="en-US" sz="2000" dirty="0"/>
              <a:t>명령을 사용할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파일을 디렉터리로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이동</a:t>
            </a:r>
            <a:r>
              <a:rPr lang="en-US" altLang="ko-KR" sz="2000" dirty="0"/>
              <a:t> </a:t>
            </a:r>
            <a:r>
              <a:rPr lang="ko-KR" altLang="en-US" sz="2000" dirty="0"/>
              <a:t>및 복사 가능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772116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B098C9-64DE-4B6A-ACA7-FB1B5143F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30425"/>
            <a:ext cx="10515598" cy="5346538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접근 권한의 표기 방법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읽기 권한 </a:t>
            </a:r>
            <a:r>
              <a:rPr lang="en-US" altLang="ko-KR" sz="2000" dirty="0">
                <a:solidFill>
                  <a:srgbClr val="FFFFFF"/>
                </a:solidFill>
              </a:rPr>
              <a:t>: r , </a:t>
            </a:r>
            <a:r>
              <a:rPr lang="ko-KR" altLang="en-US" sz="2000" dirty="0">
                <a:solidFill>
                  <a:srgbClr val="FFFFFF"/>
                </a:solidFill>
              </a:rPr>
              <a:t>쓰기 권한 </a:t>
            </a:r>
            <a:r>
              <a:rPr lang="en-US" altLang="ko-KR" sz="2000" dirty="0">
                <a:solidFill>
                  <a:srgbClr val="FFFFFF"/>
                </a:solidFill>
              </a:rPr>
              <a:t>: w , </a:t>
            </a:r>
            <a:r>
              <a:rPr lang="ko-KR" altLang="en-US" sz="2000" dirty="0">
                <a:solidFill>
                  <a:srgbClr val="FFFFFF"/>
                </a:solidFill>
              </a:rPr>
              <a:t>실행 권한 </a:t>
            </a:r>
            <a:r>
              <a:rPr lang="en-US" altLang="ko-KR" sz="2000" dirty="0">
                <a:solidFill>
                  <a:srgbClr val="FFFFFF"/>
                </a:solidFill>
              </a:rPr>
              <a:t>: x , </a:t>
            </a:r>
            <a:r>
              <a:rPr lang="ko-KR" altLang="en-US" sz="2000" dirty="0">
                <a:solidFill>
                  <a:srgbClr val="FFFFFF"/>
                </a:solidFill>
              </a:rPr>
              <a:t>해당 권한이 없는 경우 </a:t>
            </a:r>
            <a:r>
              <a:rPr lang="en-US" altLang="ko-KR" sz="2000" dirty="0">
                <a:solidFill>
                  <a:srgbClr val="FFFFFF"/>
                </a:solidFill>
              </a:rPr>
              <a:t>: -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사용자 카테고리별로 세 가지 </a:t>
            </a:r>
            <a:r>
              <a:rPr lang="ko-KR" altLang="en-US" sz="2000" dirty="0">
                <a:solidFill>
                  <a:srgbClr val="FFFF00"/>
                </a:solidFill>
              </a:rPr>
              <a:t>권한의 부여 여부를 </a:t>
            </a:r>
            <a:r>
              <a:rPr lang="en-US" altLang="ko-KR" sz="2000" dirty="0" err="1">
                <a:solidFill>
                  <a:srgbClr val="FFFF00"/>
                </a:solidFill>
              </a:rPr>
              <a:t>rwx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세문자</a:t>
            </a:r>
            <a:r>
              <a:rPr lang="ko-KR" altLang="en-US" sz="2000" dirty="0">
                <a:solidFill>
                  <a:srgbClr val="FFFFFF"/>
                </a:solidFill>
              </a:rPr>
              <a:t>로 묶어서 표기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즉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00"/>
                </a:solidFill>
              </a:rPr>
              <a:t>사용자 카테고리가 세 개</a:t>
            </a:r>
            <a:r>
              <a:rPr lang="ko-KR" altLang="en-US" sz="2000" dirty="0">
                <a:solidFill>
                  <a:srgbClr val="FFFFFF"/>
                </a:solidFill>
              </a:rPr>
              <a:t>이고 </a:t>
            </a:r>
            <a:r>
              <a:rPr lang="ko-KR" altLang="en-US" sz="2000" dirty="0">
                <a:solidFill>
                  <a:srgbClr val="FFFF00"/>
                </a:solidFill>
              </a:rPr>
              <a:t>권한도 세 개</a:t>
            </a:r>
            <a:r>
              <a:rPr lang="ko-KR" altLang="en-US" sz="2000" dirty="0">
                <a:solidFill>
                  <a:srgbClr val="FFFFFF"/>
                </a:solidFill>
              </a:rPr>
              <a:t>이므로 </a:t>
            </a:r>
            <a:r>
              <a:rPr lang="ko-KR" altLang="en-US" sz="2000" dirty="0">
                <a:solidFill>
                  <a:srgbClr val="FFFF00"/>
                </a:solidFill>
              </a:rPr>
              <a:t>총 </a:t>
            </a:r>
            <a:r>
              <a:rPr lang="en-US" altLang="ko-KR" sz="2000" dirty="0">
                <a:solidFill>
                  <a:srgbClr val="FFFF00"/>
                </a:solidFill>
              </a:rPr>
              <a:t>9</a:t>
            </a:r>
            <a:r>
              <a:rPr lang="ko-KR" altLang="en-US" sz="2000" dirty="0">
                <a:solidFill>
                  <a:srgbClr val="FFFF00"/>
                </a:solidFill>
              </a:rPr>
              <a:t>개의 문자</a:t>
            </a:r>
            <a:r>
              <a:rPr lang="ko-KR" altLang="en-US" sz="2000" dirty="0">
                <a:solidFill>
                  <a:srgbClr val="FFFFFF"/>
                </a:solidFill>
              </a:rPr>
              <a:t>로 나타냄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ex ) –</a:t>
            </a:r>
            <a:r>
              <a:rPr lang="en-US" altLang="ko-KR" sz="2000" dirty="0" err="1">
                <a:solidFill>
                  <a:srgbClr val="FFFFFF"/>
                </a:solidFill>
              </a:rPr>
              <a:t>rw</a:t>
            </a:r>
            <a:r>
              <a:rPr lang="en-US" altLang="ko-KR" sz="2000" dirty="0">
                <a:solidFill>
                  <a:srgbClr val="FFFFFF"/>
                </a:solidFill>
              </a:rPr>
              <a:t>-r—r—               </a:t>
            </a:r>
            <a:r>
              <a:rPr lang="ko-KR" altLang="en-US" sz="2000" dirty="0">
                <a:solidFill>
                  <a:srgbClr val="FFFF00"/>
                </a:solidFill>
              </a:rPr>
              <a:t>접근 권한 변경 명령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chmod</a:t>
            </a:r>
            <a:r>
              <a:rPr lang="en-US" altLang="ko-KR" sz="2000" dirty="0">
                <a:solidFill>
                  <a:srgbClr val="FFFF00"/>
                </a:solidFill>
              </a:rPr>
              <a:t>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>
                <a:solidFill>
                  <a:srgbClr val="FFFF00"/>
                </a:solidFill>
              </a:rPr>
              <a:t>권한 모드 파일 또는 디렉터리명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</a:t>
            </a:r>
            <a:r>
              <a:rPr lang="en-US" altLang="ko-KR" sz="2000" dirty="0" err="1">
                <a:solidFill>
                  <a:srgbClr val="FFFFFF"/>
                </a:solidFill>
              </a:rPr>
              <a:t>rw</a:t>
            </a:r>
            <a:r>
              <a:rPr lang="en-US" altLang="ko-KR" sz="2000" dirty="0">
                <a:solidFill>
                  <a:srgbClr val="FFFFFF"/>
                </a:solidFill>
              </a:rPr>
              <a:t>-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:</a:t>
            </a:r>
            <a:r>
              <a:rPr lang="ko-KR" altLang="en-US" sz="2000" dirty="0">
                <a:solidFill>
                  <a:srgbClr val="FFFFFF"/>
                </a:solidFill>
              </a:rPr>
              <a:t> 소유자              옵션 </a:t>
            </a:r>
            <a:r>
              <a:rPr lang="en-US" altLang="ko-KR" sz="2000" dirty="0">
                <a:solidFill>
                  <a:srgbClr val="FFFFFF"/>
                </a:solidFill>
              </a:rPr>
              <a:t>–R :  </a:t>
            </a:r>
            <a:r>
              <a:rPr lang="ko-KR" altLang="en-US" sz="2000" dirty="0">
                <a:solidFill>
                  <a:srgbClr val="FFFFFF"/>
                </a:solidFill>
              </a:rPr>
              <a:t>하위 디렉터까지 모두 변경가능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r-- :  </a:t>
            </a:r>
            <a:r>
              <a:rPr lang="ko-KR" altLang="en-US" sz="2000" dirty="0">
                <a:solidFill>
                  <a:srgbClr val="FFFFFF"/>
                </a:solidFill>
              </a:rPr>
              <a:t>그룹                   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r-- : </a:t>
            </a:r>
            <a:r>
              <a:rPr lang="ko-KR" altLang="en-US" sz="2000" dirty="0">
                <a:solidFill>
                  <a:srgbClr val="FFFFFF"/>
                </a:solidFill>
              </a:rPr>
              <a:t>기타 사용자      </a:t>
            </a:r>
            <a:r>
              <a:rPr lang="en-US" altLang="ko-KR" sz="2000" dirty="0" err="1">
                <a:solidFill>
                  <a:srgbClr val="FFFF00"/>
                </a:solidFill>
              </a:rPr>
              <a:t>chmod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명령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기호 모드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숫자 모드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			</a:t>
            </a:r>
          </a:p>
        </p:txBody>
      </p:sp>
    </p:spTree>
    <p:extLst>
      <p:ext uri="{BB962C8B-B14F-4D97-AF65-F5344CB8AC3E}">
        <p14:creationId xmlns:p14="http://schemas.microsoft.com/office/powerpoint/2010/main" val="3048084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A4243-D0B4-4761-BD96-6C0BA2B37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90575"/>
            <a:ext cx="10515598" cy="5386387"/>
          </a:xfrm>
        </p:spPr>
        <p:txBody>
          <a:bodyPr>
            <a:normAutofit/>
          </a:bodyPr>
          <a:lstStyle/>
          <a:p>
            <a:r>
              <a:rPr lang="ko-KR" altLang="en-US" sz="2200" dirty="0">
                <a:solidFill>
                  <a:srgbClr val="FFFFFF"/>
                </a:solidFill>
              </a:rPr>
              <a:t>기호를 이용한 파일 접근 권한 변경 </a:t>
            </a:r>
            <a:endParaRPr lang="en-US" altLang="ko-KR" sz="2200" dirty="0">
              <a:solidFill>
                <a:srgbClr val="FFFFFF"/>
              </a:solidFill>
            </a:endParaRP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3074" name="Picture 2" descr="ê¸°í¸ë¥¼ ì´ì©í íì¼ ì ê·¼ ê¶í ë³ê²½ì ëí ì´ë¯¸ì§ ê²ìê²°ê³¼">
            <a:extLst>
              <a:ext uri="{FF2B5EF4-FFF2-40B4-BE49-F238E27FC236}">
                <a16:creationId xmlns:a16="http://schemas.microsoft.com/office/drawing/2014/main" id="{AE10A941-DC52-4DFB-99BE-61F0DEB1A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627" y="1509713"/>
            <a:ext cx="6631997" cy="440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14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16EA42-E0BB-483B-AECC-38C716C55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90575"/>
            <a:ext cx="10515598" cy="5386387"/>
          </a:xfrm>
        </p:spPr>
        <p:txBody>
          <a:bodyPr>
            <a:normAutofit/>
          </a:bodyPr>
          <a:lstStyle/>
          <a:p>
            <a:r>
              <a:rPr lang="ko-KR" altLang="en-US" sz="2200" dirty="0">
                <a:solidFill>
                  <a:srgbClr val="FFFFFF"/>
                </a:solidFill>
              </a:rPr>
              <a:t>숫자를 이용한 파일 접근 권한 변경</a:t>
            </a:r>
            <a:endParaRPr lang="en-US" altLang="ko-KR" sz="2200" dirty="0">
              <a:solidFill>
                <a:srgbClr val="FFFFFF"/>
              </a:solidFill>
            </a:endParaRPr>
          </a:p>
          <a:p>
            <a:endParaRPr lang="en-US" altLang="ko-KR" sz="2200" dirty="0">
              <a:solidFill>
                <a:srgbClr val="FFFFFF"/>
              </a:solidFill>
            </a:endParaRPr>
          </a:p>
          <a:p>
            <a:endParaRPr lang="en-US" altLang="ko-KR" sz="2200" dirty="0">
              <a:solidFill>
                <a:srgbClr val="FFFFFF"/>
              </a:solidFill>
            </a:endParaRPr>
          </a:p>
          <a:p>
            <a:endParaRPr lang="en-US" altLang="ko-KR" sz="2200" dirty="0">
              <a:solidFill>
                <a:srgbClr val="FFFFFF"/>
              </a:solidFill>
            </a:endParaRPr>
          </a:p>
          <a:p>
            <a:endParaRPr lang="en-US" altLang="ko-KR" sz="2200" dirty="0">
              <a:solidFill>
                <a:srgbClr val="FFFFFF"/>
              </a:solidFill>
            </a:endParaRPr>
          </a:p>
          <a:p>
            <a:endParaRPr lang="en-US" altLang="ko-KR" sz="2200" dirty="0">
              <a:solidFill>
                <a:srgbClr val="FFFFFF"/>
              </a:solidFill>
            </a:endParaRPr>
          </a:p>
          <a:p>
            <a:endParaRPr lang="en-US" altLang="ko-KR" sz="2200" dirty="0">
              <a:solidFill>
                <a:srgbClr val="FFFFFF"/>
              </a:solidFill>
            </a:endParaRPr>
          </a:p>
          <a:p>
            <a:endParaRPr lang="en-US" altLang="ko-KR" sz="2200" dirty="0">
              <a:solidFill>
                <a:srgbClr val="FFFFFF"/>
              </a:solidFill>
            </a:endParaRPr>
          </a:p>
          <a:p>
            <a:endParaRPr lang="en-US" altLang="ko-KR" sz="2200" dirty="0">
              <a:solidFill>
                <a:srgbClr val="FFFFFF"/>
              </a:solidFill>
            </a:endParaRPr>
          </a:p>
          <a:p>
            <a:endParaRPr lang="en-US" altLang="ko-KR" sz="2200" dirty="0">
              <a:solidFill>
                <a:srgbClr val="FFFFFF"/>
              </a:solidFill>
            </a:endParaRPr>
          </a:p>
          <a:p>
            <a:r>
              <a:rPr lang="ko-KR" altLang="en-US" sz="2200" dirty="0">
                <a:solidFill>
                  <a:srgbClr val="FFFFFF"/>
                </a:solidFill>
              </a:rPr>
              <a:t>권한이 있는 것 </a:t>
            </a:r>
            <a:r>
              <a:rPr lang="en-US" altLang="ko-KR" sz="2200" dirty="0">
                <a:solidFill>
                  <a:srgbClr val="FFFFFF"/>
                </a:solidFill>
              </a:rPr>
              <a:t>: 1 , </a:t>
            </a:r>
            <a:r>
              <a:rPr lang="ko-KR" altLang="en-US" sz="2200" dirty="0">
                <a:solidFill>
                  <a:srgbClr val="FFFFFF"/>
                </a:solidFill>
              </a:rPr>
              <a:t>없는 것 </a:t>
            </a:r>
            <a:r>
              <a:rPr lang="en-US" altLang="ko-KR" sz="2200" dirty="0">
                <a:solidFill>
                  <a:srgbClr val="FFFFFF"/>
                </a:solidFill>
              </a:rPr>
              <a:t>: 0 </a:t>
            </a:r>
            <a:r>
              <a:rPr lang="en-US" altLang="ko-KR" sz="2200" dirty="0">
                <a:solidFill>
                  <a:srgbClr val="FFFFFF"/>
                </a:solidFill>
                <a:sym typeface="Wingdings" panose="05000000000000000000" pitchFamily="2" charset="2"/>
              </a:rPr>
              <a:t></a:t>
            </a:r>
            <a:r>
              <a:rPr lang="ko-KR" altLang="en-US" sz="2200" dirty="0">
                <a:solidFill>
                  <a:srgbClr val="FFFFFF"/>
                </a:solidFill>
                <a:sym typeface="Wingdings" panose="05000000000000000000" pitchFamily="2" charset="2"/>
              </a:rPr>
              <a:t> 이진수를 </a:t>
            </a:r>
            <a:r>
              <a:rPr lang="en-US" altLang="ko-KR" sz="2200" dirty="0">
                <a:solidFill>
                  <a:srgbClr val="FFFFFF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2200" dirty="0">
                <a:solidFill>
                  <a:srgbClr val="FFFFFF"/>
                </a:solidFill>
                <a:sym typeface="Wingdings" panose="05000000000000000000" pitchFamily="2" charset="2"/>
              </a:rPr>
              <a:t>진수로 계산</a:t>
            </a:r>
            <a:endParaRPr lang="en-US" altLang="ko-KR" sz="2200" dirty="0">
              <a:solidFill>
                <a:srgbClr val="FFFFFF"/>
              </a:solidFill>
            </a:endParaRPr>
          </a:p>
          <a:p>
            <a:r>
              <a:rPr lang="en-US" altLang="ko-KR" sz="2200" dirty="0">
                <a:solidFill>
                  <a:srgbClr val="FFFFFF"/>
                </a:solidFill>
              </a:rPr>
              <a:t>Ex) </a:t>
            </a:r>
            <a:r>
              <a:rPr lang="en-US" altLang="ko-KR" sz="2200" dirty="0" err="1">
                <a:solidFill>
                  <a:srgbClr val="FFFFFF"/>
                </a:solidFill>
              </a:rPr>
              <a:t>chmod</a:t>
            </a:r>
            <a:r>
              <a:rPr lang="en-US" altLang="ko-KR" sz="2200" dirty="0">
                <a:solidFill>
                  <a:srgbClr val="FFFFFF"/>
                </a:solidFill>
              </a:rPr>
              <a:t> 777 file : file</a:t>
            </a:r>
            <a:r>
              <a:rPr lang="ko-KR" altLang="en-US" sz="2200" dirty="0">
                <a:solidFill>
                  <a:srgbClr val="FFFFFF"/>
                </a:solidFill>
              </a:rPr>
              <a:t>의 권한 </a:t>
            </a:r>
            <a:r>
              <a:rPr lang="en-US" altLang="ko-KR" sz="2200" dirty="0">
                <a:solidFill>
                  <a:srgbClr val="FFFFFF"/>
                </a:solidFill>
              </a:rPr>
              <a:t>: </a:t>
            </a:r>
            <a:r>
              <a:rPr lang="en-US" altLang="ko-KR" sz="2200" dirty="0" err="1">
                <a:solidFill>
                  <a:srgbClr val="FFFFFF"/>
                </a:solidFill>
              </a:rPr>
              <a:t>rwxrwxrwx</a:t>
            </a:r>
            <a:endParaRPr lang="en-US" altLang="ko-KR" sz="2200" dirty="0">
              <a:solidFill>
                <a:srgbClr val="FFFFFF"/>
              </a:solidFill>
            </a:endParaRPr>
          </a:p>
          <a:p>
            <a:endParaRPr lang="ko-KR" altLang="en-US" sz="2200" dirty="0">
              <a:solidFill>
                <a:srgbClr val="FFFFFF"/>
              </a:solidFill>
            </a:endParaRPr>
          </a:p>
        </p:txBody>
      </p:sp>
      <p:pic>
        <p:nvPicPr>
          <p:cNvPr id="2050" name="Picture 2" descr="ê¸°í¸ë¥¼ ì´ì©í íì¼ ì ê·¼ ê¶í ë³ê²½ì ëí ì´ë¯¸ì§ ê²ìê²°ê³¼">
            <a:extLst>
              <a:ext uri="{FF2B5EF4-FFF2-40B4-BE49-F238E27FC236}">
                <a16:creationId xmlns:a16="http://schemas.microsoft.com/office/drawing/2014/main" id="{FA3809AB-3347-43E1-A6E6-8597FB84A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653736"/>
            <a:ext cx="7529299" cy="268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539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BF589C-246D-4D0E-8221-13E7C18FA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52501"/>
            <a:ext cx="10515598" cy="5224462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FFFF"/>
                </a:solidFill>
              </a:rPr>
              <a:t>기본 접근 권한 설정</a:t>
            </a: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기본 접근 권한은 리눅스 시스템에 설정된 기본 값에 따른 것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이를 바꿔주면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기본 접근 권한도 바꿀 수 있음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기본 접근 권한 확인하고 변경하기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en-US" altLang="ko-KR" sz="2000" dirty="0" err="1">
                <a:solidFill>
                  <a:srgbClr val="FFFF00"/>
                </a:solidFill>
              </a:rPr>
              <a:t>umask</a:t>
            </a:r>
            <a:r>
              <a:rPr lang="en-US" altLang="ko-KR" sz="2000" dirty="0">
                <a:solidFill>
                  <a:srgbClr val="FFFF00"/>
                </a:solidFill>
              </a:rPr>
              <a:t>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>
                <a:solidFill>
                  <a:srgbClr val="FFFF00"/>
                </a:solidFill>
              </a:rPr>
              <a:t>마스크 값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기본 접근 권한을 출력하거나 변경하는 명령어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옵션 </a:t>
            </a:r>
            <a:r>
              <a:rPr lang="en-US" altLang="ko-KR" sz="2000" dirty="0">
                <a:solidFill>
                  <a:srgbClr val="FFFFFF"/>
                </a:solidFill>
              </a:rPr>
              <a:t>: -S </a:t>
            </a:r>
            <a:r>
              <a:rPr lang="ko-KR" altLang="en-US" sz="2000" dirty="0">
                <a:solidFill>
                  <a:srgbClr val="FFFFFF"/>
                </a:solidFill>
              </a:rPr>
              <a:t>마스크 값을 문자로 출력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ex) </a:t>
            </a:r>
            <a:r>
              <a:rPr lang="en-US" altLang="ko-KR" sz="2000" dirty="0" err="1">
                <a:solidFill>
                  <a:srgbClr val="FFFFFF"/>
                </a:solidFill>
              </a:rPr>
              <a:t>umask</a:t>
            </a:r>
            <a:r>
              <a:rPr lang="en-US" altLang="ko-KR" sz="2000" dirty="0">
                <a:solidFill>
                  <a:srgbClr val="FFFFFF"/>
                </a:solidFill>
              </a:rPr>
              <a:t> 022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dirty="0" err="1">
                <a:solidFill>
                  <a:srgbClr val="FFFFFF"/>
                </a:solidFill>
                <a:sym typeface="Wingdings" panose="05000000000000000000" pitchFamily="2" charset="2"/>
              </a:rPr>
              <a:t>rwxr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-</a:t>
            </a:r>
            <a:r>
              <a:rPr lang="en-US" altLang="ko-KR" sz="2000" dirty="0" err="1">
                <a:solidFill>
                  <a:srgbClr val="FFFFFF"/>
                </a:solidFill>
                <a:sym typeface="Wingdings" panose="05000000000000000000" pitchFamily="2" charset="2"/>
              </a:rPr>
              <a:t>xr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-x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00"/>
                </a:solidFill>
              </a:rPr>
              <a:t>마스크 값의 의미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: </a:t>
            </a:r>
            <a:r>
              <a:rPr lang="ko-KR" altLang="en-US" sz="2000" dirty="0">
                <a:solidFill>
                  <a:srgbClr val="FFFFFF"/>
                </a:solidFill>
              </a:rPr>
              <a:t>파일이나 디렉터리 생성 시 부여하지 않을 권한을 지정 해놓는 것</a:t>
            </a:r>
          </a:p>
        </p:txBody>
      </p:sp>
    </p:spTree>
    <p:extLst>
      <p:ext uri="{BB962C8B-B14F-4D97-AF65-F5344CB8AC3E}">
        <p14:creationId xmlns:p14="http://schemas.microsoft.com/office/powerpoint/2010/main" val="1779028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A087FA-06D1-4D64-882C-5C231D188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539749"/>
            <a:ext cx="11153775" cy="5784851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마스크 값 적용</a:t>
            </a:r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여러가지 마스크 값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이를 사용자의 필요에 따라 적절히 변경하여 </a:t>
            </a:r>
            <a:r>
              <a:rPr lang="ko-KR" altLang="en-US" sz="2000" dirty="0">
                <a:solidFill>
                  <a:srgbClr val="FFFF00"/>
                </a:solidFill>
              </a:rPr>
              <a:t>자신의 파일과 디렉터리를 보호 </a:t>
            </a:r>
            <a:r>
              <a:rPr lang="ko-KR" altLang="en-US" sz="2000" dirty="0">
                <a:solidFill>
                  <a:srgbClr val="FFFFFF"/>
                </a:solidFill>
              </a:rPr>
              <a:t>할 수 있음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0000"/>
                </a:solidFill>
              </a:rPr>
              <a:t>주의 </a:t>
            </a:r>
            <a:r>
              <a:rPr lang="en-US" altLang="ko-KR" sz="2000" dirty="0">
                <a:solidFill>
                  <a:srgbClr val="FF0000"/>
                </a:solidFill>
              </a:rPr>
              <a:t>!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마스크 값이 파일에는 적합하지만 디렉터리에는 적합하지 않을 수 있음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ex) </a:t>
            </a:r>
            <a:r>
              <a:rPr lang="ko-KR" altLang="en-US" sz="2000" dirty="0">
                <a:solidFill>
                  <a:srgbClr val="FFFFFF"/>
                </a:solidFill>
              </a:rPr>
              <a:t>마스크 값 </a:t>
            </a:r>
            <a:r>
              <a:rPr lang="en-US" altLang="ko-KR" sz="2000" dirty="0">
                <a:solidFill>
                  <a:srgbClr val="FFFFFF"/>
                </a:solidFill>
              </a:rPr>
              <a:t>: 026</a:t>
            </a:r>
            <a:r>
              <a:rPr lang="ko-KR" altLang="en-US" sz="2000" dirty="0">
                <a:solidFill>
                  <a:srgbClr val="FFFFFF"/>
                </a:solidFill>
              </a:rPr>
              <a:t> 파일 </a:t>
            </a:r>
            <a:r>
              <a:rPr lang="en-US" altLang="ko-KR" sz="2000" dirty="0">
                <a:solidFill>
                  <a:srgbClr val="FFFFFF"/>
                </a:solidFill>
              </a:rPr>
              <a:t>: 640 , </a:t>
            </a:r>
            <a:r>
              <a:rPr lang="ko-KR" altLang="en-US" sz="2000" dirty="0">
                <a:solidFill>
                  <a:srgbClr val="FFFFFF"/>
                </a:solidFill>
              </a:rPr>
              <a:t>디렉터리 </a:t>
            </a:r>
            <a:r>
              <a:rPr lang="en-US" altLang="ko-KR" sz="2000" dirty="0">
                <a:solidFill>
                  <a:srgbClr val="FFFFFF"/>
                </a:solidFill>
              </a:rPr>
              <a:t>: 751 </a:t>
            </a:r>
            <a:r>
              <a:rPr lang="ko-KR" altLang="en-US" sz="2000" dirty="0">
                <a:solidFill>
                  <a:srgbClr val="FFFFFF"/>
                </a:solidFill>
              </a:rPr>
              <a:t>이 되어 기타 사용자의 접근 권한이 이상해짐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4100" name="Picture 4" descr="umask ê° ì§ë¦¬íì ëí ì´ë¯¸ì§ ê²ìê²°ê³¼">
            <a:extLst>
              <a:ext uri="{FF2B5EF4-FFF2-40B4-BE49-F238E27FC236}">
                <a16:creationId xmlns:a16="http://schemas.microsoft.com/office/drawing/2014/main" id="{C5D0FD25-5B4E-4F08-A5F8-95EF85B81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04" y="1571625"/>
            <a:ext cx="9651377" cy="266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389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5B3B17-54B8-49FF-952F-129119D9D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62001"/>
            <a:ext cx="10515598" cy="5414962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특수 접근 권한</a:t>
            </a:r>
            <a:endParaRPr lang="en-US" altLang="ko-KR" sz="2000" dirty="0">
              <a:solidFill>
                <a:srgbClr val="FFFF00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 ‘0022’ </a:t>
            </a:r>
            <a:r>
              <a:rPr lang="ko-KR" altLang="en-US" sz="2000" dirty="0">
                <a:solidFill>
                  <a:srgbClr val="FFFFFF"/>
                </a:solidFill>
              </a:rPr>
              <a:t>중 </a:t>
            </a:r>
            <a:r>
              <a:rPr lang="ko-KR" altLang="en-US" sz="2000" dirty="0">
                <a:solidFill>
                  <a:srgbClr val="FFFF00"/>
                </a:solidFill>
              </a:rPr>
              <a:t>맨 앞자리는 특수 접근 권한을 </a:t>
            </a:r>
            <a:r>
              <a:rPr lang="ko-KR" altLang="en-US" sz="2000" dirty="0">
                <a:solidFill>
                  <a:srgbClr val="FFFFFF"/>
                </a:solidFill>
              </a:rPr>
              <a:t>나타냄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맨 앞자리 숫자가 </a:t>
            </a:r>
            <a:r>
              <a:rPr lang="en-US" altLang="ko-KR" sz="2000" dirty="0">
                <a:solidFill>
                  <a:srgbClr val="FFFFFF"/>
                </a:solidFill>
              </a:rPr>
              <a:t>0</a:t>
            </a:r>
            <a:r>
              <a:rPr lang="ko-KR" altLang="en-US" sz="2000" dirty="0">
                <a:solidFill>
                  <a:srgbClr val="FFFFFF"/>
                </a:solidFill>
              </a:rPr>
              <a:t>이면 일반적인 접근 권한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맨 자리가 </a:t>
            </a:r>
            <a:r>
              <a:rPr lang="en-US" altLang="ko-KR" sz="2000" dirty="0">
                <a:solidFill>
                  <a:srgbClr val="FFFFFF"/>
                </a:solidFill>
              </a:rPr>
              <a:t>1,2,4, </a:t>
            </a:r>
            <a:r>
              <a:rPr lang="ko-KR" altLang="en-US" sz="2000" dirty="0">
                <a:solidFill>
                  <a:srgbClr val="FFFFFF"/>
                </a:solidFill>
              </a:rPr>
              <a:t>이면 특수 접근 권한이 설정 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</a:t>
            </a:r>
            <a:r>
              <a:rPr lang="en-US" altLang="ko-KR" sz="2000" dirty="0" err="1">
                <a:solidFill>
                  <a:srgbClr val="FFFFFF"/>
                </a:solidFill>
              </a:rPr>
              <a:t>SetUID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맨 앞자리가 </a:t>
            </a:r>
            <a:r>
              <a:rPr lang="en-US" altLang="ko-KR" sz="2000" dirty="0">
                <a:solidFill>
                  <a:srgbClr val="FFFFFF"/>
                </a:solidFill>
              </a:rPr>
              <a:t>4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</a:t>
            </a:r>
            <a:r>
              <a:rPr lang="en-US" altLang="ko-KR" sz="2000" dirty="0" err="1">
                <a:solidFill>
                  <a:srgbClr val="FFFFFF"/>
                </a:solidFill>
              </a:rPr>
              <a:t>SetGID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맨 앞자리가 </a:t>
            </a:r>
            <a:r>
              <a:rPr lang="en-US" altLang="ko-KR" sz="2000" dirty="0">
                <a:solidFill>
                  <a:srgbClr val="FFFFFF"/>
                </a:solidFill>
              </a:rPr>
              <a:t>2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</a:t>
            </a:r>
            <a:r>
              <a:rPr lang="ko-KR" altLang="en-US" sz="2000" dirty="0" err="1">
                <a:solidFill>
                  <a:srgbClr val="FFFFFF"/>
                </a:solidFill>
              </a:rPr>
              <a:t>스티키</a:t>
            </a:r>
            <a:r>
              <a:rPr lang="ko-KR" altLang="en-US" sz="2000" dirty="0">
                <a:solidFill>
                  <a:srgbClr val="FFFFFF"/>
                </a:solidFill>
              </a:rPr>
              <a:t> 비트</a:t>
            </a:r>
            <a:r>
              <a:rPr lang="en-US" altLang="ko-KR" sz="2000" dirty="0">
                <a:solidFill>
                  <a:srgbClr val="FFFFFF"/>
                </a:solidFill>
              </a:rPr>
              <a:t>(sticky bit) : </a:t>
            </a:r>
            <a:r>
              <a:rPr lang="ko-KR" altLang="en-US" sz="2000" dirty="0">
                <a:solidFill>
                  <a:srgbClr val="FFFFFF"/>
                </a:solidFill>
              </a:rPr>
              <a:t>맨 앞자리가 </a:t>
            </a:r>
            <a:r>
              <a:rPr lang="en-US" altLang="ko-KR" sz="2000" dirty="0">
                <a:solidFill>
                  <a:srgbClr val="FFFFFF"/>
                </a:solidFill>
              </a:rPr>
              <a:t>1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FC05D6-9147-487A-9182-442CD23B91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86"/>
          <a:stretch/>
        </p:blipFill>
        <p:spPr>
          <a:xfrm>
            <a:off x="1094931" y="1552575"/>
            <a:ext cx="3977291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498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77ECAC-3AB4-4816-8683-00AC9C438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52501"/>
            <a:ext cx="10515598" cy="5224462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 err="1">
                <a:solidFill>
                  <a:srgbClr val="FFFF00"/>
                </a:solidFill>
              </a:rPr>
              <a:t>SetUID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해당 파일이 실행되는 동안에는 파일을 실행한 사용자의 권한이 아니라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00"/>
                </a:solidFill>
              </a:rPr>
              <a:t>    파일 소유자의 권한으로 실행 </a:t>
            </a:r>
            <a:r>
              <a:rPr lang="ko-KR" altLang="en-US" sz="2000" dirty="0">
                <a:solidFill>
                  <a:srgbClr val="FFFFFF"/>
                </a:solidFill>
              </a:rPr>
              <a:t>할 수 있게 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400" dirty="0">
                <a:solidFill>
                  <a:srgbClr val="FFFFFF"/>
                </a:solidFill>
              </a:rPr>
              <a:t>-</a:t>
            </a:r>
            <a:r>
              <a:rPr lang="en-US" altLang="ko-KR" sz="2200" dirty="0" err="1">
                <a:solidFill>
                  <a:srgbClr val="FFFFFF"/>
                </a:solidFill>
              </a:rPr>
              <a:t>rwsr</a:t>
            </a:r>
            <a:r>
              <a:rPr lang="en-US" altLang="ko-KR" sz="2200" dirty="0">
                <a:solidFill>
                  <a:srgbClr val="FFFFFF"/>
                </a:solidFill>
              </a:rPr>
              <a:t>-</a:t>
            </a:r>
            <a:r>
              <a:rPr lang="en-US" altLang="ko-KR" sz="2200" dirty="0" err="1">
                <a:solidFill>
                  <a:srgbClr val="FFFFFF"/>
                </a:solidFill>
              </a:rPr>
              <a:t>xr</a:t>
            </a:r>
            <a:r>
              <a:rPr lang="en-US" altLang="ko-KR" sz="2200" dirty="0">
                <a:solidFill>
                  <a:srgbClr val="FFFFFF"/>
                </a:solidFill>
              </a:rPr>
              <a:t>-x</a:t>
            </a:r>
            <a:r>
              <a:rPr lang="en-US" altLang="ko-KR" sz="24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항상 사용자의 권한을 가지고 실행된다는 의미</a:t>
            </a:r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 err="1">
                <a:solidFill>
                  <a:srgbClr val="FFFF00"/>
                </a:solidFill>
              </a:rPr>
              <a:t>SetGID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해당 </a:t>
            </a:r>
            <a:r>
              <a:rPr lang="ko-KR" altLang="en-US" sz="2000" dirty="0">
                <a:solidFill>
                  <a:srgbClr val="FFFF00"/>
                </a:solidFill>
              </a:rPr>
              <a:t>파일이 실행되는 동안에는 파일 소유 그룹의 권한으로 실행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-</a:t>
            </a:r>
            <a:r>
              <a:rPr lang="en-US" altLang="ko-KR" sz="2000" dirty="0" err="1">
                <a:solidFill>
                  <a:srgbClr val="FFFFFF"/>
                </a:solidFill>
              </a:rPr>
              <a:t>rwxr</a:t>
            </a:r>
            <a:r>
              <a:rPr lang="en-US" altLang="ko-KR" sz="2000" dirty="0">
                <a:solidFill>
                  <a:srgbClr val="FFFFFF"/>
                </a:solidFill>
              </a:rPr>
              <a:t>-</a:t>
            </a:r>
            <a:r>
              <a:rPr lang="en-US" altLang="ko-KR" sz="2000" dirty="0" err="1">
                <a:solidFill>
                  <a:srgbClr val="FFFFFF"/>
                </a:solidFill>
              </a:rPr>
              <a:t>sr</a:t>
            </a:r>
            <a:r>
              <a:rPr lang="en-US" altLang="ko-KR" sz="2000" dirty="0">
                <a:solidFill>
                  <a:srgbClr val="FFFFFF"/>
                </a:solidFill>
              </a:rPr>
              <a:t>-x : </a:t>
            </a:r>
            <a:r>
              <a:rPr lang="ko-KR" altLang="en-US" sz="2000" dirty="0">
                <a:solidFill>
                  <a:srgbClr val="FFFFFF"/>
                </a:solidFill>
              </a:rPr>
              <a:t>파일 소유 그룹의 권한으로 실행된다는 의미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62E0A7-8237-440C-B1F2-0A8C86FDA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78" y="2584952"/>
            <a:ext cx="4725059" cy="15146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488A394-9627-4ADF-A565-5F18D1C2AF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6" b="3761"/>
          <a:stretch/>
        </p:blipFill>
        <p:spPr>
          <a:xfrm>
            <a:off x="1079278" y="5333231"/>
            <a:ext cx="5004243" cy="54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92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8E7CB9-821A-46CB-B734-43FA620E6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28675"/>
            <a:ext cx="10515598" cy="5348287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 err="1">
                <a:solidFill>
                  <a:srgbClr val="FFFF00"/>
                </a:solidFill>
              </a:rPr>
              <a:t>스티키</a:t>
            </a:r>
            <a:r>
              <a:rPr lang="ko-KR" altLang="en-US" sz="2000" dirty="0">
                <a:solidFill>
                  <a:srgbClr val="FFFF00"/>
                </a:solidFill>
              </a:rPr>
              <a:t> 비트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스티커 비트는 </a:t>
            </a:r>
            <a:r>
              <a:rPr lang="en-US" altLang="ko-KR" sz="2000" dirty="0">
                <a:solidFill>
                  <a:srgbClr val="FFFF00"/>
                </a:solidFill>
              </a:rPr>
              <a:t>* </a:t>
            </a:r>
            <a:r>
              <a:rPr lang="ko-KR" altLang="en-US" sz="2000" dirty="0">
                <a:solidFill>
                  <a:srgbClr val="FFFF00"/>
                </a:solidFill>
              </a:rPr>
              <a:t>디렉터리에서 설정 </a:t>
            </a:r>
            <a:r>
              <a:rPr lang="en-US" altLang="ko-KR" sz="2000" dirty="0">
                <a:solidFill>
                  <a:srgbClr val="FFFF00"/>
                </a:solidFill>
              </a:rPr>
              <a:t>*</a:t>
            </a:r>
          </a:p>
          <a:p>
            <a:r>
              <a:rPr lang="ko-KR" altLang="en-US" sz="2000" dirty="0"/>
              <a:t>디렉터리에 </a:t>
            </a:r>
            <a:r>
              <a:rPr lang="ko-KR" altLang="en-US" sz="2000" dirty="0" err="1"/>
              <a:t>스티키</a:t>
            </a:r>
            <a:r>
              <a:rPr lang="ko-KR" altLang="en-US" sz="2000" dirty="0"/>
              <a:t> 비트가 설정되어 있으면 이 디렉터리에는 </a:t>
            </a:r>
            <a:r>
              <a:rPr lang="ko-KR" altLang="en-US" sz="2000" dirty="0">
                <a:solidFill>
                  <a:srgbClr val="FFFF00"/>
                </a:solidFill>
              </a:rPr>
              <a:t>누구나 파일을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생성할 수 있으며</a:t>
            </a:r>
            <a:r>
              <a:rPr lang="en-US" altLang="ko-KR" sz="2000" dirty="0"/>
              <a:t>, </a:t>
            </a:r>
            <a:r>
              <a:rPr lang="ko-KR" altLang="en-US" sz="2000" dirty="0"/>
              <a:t>파일을 생성한 계정으로 소유자가 설정되고 </a:t>
            </a:r>
            <a:r>
              <a:rPr lang="ko-KR" altLang="en-US" sz="2000" dirty="0">
                <a:solidFill>
                  <a:srgbClr val="FFFF00"/>
                </a:solidFill>
              </a:rPr>
              <a:t>다른 사용자가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00"/>
                </a:solidFill>
              </a:rPr>
              <a:t>    생성한 파일은 삭제 할 수 없다</a:t>
            </a:r>
            <a:r>
              <a:rPr lang="en-US" altLang="ko-KR" sz="2000" dirty="0">
                <a:solidFill>
                  <a:srgbClr val="FFFF00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파일은 파일을 생성한 계정으로 소유자가 설정되며 </a:t>
            </a:r>
            <a:r>
              <a:rPr lang="en-US" altLang="ko-KR" sz="2000" dirty="0"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ym typeface="Wingdings" panose="05000000000000000000" pitchFamily="2" charset="2"/>
              </a:rPr>
              <a:t>다른 사용자가 생성한 파일은 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   </a:t>
            </a:r>
            <a:r>
              <a:rPr lang="ko-KR" altLang="en-US" sz="2000" dirty="0">
                <a:sym typeface="Wingdings" panose="05000000000000000000" pitchFamily="2" charset="2"/>
              </a:rPr>
              <a:t>삭제 불가능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 </a:t>
            </a:r>
            <a:r>
              <a:rPr lang="ko-KR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주의</a:t>
            </a:r>
            <a:r>
              <a:rPr lang="en-US" altLang="ko-KR" sz="2000" dirty="0">
                <a:solidFill>
                  <a:srgbClr val="FF0000"/>
                </a:solidFill>
                <a:sym typeface="Wingdings" panose="05000000000000000000" pitchFamily="2" charset="2"/>
              </a:rPr>
              <a:t>! </a:t>
            </a:r>
            <a:r>
              <a:rPr lang="en-US" altLang="ko-KR" sz="2000" dirty="0">
                <a:sym typeface="Wingdings" panose="05000000000000000000" pitchFamily="2" charset="2"/>
              </a:rPr>
              <a:t>: </a:t>
            </a:r>
            <a:r>
              <a:rPr lang="ko-KR" altLang="en-US" sz="2000" dirty="0">
                <a:sym typeface="Wingdings" panose="05000000000000000000" pitchFamily="2" charset="2"/>
              </a:rPr>
              <a:t>특수 권한을 설정하는 파일이나 디렉터리 모두 실행 권한을 갖고 있어야 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               </a:t>
            </a:r>
            <a:r>
              <a:rPr lang="ko-KR" altLang="en-US" sz="2000" dirty="0">
                <a:sym typeface="Wingdings" panose="05000000000000000000" pitchFamily="2" charset="2"/>
              </a:rPr>
              <a:t>특수 권한 접근 가능</a:t>
            </a:r>
            <a:r>
              <a:rPr lang="en-US" altLang="ko-KR" sz="2000" dirty="0">
                <a:sym typeface="Wingdings" panose="05000000000000000000" pitchFamily="2" charset="2"/>
              </a:rPr>
              <a:t>.</a:t>
            </a:r>
            <a:endParaRPr lang="en-US" altLang="ko-KR" sz="2000" dirty="0"/>
          </a:p>
          <a:p>
            <a:endParaRPr lang="ko-KR" altLang="en-US" sz="2000" dirty="0">
              <a:solidFill>
                <a:srgbClr val="FFFF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E300E7-A917-44C6-BF06-B782263EBC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15"/>
          <a:stretch/>
        </p:blipFill>
        <p:spPr>
          <a:xfrm>
            <a:off x="1092832" y="4229099"/>
            <a:ext cx="6653537" cy="77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0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A33BF-B80C-4151-BDD2-94E527DF7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28651"/>
            <a:ext cx="10515598" cy="5548312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프로세스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현재 시스템에서 실행 중인 프로그램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1. </a:t>
            </a:r>
            <a:r>
              <a:rPr lang="ko-KR" altLang="en-US" sz="2000" dirty="0">
                <a:solidFill>
                  <a:srgbClr val="FFFFFF"/>
                </a:solidFill>
              </a:rPr>
              <a:t>리눅스 운영에 필요한 다양한 기능을 수행하는 </a:t>
            </a:r>
            <a:r>
              <a:rPr lang="ko-KR" altLang="en-US" sz="2000" dirty="0">
                <a:solidFill>
                  <a:srgbClr val="FFFF00"/>
                </a:solidFill>
              </a:rPr>
              <a:t>시스템 프로세스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2. </a:t>
            </a:r>
            <a:r>
              <a:rPr lang="ko-KR" altLang="en-US" sz="2000" dirty="0">
                <a:solidFill>
                  <a:srgbClr val="FFFFFF"/>
                </a:solidFill>
              </a:rPr>
              <a:t>사용자가 실행한 프로그램인 </a:t>
            </a:r>
            <a:r>
              <a:rPr lang="ko-KR" altLang="en-US" sz="2000" dirty="0">
                <a:solidFill>
                  <a:srgbClr val="FFFF00"/>
                </a:solidFill>
              </a:rPr>
              <a:t>사용자 프로세스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                                            </a:t>
            </a:r>
            <a:r>
              <a:rPr lang="ko-KR" altLang="en-US" sz="2000" dirty="0">
                <a:solidFill>
                  <a:srgbClr val="FFFFFF"/>
                </a:solidFill>
              </a:rPr>
              <a:t>자식 프로세스 </a:t>
            </a:r>
            <a:r>
              <a:rPr lang="en-US" altLang="ko-KR" sz="2000" dirty="0">
                <a:solidFill>
                  <a:srgbClr val="FFFFFF"/>
                </a:solidFill>
              </a:rPr>
              <a:t>:</a:t>
            </a:r>
            <a:r>
              <a:rPr lang="ko-KR" altLang="en-US" sz="2000" dirty="0">
                <a:solidFill>
                  <a:srgbClr val="FFFFFF"/>
                </a:solidFill>
              </a:rPr>
              <a:t> 부모 프로세스에 의해 만들어지는 프로세스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			              </a:t>
            </a:r>
            <a:r>
              <a:rPr lang="ko-KR" altLang="en-US" sz="2000" dirty="0">
                <a:solidFill>
                  <a:srgbClr val="FFFF00"/>
                </a:solidFill>
              </a:rPr>
              <a:t>자식 프로세스는 할 일이 끝나면 부모 프로세스에 결과를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			              </a:t>
            </a:r>
            <a:r>
              <a:rPr lang="ko-KR" altLang="en-US" sz="2000" dirty="0">
                <a:solidFill>
                  <a:srgbClr val="FFFF00"/>
                </a:solidFill>
              </a:rPr>
              <a:t>돌려주고 종료된다</a:t>
            </a:r>
            <a:r>
              <a:rPr lang="en-US" altLang="ko-KR" sz="2000" dirty="0">
                <a:solidFill>
                  <a:srgbClr val="FFFF00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			               ex) </a:t>
            </a:r>
            <a:r>
              <a:rPr lang="ko-KR" altLang="en-US" sz="2000" dirty="0">
                <a:solidFill>
                  <a:srgbClr val="FFFFFF"/>
                </a:solidFill>
              </a:rPr>
              <a:t>사용자가 </a:t>
            </a:r>
            <a:r>
              <a:rPr lang="en-US" altLang="ko-KR" sz="2000" dirty="0">
                <a:solidFill>
                  <a:srgbClr val="FFFFFF"/>
                </a:solidFill>
              </a:rPr>
              <a:t>vi</a:t>
            </a:r>
            <a:r>
              <a:rPr lang="ko-KR" altLang="en-US" sz="2000" dirty="0">
                <a:solidFill>
                  <a:srgbClr val="FFFFFF"/>
                </a:solidFill>
              </a:rPr>
              <a:t>를 실행하여 셸이 </a:t>
            </a:r>
            <a:r>
              <a:rPr lang="en-US" altLang="ko-KR" sz="2000" dirty="0">
                <a:solidFill>
                  <a:srgbClr val="FFFFFF"/>
                </a:solidFill>
              </a:rPr>
              <a:t>vi </a:t>
            </a:r>
            <a:r>
              <a:rPr lang="ko-KR" altLang="en-US" sz="2000" dirty="0">
                <a:solidFill>
                  <a:srgbClr val="FFFFFF"/>
                </a:solidFill>
              </a:rPr>
              <a:t>프로세스를 생성할 경우</a:t>
            </a:r>
            <a:r>
              <a:rPr lang="en-US" altLang="ko-KR" sz="2000" dirty="0">
                <a:solidFill>
                  <a:srgbClr val="FFFFFF"/>
                </a:solidFill>
              </a:rPr>
              <a:t>,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				</a:t>
            </a:r>
            <a:r>
              <a:rPr lang="ko-KR" altLang="en-US" sz="2000" dirty="0">
                <a:solidFill>
                  <a:srgbClr val="FFFFFF"/>
                </a:solidFill>
              </a:rPr>
              <a:t>      셸은 부모 프로세스가 되고 </a:t>
            </a:r>
            <a:r>
              <a:rPr lang="en-US" altLang="ko-KR" sz="2000" dirty="0">
                <a:solidFill>
                  <a:srgbClr val="FFFFFF"/>
                </a:solidFill>
              </a:rPr>
              <a:t>vi </a:t>
            </a:r>
            <a:r>
              <a:rPr lang="ko-KR" altLang="en-US" sz="2000" dirty="0">
                <a:solidFill>
                  <a:srgbClr val="FFFFFF"/>
                </a:solidFill>
              </a:rPr>
              <a:t>는 자식 프로세스가 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5122" name="Picture 2" descr="ë¶ëª¨íë¡ì¸ì¤ ììíë¡ì¸ì¤ì ëí ì´ë¯¸ì§ ê²ìê²°ê³¼">
            <a:extLst>
              <a:ext uri="{FF2B5EF4-FFF2-40B4-BE49-F238E27FC236}">
                <a16:creationId xmlns:a16="http://schemas.microsoft.com/office/drawing/2014/main" id="{D22162E9-85DE-459E-93D2-1A2EAFA57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2486025"/>
            <a:ext cx="318135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350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062709-4317-4FE2-910A-7A0EAAB31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428626"/>
            <a:ext cx="10515598" cy="6143624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FF00"/>
                </a:solidFill>
              </a:rPr>
              <a:t>각 프로세스의 고유한 번호 </a:t>
            </a:r>
            <a:r>
              <a:rPr lang="en-US" altLang="ko-KR" sz="2000" dirty="0">
                <a:solidFill>
                  <a:srgbClr val="FFFF00"/>
                </a:solidFill>
              </a:rPr>
              <a:t>: PID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PID</a:t>
            </a:r>
            <a:r>
              <a:rPr lang="ko-KR" altLang="en-US" sz="2000" dirty="0">
                <a:solidFill>
                  <a:srgbClr val="FFFFFF"/>
                </a:solidFill>
              </a:rPr>
              <a:t>는 </a:t>
            </a:r>
            <a:r>
              <a:rPr lang="en-US" altLang="ko-KR" sz="2000" dirty="0">
                <a:solidFill>
                  <a:srgbClr val="FFFFFF"/>
                </a:solidFill>
              </a:rPr>
              <a:t>1</a:t>
            </a:r>
            <a:r>
              <a:rPr lang="ko-KR" altLang="en-US" sz="2000" dirty="0">
                <a:solidFill>
                  <a:srgbClr val="FFFFFF"/>
                </a:solidFill>
              </a:rPr>
              <a:t>번부터 시작하고 </a:t>
            </a:r>
            <a:r>
              <a:rPr lang="ko-KR" altLang="en-US" sz="2000" dirty="0">
                <a:solidFill>
                  <a:srgbClr val="FFFF00"/>
                </a:solidFill>
              </a:rPr>
              <a:t>프로세스가 실행되면서 하나씩 증가하여 부여된다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리눅스가 부팅될 때 </a:t>
            </a:r>
            <a:r>
              <a:rPr lang="en-US" altLang="ko-KR" sz="2000" dirty="0">
                <a:solidFill>
                  <a:srgbClr val="FFFFFF"/>
                </a:solidFill>
              </a:rPr>
              <a:t>PID 1</a:t>
            </a:r>
            <a:r>
              <a:rPr lang="ko-KR" altLang="en-US" sz="2000" dirty="0">
                <a:solidFill>
                  <a:srgbClr val="FFFFFF"/>
                </a:solidFill>
              </a:rPr>
              <a:t>번 </a:t>
            </a:r>
            <a:r>
              <a:rPr lang="en-US" altLang="ko-KR" sz="2000" dirty="0">
                <a:solidFill>
                  <a:srgbClr val="FFFF00"/>
                </a:solidFill>
              </a:rPr>
              <a:t>system </a:t>
            </a:r>
            <a:r>
              <a:rPr lang="ko-KR" altLang="en-US" sz="2000" dirty="0">
                <a:solidFill>
                  <a:srgbClr val="FFFF00"/>
                </a:solidFill>
              </a:rPr>
              <a:t>프로세스</a:t>
            </a:r>
            <a:r>
              <a:rPr lang="ko-KR" altLang="en-US" sz="2000" dirty="0">
                <a:solidFill>
                  <a:srgbClr val="FFFFFF"/>
                </a:solidFill>
              </a:rPr>
              <a:t>와 </a:t>
            </a:r>
            <a:r>
              <a:rPr lang="en-US" altLang="ko-KR" sz="2000" dirty="0">
                <a:solidFill>
                  <a:srgbClr val="FFFFFF"/>
                </a:solidFill>
              </a:rPr>
              <a:t>2</a:t>
            </a:r>
            <a:r>
              <a:rPr lang="ko-KR" altLang="en-US" sz="2000" dirty="0">
                <a:solidFill>
                  <a:srgbClr val="FFFFFF"/>
                </a:solidFill>
              </a:rPr>
              <a:t>번 </a:t>
            </a:r>
            <a:r>
              <a:rPr lang="en-US" altLang="ko-KR" sz="2000" dirty="0" err="1">
                <a:solidFill>
                  <a:srgbClr val="FFFF00"/>
                </a:solidFill>
              </a:rPr>
              <a:t>kthreadd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프로세스</a:t>
            </a:r>
            <a:r>
              <a:rPr lang="ko-KR" altLang="en-US" sz="2000" dirty="0">
                <a:solidFill>
                  <a:srgbClr val="FFFFFF"/>
                </a:solidFill>
              </a:rPr>
              <a:t>가 차례로 실행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   1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번 프로세스는 나머지 모든 시스템 프로세스의 부모 프로세스가 되고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,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       2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번 프로세스는 모든 스레드의 부모 프로세스가 됨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200" dirty="0">
                <a:solidFill>
                  <a:srgbClr val="FFFFFF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2200" dirty="0">
                <a:solidFill>
                  <a:srgbClr val="FFFFFF"/>
                </a:solidFill>
                <a:sym typeface="Wingdings" panose="05000000000000000000" pitchFamily="2" charset="2"/>
              </a:rPr>
              <a:t>   프로세스 종류 </a:t>
            </a:r>
            <a:endParaRPr lang="en-US" altLang="ko-KR" sz="22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 1.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데몬 프로세스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특정 서비스를 제공하기 위해 존재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리눅스 커널에 의해 실행</a:t>
            </a: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    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평소에는 대기 상태이지만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서비스 요청이 들어오면 해당 서비스를 제공</a:t>
            </a: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 2.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고아 프로세스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자식 프로세스가 실행 중인데 부모 프로세스가 먼저 종료되는 경우에 발생</a:t>
            </a: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dirty="0" err="1">
                <a:solidFill>
                  <a:srgbClr val="FFFF00"/>
                </a:solidFill>
                <a:sym typeface="Wingdings" panose="05000000000000000000" pitchFamily="2" charset="2"/>
              </a:rPr>
              <a:t>systemed</a:t>
            </a:r>
            <a:r>
              <a:rPr lang="en-US" altLang="ko-KR" sz="2000" dirty="0">
                <a:solidFill>
                  <a:srgbClr val="FFFF00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프로세스가 고아 프로세스의 새로운 부모가 되어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작업을 마치고 종료하도록 도움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 3.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좀비 프로세스</a:t>
            </a:r>
            <a:endParaRPr lang="en-US" altLang="ko-KR" sz="20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   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자식 프로세스가 종료될 때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종료 정보를 보내고 부모 프로세스가 받으면 테이블 목록에서 </a:t>
            </a:r>
            <a:r>
              <a:rPr lang="en-US" altLang="ko-KR" sz="2000" dirty="0">
                <a:solidFill>
                  <a:srgbClr val="FFFF00"/>
                </a:solidFill>
                <a:sym typeface="Wingdings" panose="05000000000000000000" pitchFamily="2" charset="2"/>
              </a:rPr>
              <a:t>      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      삭제되는데 하지만 자식 프로세스가 실행을 종료했는데도 프로세스 테이블 목록에 남아 </a:t>
            </a:r>
            <a:endParaRPr lang="en-US" altLang="ko-KR" sz="20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  <a:sym typeface="Wingdings" panose="05000000000000000000" pitchFamily="2" charset="2"/>
              </a:rPr>
              <a:t>     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있는 경우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 좀비 프로세스 발생 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98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B1FA9A-9E5A-4281-B289-51DF8225D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28675"/>
            <a:ext cx="10515598" cy="5348287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프로세스 관리 명령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1. </a:t>
            </a:r>
            <a:r>
              <a:rPr lang="ko-KR" altLang="en-US" sz="2000" dirty="0">
                <a:solidFill>
                  <a:srgbClr val="FFFFFF"/>
                </a:solidFill>
              </a:rPr>
              <a:t>현재 실행 중인 프로세스의 목록을 보는 명령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2. </a:t>
            </a:r>
            <a:r>
              <a:rPr lang="ko-KR" altLang="en-US" sz="2000" dirty="0">
                <a:solidFill>
                  <a:srgbClr val="FFFFFF"/>
                </a:solidFill>
              </a:rPr>
              <a:t>특정 프로세스가 실행 중인지 확인하는 명령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3. </a:t>
            </a:r>
            <a:r>
              <a:rPr lang="ko-KR" altLang="en-US" sz="2000" dirty="0">
                <a:solidFill>
                  <a:srgbClr val="FFFFFF"/>
                </a:solidFill>
              </a:rPr>
              <a:t>프로세스를 강제로 종료하는 명령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프로세스 목록</a:t>
            </a:r>
            <a:endParaRPr lang="en-US" altLang="ko-KR" sz="20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유닉스 옵션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(ex : </a:t>
            </a:r>
            <a:r>
              <a:rPr lang="en-US" altLang="ko-KR" sz="2000" dirty="0" err="1">
                <a:solidFill>
                  <a:srgbClr val="FFFFFF"/>
                </a:solidFill>
                <a:sym typeface="Wingdings" panose="05000000000000000000" pitchFamily="2" charset="2"/>
              </a:rPr>
              <a:t>ps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-</a:t>
            </a:r>
            <a:r>
              <a:rPr lang="en-US" altLang="ko-KR" sz="2000" dirty="0" err="1">
                <a:solidFill>
                  <a:srgbClr val="FFFFFF"/>
                </a:solidFill>
                <a:sym typeface="Wingdings" panose="05000000000000000000" pitchFamily="2" charset="2"/>
              </a:rPr>
              <a:t>ef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) , BSD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옵션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(</a:t>
            </a:r>
            <a:r>
              <a:rPr lang="en-US" altLang="ko-KR" sz="2000" dirty="0" err="1">
                <a:solidFill>
                  <a:srgbClr val="FFFFFF"/>
                </a:solidFill>
                <a:sym typeface="Wingdings" panose="05000000000000000000" pitchFamily="2" charset="2"/>
              </a:rPr>
              <a:t>ps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aux) ,GNU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옵션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</a:t>
            </a:r>
            <a:r>
              <a:rPr lang="en-US" altLang="ko-KR" sz="2000" dirty="0" err="1">
                <a:solidFill>
                  <a:srgbClr val="FFFF00"/>
                </a:solidFill>
              </a:rPr>
              <a:t>ps</a:t>
            </a:r>
            <a:r>
              <a:rPr lang="en-US" altLang="ko-KR" sz="2000" dirty="0">
                <a:solidFill>
                  <a:srgbClr val="FFFF00"/>
                </a:solidFill>
              </a:rPr>
              <a:t>  </a:t>
            </a:r>
            <a:r>
              <a:rPr lang="ko-KR" altLang="en-US" sz="2000" dirty="0">
                <a:solidFill>
                  <a:srgbClr val="FFFF00"/>
                </a:solidFill>
              </a:rPr>
              <a:t>옵션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ko-KR" altLang="en-US" sz="2000" dirty="0">
                <a:solidFill>
                  <a:srgbClr val="FFFF00"/>
                </a:solidFill>
              </a:rPr>
              <a:t>현재 실행 중인 프로세스의 목록을 보는 명령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출력하는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PID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를 통해 프로세스의 부모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-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자식 관계도 확인 가능</a:t>
            </a: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96872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27176B-8E8B-49E1-9B23-3B48A486A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95351"/>
            <a:ext cx="10515598" cy="5281612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FF00"/>
                </a:solidFill>
              </a:rPr>
              <a:t>프로세스 목록 출력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ps</a:t>
            </a:r>
            <a:r>
              <a:rPr lang="en-US" altLang="ko-KR" sz="2000" dirty="0">
                <a:solidFill>
                  <a:srgbClr val="FFFF00"/>
                </a:solidFill>
              </a:rPr>
              <a:t>  (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)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</a:rPr>
              <a:t>-f : PPID</a:t>
            </a:r>
            <a:r>
              <a:rPr lang="ko-KR" altLang="en-US" sz="2000" dirty="0">
                <a:solidFill>
                  <a:srgbClr val="FFFFFF"/>
                </a:solidFill>
              </a:rPr>
              <a:t>와 터미널 번호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시작 시간 등 정보 추가 출력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a : </a:t>
            </a:r>
            <a:r>
              <a:rPr lang="ko-KR" altLang="en-US" sz="2000" dirty="0">
                <a:solidFill>
                  <a:srgbClr val="FFFFFF"/>
                </a:solidFill>
              </a:rPr>
              <a:t>콘솔 터미널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en-US" altLang="ko-KR" sz="2000" dirty="0" err="1">
                <a:solidFill>
                  <a:srgbClr val="FFFFFF"/>
                </a:solidFill>
              </a:rPr>
              <a:t>tty</a:t>
            </a:r>
            <a:r>
              <a:rPr lang="en-US" altLang="ko-KR" sz="2000" dirty="0">
                <a:solidFill>
                  <a:srgbClr val="FFFFFF"/>
                </a:solidFill>
              </a:rPr>
              <a:t> 1)</a:t>
            </a:r>
            <a:r>
              <a:rPr lang="ko-KR" altLang="en-US" sz="2000" dirty="0">
                <a:solidFill>
                  <a:srgbClr val="FFFFFF"/>
                </a:solidFill>
              </a:rPr>
              <a:t>과 가상 터미널</a:t>
            </a:r>
            <a:r>
              <a:rPr lang="en-US" altLang="ko-KR" sz="2000" dirty="0">
                <a:solidFill>
                  <a:srgbClr val="FFFFFF"/>
                </a:solidFill>
              </a:rPr>
              <a:t>(pts/0~2)</a:t>
            </a:r>
            <a:r>
              <a:rPr lang="ko-KR" altLang="en-US" sz="2000" dirty="0">
                <a:solidFill>
                  <a:srgbClr val="FFFFFF"/>
                </a:solidFill>
              </a:rPr>
              <a:t>에서 실행한 프로세스의 정보 출력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au : </a:t>
            </a:r>
            <a:r>
              <a:rPr lang="ko-KR" altLang="en-US" sz="2000" dirty="0">
                <a:solidFill>
                  <a:srgbClr val="FFFFFF"/>
                </a:solidFill>
              </a:rPr>
              <a:t>터미널에서 실행한 프로세스의 상세 정보 출력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-e  : </a:t>
            </a:r>
            <a:r>
              <a:rPr lang="ko-KR" altLang="en-US" sz="2000" dirty="0">
                <a:solidFill>
                  <a:srgbClr val="FFFFFF"/>
                </a:solidFill>
              </a:rPr>
              <a:t>전체 프로세스 목록 출력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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유닉스 옵션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ax : </a:t>
            </a:r>
            <a:r>
              <a:rPr lang="ko-KR" altLang="en-US" sz="2000" dirty="0">
                <a:solidFill>
                  <a:srgbClr val="FFFFFF"/>
                </a:solidFill>
              </a:rPr>
              <a:t>시스템에서 실행 중인 모든 프로세스를 출력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 BSD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옵션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-u : </a:t>
            </a:r>
            <a:r>
              <a:rPr lang="ko-KR" altLang="en-US" sz="2000" dirty="0">
                <a:solidFill>
                  <a:srgbClr val="FFFFFF"/>
                </a:solidFill>
              </a:rPr>
              <a:t>특정 사용자의 프로세스 목록 출력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-p : </a:t>
            </a:r>
            <a:r>
              <a:rPr lang="ko-KR" altLang="en-US" sz="2000" dirty="0">
                <a:solidFill>
                  <a:srgbClr val="FFFFFF"/>
                </a:solidFill>
              </a:rPr>
              <a:t>특정 프로세스 정보 출력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특정 프로세스 정보 검색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</a:t>
            </a:r>
            <a:r>
              <a:rPr lang="en-US" altLang="ko-KR" sz="2000" dirty="0" err="1">
                <a:solidFill>
                  <a:srgbClr val="FFFF00"/>
                </a:solidFill>
              </a:rPr>
              <a:t>pgrep</a:t>
            </a:r>
            <a:r>
              <a:rPr lang="en-US" altLang="ko-KR" sz="2000" dirty="0">
                <a:solidFill>
                  <a:srgbClr val="FFFFFF"/>
                </a:solidFill>
              </a:rPr>
              <a:t> = </a:t>
            </a:r>
            <a:r>
              <a:rPr lang="en-US" altLang="ko-KR" sz="2000" dirty="0" err="1">
                <a:solidFill>
                  <a:srgbClr val="FFFFFF"/>
                </a:solidFill>
              </a:rPr>
              <a:t>ps</a:t>
            </a:r>
            <a:r>
              <a:rPr lang="en-US" altLang="ko-KR" sz="2000" dirty="0">
                <a:solidFill>
                  <a:srgbClr val="FFFFFF"/>
                </a:solidFill>
              </a:rPr>
              <a:t> + grep : </a:t>
            </a:r>
            <a:r>
              <a:rPr lang="ko-KR" altLang="en-US" sz="2000" dirty="0">
                <a:solidFill>
                  <a:srgbClr val="FFFFFF"/>
                </a:solidFill>
              </a:rPr>
              <a:t>기본적으로 인자로 </a:t>
            </a:r>
            <a:r>
              <a:rPr lang="ko-KR" altLang="en-US" sz="2000" dirty="0">
                <a:solidFill>
                  <a:srgbClr val="FFFF00"/>
                </a:solidFill>
              </a:rPr>
              <a:t>지정한 패턴과 일치하는 프로세스를 찾아  </a:t>
            </a:r>
            <a:r>
              <a:rPr lang="en-US" altLang="ko-KR" sz="2000" dirty="0">
                <a:solidFill>
                  <a:srgbClr val="FFFF00"/>
                </a:solidFill>
              </a:rPr>
              <a:t>PID</a:t>
            </a:r>
            <a:r>
              <a:rPr lang="ko-KR" altLang="en-US" sz="2000" dirty="0">
                <a:solidFill>
                  <a:srgbClr val="FFFF00"/>
                </a:solidFill>
              </a:rPr>
              <a:t>를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		     </a:t>
            </a:r>
            <a:r>
              <a:rPr lang="ko-KR" altLang="en-US" sz="2000" dirty="0">
                <a:solidFill>
                  <a:srgbClr val="FFFF00"/>
                </a:solidFill>
              </a:rPr>
              <a:t>알려주는 명령어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91666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33F23-0ECB-4520-94D5-F7C177707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38201"/>
            <a:ext cx="10515598" cy="5338762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프로세스 종료하기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응답이 없는 프로세스나 불필요한 프로세스를 강제로 종료하려면 </a:t>
            </a:r>
            <a:r>
              <a:rPr lang="ko-KR" altLang="en-US" sz="2000" dirty="0">
                <a:solidFill>
                  <a:srgbClr val="FFFF00"/>
                </a:solidFill>
              </a:rPr>
              <a:t>해당 프로세스의 </a:t>
            </a:r>
            <a:r>
              <a:rPr lang="en-US" altLang="ko-KR" sz="2000" dirty="0">
                <a:solidFill>
                  <a:srgbClr val="FFFF00"/>
                </a:solidFill>
              </a:rPr>
              <a:t>PID</a:t>
            </a:r>
            <a:r>
              <a:rPr lang="ko-KR" altLang="en-US" sz="2000" dirty="0">
                <a:solidFill>
                  <a:srgbClr val="FFFF00"/>
                </a:solidFill>
              </a:rPr>
              <a:t>를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알아야 하므로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en-US" altLang="ko-KR" sz="2000" dirty="0" err="1">
                <a:solidFill>
                  <a:srgbClr val="FFFF00"/>
                </a:solidFill>
              </a:rPr>
              <a:t>ps</a:t>
            </a:r>
            <a:r>
              <a:rPr lang="en-US" altLang="ko-KR" sz="2000" dirty="0">
                <a:solidFill>
                  <a:srgbClr val="FFFF00"/>
                </a:solidFill>
              </a:rPr>
              <a:t> –</a:t>
            </a:r>
            <a:r>
              <a:rPr lang="en-US" altLang="ko-KR" sz="2000" dirty="0" err="1">
                <a:solidFill>
                  <a:srgbClr val="FFFF00"/>
                </a:solidFill>
              </a:rPr>
              <a:t>ef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나 </a:t>
            </a:r>
            <a:r>
              <a:rPr lang="en-US" altLang="ko-KR" sz="2000" dirty="0" err="1">
                <a:solidFill>
                  <a:srgbClr val="FFFF00"/>
                </a:solidFill>
              </a:rPr>
              <a:t>ps</a:t>
            </a:r>
            <a:r>
              <a:rPr lang="en-US" altLang="ko-KR" sz="2000" dirty="0">
                <a:solidFill>
                  <a:srgbClr val="FFFF00"/>
                </a:solidFill>
              </a:rPr>
              <a:t> aux </a:t>
            </a:r>
            <a:r>
              <a:rPr lang="ko-KR" altLang="en-US" sz="2000" dirty="0">
                <a:solidFill>
                  <a:srgbClr val="FFFF00"/>
                </a:solidFill>
              </a:rPr>
              <a:t>명령</a:t>
            </a:r>
            <a:r>
              <a:rPr lang="ko-KR" altLang="en-US" sz="2000" dirty="0">
                <a:solidFill>
                  <a:srgbClr val="FFFFFF"/>
                </a:solidFill>
              </a:rPr>
              <a:t>으로 프로세스의 정보를 확인하면 </a:t>
            </a:r>
            <a:r>
              <a:rPr lang="en-US" altLang="ko-KR" sz="2000" dirty="0">
                <a:solidFill>
                  <a:srgbClr val="FFFF00"/>
                </a:solidFill>
              </a:rPr>
              <a:t>PID</a:t>
            </a:r>
            <a:r>
              <a:rPr lang="ko-KR" altLang="en-US" sz="2000" dirty="0">
                <a:solidFill>
                  <a:srgbClr val="FFFF00"/>
                </a:solidFill>
              </a:rPr>
              <a:t>와 </a:t>
            </a:r>
            <a:r>
              <a:rPr lang="en-US" altLang="ko-KR" sz="2000" dirty="0">
                <a:solidFill>
                  <a:srgbClr val="FFFF00"/>
                </a:solidFill>
              </a:rPr>
              <a:t>PPID</a:t>
            </a:r>
            <a:r>
              <a:rPr lang="ko-KR" altLang="en-US" sz="2000" dirty="0">
                <a:solidFill>
                  <a:srgbClr val="FFFFFF"/>
                </a:solidFill>
              </a:rPr>
              <a:t>를 알아낸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후에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en-US" altLang="ko-KR" sz="2000" dirty="0">
                <a:solidFill>
                  <a:srgbClr val="FFFF00"/>
                </a:solidFill>
              </a:rPr>
              <a:t>kill </a:t>
            </a:r>
            <a:r>
              <a:rPr lang="ko-KR" altLang="en-US" sz="2000" dirty="0">
                <a:solidFill>
                  <a:srgbClr val="FFFF00"/>
                </a:solidFill>
              </a:rPr>
              <a:t>과 </a:t>
            </a:r>
            <a:r>
              <a:rPr lang="en-US" altLang="ko-KR" sz="2000" dirty="0" err="1">
                <a:solidFill>
                  <a:srgbClr val="FFFF00"/>
                </a:solidFill>
              </a:rPr>
              <a:t>pkill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명령을 사용해서 프로세스를 종료 시킨다</a:t>
            </a:r>
            <a:r>
              <a:rPr lang="en-US" altLang="ko-KR" sz="2000" dirty="0">
                <a:solidFill>
                  <a:srgbClr val="FFFF00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Kill [</a:t>
            </a:r>
            <a:r>
              <a:rPr lang="ko-KR" altLang="en-US" sz="2000" dirty="0">
                <a:solidFill>
                  <a:srgbClr val="FFFFFF"/>
                </a:solidFill>
              </a:rPr>
              <a:t>시그널</a:t>
            </a:r>
            <a:r>
              <a:rPr lang="en-US" altLang="ko-KR" sz="2000" dirty="0">
                <a:solidFill>
                  <a:srgbClr val="FFFFFF"/>
                </a:solidFill>
              </a:rPr>
              <a:t>] PID .. : </a:t>
            </a:r>
            <a:r>
              <a:rPr lang="ko-KR" altLang="en-US" sz="2000" dirty="0">
                <a:solidFill>
                  <a:srgbClr val="FFFFFF"/>
                </a:solidFill>
              </a:rPr>
              <a:t>지정한 시그널을 프로세스에게 보내는 명령어</a:t>
            </a: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시그널 </a:t>
            </a:r>
            <a:r>
              <a:rPr lang="en-US" altLang="ko-KR" sz="2000" dirty="0">
                <a:solidFill>
                  <a:srgbClr val="FFFFFF"/>
                </a:solidFill>
              </a:rPr>
              <a:t>-2 : </a:t>
            </a:r>
            <a:r>
              <a:rPr lang="ko-KR" altLang="en-US" sz="2000" dirty="0">
                <a:solidFill>
                  <a:srgbClr val="FFFFFF"/>
                </a:solidFill>
              </a:rPr>
              <a:t>인터럽트 시그널을 보냄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 -9 : </a:t>
            </a:r>
            <a:r>
              <a:rPr lang="ko-KR" altLang="en-US" sz="2000" dirty="0">
                <a:solidFill>
                  <a:srgbClr val="FFFFFF"/>
                </a:solidFill>
              </a:rPr>
              <a:t>프로세스를 강제 종료 시킴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-15 : </a:t>
            </a:r>
            <a:r>
              <a:rPr lang="ko-KR" altLang="en-US" sz="2000" dirty="0">
                <a:solidFill>
                  <a:srgbClr val="FFFFFF"/>
                </a:solidFill>
              </a:rPr>
              <a:t>프로세스가 관련된 파일을 정리하고 프로세스를 종료 시킴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ex ) kill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-9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1001 , kill -15 1001</a:t>
            </a:r>
          </a:p>
        </p:txBody>
      </p:sp>
    </p:spTree>
    <p:extLst>
      <p:ext uri="{BB962C8B-B14F-4D97-AF65-F5344CB8AC3E}">
        <p14:creationId xmlns:p14="http://schemas.microsoft.com/office/powerpoint/2010/main" val="349177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B84D4D-C586-4D0E-93D1-228C54F69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81075"/>
            <a:ext cx="10515598" cy="5195887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 err="1">
                <a:solidFill>
                  <a:srgbClr val="FFFFFF"/>
                </a:solidFill>
              </a:rPr>
              <a:t>pkill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2000" dirty="0" err="1">
                <a:solidFill>
                  <a:srgbClr val="FFFFFF"/>
                </a:solidFill>
              </a:rPr>
              <a:t>Pkill</a:t>
            </a:r>
            <a:r>
              <a:rPr lang="ko-KR" altLang="en-US" sz="2000" dirty="0">
                <a:solidFill>
                  <a:srgbClr val="FFFFFF"/>
                </a:solidFill>
              </a:rPr>
              <a:t>은 </a:t>
            </a:r>
            <a:r>
              <a:rPr lang="en-US" altLang="ko-KR" sz="2000" dirty="0">
                <a:solidFill>
                  <a:srgbClr val="FFFFFF"/>
                </a:solidFill>
              </a:rPr>
              <a:t>kill </a:t>
            </a:r>
            <a:r>
              <a:rPr lang="ko-KR" altLang="en-US" sz="2000" dirty="0">
                <a:solidFill>
                  <a:srgbClr val="FFFFFF"/>
                </a:solidFill>
              </a:rPr>
              <a:t>명령과 같이 시그널을 보내는데 </a:t>
            </a:r>
            <a:r>
              <a:rPr lang="en-US" altLang="ko-KR" sz="2000" dirty="0">
                <a:solidFill>
                  <a:srgbClr val="FFFFFF"/>
                </a:solidFill>
              </a:rPr>
              <a:t>, PID</a:t>
            </a:r>
            <a:r>
              <a:rPr lang="ko-KR" altLang="en-US" sz="2000" dirty="0">
                <a:solidFill>
                  <a:srgbClr val="FFFFFF"/>
                </a:solidFill>
              </a:rPr>
              <a:t>가 아니라 프로세스의 명령 이름</a:t>
            </a:r>
            <a:r>
              <a:rPr lang="en-US" altLang="ko-KR" sz="2000" dirty="0">
                <a:solidFill>
                  <a:srgbClr val="FFFFFF"/>
                </a:solidFill>
              </a:rPr>
              <a:t>(CMD)</a:t>
            </a:r>
            <a:r>
              <a:rPr lang="ko-KR" altLang="en-US" sz="2000" dirty="0">
                <a:solidFill>
                  <a:srgbClr val="FFFFFF"/>
                </a:solidFill>
              </a:rPr>
              <a:t>으로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프로세스를 찾아 종료한다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 err="1">
                <a:solidFill>
                  <a:srgbClr val="FFFFFF"/>
                </a:solidFill>
              </a:rPr>
              <a:t>pkill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이 </a:t>
            </a:r>
            <a:r>
              <a:rPr lang="en-US" altLang="ko-KR" sz="2000" dirty="0">
                <a:solidFill>
                  <a:srgbClr val="FFFFFF"/>
                </a:solidFill>
              </a:rPr>
              <a:t>kill </a:t>
            </a:r>
            <a:r>
              <a:rPr lang="ko-KR" altLang="en-US" sz="2000" dirty="0">
                <a:solidFill>
                  <a:srgbClr val="FFFFFF"/>
                </a:solidFill>
              </a:rPr>
              <a:t>과 다른 점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차이점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: </a:t>
            </a:r>
            <a:r>
              <a:rPr lang="ko-KR" altLang="en-US" sz="2000" dirty="0">
                <a:solidFill>
                  <a:srgbClr val="FFFFFF"/>
                </a:solidFill>
              </a:rPr>
              <a:t>명령 이름을 찾아 종료하므로 같은 명령이 여러 개 검색될 경우 한번에 모두 종료한다는 것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프로세스 관리 도구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top </a:t>
            </a:r>
            <a:r>
              <a:rPr lang="ko-KR" altLang="en-US" sz="2000" dirty="0">
                <a:solidFill>
                  <a:srgbClr val="FFFF00"/>
                </a:solidFill>
              </a:rPr>
              <a:t>명령 </a:t>
            </a:r>
            <a:r>
              <a:rPr lang="en-US" altLang="ko-KR" sz="2000" dirty="0">
                <a:solidFill>
                  <a:srgbClr val="FFFFFF"/>
                </a:solidFill>
              </a:rPr>
              <a:t>:</a:t>
            </a:r>
            <a:r>
              <a:rPr lang="ko-KR" altLang="en-US" sz="2000" dirty="0">
                <a:solidFill>
                  <a:srgbClr val="FFFFFF"/>
                </a:solidFill>
              </a:rPr>
              <a:t>현재 실행 중인 프로세스에 대한 정보를 주기적으로 출력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시스템 정보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프로세스 이름과 사용자 이름</a:t>
            </a:r>
            <a:r>
              <a:rPr lang="en-US" altLang="ko-KR" sz="2000" dirty="0">
                <a:solidFill>
                  <a:srgbClr val="FFFFFF"/>
                </a:solidFill>
              </a:rPr>
              <a:t>, CPU </a:t>
            </a:r>
            <a:r>
              <a:rPr lang="ko-KR" altLang="en-US" sz="2000" dirty="0">
                <a:solidFill>
                  <a:srgbClr val="FFFFFF"/>
                </a:solidFill>
              </a:rPr>
              <a:t>사용량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메모리 사용량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우선순위 등의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정보를 보여줌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8595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8EBFE2-BDA6-4194-84EC-161EB29EF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71525"/>
            <a:ext cx="10515598" cy="5405437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작업 제어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작업 전환과 작업 일시 중지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또는 작업 종료를 의미</a:t>
            </a: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한 터미널에서 동시에 여러 프로세스를 실행하고 관리하기 위해 개발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1. </a:t>
            </a:r>
            <a:r>
              <a:rPr lang="ko-KR" altLang="en-US" sz="2000" dirty="0">
                <a:solidFill>
                  <a:srgbClr val="FFFF00"/>
                </a:solidFill>
              </a:rPr>
              <a:t>포그라운드 작업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: </a:t>
            </a:r>
            <a:r>
              <a:rPr lang="ko-KR" altLang="en-US" sz="2000" dirty="0">
                <a:solidFill>
                  <a:srgbClr val="FFFFFF"/>
                </a:solidFill>
              </a:rPr>
              <a:t>사용자가 입력한 명령이 실행되어 결과가 출력될 때까지 기다려야하는 방식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00"/>
                </a:solidFill>
              </a:rPr>
              <a:t>2. </a:t>
            </a:r>
            <a:r>
              <a:rPr lang="ko-KR" altLang="en-US" sz="2000" dirty="0">
                <a:solidFill>
                  <a:srgbClr val="FFFF00"/>
                </a:solidFill>
              </a:rPr>
              <a:t>백그라운드 작업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: </a:t>
            </a:r>
            <a:r>
              <a:rPr lang="ko-KR" altLang="en-US" sz="2000" dirty="0">
                <a:solidFill>
                  <a:srgbClr val="FFFFFF"/>
                </a:solidFill>
              </a:rPr>
              <a:t>프로세스가 실행되는 동안에 뒤에서 다른 프로세스가 실행될 수 있도록 한 터미널에서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</a:t>
            </a:r>
            <a:r>
              <a:rPr lang="ko-KR" altLang="en-US" sz="2000" dirty="0">
                <a:solidFill>
                  <a:srgbClr val="FFFFFF"/>
                </a:solidFill>
              </a:rPr>
              <a:t>여러 개의 프로세스를 동시에 실행 가능하게 하는 방식 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명령의 마지막에 </a:t>
            </a:r>
            <a:r>
              <a:rPr lang="en-US" altLang="ko-KR" sz="2000" dirty="0">
                <a:solidFill>
                  <a:srgbClr val="FFFFFF"/>
                </a:solidFill>
              </a:rPr>
              <a:t>&amp; </a:t>
            </a:r>
            <a:r>
              <a:rPr lang="ko-KR" altLang="en-US" sz="2000" dirty="0">
                <a:solidFill>
                  <a:srgbClr val="FFFFFF"/>
                </a:solidFill>
              </a:rPr>
              <a:t>기호 추가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 jobs [%</a:t>
            </a:r>
            <a:r>
              <a:rPr lang="ko-KR" altLang="en-US" sz="2000" dirty="0">
                <a:solidFill>
                  <a:srgbClr val="FFFF00"/>
                </a:solidFill>
              </a:rPr>
              <a:t>작업 번호</a:t>
            </a:r>
            <a:r>
              <a:rPr lang="en-US" altLang="ko-KR" sz="2000" dirty="0">
                <a:solidFill>
                  <a:srgbClr val="FFFF00"/>
                </a:solidFill>
              </a:rPr>
              <a:t>] : </a:t>
            </a:r>
            <a:r>
              <a:rPr lang="ko-KR" altLang="en-US" sz="2000" dirty="0">
                <a:solidFill>
                  <a:srgbClr val="FFFF00"/>
                </a:solidFill>
              </a:rPr>
              <a:t>작업 목록 보기 명령어</a:t>
            </a:r>
            <a:endParaRPr lang="en-US" altLang="ko-KR" sz="2000" dirty="0">
              <a:solidFill>
                <a:srgbClr val="FFFF00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742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C495CC-CB4D-42B4-9D2C-F23D2F69D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33425"/>
            <a:ext cx="10515598" cy="5443537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작업 종료하기  </a:t>
            </a:r>
            <a:r>
              <a:rPr lang="en-US" altLang="ko-KR" sz="2000" dirty="0">
                <a:solidFill>
                  <a:srgbClr val="FFFFFF"/>
                </a:solidFill>
              </a:rPr>
              <a:t>: Ctrl + C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포그라운드 작업은 </a:t>
            </a:r>
            <a:r>
              <a:rPr lang="en-US" altLang="ko-KR" sz="2000" dirty="0">
                <a:solidFill>
                  <a:srgbClr val="FFFFFF"/>
                </a:solidFill>
              </a:rPr>
              <a:t>Ctrl  + C </a:t>
            </a:r>
            <a:r>
              <a:rPr lang="ko-KR" altLang="en-US" sz="2000" dirty="0">
                <a:solidFill>
                  <a:srgbClr val="FFFFFF"/>
                </a:solidFill>
              </a:rPr>
              <a:t>를 입력하면 대부분 종료됨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 err="1">
                <a:solidFill>
                  <a:srgbClr val="FFFF00"/>
                </a:solidFill>
              </a:rPr>
              <a:t>nohup</a:t>
            </a:r>
            <a:r>
              <a:rPr lang="en-US" altLang="ko-KR" sz="2000" dirty="0">
                <a:solidFill>
                  <a:srgbClr val="FFFF00"/>
                </a:solidFill>
              </a:rPr>
              <a:t> : </a:t>
            </a:r>
            <a:r>
              <a:rPr lang="ko-KR" altLang="en-US" sz="2000" dirty="0">
                <a:solidFill>
                  <a:srgbClr val="FFFF00"/>
                </a:solidFill>
              </a:rPr>
              <a:t>로그아웃 후에도 백그라운드 작업 계속 실행하는 명령어  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형식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nohup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명령</a:t>
            </a:r>
            <a:r>
              <a:rPr lang="en-US" altLang="ko-KR" sz="2000" dirty="0">
                <a:solidFill>
                  <a:srgbClr val="FFFF00"/>
                </a:solidFill>
              </a:rPr>
              <a:t>&amp;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작업 예약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1. </a:t>
            </a:r>
            <a:r>
              <a:rPr lang="ko-KR" altLang="en-US" sz="2000" dirty="0">
                <a:solidFill>
                  <a:srgbClr val="FFFFFF"/>
                </a:solidFill>
              </a:rPr>
              <a:t>정해진 시간에 한 번만 수행하는 것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at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</a:t>
            </a:r>
            <a:r>
              <a:rPr lang="ko-KR" altLang="en-US" sz="2000" dirty="0">
                <a:solidFill>
                  <a:srgbClr val="FFFF00"/>
                </a:solidFill>
              </a:rPr>
              <a:t>시간 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2. </a:t>
            </a:r>
            <a:r>
              <a:rPr lang="ko-KR" altLang="en-US" sz="2000" dirty="0">
                <a:solidFill>
                  <a:srgbClr val="FFFFFF"/>
                </a:solidFill>
              </a:rPr>
              <a:t>정해진 시간에 반복 수행하는 것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crontab [-u </a:t>
            </a:r>
            <a:r>
              <a:rPr lang="ko-KR" altLang="en-US" sz="2000" dirty="0">
                <a:solidFill>
                  <a:srgbClr val="FFFF00"/>
                </a:solidFill>
              </a:rPr>
              <a:t>사용자 </a:t>
            </a:r>
            <a:r>
              <a:rPr lang="en-US" altLang="ko-KR" sz="2000" dirty="0">
                <a:solidFill>
                  <a:srgbClr val="FFFF00"/>
                </a:solidFill>
              </a:rPr>
              <a:t>ID]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[</a:t>
            </a:r>
            <a:r>
              <a:rPr lang="ko-KR" altLang="en-US" sz="2000" dirty="0">
                <a:solidFill>
                  <a:srgbClr val="FFFF00"/>
                </a:solidFill>
              </a:rPr>
              <a:t>파일 이름</a:t>
            </a:r>
            <a:r>
              <a:rPr lang="en-US" altLang="ko-KR" sz="2000" dirty="0">
                <a:solidFill>
                  <a:srgbClr val="FFFF00"/>
                </a:solidFill>
              </a:rPr>
              <a:t>]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283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F24663-F705-4A5C-AA70-4B5746D7D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76275"/>
            <a:ext cx="10515598" cy="5500687"/>
          </a:xfrm>
        </p:spPr>
        <p:txBody>
          <a:bodyPr>
            <a:normAutofit/>
          </a:bodyPr>
          <a:lstStyle/>
          <a:p>
            <a:r>
              <a:rPr lang="ko-KR" altLang="en-US" sz="2000" dirty="0" err="1">
                <a:solidFill>
                  <a:srgbClr val="FFFFFF"/>
                </a:solidFill>
              </a:rPr>
              <a:t>ㅇ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9EC59F-107D-4B7D-A990-573460492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62" y="776132"/>
            <a:ext cx="7876414" cy="24147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3901BE0-61CC-4AE3-890C-FF909D279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023" y="3429000"/>
            <a:ext cx="7853075" cy="24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851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9E26C57-C6DF-47CB-81C0-6790F6F13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69" y="1216992"/>
            <a:ext cx="6535062" cy="249589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9E4135-4937-4EB4-A271-FE9A7EE55953}"/>
              </a:ext>
            </a:extLst>
          </p:cNvPr>
          <p:cNvSpPr txBox="1"/>
          <p:nvPr/>
        </p:nvSpPr>
        <p:spPr>
          <a:xfrm>
            <a:off x="923469" y="4256013"/>
            <a:ext cx="98016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solidFill>
                  <a:srgbClr val="FFFF00"/>
                </a:solidFill>
              </a:rPr>
              <a:t>Crontab </a:t>
            </a:r>
            <a:r>
              <a:rPr lang="ko-KR" altLang="en-US" sz="2200" dirty="0">
                <a:solidFill>
                  <a:srgbClr val="FFFF00"/>
                </a:solidFill>
              </a:rPr>
              <a:t>명령 사용 제한하기</a:t>
            </a:r>
            <a:endParaRPr lang="en-US" altLang="ko-KR" sz="2200" dirty="0">
              <a:solidFill>
                <a:srgbClr val="FFFF00"/>
              </a:solidFill>
            </a:endParaRPr>
          </a:p>
          <a:p>
            <a:endParaRPr lang="en-US" altLang="ko-KR" sz="2200" dirty="0"/>
          </a:p>
          <a:p>
            <a:r>
              <a:rPr lang="en-US" altLang="ko-KR" sz="2000" dirty="0"/>
              <a:t>At </a:t>
            </a:r>
            <a:r>
              <a:rPr lang="ko-KR" altLang="en-US" sz="2000" dirty="0"/>
              <a:t>명령과 마찬가지로 </a:t>
            </a:r>
            <a:r>
              <a:rPr lang="en-US" altLang="ko-KR" sz="2000" dirty="0"/>
              <a:t>crontab </a:t>
            </a:r>
            <a:r>
              <a:rPr lang="ko-KR" altLang="en-US" sz="2000" dirty="0"/>
              <a:t>명령도 </a:t>
            </a:r>
            <a:r>
              <a:rPr lang="en-US" altLang="ko-KR" sz="2000" dirty="0"/>
              <a:t>/</a:t>
            </a:r>
            <a:r>
              <a:rPr lang="en-US" altLang="ko-KR" sz="2000" dirty="0" err="1"/>
              <a:t>etc</a:t>
            </a:r>
            <a:r>
              <a:rPr lang="en-US" altLang="ko-KR" sz="2000" dirty="0"/>
              <a:t>/</a:t>
            </a:r>
            <a:r>
              <a:rPr lang="en-US" altLang="ko-KR" sz="2000" dirty="0" err="1"/>
              <a:t>cron.allow</a:t>
            </a:r>
            <a:r>
              <a:rPr lang="en-US" altLang="ko-KR" sz="2000" dirty="0"/>
              <a:t> </a:t>
            </a:r>
            <a:r>
              <a:rPr lang="ko-KR" altLang="en-US" sz="2000" dirty="0"/>
              <a:t>파일과 </a:t>
            </a:r>
            <a:r>
              <a:rPr lang="en-US" altLang="ko-KR" sz="2000" dirty="0"/>
              <a:t>/</a:t>
            </a:r>
            <a:r>
              <a:rPr lang="en-US" altLang="ko-KR" sz="2000" dirty="0" err="1"/>
              <a:t>etc</a:t>
            </a:r>
            <a:r>
              <a:rPr lang="en-US" altLang="ko-KR" sz="2000" dirty="0"/>
              <a:t>/</a:t>
            </a:r>
            <a:r>
              <a:rPr lang="en-US" altLang="ko-KR" sz="2000" dirty="0" err="1"/>
              <a:t>cron.deny</a:t>
            </a:r>
            <a:r>
              <a:rPr lang="en-US" altLang="ko-KR" sz="2000" dirty="0"/>
              <a:t> </a:t>
            </a:r>
            <a:r>
              <a:rPr lang="ko-KR" altLang="en-US" sz="2000" dirty="0"/>
              <a:t>파일로 </a:t>
            </a:r>
            <a:r>
              <a:rPr lang="en-US" altLang="ko-KR" sz="2000" dirty="0"/>
              <a:t>crontab </a:t>
            </a:r>
            <a:r>
              <a:rPr lang="ko-KR" altLang="en-US" sz="2000" dirty="0"/>
              <a:t>명령 사용 권한을 제한 할 수 있음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011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C776C5-9D3E-4534-8F49-9934FF1D5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476251"/>
            <a:ext cx="10515598" cy="5700712"/>
          </a:xfrm>
        </p:spPr>
        <p:txBody>
          <a:bodyPr>
            <a:normAutofit lnSpcReduction="10000"/>
          </a:bodyPr>
          <a:lstStyle/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파일 시스템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운영체제의 주요한 기능 중 하나로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다양한 정보를 가지고 있는 파일과 디렉터리의 집합을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 구조적으로 관리하는 체계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파일 시스템의 종류 </a:t>
            </a:r>
            <a:r>
              <a:rPr lang="en-US" altLang="ko-KR" sz="2000" dirty="0">
                <a:solidFill>
                  <a:srgbClr val="FFFF00"/>
                </a:solidFill>
              </a:rPr>
              <a:t>‘</a:t>
            </a:r>
            <a:r>
              <a:rPr lang="en-US" altLang="ko-KR" sz="2000" dirty="0" err="1">
                <a:solidFill>
                  <a:srgbClr val="FFFF00"/>
                </a:solidFill>
              </a:rPr>
              <a:t>ext</a:t>
            </a:r>
            <a:r>
              <a:rPr lang="en-US" altLang="ko-KR" sz="2000" dirty="0">
                <a:solidFill>
                  <a:srgbClr val="FFFF00"/>
                </a:solidFill>
              </a:rPr>
              <a:t>’ = (Extended File System)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1. </a:t>
            </a:r>
            <a:r>
              <a:rPr lang="en-US" altLang="ko-KR" sz="2000" dirty="0">
                <a:solidFill>
                  <a:srgbClr val="FFFF00"/>
                </a:solidFill>
              </a:rPr>
              <a:t>ext1:</a:t>
            </a:r>
            <a:r>
              <a:rPr lang="en-US" altLang="ko-KR" sz="2000" dirty="0">
                <a:solidFill>
                  <a:srgbClr val="FFFFFF"/>
                </a:solidFill>
              </a:rPr>
              <a:t> MFS</a:t>
            </a:r>
            <a:r>
              <a:rPr lang="ko-KR" altLang="en-US" sz="2000" dirty="0">
                <a:solidFill>
                  <a:srgbClr val="FFFFFF"/>
                </a:solidFill>
              </a:rPr>
              <a:t>의 기능을 확장했다는 의미를 갖고 있었고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en-US" altLang="ko-KR" sz="2000" dirty="0" err="1">
                <a:solidFill>
                  <a:srgbClr val="FFFFFF"/>
                </a:solidFill>
              </a:rPr>
              <a:t>inode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수정과 데이터의 수정 시간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지원이 안 되는 문제 그리고 </a:t>
            </a:r>
            <a:r>
              <a:rPr lang="ko-KR" altLang="en-US" sz="2000" dirty="0" err="1">
                <a:solidFill>
                  <a:srgbClr val="FFFFFF"/>
                </a:solidFill>
              </a:rPr>
              <a:t>링크드</a:t>
            </a:r>
            <a:r>
              <a:rPr lang="ko-KR" altLang="en-US" sz="2000" dirty="0">
                <a:solidFill>
                  <a:srgbClr val="FFFFFF"/>
                </a:solidFill>
              </a:rPr>
              <a:t> 리스트로 파일 시스템이 복잡해지고 파편화 되는 문제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2. </a:t>
            </a:r>
            <a:r>
              <a:rPr lang="en-US" altLang="ko-KR" sz="2000" dirty="0">
                <a:solidFill>
                  <a:srgbClr val="FFFF00"/>
                </a:solidFill>
              </a:rPr>
              <a:t>ext2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확장성도 고려하여 개발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초기에 버그가 있어 불안정했으나 현재는 안정한 파일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시스템이 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3. </a:t>
            </a:r>
            <a:r>
              <a:rPr lang="en-US" altLang="ko-KR" sz="2000" dirty="0">
                <a:solidFill>
                  <a:srgbClr val="FFFF00"/>
                </a:solidFill>
              </a:rPr>
              <a:t>ext3</a:t>
            </a:r>
            <a:r>
              <a:rPr lang="en-US" altLang="ko-KR" sz="2000" dirty="0">
                <a:solidFill>
                  <a:srgbClr val="FFFFFF"/>
                </a:solidFill>
              </a:rPr>
              <a:t> : (</a:t>
            </a:r>
            <a:r>
              <a:rPr lang="ko-KR" altLang="en-US" sz="2000" dirty="0" err="1">
                <a:solidFill>
                  <a:srgbClr val="FFFFFF"/>
                </a:solidFill>
              </a:rPr>
              <a:t>저널링</a:t>
            </a:r>
            <a:r>
              <a:rPr lang="en-US" altLang="ko-KR" sz="2000" dirty="0">
                <a:solidFill>
                  <a:srgbClr val="FFFFFF"/>
                </a:solidFill>
              </a:rPr>
              <a:t>(journaling) : </a:t>
            </a:r>
            <a:r>
              <a:rPr lang="ko-KR" altLang="en-US" sz="2000" dirty="0">
                <a:solidFill>
                  <a:srgbClr val="FFFFFF"/>
                </a:solidFill>
              </a:rPr>
              <a:t>데이터를 디스크에 기록하기 전에 먼저 저널에 수정 사항을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기록하는 기능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  <a:r>
              <a:rPr lang="ko-KR" altLang="en-US" sz="2000" dirty="0">
                <a:solidFill>
                  <a:srgbClr val="FFFFFF"/>
                </a:solidFill>
              </a:rPr>
              <a:t> 장점을 갖고 있으며 갑자기 전원이 나가거나 하는 경우 빠른 복구 가능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4. </a:t>
            </a:r>
            <a:r>
              <a:rPr lang="en-US" altLang="ko-KR" sz="2000" dirty="0">
                <a:solidFill>
                  <a:srgbClr val="FFFF00"/>
                </a:solidFill>
              </a:rPr>
              <a:t>ext4</a:t>
            </a:r>
            <a:r>
              <a:rPr lang="en-US" altLang="ko-KR" sz="2000" dirty="0">
                <a:solidFill>
                  <a:srgbClr val="FFFFFF"/>
                </a:solidFill>
              </a:rPr>
              <a:t> : ext2 </a:t>
            </a:r>
            <a:r>
              <a:rPr lang="ko-KR" altLang="en-US" sz="2000" dirty="0">
                <a:solidFill>
                  <a:srgbClr val="FFFFFF"/>
                </a:solidFill>
              </a:rPr>
              <a:t>및 </a:t>
            </a:r>
            <a:r>
              <a:rPr lang="en-US" altLang="ko-KR" sz="2000" dirty="0">
                <a:solidFill>
                  <a:srgbClr val="FFFFFF"/>
                </a:solidFill>
              </a:rPr>
              <a:t>ext3</a:t>
            </a:r>
            <a:r>
              <a:rPr lang="ko-KR" altLang="en-US" sz="2000" dirty="0">
                <a:solidFill>
                  <a:srgbClr val="FFFFFF"/>
                </a:solidFill>
              </a:rPr>
              <a:t>와 호환성을 유지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또한 </a:t>
            </a:r>
            <a:r>
              <a:rPr lang="en-US" altLang="ko-KR" sz="2000" dirty="0">
                <a:solidFill>
                  <a:srgbClr val="FFFFFF"/>
                </a:solidFill>
              </a:rPr>
              <a:t>ext3 </a:t>
            </a:r>
            <a:r>
              <a:rPr lang="ko-KR" altLang="en-US" sz="2000" dirty="0">
                <a:solidFill>
                  <a:srgbClr val="FFFFFF"/>
                </a:solidFill>
              </a:rPr>
              <a:t>에서는 서브 디렉터리의 수가 </a:t>
            </a:r>
            <a:r>
              <a:rPr lang="en-US" altLang="ko-KR" sz="2000" dirty="0">
                <a:solidFill>
                  <a:srgbClr val="FFFFFF"/>
                </a:solidFill>
              </a:rPr>
              <a:t>32,000</a:t>
            </a:r>
            <a:r>
              <a:rPr lang="ko-KR" altLang="en-US" sz="2000" dirty="0">
                <a:solidFill>
                  <a:srgbClr val="FFFFFF"/>
                </a:solidFill>
              </a:rPr>
              <a:t>개로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제한이 있었지만 </a:t>
            </a:r>
            <a:r>
              <a:rPr lang="en-US" altLang="ko-KR" sz="2000" dirty="0">
                <a:solidFill>
                  <a:srgbClr val="FFFFFF"/>
                </a:solidFill>
              </a:rPr>
              <a:t>ext4</a:t>
            </a:r>
            <a:r>
              <a:rPr lang="ko-KR" altLang="en-US" sz="2000" dirty="0">
                <a:solidFill>
                  <a:srgbClr val="FFFFFF"/>
                </a:solidFill>
              </a:rPr>
              <a:t>에서는 </a:t>
            </a:r>
            <a:r>
              <a:rPr lang="en-US" altLang="ko-KR" sz="2000" dirty="0">
                <a:solidFill>
                  <a:srgbClr val="FFFFFF"/>
                </a:solidFill>
              </a:rPr>
              <a:t>64,000</a:t>
            </a:r>
            <a:r>
              <a:rPr lang="ko-KR" altLang="en-US" sz="2000" dirty="0">
                <a:solidFill>
                  <a:srgbClr val="FFFFFF"/>
                </a:solidFill>
              </a:rPr>
              <a:t>개로 늘어남</a:t>
            </a:r>
            <a:r>
              <a:rPr lang="en-US" altLang="ko-KR" sz="2000" dirty="0">
                <a:solidFill>
                  <a:srgbClr val="FFFFFF"/>
                </a:solidFill>
              </a:rPr>
              <a:t>. (</a:t>
            </a:r>
            <a:r>
              <a:rPr lang="ko-KR" altLang="en-US" sz="2000" dirty="0">
                <a:solidFill>
                  <a:srgbClr val="FFFFFF"/>
                </a:solidFill>
              </a:rPr>
              <a:t>온라인 조각 모음 기능 지원</a:t>
            </a:r>
            <a:r>
              <a:rPr lang="en-US" altLang="ko-KR" sz="2000" dirty="0">
                <a:solidFill>
                  <a:srgbClr val="FFFFFF"/>
                </a:solidFill>
              </a:rPr>
              <a:t>)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74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19FA0B-0C42-48C2-82AC-224384493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66751"/>
            <a:ext cx="10515598" cy="5510212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00"/>
              </a:solidFill>
            </a:endParaRPr>
          </a:p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리눅스 파일 시스템 구조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리눅스의 모든 파일 시스템은 유닉스 운영체제에서 유래된 공통의 개념을 바탕으로 구현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공통의 개념 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파일은 </a:t>
            </a:r>
            <a:r>
              <a:rPr lang="en-US" altLang="ko-KR" sz="2000" dirty="0" err="1">
                <a:solidFill>
                  <a:srgbClr val="FFFFFF"/>
                </a:solidFill>
              </a:rPr>
              <a:t>inode</a:t>
            </a:r>
            <a:r>
              <a:rPr lang="ko-KR" altLang="en-US" sz="2000" dirty="0">
                <a:solidFill>
                  <a:srgbClr val="FFFFFF"/>
                </a:solidFill>
              </a:rPr>
              <a:t> 로 관리된다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디렉터리는 단순히 파일의 목록을 가지고 있는 파일일 뿐이다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특수 파일을 통해 장치에 접근할 수 있다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Ext4 </a:t>
            </a:r>
            <a:r>
              <a:rPr lang="ko-KR" altLang="en-US" sz="2000" dirty="0">
                <a:solidFill>
                  <a:srgbClr val="FFFFFF"/>
                </a:solidFill>
              </a:rPr>
              <a:t>파일 시스템 구조 </a:t>
            </a: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Ext4</a:t>
            </a:r>
            <a:r>
              <a:rPr lang="ko-KR" altLang="en-US" sz="2000" dirty="0">
                <a:solidFill>
                  <a:srgbClr val="FFFFFF"/>
                </a:solidFill>
              </a:rPr>
              <a:t> 파일 시스템은 </a:t>
            </a:r>
            <a:r>
              <a:rPr lang="ko-KR" altLang="en-US" sz="2000" dirty="0">
                <a:solidFill>
                  <a:srgbClr val="FFFF00"/>
                </a:solidFill>
              </a:rPr>
              <a:t>저장 장치를 논리적인 블록의 집합으로 구분함</a:t>
            </a:r>
            <a:r>
              <a:rPr lang="en-US" altLang="ko-KR" sz="2000" dirty="0">
                <a:solidFill>
                  <a:srgbClr val="FFFF00"/>
                </a:solidFill>
              </a:rPr>
              <a:t>.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   </a:t>
            </a:r>
            <a:endParaRPr lang="en-US" altLang="ko-KR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700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600A3A-9C90-4A0D-A9E2-CD44A4883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23901"/>
            <a:ext cx="10515598" cy="5686424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FF00"/>
                </a:solidFill>
              </a:rPr>
              <a:t>블록 그룹</a:t>
            </a:r>
            <a:r>
              <a:rPr lang="en-US" altLang="ko-KR" sz="2000" dirty="0">
                <a:solidFill>
                  <a:srgbClr val="FFFF00"/>
                </a:solidFill>
              </a:rPr>
              <a:t>0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파일 시스템의 첫 번째 블록 그룹으로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특별하게 그룹 </a:t>
            </a:r>
            <a:r>
              <a:rPr lang="en-US" altLang="ko-KR" sz="2000" dirty="0">
                <a:solidFill>
                  <a:srgbClr val="FFFFFF"/>
                </a:solidFill>
              </a:rPr>
              <a:t>0 </a:t>
            </a:r>
            <a:r>
              <a:rPr lang="ko-KR" altLang="en-US" sz="2000" dirty="0">
                <a:solidFill>
                  <a:srgbClr val="FFFFFF"/>
                </a:solidFill>
              </a:rPr>
              <a:t>패딩과 슈퍼블록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그룹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</a:rPr>
              <a:t> 갖고 있음</a:t>
            </a:r>
            <a:r>
              <a:rPr lang="en-US" altLang="ko-KR" sz="2000" dirty="0">
                <a:solidFill>
                  <a:srgbClr val="FFFFFF"/>
                </a:solidFill>
              </a:rPr>
              <a:t>. 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블록 그룹</a:t>
            </a:r>
            <a:r>
              <a:rPr lang="en-US" altLang="ko-KR" sz="2000" dirty="0">
                <a:solidFill>
                  <a:srgbClr val="FFFF00"/>
                </a:solidFill>
              </a:rPr>
              <a:t>a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파일 시스템에서 첫 번째 블록 그룹이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아닌 블록 그룹으로 그룹 </a:t>
            </a:r>
            <a:r>
              <a:rPr lang="en-US" altLang="ko-KR" sz="2000" dirty="0">
                <a:solidFill>
                  <a:srgbClr val="FFFFFF"/>
                </a:solidFill>
              </a:rPr>
              <a:t>0 </a:t>
            </a:r>
            <a:r>
              <a:rPr lang="ko-KR" altLang="en-US" sz="2000" dirty="0">
                <a:solidFill>
                  <a:srgbClr val="FFFFFF"/>
                </a:solidFill>
              </a:rPr>
              <a:t>패딩이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없으나 슈퍼블록과 그룹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디스크립터에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대한 복사본을 갖고 있음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블록 그룹</a:t>
            </a:r>
            <a:r>
              <a:rPr lang="en-US" altLang="ko-KR" sz="2000" dirty="0">
                <a:solidFill>
                  <a:srgbClr val="FFFF00"/>
                </a:solidFill>
              </a:rPr>
              <a:t>b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파일 시스템에서 첫 번째 블록 그룹이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  아닌 블록 그룹으로 그룹 </a:t>
            </a:r>
            <a:r>
              <a:rPr lang="en-US" altLang="ko-KR" sz="2000" dirty="0">
                <a:solidFill>
                  <a:srgbClr val="FFFFFF"/>
                </a:solidFill>
              </a:rPr>
              <a:t>0 </a:t>
            </a:r>
            <a:r>
              <a:rPr lang="ko-KR" altLang="en-US" sz="2000" dirty="0">
                <a:solidFill>
                  <a:srgbClr val="FFFFFF"/>
                </a:solidFill>
              </a:rPr>
              <a:t>패딩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슈퍼블록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그룹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디스크립터가</a:t>
            </a:r>
            <a:r>
              <a:rPr lang="ko-KR" altLang="en-US" sz="2000" dirty="0">
                <a:solidFill>
                  <a:srgbClr val="FFFFFF"/>
                </a:solidFill>
              </a:rPr>
              <a:t> 없고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바로 데이터 블록 비트맵으로 시작</a:t>
            </a:r>
          </a:p>
        </p:txBody>
      </p:sp>
      <p:pic>
        <p:nvPicPr>
          <p:cNvPr id="6146" name="Picture 2" descr="ext4 íì¼ ìì¤í êµ¬ì¡°ì ëí ì´ë¯¸ì§ ê²ìê²°ê³¼">
            <a:extLst>
              <a:ext uri="{FF2B5EF4-FFF2-40B4-BE49-F238E27FC236}">
                <a16:creationId xmlns:a16="http://schemas.microsoft.com/office/drawing/2014/main" id="{DA64F742-C7EE-4653-A4BD-AB1FB3F0C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890" y="723901"/>
            <a:ext cx="6067424" cy="545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8088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9C7250-0E3A-4F43-931F-C67743239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23901"/>
            <a:ext cx="10515598" cy="5453062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FF00"/>
                </a:solidFill>
              </a:rPr>
              <a:t>그룹 </a:t>
            </a:r>
            <a:r>
              <a:rPr lang="en-US" altLang="ko-KR" sz="2000" dirty="0">
                <a:solidFill>
                  <a:srgbClr val="FFFF00"/>
                </a:solidFill>
              </a:rPr>
              <a:t>0 </a:t>
            </a:r>
            <a:r>
              <a:rPr lang="ko-KR" altLang="en-US" sz="2000" dirty="0">
                <a:solidFill>
                  <a:srgbClr val="FFFF00"/>
                </a:solidFill>
              </a:rPr>
              <a:t>패딩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블록 그룹 </a:t>
            </a:r>
            <a:r>
              <a:rPr lang="en-US" altLang="ko-KR" sz="2000" dirty="0">
                <a:solidFill>
                  <a:srgbClr val="FFFFFF"/>
                </a:solidFill>
              </a:rPr>
              <a:t>0</a:t>
            </a:r>
            <a:r>
              <a:rPr lang="ko-KR" altLang="en-US" sz="2000" dirty="0">
                <a:solidFill>
                  <a:srgbClr val="FFFFFF"/>
                </a:solidFill>
              </a:rPr>
              <a:t>의 첫 </a:t>
            </a:r>
            <a:r>
              <a:rPr lang="en-US" altLang="ko-KR" sz="2000" dirty="0">
                <a:solidFill>
                  <a:srgbClr val="FFFFFF"/>
                </a:solidFill>
              </a:rPr>
              <a:t>1024 </a:t>
            </a:r>
            <a:r>
              <a:rPr lang="ko-KR" altLang="en-US" sz="2000" dirty="0">
                <a:solidFill>
                  <a:srgbClr val="FFFFFF"/>
                </a:solidFill>
              </a:rPr>
              <a:t>바이트는 특별한 용도로 사용되는데 </a:t>
            </a:r>
            <a:r>
              <a:rPr lang="en-US" altLang="ko-KR" sz="2000" dirty="0">
                <a:solidFill>
                  <a:srgbClr val="FFFFFF"/>
                </a:solidFill>
              </a:rPr>
              <a:t>, x86</a:t>
            </a:r>
            <a:r>
              <a:rPr lang="ko-KR" altLang="en-US" sz="2000" dirty="0">
                <a:solidFill>
                  <a:srgbClr val="FFFFFF"/>
                </a:solidFill>
              </a:rPr>
              <a:t> 부트 섹터와 부가 정보를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저장</a:t>
            </a:r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슈퍼 블록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파일 시스템과 관련된 다양한 정보가 저장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슈퍼 블록에 문제가 생길 경우 전체 파일 시스템을 사용할 수 없게 됨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  <a:r>
              <a:rPr lang="ko-KR" altLang="en-US" sz="2000" dirty="0">
                <a:solidFill>
                  <a:srgbClr val="FFFFFF"/>
                </a:solidFill>
              </a:rPr>
              <a:t>따라서 슈퍼블록을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다른 블록 그룹에 복사하고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블록 그룹 </a:t>
            </a:r>
            <a:r>
              <a:rPr lang="en-US" altLang="ko-KR" sz="2000" dirty="0">
                <a:solidFill>
                  <a:srgbClr val="FFFFFF"/>
                </a:solidFill>
              </a:rPr>
              <a:t>0</a:t>
            </a:r>
            <a:r>
              <a:rPr lang="ko-KR" altLang="en-US" sz="2000" dirty="0">
                <a:solidFill>
                  <a:srgbClr val="FFFFFF"/>
                </a:solidFill>
              </a:rPr>
              <a:t>의 슈퍼블록을 읽을 수 없을 경우 복사본을 사용하여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 복구함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그룹 </a:t>
            </a:r>
            <a:r>
              <a:rPr lang="ko-KR" altLang="en-US" sz="2000" dirty="0" err="1">
                <a:solidFill>
                  <a:srgbClr val="FFFF00"/>
                </a:solidFill>
              </a:rPr>
              <a:t>디스크립터와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GDT </a:t>
            </a:r>
            <a:r>
              <a:rPr lang="ko-KR" altLang="en-US" sz="2000" dirty="0">
                <a:solidFill>
                  <a:srgbClr val="FFFF00"/>
                </a:solidFill>
              </a:rPr>
              <a:t>예약 블록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그룹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디스크립터도</a:t>
            </a:r>
            <a:r>
              <a:rPr lang="ko-KR" altLang="en-US" sz="2000" dirty="0">
                <a:solidFill>
                  <a:srgbClr val="FFFFFF"/>
                </a:solidFill>
              </a:rPr>
              <a:t> 슈퍼 블록과 함께 다른 블록 그룹에 복사되어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블록 그룹 </a:t>
            </a:r>
            <a:r>
              <a:rPr lang="en-US" altLang="ko-KR" sz="2000" dirty="0">
                <a:solidFill>
                  <a:srgbClr val="FFFFFF"/>
                </a:solidFill>
              </a:rPr>
              <a:t>0</a:t>
            </a:r>
            <a:r>
              <a:rPr lang="ko-KR" altLang="en-US" sz="2000" dirty="0">
                <a:solidFill>
                  <a:srgbClr val="FFFFFF"/>
                </a:solidFill>
              </a:rPr>
              <a:t>에 문제가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있을 때 이를 복구하는데 이용됨</a:t>
            </a:r>
            <a:r>
              <a:rPr lang="en-US" altLang="ko-KR" sz="2000" dirty="0">
                <a:solidFill>
                  <a:srgbClr val="FFFFFF"/>
                </a:solidFill>
              </a:rPr>
              <a:t>. GDT </a:t>
            </a:r>
            <a:r>
              <a:rPr lang="ko-KR" altLang="en-US" sz="2000" dirty="0">
                <a:solidFill>
                  <a:srgbClr val="FFFFFF"/>
                </a:solidFill>
              </a:rPr>
              <a:t>예약 블록은 그룹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디스크립터의</a:t>
            </a:r>
            <a:r>
              <a:rPr lang="ko-KR" altLang="en-US" sz="2000" dirty="0">
                <a:solidFill>
                  <a:srgbClr val="FFFFFF"/>
                </a:solidFill>
              </a:rPr>
              <a:t> 확장을 위한 예비 공간</a:t>
            </a:r>
          </a:p>
        </p:txBody>
      </p:sp>
    </p:spTree>
    <p:extLst>
      <p:ext uri="{BB962C8B-B14F-4D97-AF65-F5344CB8AC3E}">
        <p14:creationId xmlns:p14="http://schemas.microsoft.com/office/powerpoint/2010/main" val="3396540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E909B2-4510-4AFB-8E0E-B6BAC1B0B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33425"/>
            <a:ext cx="10515598" cy="5443537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데이터 블록 비트맵과 </a:t>
            </a:r>
            <a:r>
              <a:rPr lang="en-US" altLang="ko-KR" sz="2000" dirty="0" err="1">
                <a:solidFill>
                  <a:srgbClr val="FFFF00"/>
                </a:solidFill>
              </a:rPr>
              <a:t>inode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비트맵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데이터 블록 비트맵은 블록 그룹에 포함된 데이터 블록의 사용 여부를 확인하는데 쓰이며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en-US" altLang="ko-KR" sz="2000" dirty="0" err="1">
                <a:solidFill>
                  <a:srgbClr val="FFFFFF"/>
                </a:solidFill>
              </a:rPr>
              <a:t>inode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비트맵은 </a:t>
            </a:r>
            <a:r>
              <a:rPr lang="en-US" altLang="ko-KR" sz="2000" dirty="0" err="1">
                <a:solidFill>
                  <a:srgbClr val="FFFFFF"/>
                </a:solidFill>
              </a:rPr>
              <a:t>inode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테이블의 항목이 사용 중인지를 표시하는데 쓰임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 err="1">
                <a:solidFill>
                  <a:srgbClr val="FFFF00"/>
                </a:solidFill>
              </a:rPr>
              <a:t>Inode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테이블과 데이터 블록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일반적인 유닉스처럼 리눅스에서도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 err="1">
                <a:solidFill>
                  <a:srgbClr val="FFFFFF"/>
                </a:solidFill>
              </a:rPr>
              <a:t>inode</a:t>
            </a:r>
            <a:r>
              <a:rPr lang="ko-KR" altLang="en-US" sz="2000" dirty="0">
                <a:solidFill>
                  <a:srgbClr val="FFFFFF"/>
                </a:solidFill>
              </a:rPr>
              <a:t>에 파일 정보를 저장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일반 파일은 데이터 블록에 파일 내용을 저장하고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디렉터리는 해당 디렉터리에 있는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파일이나 서브 디렉터리의 이름과 </a:t>
            </a:r>
            <a:r>
              <a:rPr lang="en-US" altLang="ko-KR" sz="2000" dirty="0" err="1">
                <a:solidFill>
                  <a:srgbClr val="FFFFFF"/>
                </a:solidFill>
              </a:rPr>
              <a:t>inode</a:t>
            </a:r>
            <a:r>
              <a:rPr lang="ko-KR" altLang="en-US" sz="2000" dirty="0">
                <a:solidFill>
                  <a:srgbClr val="FFFFFF"/>
                </a:solidFill>
              </a:rPr>
              <a:t>를 저장 </a:t>
            </a:r>
          </a:p>
        </p:txBody>
      </p:sp>
    </p:spTree>
    <p:extLst>
      <p:ext uri="{BB962C8B-B14F-4D97-AF65-F5344CB8AC3E}">
        <p14:creationId xmlns:p14="http://schemas.microsoft.com/office/powerpoint/2010/main" val="3263706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D06941-7F51-4949-86C8-80EB5AFC4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47701"/>
            <a:ext cx="10515598" cy="5529262"/>
          </a:xfrm>
        </p:spPr>
        <p:txBody>
          <a:bodyPr>
            <a:normAutofit/>
          </a:bodyPr>
          <a:lstStyle/>
          <a:p>
            <a:r>
              <a:rPr lang="en-US" altLang="ko-KR" sz="2400" dirty="0" err="1">
                <a:solidFill>
                  <a:srgbClr val="FFFF00"/>
                </a:solidFill>
              </a:rPr>
              <a:t>Inode</a:t>
            </a:r>
            <a:r>
              <a:rPr lang="en-US" altLang="ko-KR" sz="2400" dirty="0">
                <a:solidFill>
                  <a:srgbClr val="FFFF00"/>
                </a:solidFill>
              </a:rPr>
              <a:t> </a:t>
            </a:r>
            <a:r>
              <a:rPr lang="ko-KR" altLang="en-US" sz="2400" dirty="0">
                <a:solidFill>
                  <a:srgbClr val="FFFF00"/>
                </a:solidFill>
              </a:rPr>
              <a:t>의 구조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1800" dirty="0">
                <a:solidFill>
                  <a:srgbClr val="FFFF00"/>
                </a:solidFill>
              </a:rPr>
              <a:t>  </a:t>
            </a:r>
            <a:r>
              <a:rPr lang="ko-KR" altLang="en-US" sz="1800" dirty="0">
                <a:solidFill>
                  <a:srgbClr val="FFFF00"/>
                </a:solidFill>
              </a:rPr>
              <a:t>파일 정보를 저장하는 부분  </a:t>
            </a:r>
            <a:r>
              <a:rPr lang="en-US" altLang="ko-KR" sz="1800" dirty="0">
                <a:solidFill>
                  <a:srgbClr val="FFFF00"/>
                </a:solidFill>
              </a:rPr>
              <a:t>(ls</a:t>
            </a:r>
            <a:r>
              <a:rPr lang="ko-KR" altLang="en-US" sz="1800" dirty="0">
                <a:solidFill>
                  <a:srgbClr val="FFFF00"/>
                </a:solidFill>
              </a:rPr>
              <a:t> </a:t>
            </a:r>
            <a:r>
              <a:rPr lang="en-US" altLang="ko-KR" sz="1800" dirty="0">
                <a:solidFill>
                  <a:srgbClr val="FFFF00"/>
                </a:solidFill>
              </a:rPr>
              <a:t>–l</a:t>
            </a:r>
            <a:r>
              <a:rPr lang="ko-KR" altLang="en-US" sz="1800" dirty="0">
                <a:solidFill>
                  <a:srgbClr val="FFFF00"/>
                </a:solidFill>
              </a:rPr>
              <a:t> 명령 출력하는 부분</a:t>
            </a:r>
            <a:r>
              <a:rPr lang="en-US" altLang="ko-KR" sz="1800" dirty="0">
                <a:solidFill>
                  <a:srgbClr val="FFFF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1800" dirty="0">
                <a:solidFill>
                  <a:srgbClr val="FFFF00"/>
                </a:solidFill>
              </a:rPr>
              <a:t>  </a:t>
            </a:r>
            <a:r>
              <a:rPr lang="ko-KR" altLang="en-US" sz="1800" dirty="0">
                <a:solidFill>
                  <a:srgbClr val="FFFF00"/>
                </a:solidFill>
              </a:rPr>
              <a:t>파일 내용이 실제로 저장되어 있는 데이터 블록의 주소를 저장하는 부분</a:t>
            </a:r>
          </a:p>
        </p:txBody>
      </p:sp>
      <p:pic>
        <p:nvPicPr>
          <p:cNvPr id="7170" name="Picture 2" descr="inode êµ¬ì¡°ì ëí ì´ë¯¸ì§ ê²ìê²°ê³¼">
            <a:extLst>
              <a:ext uri="{FF2B5EF4-FFF2-40B4-BE49-F238E27FC236}">
                <a16:creationId xmlns:a16="http://schemas.microsoft.com/office/drawing/2014/main" id="{23957889-C6BD-4F72-934A-8FA9E83D7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2222183"/>
            <a:ext cx="7810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1169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DB886B-A0DA-4AEE-A50C-799645EFA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62731"/>
            <a:ext cx="10515598" cy="5964572"/>
          </a:xfrm>
        </p:spPr>
        <p:txBody>
          <a:bodyPr>
            <a:normAutofit lnSpcReduction="10000"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직접 블록과 간접 블록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이중 간접 블록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Inode</a:t>
            </a:r>
            <a:r>
              <a:rPr lang="ko-KR" altLang="en-US" sz="2000" dirty="0">
                <a:solidFill>
                  <a:srgbClr val="FFFF00"/>
                </a:solidFill>
              </a:rPr>
              <a:t>가 데이터 블록 주소를 저장하는 부분</a:t>
            </a:r>
            <a:endParaRPr lang="en-US" altLang="ko-KR" sz="2000" dirty="0">
              <a:solidFill>
                <a:srgbClr val="FFFF00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직접 블록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데이터 블록에 대한 주소를 직접 지님</a:t>
            </a: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간접 블록과 이중 간접 블록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:</a:t>
            </a:r>
            <a:r>
              <a:rPr lang="ko-KR" altLang="en-US" sz="2000" dirty="0">
                <a:solidFill>
                  <a:srgbClr val="FFFFFF"/>
                </a:solidFill>
              </a:rPr>
              <a:t>데이터 블록에 대한 주소를 가지고 있는 블록에 대한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주소를 저장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파일 시스템과 디렉터리 계층 구조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1. </a:t>
            </a:r>
            <a:r>
              <a:rPr lang="ko-KR" altLang="en-US" sz="2000" dirty="0">
                <a:solidFill>
                  <a:srgbClr val="FFFFFF"/>
                </a:solidFill>
              </a:rPr>
              <a:t>한 파일 시스템으로 구성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2. </a:t>
            </a:r>
            <a:r>
              <a:rPr lang="ko-KR" altLang="en-US" sz="2000" dirty="0">
                <a:solidFill>
                  <a:srgbClr val="FFFFFF"/>
                </a:solidFill>
              </a:rPr>
              <a:t>여러 파일 시스템으로 구성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00"/>
                </a:solidFill>
              </a:rPr>
              <a:t>계층 구조 장점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일부 파일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시스템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에 문제가 생겨도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다른 파일 시스템의 파일은 안전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8196" name="Picture 4" descr="ì¬ë¬ íì¼ìì¤íì¼ë¡ êµ¬ì±ì ëí ì´ë¯¸ì§ ê²ìê²°ê³¼">
            <a:extLst>
              <a:ext uri="{FF2B5EF4-FFF2-40B4-BE49-F238E27FC236}">
                <a16:creationId xmlns:a16="http://schemas.microsoft.com/office/drawing/2014/main" id="{0BF77E83-7846-4E40-8409-54557F1D6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5797" y="3475140"/>
            <a:ext cx="2824480" cy="233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ì¬ë¬ íì¼ìì¤íì¼ë¡ êµ¬ì±ì ëí ì´ë¯¸ì§ ê²ìê²°ê³¼">
            <a:extLst>
              <a:ext uri="{FF2B5EF4-FFF2-40B4-BE49-F238E27FC236}">
                <a16:creationId xmlns:a16="http://schemas.microsoft.com/office/drawing/2014/main" id="{3FE672A2-72BB-4756-B4CB-730E3E9B9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826" y="3645017"/>
            <a:ext cx="3868776" cy="2150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897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63F689-95C8-4BC0-84D7-522837750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89233"/>
            <a:ext cx="10515598" cy="5287729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FF00"/>
                </a:solidFill>
              </a:rPr>
              <a:t>마운트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파일 시스템을 디렉터리 계층 구조의 특정 디렉터리와 연결하는 것</a:t>
            </a:r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마운트 포인트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디렉터리 계층 구조에서 파일 시스템이 연결되는 디렉터리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/</a:t>
            </a:r>
            <a:r>
              <a:rPr lang="en-US" altLang="ko-KR" sz="2000" dirty="0" err="1">
                <a:solidFill>
                  <a:srgbClr val="FFFF00"/>
                </a:solidFill>
              </a:rPr>
              <a:t>etc</a:t>
            </a:r>
            <a:r>
              <a:rPr lang="en-US" altLang="ko-KR" sz="2000" dirty="0">
                <a:solidFill>
                  <a:srgbClr val="FFFF00"/>
                </a:solidFill>
              </a:rPr>
              <a:t>/</a:t>
            </a:r>
            <a:r>
              <a:rPr lang="en-US" altLang="ko-KR" sz="2000" dirty="0" err="1">
                <a:solidFill>
                  <a:srgbClr val="FFFF00"/>
                </a:solidFill>
              </a:rPr>
              <a:t>fstab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파일의 기능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/</a:t>
            </a:r>
            <a:r>
              <a:rPr lang="en-US" altLang="ko-KR" sz="2000" dirty="0" err="1">
                <a:solidFill>
                  <a:srgbClr val="FFFFFF"/>
                </a:solidFill>
              </a:rPr>
              <a:t>etc</a:t>
            </a:r>
            <a:r>
              <a:rPr lang="en-US" altLang="ko-KR" sz="2000" dirty="0">
                <a:solidFill>
                  <a:srgbClr val="FFFFFF"/>
                </a:solidFill>
              </a:rPr>
              <a:t>/</a:t>
            </a:r>
            <a:r>
              <a:rPr lang="en-US" altLang="ko-KR" sz="2000" dirty="0" err="1">
                <a:solidFill>
                  <a:srgbClr val="FFFFFF"/>
                </a:solidFill>
              </a:rPr>
              <a:t>fstab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파일은 파일 시스템의 마운트 설정 정보를 가지고 있으며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부팅 시 설정 내용에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따라 파일 시스템을 자동으로 마운트 함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  <a:r>
              <a:rPr lang="ko-KR" altLang="en-US" sz="2000" dirty="0">
                <a:solidFill>
                  <a:srgbClr val="FFFFFF"/>
                </a:solidFill>
              </a:rPr>
              <a:t>파일에 오류가 있을 경우 시스템 부팅이 중지될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수 도 있다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00"/>
                </a:solidFill>
              </a:rPr>
              <a:t>/</a:t>
            </a:r>
            <a:r>
              <a:rPr lang="en-US" altLang="ko-KR" sz="2000" dirty="0" err="1">
                <a:solidFill>
                  <a:srgbClr val="FFFF00"/>
                </a:solidFill>
              </a:rPr>
              <a:t>etc</a:t>
            </a:r>
            <a:r>
              <a:rPr lang="en-US" altLang="ko-KR" sz="2000" dirty="0">
                <a:solidFill>
                  <a:srgbClr val="FFFF00"/>
                </a:solidFill>
              </a:rPr>
              <a:t>/</a:t>
            </a:r>
            <a:r>
              <a:rPr lang="en-US" altLang="ko-KR" sz="2000" dirty="0" err="1">
                <a:solidFill>
                  <a:srgbClr val="FFFF00"/>
                </a:solidFill>
              </a:rPr>
              <a:t>fstab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파일의 구조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장치 명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마운트 포인트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파일 시스템의 종류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옵션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덤프 관련 설정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파일 점검 옵션</a:t>
            </a:r>
          </a:p>
        </p:txBody>
      </p:sp>
    </p:spTree>
    <p:extLst>
      <p:ext uri="{BB962C8B-B14F-4D97-AF65-F5344CB8AC3E}">
        <p14:creationId xmlns:p14="http://schemas.microsoft.com/office/powerpoint/2010/main" val="3712804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E20B9C-AAFD-4CD6-8246-619470C7A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38231"/>
            <a:ext cx="10515598" cy="5438731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마운트 관련 명령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파일 시스템을 마운트 하는 명령어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mount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 err="1">
                <a:solidFill>
                  <a:srgbClr val="FFFF00"/>
                </a:solidFill>
              </a:rPr>
              <a:t>장치명</a:t>
            </a:r>
            <a:r>
              <a:rPr lang="ko-KR" altLang="en-US" sz="2000" dirty="0">
                <a:solidFill>
                  <a:srgbClr val="FFFF00"/>
                </a:solidFill>
              </a:rPr>
              <a:t> 마운트 포인트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파일 시스템을 </a:t>
            </a:r>
            <a:r>
              <a:rPr lang="ko-KR" altLang="en-US" sz="2000" dirty="0" err="1">
                <a:solidFill>
                  <a:srgbClr val="FFFFFF"/>
                </a:solidFill>
              </a:rPr>
              <a:t>언마운트</a:t>
            </a:r>
            <a:r>
              <a:rPr lang="ko-KR" altLang="en-US" sz="2000" dirty="0">
                <a:solidFill>
                  <a:srgbClr val="FFFFFF"/>
                </a:solidFill>
              </a:rPr>
              <a:t> 하는 명령어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Umount</a:t>
            </a:r>
            <a:r>
              <a:rPr lang="en-US" altLang="ko-KR" sz="2000" dirty="0">
                <a:solidFill>
                  <a:srgbClr val="FFFF00"/>
                </a:solidFill>
              </a:rPr>
              <a:t>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>
                <a:solidFill>
                  <a:srgbClr val="FFFF00"/>
                </a:solidFill>
              </a:rPr>
              <a:t>장치면 또는 마운트 포인트 </a:t>
            </a:r>
            <a:endParaRPr lang="en-US" altLang="ko-KR" sz="2000" dirty="0">
              <a:solidFill>
                <a:srgbClr val="FFFF00"/>
              </a:solidFill>
            </a:endParaRPr>
          </a:p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/>
              <a:t>다른 사용자로 전환하는 명령어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su</a:t>
            </a:r>
            <a:r>
              <a:rPr lang="en-US" altLang="ko-KR" sz="2000" dirty="0">
                <a:solidFill>
                  <a:srgbClr val="FFFF00"/>
                </a:solidFill>
              </a:rPr>
              <a:t> [-] [</a:t>
            </a:r>
            <a:r>
              <a:rPr lang="ko-KR" altLang="en-US" sz="2000" dirty="0">
                <a:solidFill>
                  <a:srgbClr val="FFFF00"/>
                </a:solidFill>
              </a:rPr>
              <a:t>사용자명</a:t>
            </a:r>
            <a:r>
              <a:rPr lang="en-US" altLang="ko-KR" sz="2000" dirty="0">
                <a:solidFill>
                  <a:srgbClr val="FFFF00"/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</a:t>
            </a:r>
            <a:r>
              <a:rPr lang="ko-KR" altLang="en-US" sz="2000" dirty="0"/>
              <a:t>옵션 </a:t>
            </a:r>
            <a:r>
              <a:rPr lang="en-US" altLang="ko-KR" sz="2000" dirty="0"/>
              <a:t>- : </a:t>
            </a:r>
            <a:r>
              <a:rPr lang="ko-KR" altLang="en-US" sz="2000" dirty="0"/>
              <a:t>전환하는 사용자의 초기화 파일을 실행한다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</a:t>
            </a:r>
            <a:r>
              <a:rPr lang="ko-KR" altLang="en-US" sz="2000" dirty="0">
                <a:solidFill>
                  <a:srgbClr val="FFFF00"/>
                </a:solidFill>
              </a:rPr>
              <a:t>디스크 추가 설치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(</a:t>
            </a:r>
            <a:r>
              <a:rPr lang="ko-KR" altLang="en-US" sz="2000" dirty="0">
                <a:solidFill>
                  <a:srgbClr val="FFFF00"/>
                </a:solidFill>
              </a:rPr>
              <a:t>추가 단계</a:t>
            </a:r>
            <a:r>
              <a:rPr lang="en-US" altLang="ko-KR" sz="2000" dirty="0">
                <a:solidFill>
                  <a:srgbClr val="FFFF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새 디스크 장착하기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디스크 파티션 나누기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en-US" altLang="ko-KR" sz="2000" dirty="0"/>
              <a:t> </a:t>
            </a:r>
            <a:r>
              <a:rPr lang="ko-KR" altLang="en-US" sz="2000" dirty="0"/>
              <a:t>파티션에 파일 시스템 생성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디스크 마운트</a:t>
            </a: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2582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9203D7-47A1-490D-82DE-4053B6F2F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13733"/>
            <a:ext cx="10515598" cy="5363230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1. </a:t>
            </a:r>
            <a:r>
              <a:rPr lang="ko-KR" altLang="en-US" sz="2000" dirty="0">
                <a:solidFill>
                  <a:srgbClr val="FFFF00"/>
                </a:solidFill>
              </a:rPr>
              <a:t>가상 </a:t>
            </a:r>
            <a:r>
              <a:rPr lang="ko-KR" altLang="en-US" sz="2000" dirty="0" err="1">
                <a:solidFill>
                  <a:srgbClr val="FFFF00"/>
                </a:solidFill>
              </a:rPr>
              <a:t>머신에</a:t>
            </a:r>
            <a:r>
              <a:rPr lang="ko-KR" altLang="en-US" sz="2000" dirty="0">
                <a:solidFill>
                  <a:srgbClr val="FFFF00"/>
                </a:solidFill>
              </a:rPr>
              <a:t> 디스크 추가하기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IDE</a:t>
            </a:r>
            <a:r>
              <a:rPr lang="ko-KR" altLang="en-US" sz="2000" dirty="0">
                <a:solidFill>
                  <a:srgbClr val="FFFFFF"/>
                </a:solidFill>
              </a:rPr>
              <a:t> 디스크 컨트롤러  두 개와 </a:t>
            </a:r>
            <a:r>
              <a:rPr lang="en-US" altLang="ko-KR" sz="2000" dirty="0">
                <a:solidFill>
                  <a:srgbClr val="FFFFFF"/>
                </a:solidFill>
              </a:rPr>
              <a:t>SCSI </a:t>
            </a:r>
            <a:r>
              <a:rPr lang="ko-KR" altLang="en-US" sz="2000" dirty="0">
                <a:solidFill>
                  <a:srgbClr val="FFFFFF"/>
                </a:solidFill>
              </a:rPr>
              <a:t>디스크 컨트롤러 네 개로 구성 되어있는 가상머신에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</a:t>
            </a:r>
            <a:r>
              <a:rPr lang="ko-KR" altLang="en-US" sz="2000" dirty="0">
                <a:solidFill>
                  <a:srgbClr val="FFFFFF"/>
                </a:solidFill>
              </a:rPr>
              <a:t>디스크를 추가로 장착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2. </a:t>
            </a:r>
            <a:r>
              <a:rPr lang="ko-KR" altLang="en-US" sz="2000" dirty="0">
                <a:solidFill>
                  <a:srgbClr val="FFFF00"/>
                </a:solidFill>
              </a:rPr>
              <a:t>디스크 파티션 나누기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새로운 디스크의 장착 완료이후 디스크에 파티션을 생성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파티션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하나의 디스크를 독립된 영역으로 구분하는 것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디스크 전체를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하나의 파티션으로 사용할 수도 있고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여러 개로 나누어 사용할 수도 있다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 </a:t>
            </a:r>
            <a:r>
              <a:rPr lang="en-US" altLang="ko-KR" sz="2000" dirty="0" err="1">
                <a:solidFill>
                  <a:srgbClr val="FFFF00"/>
                </a:solidFill>
              </a:rPr>
              <a:t>fdisk</a:t>
            </a:r>
            <a:r>
              <a:rPr lang="en-US" altLang="ko-KR" sz="2000" dirty="0">
                <a:solidFill>
                  <a:srgbClr val="FFFF00"/>
                </a:solidFill>
              </a:rPr>
              <a:t>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 err="1">
                <a:solidFill>
                  <a:srgbClr val="FFFF00"/>
                </a:solidFill>
              </a:rPr>
              <a:t>장치명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:  </a:t>
            </a:r>
            <a:r>
              <a:rPr lang="ko-KR" altLang="en-US" sz="2000" dirty="0">
                <a:solidFill>
                  <a:srgbClr val="FFFFFF"/>
                </a:solidFill>
              </a:rPr>
              <a:t>디스크의 파티션 생성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삭제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보기 등 파티션을 관리하는 명령어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(</a:t>
            </a:r>
            <a:r>
              <a:rPr lang="ko-KR" altLang="en-US" sz="2000" dirty="0">
                <a:solidFill>
                  <a:srgbClr val="FFFFFF"/>
                </a:solidFill>
              </a:rPr>
              <a:t>단 </a:t>
            </a:r>
            <a:r>
              <a:rPr lang="en-US" altLang="ko-KR" sz="2000" dirty="0">
                <a:solidFill>
                  <a:srgbClr val="FFFFFF"/>
                </a:solidFill>
              </a:rPr>
              <a:t>: root</a:t>
            </a:r>
            <a:r>
              <a:rPr lang="ko-KR" altLang="en-US" sz="2000" dirty="0">
                <a:solidFill>
                  <a:srgbClr val="FFFFFF"/>
                </a:solidFill>
              </a:rPr>
              <a:t> 계정에서 사용 가능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22154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F8884B-B076-45E6-9929-81511C305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87897"/>
            <a:ext cx="10515598" cy="5489065"/>
          </a:xfrm>
        </p:spPr>
        <p:txBody>
          <a:bodyPr>
            <a:normAutofit lnSpcReduction="10000"/>
          </a:bodyPr>
          <a:lstStyle/>
          <a:p>
            <a:r>
              <a:rPr lang="en-US" altLang="ko-KR" sz="2000" dirty="0">
                <a:solidFill>
                  <a:srgbClr val="FFFF00"/>
                </a:solidFill>
              </a:rPr>
              <a:t>3. </a:t>
            </a:r>
            <a:r>
              <a:rPr lang="ko-KR" altLang="en-US" sz="2000" dirty="0">
                <a:solidFill>
                  <a:srgbClr val="FFFF00"/>
                </a:solidFill>
              </a:rPr>
              <a:t>파일 시스템 생성하기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파티션이 디스크를 독립적인 영역으로 구분하는 작업이라면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파일 시스템은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이 파티션에서 파일과 디렉터리를 관리하기 위한 구조를 형성 만드는 것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 err="1">
                <a:solidFill>
                  <a:srgbClr val="FFFF00"/>
                </a:solidFill>
              </a:rPr>
              <a:t>mkfs</a:t>
            </a:r>
            <a:r>
              <a:rPr lang="en-US" altLang="ko-KR" sz="2000" dirty="0">
                <a:solidFill>
                  <a:srgbClr val="FFFF00"/>
                </a:solidFill>
              </a:rPr>
              <a:t>, mke2fs : </a:t>
            </a:r>
            <a:r>
              <a:rPr lang="ko-KR" altLang="en-US" sz="2000" dirty="0">
                <a:solidFill>
                  <a:srgbClr val="FFFF00"/>
                </a:solidFill>
              </a:rPr>
              <a:t>파일 시스템 생성 명령어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00"/>
                </a:solidFill>
              </a:rPr>
              <a:t>1. </a:t>
            </a:r>
            <a:r>
              <a:rPr lang="en-US" altLang="ko-KR" sz="2000" dirty="0" err="1">
                <a:solidFill>
                  <a:srgbClr val="FFFF00"/>
                </a:solidFill>
              </a:rPr>
              <a:t>mkfs</a:t>
            </a:r>
            <a:r>
              <a:rPr lang="en-US" altLang="ko-KR" sz="2000" dirty="0">
                <a:solidFill>
                  <a:srgbClr val="FFFF00"/>
                </a:solidFill>
              </a:rPr>
              <a:t>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 err="1">
                <a:solidFill>
                  <a:srgbClr val="FFFF00"/>
                </a:solidFill>
              </a:rPr>
              <a:t>장치명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ko-KR" altLang="en-US" sz="2000" dirty="0">
                <a:solidFill>
                  <a:srgbClr val="FFFF00"/>
                </a:solidFill>
              </a:rPr>
              <a:t>리눅스 파일 시스템을 만드는 명령어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옵션 </a:t>
            </a:r>
            <a:r>
              <a:rPr lang="en-US" altLang="ko-KR" sz="2000" dirty="0">
                <a:solidFill>
                  <a:srgbClr val="FFFFFF"/>
                </a:solidFill>
              </a:rPr>
              <a:t>–t </a:t>
            </a:r>
            <a:r>
              <a:rPr lang="ko-KR" altLang="en-US" sz="2000" dirty="0">
                <a:solidFill>
                  <a:srgbClr val="FFFFFF"/>
                </a:solidFill>
              </a:rPr>
              <a:t>종류 </a:t>
            </a:r>
            <a:r>
              <a:rPr lang="en-US" altLang="ko-KR" sz="2000" dirty="0">
                <a:solidFill>
                  <a:srgbClr val="FFFFFF"/>
                </a:solidFill>
              </a:rPr>
              <a:t>:</a:t>
            </a:r>
            <a:r>
              <a:rPr lang="ko-KR" altLang="en-US" sz="2000" dirty="0">
                <a:solidFill>
                  <a:srgbClr val="FFFFFF"/>
                </a:solidFill>
              </a:rPr>
              <a:t>파일 시스템의 종류를 지정 </a:t>
            </a:r>
            <a:r>
              <a:rPr lang="en-US" altLang="ko-KR" sz="2000" dirty="0">
                <a:solidFill>
                  <a:srgbClr val="FFFFFF"/>
                </a:solidFill>
              </a:rPr>
              <a:t>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00"/>
                </a:solidFill>
              </a:rPr>
              <a:t>2. mke2fs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 err="1">
                <a:solidFill>
                  <a:srgbClr val="FFFF00"/>
                </a:solidFill>
              </a:rPr>
              <a:t>장치명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ko-KR" altLang="en-US" sz="2000" dirty="0">
                <a:solidFill>
                  <a:srgbClr val="FFFF00"/>
                </a:solidFill>
              </a:rPr>
              <a:t>리눅스 개정판 확장 파일 시스템</a:t>
            </a:r>
            <a:r>
              <a:rPr lang="en-US" altLang="ko-KR" sz="2000" dirty="0">
                <a:solidFill>
                  <a:srgbClr val="FFFF00"/>
                </a:solidFill>
              </a:rPr>
              <a:t>(ext2, ext3, ext4)</a:t>
            </a:r>
            <a:r>
              <a:rPr lang="ko-KR" altLang="en-US" sz="2000" dirty="0">
                <a:solidFill>
                  <a:srgbClr val="FFFF00"/>
                </a:solidFill>
              </a:rPr>
              <a:t>을 만드는 명령어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옵션 </a:t>
            </a:r>
            <a:r>
              <a:rPr lang="en-US" altLang="ko-KR" sz="2000" dirty="0">
                <a:solidFill>
                  <a:srgbClr val="FFFFFF"/>
                </a:solidFill>
              </a:rPr>
              <a:t>–b </a:t>
            </a:r>
            <a:r>
              <a:rPr lang="ko-KR" altLang="en-US" sz="2000" dirty="0">
                <a:solidFill>
                  <a:srgbClr val="FFFFFF"/>
                </a:solidFill>
              </a:rPr>
              <a:t>블록 크기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블록 크기를 바이트 수로 지정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-c : </a:t>
            </a:r>
            <a:r>
              <a:rPr lang="ko-KR" altLang="en-US" sz="2000" dirty="0" err="1">
                <a:solidFill>
                  <a:srgbClr val="FFFFFF"/>
                </a:solidFill>
              </a:rPr>
              <a:t>배드</a:t>
            </a:r>
            <a:r>
              <a:rPr lang="ko-KR" altLang="en-US" sz="2000" dirty="0">
                <a:solidFill>
                  <a:srgbClr val="FFFFFF"/>
                </a:solidFill>
              </a:rPr>
              <a:t> 블록 체크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-f </a:t>
            </a:r>
            <a:r>
              <a:rPr lang="ko-KR" altLang="en-US" sz="2000" dirty="0" err="1">
                <a:solidFill>
                  <a:srgbClr val="FFFFFF"/>
                </a:solidFill>
              </a:rPr>
              <a:t>프래그먼트</a:t>
            </a:r>
            <a:r>
              <a:rPr lang="ko-KR" altLang="en-US" sz="2000" dirty="0">
                <a:solidFill>
                  <a:srgbClr val="FFFFFF"/>
                </a:solidFill>
              </a:rPr>
              <a:t> 크기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 err="1">
                <a:solidFill>
                  <a:srgbClr val="FFFFFF"/>
                </a:solidFill>
              </a:rPr>
              <a:t>프래그먼트</a:t>
            </a:r>
            <a:r>
              <a:rPr lang="ko-KR" altLang="en-US" sz="2000" dirty="0">
                <a:solidFill>
                  <a:srgbClr val="FFFFFF"/>
                </a:solidFill>
              </a:rPr>
              <a:t> 크기를 바이트 수로 지정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-I </a:t>
            </a:r>
            <a:r>
              <a:rPr lang="en-US" altLang="ko-KR" sz="2000" dirty="0" err="1">
                <a:solidFill>
                  <a:srgbClr val="FFFFFF"/>
                </a:solidFill>
              </a:rPr>
              <a:t>inode</a:t>
            </a:r>
            <a:r>
              <a:rPr lang="ko-KR" altLang="en-US" sz="2000" dirty="0">
                <a:solidFill>
                  <a:srgbClr val="FFFFFF"/>
                </a:solidFill>
              </a:rPr>
              <a:t>당 바이트 수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 err="1">
                <a:solidFill>
                  <a:srgbClr val="FFFFFF"/>
                </a:solidFill>
              </a:rPr>
              <a:t>inode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당 바이트 수를 지정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-m </a:t>
            </a:r>
            <a:r>
              <a:rPr lang="ko-KR" altLang="en-US" sz="2000" dirty="0">
                <a:solidFill>
                  <a:srgbClr val="FFFFFF"/>
                </a:solidFill>
              </a:rPr>
              <a:t>예약 블록 퍼센트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슈퍼유저에게 예약해둘 블록의 퍼센트를 지정 </a:t>
            </a:r>
          </a:p>
        </p:txBody>
      </p:sp>
    </p:spTree>
    <p:extLst>
      <p:ext uri="{BB962C8B-B14F-4D97-AF65-F5344CB8AC3E}">
        <p14:creationId xmlns:p14="http://schemas.microsoft.com/office/powerpoint/2010/main" val="16689454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91C29-E808-4240-B380-56961F226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18457"/>
            <a:ext cx="10515598" cy="5458505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4. </a:t>
            </a:r>
            <a:r>
              <a:rPr lang="ko-KR" altLang="en-US" sz="2400" dirty="0">
                <a:solidFill>
                  <a:srgbClr val="FFFF00"/>
                </a:solidFill>
              </a:rPr>
              <a:t>디스크 마운트</a:t>
            </a: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1. </a:t>
            </a:r>
            <a:r>
              <a:rPr lang="ko-KR" altLang="en-US" sz="2000" dirty="0">
                <a:solidFill>
                  <a:srgbClr val="FFFF00"/>
                </a:solidFill>
              </a:rPr>
              <a:t>마운트 포인트 준비하기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</a:t>
            </a:r>
            <a:r>
              <a:rPr lang="ko-KR" altLang="en-US" sz="2000" dirty="0">
                <a:solidFill>
                  <a:srgbClr val="FFFFFF"/>
                </a:solidFill>
              </a:rPr>
              <a:t>여러 개의 파일 시스템을 </a:t>
            </a:r>
            <a:r>
              <a:rPr lang="ko-KR" altLang="en-US" sz="2000" dirty="0" err="1">
                <a:solidFill>
                  <a:srgbClr val="FFFFFF"/>
                </a:solidFill>
              </a:rPr>
              <a:t>마운트할</a:t>
            </a:r>
            <a:r>
              <a:rPr lang="ko-KR" altLang="en-US" sz="2000" dirty="0">
                <a:solidFill>
                  <a:srgbClr val="FFFFFF"/>
                </a:solidFill>
              </a:rPr>
              <a:t> 것이므로 마운트 포인트를 미리 준비하고</a:t>
            </a:r>
            <a:r>
              <a:rPr lang="en-US" altLang="ko-KR" sz="2000" dirty="0">
                <a:solidFill>
                  <a:srgbClr val="FFFFFF"/>
                </a:solidFill>
              </a:rPr>
              <a:t>,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/</a:t>
            </a:r>
            <a:r>
              <a:rPr lang="en-US" altLang="ko-KR" sz="2000" dirty="0" err="1">
                <a:solidFill>
                  <a:srgbClr val="FFFFFF"/>
                </a:solidFill>
              </a:rPr>
              <a:t>mnt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디렉터리에 </a:t>
            </a:r>
            <a:r>
              <a:rPr lang="en-US" altLang="ko-KR" sz="2000" dirty="0">
                <a:solidFill>
                  <a:srgbClr val="FFFFFF"/>
                </a:solidFill>
              </a:rPr>
              <a:t>hdd1, hdd2 ,hdd3 </a:t>
            </a:r>
            <a:r>
              <a:rPr lang="ko-KR" altLang="en-US" sz="2000" dirty="0">
                <a:solidFill>
                  <a:srgbClr val="FFFFFF"/>
                </a:solidFill>
              </a:rPr>
              <a:t>디렉터리를 준비하고 마운트 포인트로 사용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2. </a:t>
            </a:r>
            <a:r>
              <a:rPr lang="ko-KR" altLang="en-US" sz="2000" dirty="0">
                <a:solidFill>
                  <a:srgbClr val="FFFF00"/>
                </a:solidFill>
              </a:rPr>
              <a:t>파일 시스템 </a:t>
            </a:r>
            <a:r>
              <a:rPr lang="ko-KR" altLang="en-US" sz="2000" dirty="0" err="1">
                <a:solidFill>
                  <a:srgbClr val="FFFF00"/>
                </a:solidFill>
              </a:rPr>
              <a:t>마운트하기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/dev/</a:t>
            </a:r>
            <a:r>
              <a:rPr lang="en-US" altLang="ko-KR" sz="2000" dirty="0" err="1">
                <a:solidFill>
                  <a:srgbClr val="FFFFFF"/>
                </a:solidFill>
              </a:rPr>
              <a:t>sdb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디스크의 파일 시스템 마운트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/dev/sdb1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을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/</a:t>
            </a:r>
            <a:r>
              <a:rPr lang="en-US" altLang="ko-KR" sz="2000" dirty="0" err="1">
                <a:solidFill>
                  <a:srgbClr val="FFFFFF"/>
                </a:solidFill>
                <a:sym typeface="Wingdings" panose="05000000000000000000" pitchFamily="2" charset="2"/>
              </a:rPr>
              <a:t>mnt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/hdd1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디렉터리에 마운트</a:t>
            </a: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        /dev/sdb2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파티션을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/</a:t>
            </a:r>
            <a:r>
              <a:rPr lang="en-US" altLang="ko-KR" sz="2000" dirty="0" err="1">
                <a:solidFill>
                  <a:srgbClr val="FFFFFF"/>
                </a:solidFill>
                <a:sym typeface="Wingdings" panose="05000000000000000000" pitchFamily="2" charset="2"/>
              </a:rPr>
              <a:t>mnt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/hdd2 </a:t>
            </a:r>
            <a:r>
              <a:rPr lang="ko-KR" altLang="en-US" sz="2000" dirty="0">
                <a:solidFill>
                  <a:srgbClr val="FFFFFF"/>
                </a:solidFill>
                <a:sym typeface="Wingdings" panose="05000000000000000000" pitchFamily="2" charset="2"/>
              </a:rPr>
              <a:t>디렉터리에 마운트 </a:t>
            </a:r>
            <a:endParaRPr lang="en-US" altLang="ko-KR" sz="2000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3. </a:t>
            </a:r>
            <a:r>
              <a:rPr lang="ko-KR" altLang="en-US" sz="2000" dirty="0">
                <a:solidFill>
                  <a:srgbClr val="FFFF00"/>
                </a:solidFill>
              </a:rPr>
              <a:t>파일 시스템 사용하기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</a:t>
            </a:r>
            <a:r>
              <a:rPr lang="ko-KR" altLang="en-US" sz="2000" dirty="0">
                <a:solidFill>
                  <a:srgbClr val="FFFFFF"/>
                </a:solidFill>
              </a:rPr>
              <a:t>디렉터리 계층 구조에 연결한 파일 시스템을 사용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마운트를 해체하면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/</a:t>
            </a:r>
            <a:r>
              <a:rPr lang="en-US" altLang="ko-KR" sz="2000" dirty="0" err="1">
                <a:solidFill>
                  <a:srgbClr val="FFFFFF"/>
                </a:solidFill>
              </a:rPr>
              <a:t>mnt</a:t>
            </a:r>
            <a:r>
              <a:rPr lang="en-US" altLang="ko-KR" sz="2000" dirty="0">
                <a:solidFill>
                  <a:srgbClr val="FFFFFF"/>
                </a:solidFill>
              </a:rPr>
              <a:t>/hdd1 </a:t>
            </a:r>
            <a:r>
              <a:rPr lang="ko-KR" altLang="en-US" sz="2000" dirty="0">
                <a:solidFill>
                  <a:srgbClr val="FFFFFF"/>
                </a:solidFill>
              </a:rPr>
              <a:t>디렉터리에 아무 파일도 없음 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파티션과 연결이 </a:t>
            </a:r>
            <a:r>
              <a:rPr lang="ko-KR" altLang="en-US" sz="2000" dirty="0" err="1">
                <a:solidFill>
                  <a:srgbClr val="FFFFFF"/>
                </a:solidFill>
              </a:rPr>
              <a:t>끝어지므로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2222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73A929-49DB-44E3-9BBD-B9129B91F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22121"/>
            <a:ext cx="10515598" cy="535484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FFFFFF"/>
                </a:solidFill>
              </a:rPr>
              <a:t>5. </a:t>
            </a:r>
            <a:r>
              <a:rPr lang="ko-KR" altLang="en-US" sz="2000" dirty="0">
                <a:solidFill>
                  <a:srgbClr val="FFFFFF"/>
                </a:solidFill>
              </a:rPr>
              <a:t>여러 디스크를 하나처럼 사용하기</a:t>
            </a: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디스크 용량이 부족할 때 </a:t>
            </a:r>
            <a:r>
              <a:rPr lang="ko-KR" altLang="en-US" sz="2000" dirty="0">
                <a:solidFill>
                  <a:srgbClr val="FFFFFF"/>
                </a:solidFill>
              </a:rPr>
              <a:t>여러 개의 디스크를 하나의 디스크처럼 사용할 수 있음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00"/>
                </a:solidFill>
              </a:rPr>
              <a:t>LVM(logical volume manager)</a:t>
            </a:r>
            <a:r>
              <a:rPr lang="ko-KR" altLang="en-US" sz="2000" dirty="0">
                <a:solidFill>
                  <a:srgbClr val="FFFF00"/>
                </a:solidFill>
              </a:rPr>
              <a:t>은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파티션을 효율적으로 사용할 수 있도록 해주는 관리도구로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한 파티션의 용량이 부족할 때 다른 파티션으로 연장하여 사용할 수 있음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LVM</a:t>
            </a:r>
            <a:r>
              <a:rPr lang="ko-KR" altLang="en-US" sz="2000" dirty="0">
                <a:solidFill>
                  <a:srgbClr val="FFFF00"/>
                </a:solidFill>
              </a:rPr>
              <a:t>의 기본 개념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1. PV(</a:t>
            </a:r>
            <a:r>
              <a:rPr lang="ko-KR" altLang="en-US" sz="2000" dirty="0">
                <a:solidFill>
                  <a:srgbClr val="FFFFFF"/>
                </a:solidFill>
              </a:rPr>
              <a:t>물리 볼륨</a:t>
            </a:r>
            <a:r>
              <a:rPr lang="en-US" altLang="ko-KR" sz="2000" dirty="0">
                <a:solidFill>
                  <a:srgbClr val="FFFFFF"/>
                </a:solidFill>
              </a:rPr>
              <a:t>) : </a:t>
            </a:r>
            <a:r>
              <a:rPr lang="ko-KR" altLang="en-US" sz="2000" dirty="0">
                <a:solidFill>
                  <a:srgbClr val="FFFFFF"/>
                </a:solidFill>
              </a:rPr>
              <a:t>실제 하드디스크의 파티션을 의미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2. VG(</a:t>
            </a:r>
            <a:r>
              <a:rPr lang="ko-KR" altLang="en-US" sz="2000" dirty="0">
                <a:solidFill>
                  <a:srgbClr val="FFFFFF"/>
                </a:solidFill>
              </a:rPr>
              <a:t>볼륨 그룹</a:t>
            </a:r>
            <a:r>
              <a:rPr lang="en-US" altLang="ko-KR" sz="2000" dirty="0">
                <a:solidFill>
                  <a:srgbClr val="FFFFFF"/>
                </a:solidFill>
              </a:rPr>
              <a:t>) : </a:t>
            </a:r>
            <a:r>
              <a:rPr lang="ko-KR" altLang="en-US" sz="2000" dirty="0">
                <a:solidFill>
                  <a:srgbClr val="FFFFFF"/>
                </a:solidFill>
              </a:rPr>
              <a:t>여러 개의 </a:t>
            </a:r>
            <a:r>
              <a:rPr lang="en-US" altLang="ko-KR" sz="2000" dirty="0">
                <a:solidFill>
                  <a:srgbClr val="FFFFFF"/>
                </a:solidFill>
              </a:rPr>
              <a:t>PV</a:t>
            </a:r>
            <a:r>
              <a:rPr lang="ko-KR" altLang="en-US" sz="2000" dirty="0">
                <a:solidFill>
                  <a:srgbClr val="FFFFFF"/>
                </a:solidFill>
              </a:rPr>
              <a:t>를 그룹으로 묶은 것을 뜻함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3. LV(</a:t>
            </a:r>
            <a:r>
              <a:rPr lang="ko-KR" altLang="en-US" sz="2000" dirty="0">
                <a:solidFill>
                  <a:srgbClr val="FFFFFF"/>
                </a:solidFill>
              </a:rPr>
              <a:t>논리 볼륨</a:t>
            </a:r>
            <a:r>
              <a:rPr lang="en-US" altLang="ko-KR" sz="2000" dirty="0">
                <a:solidFill>
                  <a:srgbClr val="FFFFFF"/>
                </a:solidFill>
              </a:rPr>
              <a:t>) : VG</a:t>
            </a:r>
            <a:r>
              <a:rPr lang="ko-KR" altLang="en-US" sz="2000" dirty="0">
                <a:solidFill>
                  <a:srgbClr val="FFFFFF"/>
                </a:solidFill>
              </a:rPr>
              <a:t>를 다시 적절한 크기의 파티션을 나눌 때 각 파티션을 </a:t>
            </a:r>
            <a:r>
              <a:rPr lang="en-US" altLang="ko-KR" sz="2000" dirty="0">
                <a:solidFill>
                  <a:srgbClr val="FFFFFF"/>
                </a:solidFill>
              </a:rPr>
              <a:t>LV</a:t>
            </a:r>
            <a:r>
              <a:rPr lang="ko-KR" altLang="en-US" sz="2000" dirty="0">
                <a:solidFill>
                  <a:srgbClr val="FFFFFF"/>
                </a:solidFill>
              </a:rPr>
              <a:t>라고 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4. PE(physical extent) : PV</a:t>
            </a:r>
            <a:r>
              <a:rPr lang="ko-KR" altLang="en-US" sz="2000" dirty="0">
                <a:solidFill>
                  <a:srgbClr val="FFFFFF"/>
                </a:solidFill>
              </a:rPr>
              <a:t>가 가진 일정한 블록을 의미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5. LE(logical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extent) : LV</a:t>
            </a:r>
            <a:r>
              <a:rPr lang="ko-KR" altLang="en-US" sz="2000" dirty="0">
                <a:solidFill>
                  <a:srgbClr val="FFFFFF"/>
                </a:solidFill>
              </a:rPr>
              <a:t>가 가진 일정한 블록을 의미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물리적 파티션</a:t>
            </a:r>
            <a:r>
              <a:rPr lang="en-US" altLang="ko-KR" sz="2000" dirty="0">
                <a:solidFill>
                  <a:srgbClr val="FFFF00"/>
                </a:solidFill>
                <a:sym typeface="Wingdings" panose="05000000000000000000" pitchFamily="2" charset="2"/>
              </a:rPr>
              <a:t>(PV)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세 개를 묶어서 </a:t>
            </a:r>
            <a:r>
              <a:rPr lang="en-US" altLang="ko-KR" sz="2000" dirty="0">
                <a:solidFill>
                  <a:srgbClr val="FFFF00"/>
                </a:solidFill>
                <a:sym typeface="Wingdings" panose="05000000000000000000" pitchFamily="2" charset="2"/>
              </a:rPr>
              <a:t>VG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하나를 만든 후 이를 다시 </a:t>
            </a:r>
            <a:r>
              <a:rPr lang="en-US" altLang="ko-KR" sz="2000" dirty="0">
                <a:solidFill>
                  <a:srgbClr val="FFFF00"/>
                </a:solidFill>
                <a:sym typeface="Wingdings" panose="05000000000000000000" pitchFamily="2" charset="2"/>
              </a:rPr>
              <a:t>LV 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두개로 분리 </a:t>
            </a:r>
            <a:endParaRPr lang="en-US" altLang="ko-KR" sz="2000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  <a:sym typeface="Wingdings" panose="05000000000000000000" pitchFamily="2" charset="2"/>
              </a:rPr>
              <a:t>         LV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에 파일 시스템을 생성하고 </a:t>
            </a:r>
            <a:r>
              <a:rPr lang="ko-KR" altLang="en-US" sz="2000" dirty="0" err="1">
                <a:solidFill>
                  <a:srgbClr val="FFFF00"/>
                </a:solidFill>
                <a:sym typeface="Wingdings" panose="05000000000000000000" pitchFamily="2" charset="2"/>
              </a:rPr>
              <a:t>마운트하여</a:t>
            </a:r>
            <a:r>
              <a:rPr lang="ko-KR" alt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 사용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7111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6630F6-9F75-451D-8B32-DACEE19FF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79509"/>
            <a:ext cx="10515598" cy="5497454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FFFFFF"/>
                </a:solidFill>
              </a:rPr>
              <a:t>LVM </a:t>
            </a:r>
            <a:r>
              <a:rPr lang="ko-KR" altLang="en-US" sz="2000" dirty="0">
                <a:solidFill>
                  <a:srgbClr val="FFFFFF"/>
                </a:solidFill>
              </a:rPr>
              <a:t>생성 과정 </a:t>
            </a:r>
          </a:p>
        </p:txBody>
      </p:sp>
      <p:pic>
        <p:nvPicPr>
          <p:cNvPr id="9218" name="Picture 2" descr="LVMì ìì± ê³¼ì ì ëí ì´ë¯¸ì§ ê²ìê²°ê³¼">
            <a:extLst>
              <a:ext uri="{FF2B5EF4-FFF2-40B4-BE49-F238E27FC236}">
                <a16:creationId xmlns:a16="http://schemas.microsoft.com/office/drawing/2014/main" id="{3CB6D059-1126-4B79-B51A-EA9A71918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39" y="1343593"/>
            <a:ext cx="5643941" cy="447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2261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4C07CF-E2C0-46DB-8A84-209B81EB7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27789"/>
            <a:ext cx="10515598" cy="5449174"/>
          </a:xfrm>
        </p:spPr>
        <p:txBody>
          <a:bodyPr>
            <a:normAutofit lnSpcReduction="10000"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디스크 관리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1. </a:t>
            </a:r>
            <a:r>
              <a:rPr lang="ko-KR" altLang="en-US" sz="2000" dirty="0">
                <a:solidFill>
                  <a:srgbClr val="FFFF00"/>
                </a:solidFill>
              </a:rPr>
              <a:t>디스크 사용량 확인하기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  </a:t>
            </a:r>
            <a:r>
              <a:rPr lang="en-US" altLang="ko-KR" sz="2000" dirty="0">
                <a:solidFill>
                  <a:srgbClr val="FFFF00"/>
                </a:solidFill>
              </a:rPr>
              <a:t>df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[</a:t>
            </a:r>
            <a:r>
              <a:rPr lang="ko-KR" altLang="en-US" sz="2000" dirty="0">
                <a:solidFill>
                  <a:srgbClr val="FFFF00"/>
                </a:solidFill>
              </a:rPr>
              <a:t>파일 시스템</a:t>
            </a:r>
            <a:r>
              <a:rPr lang="en-US" altLang="ko-KR" sz="2000" dirty="0">
                <a:solidFill>
                  <a:srgbClr val="FFFF00"/>
                </a:solidFill>
              </a:rPr>
              <a:t>]: </a:t>
            </a:r>
            <a:r>
              <a:rPr lang="ko-KR" altLang="en-US" sz="2000" dirty="0">
                <a:solidFill>
                  <a:srgbClr val="FFFF00"/>
                </a:solidFill>
              </a:rPr>
              <a:t>디스크의 남은 공간에 대한 정보를 출력하는 명령어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</a:t>
            </a:r>
            <a:r>
              <a:rPr lang="ko-KR" altLang="en-US" sz="2000" dirty="0">
                <a:solidFill>
                  <a:srgbClr val="FFFFFF"/>
                </a:solidFill>
              </a:rPr>
              <a:t>옵션 </a:t>
            </a:r>
            <a:r>
              <a:rPr lang="en-US" altLang="ko-KR" sz="2000" dirty="0">
                <a:solidFill>
                  <a:srgbClr val="FFFFFF"/>
                </a:solidFill>
              </a:rPr>
              <a:t>– a : </a:t>
            </a:r>
            <a:r>
              <a:rPr lang="ko-KR" altLang="en-US" sz="2000" dirty="0">
                <a:solidFill>
                  <a:srgbClr val="FFFFFF"/>
                </a:solidFill>
              </a:rPr>
              <a:t>모든 파일 시스템을 대상으로 디스크 사용량을 확인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- k : </a:t>
            </a:r>
            <a:r>
              <a:rPr lang="ko-KR" altLang="en-US" sz="2000" dirty="0">
                <a:solidFill>
                  <a:srgbClr val="FFFFFF"/>
                </a:solidFill>
              </a:rPr>
              <a:t>디스크 사용량 </a:t>
            </a:r>
            <a:r>
              <a:rPr lang="en-US" altLang="ko-KR" sz="2000" dirty="0">
                <a:solidFill>
                  <a:srgbClr val="FFFFFF"/>
                </a:solidFill>
              </a:rPr>
              <a:t>KB </a:t>
            </a:r>
            <a:r>
              <a:rPr lang="ko-KR" altLang="en-US" sz="2000" dirty="0">
                <a:solidFill>
                  <a:srgbClr val="FFFFFF"/>
                </a:solidFill>
              </a:rPr>
              <a:t>단위로 출력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- m : </a:t>
            </a:r>
            <a:r>
              <a:rPr lang="ko-KR" altLang="en-US" sz="2000" dirty="0">
                <a:solidFill>
                  <a:srgbClr val="FFFFFF"/>
                </a:solidFill>
              </a:rPr>
              <a:t>디스크 사용량 </a:t>
            </a:r>
            <a:r>
              <a:rPr lang="en-US" altLang="ko-KR" sz="2000" dirty="0">
                <a:solidFill>
                  <a:srgbClr val="FFFFFF"/>
                </a:solidFill>
              </a:rPr>
              <a:t>MB</a:t>
            </a:r>
            <a:r>
              <a:rPr lang="ko-KR" altLang="en-US" sz="2000" dirty="0">
                <a:solidFill>
                  <a:srgbClr val="FFFFFF"/>
                </a:solidFill>
              </a:rPr>
              <a:t>단위로 출력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- h  : </a:t>
            </a:r>
            <a:r>
              <a:rPr lang="ko-KR" altLang="en-US" sz="2000" dirty="0">
                <a:solidFill>
                  <a:srgbClr val="FFFFFF"/>
                </a:solidFill>
              </a:rPr>
              <a:t>디스크 사용량을 알기 쉬운 단위로 출력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 - t  </a:t>
            </a:r>
            <a:r>
              <a:rPr lang="ko-KR" altLang="en-US" sz="2000" dirty="0">
                <a:solidFill>
                  <a:srgbClr val="FFFFFF"/>
                </a:solidFill>
              </a:rPr>
              <a:t>파일 시스템 종류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지정한 파일 시스템 종류에 해당하는 디스크 사용량을 출력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 -T : </a:t>
            </a:r>
            <a:r>
              <a:rPr lang="ko-KR" altLang="en-US" sz="2000" dirty="0">
                <a:solidFill>
                  <a:srgbClr val="FFFFFF"/>
                </a:solidFill>
              </a:rPr>
              <a:t>파일 시스템의 종류도 출력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00"/>
                </a:solidFill>
              </a:rPr>
              <a:t>du : </a:t>
            </a:r>
            <a:r>
              <a:rPr lang="ko-KR" altLang="en-US" sz="2000" dirty="0">
                <a:solidFill>
                  <a:srgbClr val="FFFF00"/>
                </a:solidFill>
              </a:rPr>
              <a:t>디렉터리나 사용자별 디스크 사용량 확인하는 명령어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>
                <a:solidFill>
                  <a:srgbClr val="FFFF00"/>
                </a:solidFill>
              </a:rPr>
              <a:t>기능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ko-KR" altLang="en-US" sz="2000" dirty="0">
                <a:solidFill>
                  <a:srgbClr val="FFFF00"/>
                </a:solidFill>
              </a:rPr>
              <a:t>디스크의 사용 공간에 대한 정보를 출력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>
                <a:solidFill>
                  <a:srgbClr val="FFFFFF"/>
                </a:solidFill>
              </a:rPr>
              <a:t>형식 </a:t>
            </a:r>
            <a:r>
              <a:rPr lang="en-US" altLang="ko-KR" sz="2000" dirty="0">
                <a:solidFill>
                  <a:srgbClr val="FFFFFF"/>
                </a:solidFill>
              </a:rPr>
              <a:t>: du [</a:t>
            </a:r>
            <a:r>
              <a:rPr lang="ko-KR" altLang="en-US" sz="2000" dirty="0">
                <a:solidFill>
                  <a:srgbClr val="FFFFFF"/>
                </a:solidFill>
              </a:rPr>
              <a:t>옵션</a:t>
            </a:r>
            <a:r>
              <a:rPr lang="en-US" altLang="ko-KR" sz="2000" dirty="0">
                <a:solidFill>
                  <a:srgbClr val="FFFFFF"/>
                </a:solidFill>
              </a:rPr>
              <a:t>] [</a:t>
            </a:r>
            <a:r>
              <a:rPr lang="ko-KR" altLang="en-US" sz="2000" dirty="0">
                <a:solidFill>
                  <a:srgbClr val="FFFFFF"/>
                </a:solidFill>
              </a:rPr>
              <a:t>디렉터리</a:t>
            </a:r>
            <a:r>
              <a:rPr lang="en-US" altLang="ko-KR" sz="2000" dirty="0">
                <a:solidFill>
                  <a:srgbClr val="FFFFFF"/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-s : </a:t>
            </a:r>
            <a:r>
              <a:rPr lang="ko-KR" altLang="en-US" sz="2000" dirty="0">
                <a:solidFill>
                  <a:srgbClr val="FFFFFF"/>
                </a:solidFill>
              </a:rPr>
              <a:t>특정 디렉터리의 전체 사용량을 출력</a:t>
            </a:r>
            <a:r>
              <a:rPr lang="en-US" altLang="ko-KR" sz="2000" dirty="0">
                <a:solidFill>
                  <a:srgbClr val="FFFFFF"/>
                </a:solidFill>
              </a:rPr>
              <a:t>, -h : </a:t>
            </a:r>
            <a:r>
              <a:rPr lang="ko-KR" altLang="en-US" sz="2000" dirty="0">
                <a:solidFill>
                  <a:srgbClr val="FFFFFF"/>
                </a:solidFill>
              </a:rPr>
              <a:t>디스크 사용량을 알기 쉬운 단위</a:t>
            </a:r>
          </a:p>
        </p:txBody>
      </p:sp>
    </p:spTree>
    <p:extLst>
      <p:ext uri="{BB962C8B-B14F-4D97-AF65-F5344CB8AC3E}">
        <p14:creationId xmlns:p14="http://schemas.microsoft.com/office/powerpoint/2010/main" val="30997212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3A65D7-4479-4DDF-B3DF-BC9B481B4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04007"/>
            <a:ext cx="10515598" cy="5572955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2. </a:t>
            </a:r>
            <a:r>
              <a:rPr lang="ko-KR" altLang="en-US" sz="2000" dirty="0">
                <a:solidFill>
                  <a:srgbClr val="FFFF00"/>
                </a:solidFill>
              </a:rPr>
              <a:t>파일 시스템 검사하고 복구하기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000" dirty="0" err="1">
                <a:solidFill>
                  <a:srgbClr val="FFFF00"/>
                </a:solidFill>
              </a:rPr>
              <a:t>fsck</a:t>
            </a:r>
            <a:r>
              <a:rPr lang="en-US" altLang="ko-KR" sz="2000" dirty="0">
                <a:solidFill>
                  <a:srgbClr val="FFFF00"/>
                </a:solidFill>
              </a:rPr>
              <a:t>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 err="1">
                <a:solidFill>
                  <a:srgbClr val="FFFF00"/>
                </a:solidFill>
              </a:rPr>
              <a:t>장치명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ko-KR" altLang="en-US" sz="2000" dirty="0">
                <a:solidFill>
                  <a:srgbClr val="FFFF00"/>
                </a:solidFill>
              </a:rPr>
              <a:t>리눅스의 파일 시스템을 검사하는 명령어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옵션 </a:t>
            </a:r>
            <a:r>
              <a:rPr lang="en-US" altLang="ko-KR" sz="2000" dirty="0">
                <a:solidFill>
                  <a:srgbClr val="FFFFFF"/>
                </a:solidFill>
              </a:rPr>
              <a:t>-f : </a:t>
            </a:r>
            <a:r>
              <a:rPr lang="ko-KR" altLang="en-US" sz="2000" dirty="0">
                <a:solidFill>
                  <a:srgbClr val="FFFFFF"/>
                </a:solidFill>
              </a:rPr>
              <a:t>강제로 검사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-b </a:t>
            </a:r>
            <a:r>
              <a:rPr lang="ko-KR" altLang="en-US" sz="2000" dirty="0">
                <a:solidFill>
                  <a:srgbClr val="FFFFFF"/>
                </a:solidFill>
              </a:rPr>
              <a:t>슈퍼블록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슈퍼블록으로 지정한 백업 슈퍼블록을 사용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-y : </a:t>
            </a:r>
            <a:r>
              <a:rPr lang="ko-KR" altLang="en-US" sz="2000" dirty="0">
                <a:solidFill>
                  <a:srgbClr val="FFFFFF"/>
                </a:solidFill>
              </a:rPr>
              <a:t>모든 질문에 </a:t>
            </a:r>
            <a:r>
              <a:rPr lang="en-US" altLang="ko-KR" sz="2000" dirty="0">
                <a:solidFill>
                  <a:srgbClr val="FFFFFF"/>
                </a:solidFill>
              </a:rPr>
              <a:t>yes</a:t>
            </a:r>
            <a:r>
              <a:rPr lang="ko-KR" altLang="en-US" sz="2000" dirty="0">
                <a:solidFill>
                  <a:srgbClr val="FFFFFF"/>
                </a:solidFill>
              </a:rPr>
              <a:t>로 대답하도록 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-a : </a:t>
            </a:r>
            <a:r>
              <a:rPr lang="ko-KR" altLang="en-US" sz="2000" dirty="0">
                <a:solidFill>
                  <a:srgbClr val="FFFFFF"/>
                </a:solidFill>
              </a:rPr>
              <a:t>파일 시스템 검사에서 문제가 발생했을 때 자동으로 복구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e2fsck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 err="1">
                <a:solidFill>
                  <a:srgbClr val="FFFF00"/>
                </a:solidFill>
              </a:rPr>
              <a:t>장치명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ko-KR" altLang="en-US" sz="2000" dirty="0">
                <a:solidFill>
                  <a:srgbClr val="FFFF00"/>
                </a:solidFill>
              </a:rPr>
              <a:t>리눅스의 확장 파일 시스템</a:t>
            </a:r>
            <a:r>
              <a:rPr lang="en-US" altLang="ko-KR" sz="2000" dirty="0">
                <a:solidFill>
                  <a:srgbClr val="FFFF00"/>
                </a:solidFill>
              </a:rPr>
              <a:t>(ext2,ext3,ext4)</a:t>
            </a:r>
            <a:r>
              <a:rPr lang="ko-KR" altLang="en-US" sz="2000" dirty="0">
                <a:solidFill>
                  <a:srgbClr val="FFFF00"/>
                </a:solidFill>
              </a:rPr>
              <a:t>을 검사하는 명령어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옵션 </a:t>
            </a:r>
            <a:r>
              <a:rPr lang="en-US" altLang="ko-KR" sz="2000" dirty="0">
                <a:solidFill>
                  <a:srgbClr val="FFFFFF"/>
                </a:solidFill>
              </a:rPr>
              <a:t>–j : ext3/ext4 : ext3</a:t>
            </a:r>
            <a:r>
              <a:rPr lang="ko-KR" altLang="en-US" sz="2000" dirty="0">
                <a:solidFill>
                  <a:srgbClr val="FFFFFF"/>
                </a:solidFill>
              </a:rPr>
              <a:t>나 </a:t>
            </a:r>
            <a:r>
              <a:rPr lang="en-US" altLang="ko-KR" sz="2000" dirty="0">
                <a:solidFill>
                  <a:srgbClr val="FFFFFF"/>
                </a:solidFill>
              </a:rPr>
              <a:t>ext4 </a:t>
            </a:r>
            <a:r>
              <a:rPr lang="ko-KR" altLang="en-US" sz="2000" dirty="0">
                <a:solidFill>
                  <a:srgbClr val="FFFFFF"/>
                </a:solidFill>
              </a:rPr>
              <a:t>파일 시스템을 검사할 때 지정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</a:t>
            </a:r>
            <a:r>
              <a:rPr lang="ko-KR" altLang="en-US" sz="2000" dirty="0">
                <a:solidFill>
                  <a:srgbClr val="FFFFFF"/>
                </a:solidFill>
              </a:rPr>
              <a:t>나머지 </a:t>
            </a:r>
            <a:r>
              <a:rPr lang="en-US" altLang="ko-KR" sz="2000" dirty="0" err="1">
                <a:solidFill>
                  <a:srgbClr val="FFFFFF"/>
                </a:solidFill>
              </a:rPr>
              <a:t>f,b,y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는 위와 동일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9895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E28617-DBC6-4825-AAAC-D27FC4436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39567"/>
            <a:ext cx="10515598" cy="5237395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00"/>
              </a:solidFill>
            </a:endParaRPr>
          </a:p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 err="1">
                <a:solidFill>
                  <a:srgbClr val="FFFF00"/>
                </a:solidFill>
              </a:rPr>
              <a:t>배드</a:t>
            </a:r>
            <a:r>
              <a:rPr lang="ko-KR" altLang="en-US" sz="2000" dirty="0">
                <a:solidFill>
                  <a:srgbClr val="FFFF00"/>
                </a:solidFill>
              </a:rPr>
              <a:t> 블록 검사하기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badblocks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기능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장치의 </a:t>
            </a:r>
            <a:r>
              <a:rPr lang="ko-KR" altLang="en-US" sz="2000" dirty="0" err="1">
                <a:solidFill>
                  <a:srgbClr val="FFFFFF"/>
                </a:solidFill>
              </a:rPr>
              <a:t>배드</a:t>
            </a:r>
            <a:r>
              <a:rPr lang="ko-KR" altLang="en-US" sz="2000" dirty="0">
                <a:solidFill>
                  <a:srgbClr val="FFFFFF"/>
                </a:solidFill>
              </a:rPr>
              <a:t> 블록을 검색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형식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badblocks</a:t>
            </a:r>
            <a:r>
              <a:rPr lang="en-US" altLang="ko-KR" sz="2000" dirty="0">
                <a:solidFill>
                  <a:srgbClr val="FFFF00"/>
                </a:solidFill>
              </a:rPr>
              <a:t>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 err="1">
                <a:solidFill>
                  <a:srgbClr val="FFFF00"/>
                </a:solidFill>
              </a:rPr>
              <a:t>장치명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옵션  </a:t>
            </a:r>
            <a:r>
              <a:rPr lang="en-US" altLang="ko-KR" sz="2000" dirty="0">
                <a:solidFill>
                  <a:srgbClr val="FFFFFF"/>
                </a:solidFill>
              </a:rPr>
              <a:t>-v : </a:t>
            </a:r>
            <a:r>
              <a:rPr lang="ko-KR" altLang="en-US" sz="2000" dirty="0">
                <a:solidFill>
                  <a:srgbClr val="FFFFFF"/>
                </a:solidFill>
              </a:rPr>
              <a:t>검색 결과를 자세하게 출력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-o </a:t>
            </a:r>
            <a:r>
              <a:rPr lang="ko-KR" altLang="en-US" sz="2000" dirty="0">
                <a:solidFill>
                  <a:srgbClr val="FFFFFF"/>
                </a:solidFill>
              </a:rPr>
              <a:t>출력 파일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검색한 </a:t>
            </a:r>
            <a:r>
              <a:rPr lang="ko-KR" altLang="en-US" sz="2000" dirty="0" err="1">
                <a:solidFill>
                  <a:srgbClr val="FFFFFF"/>
                </a:solidFill>
              </a:rPr>
              <a:t>배드</a:t>
            </a:r>
            <a:r>
              <a:rPr lang="ko-KR" altLang="en-US" sz="2000" dirty="0">
                <a:solidFill>
                  <a:srgbClr val="FFFFFF"/>
                </a:solidFill>
              </a:rPr>
              <a:t> 블록 목록을 지정한 출력 파일에 저장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백업 슈퍼블록을 이용해 파일 시스템 복구 </a:t>
            </a:r>
            <a:r>
              <a:rPr lang="en-US" altLang="ko-KR" sz="2000" dirty="0">
                <a:solidFill>
                  <a:srgbClr val="FFFF00"/>
                </a:solidFill>
              </a:rPr>
              <a:t>: dumpe2fs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/>
              <a:t>기능 </a:t>
            </a:r>
            <a:r>
              <a:rPr lang="en-US" altLang="ko-KR" sz="2000" dirty="0"/>
              <a:t>: </a:t>
            </a:r>
            <a:r>
              <a:rPr lang="ko-KR" altLang="en-US" sz="2000" dirty="0"/>
              <a:t>파일</a:t>
            </a:r>
            <a:r>
              <a:rPr lang="en-US" altLang="ko-KR" sz="2000" dirty="0"/>
              <a:t> </a:t>
            </a:r>
            <a:r>
              <a:rPr lang="ko-KR" altLang="en-US" sz="2000" dirty="0"/>
              <a:t>시스템의 정보를 출력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</a:t>
            </a:r>
            <a:r>
              <a:rPr lang="ko-KR" altLang="en-US" sz="2000" dirty="0"/>
              <a:t>형식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: dumpe2fs </a:t>
            </a:r>
            <a:r>
              <a:rPr lang="ko-KR" altLang="en-US" sz="2000" dirty="0" err="1">
                <a:solidFill>
                  <a:srgbClr val="FFFF00"/>
                </a:solidFill>
              </a:rPr>
              <a:t>장치명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9390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41B94F-8816-415E-9AE5-AC4A48E6F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581025"/>
            <a:ext cx="10515598" cy="5595937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hlinkClick r:id="rId2"/>
              </a:rPr>
              <a:t>http://mclab.silla.ac.kr/lecture/201501/sm/sm_lecture_06.pdf</a:t>
            </a:r>
            <a:endParaRPr lang="en-US" altLang="ko-KR" sz="2000" dirty="0"/>
          </a:p>
          <a:p>
            <a:r>
              <a:rPr lang="en-US" altLang="ko-KR" sz="2000" dirty="0">
                <a:hlinkClick r:id="rId3"/>
              </a:rPr>
              <a:t>https://sksstar.tistory.com/9</a:t>
            </a:r>
            <a:endParaRPr lang="en-US" altLang="ko-KR" sz="2000" dirty="0"/>
          </a:p>
          <a:p>
            <a:r>
              <a:rPr lang="en-US" altLang="ko-KR" sz="2000" dirty="0">
                <a:hlinkClick r:id="rId4"/>
              </a:rPr>
              <a:t>https://jin1ib.tistory.com/86</a:t>
            </a:r>
            <a:endParaRPr lang="en-US" altLang="ko-KR" sz="2000" dirty="0"/>
          </a:p>
          <a:p>
            <a:r>
              <a:rPr lang="en-US" altLang="ko-KR" sz="2000" dirty="0">
                <a:hlinkClick r:id="rId5"/>
              </a:rPr>
              <a:t>http://mclab.silla.ac.kr/lecture/201501/sm/sm_lecture_05.pdf</a:t>
            </a:r>
            <a:endParaRPr lang="en-US" altLang="ko-KR" sz="2000" dirty="0"/>
          </a:p>
          <a:p>
            <a:r>
              <a:rPr lang="en-US" altLang="ko-KR" sz="2000" dirty="0">
                <a:hlinkClick r:id="rId6"/>
              </a:rPr>
              <a:t>http://sunguru-infra.blogspot.com/2018/03/centos-66-9.html</a:t>
            </a:r>
            <a:endParaRPr lang="en-US" altLang="ko-KR" sz="2000" dirty="0"/>
          </a:p>
          <a:p>
            <a:r>
              <a:rPr lang="en-US" altLang="ko-KR" sz="2000" dirty="0">
                <a:hlinkClick r:id="rId7"/>
              </a:rPr>
              <a:t>https://m.blog.naver.com/PostView.nhn?blogId=dudwo567890&amp;logNo=130156968885&amp;proxyReferer=https%3A%2F%2Fwww.google.com%2F</a:t>
            </a:r>
            <a:endParaRPr lang="en-US" altLang="ko-KR" sz="2000" dirty="0"/>
          </a:p>
          <a:p>
            <a:r>
              <a:rPr lang="en-US" altLang="ko-KR" sz="2000" dirty="0">
                <a:hlinkClick r:id="rId8"/>
              </a:rPr>
              <a:t>https://kimhyun2017.tistory.com/23</a:t>
            </a:r>
            <a:endParaRPr lang="en-US" altLang="ko-KR" sz="2000" dirty="0"/>
          </a:p>
          <a:p>
            <a:r>
              <a:rPr lang="en-US" altLang="ko-KR" sz="2000" dirty="0">
                <a:hlinkClick r:id="rId9"/>
              </a:rPr>
              <a:t>https://rrhh234cm.tistory.com/190</a:t>
            </a:r>
            <a:endParaRPr lang="en-US" altLang="ko-KR" sz="2000" dirty="0"/>
          </a:p>
          <a:p>
            <a:r>
              <a:rPr lang="en-US" altLang="ko-KR" sz="2000" dirty="0">
                <a:hlinkClick r:id="rId10"/>
              </a:rPr>
              <a:t>https://zeromini0.tistory.com/30</a:t>
            </a:r>
            <a:endParaRPr lang="en-US" altLang="ko-KR" sz="2000" dirty="0"/>
          </a:p>
          <a:p>
            <a:r>
              <a:rPr lang="en-US" altLang="ko-KR" sz="2000" dirty="0">
                <a:hlinkClick r:id="rId11"/>
              </a:rPr>
              <a:t>https://rrhh234cm.tistory.com/185</a:t>
            </a:r>
            <a:endParaRPr lang="en-US" altLang="ko-KR" sz="2000" dirty="0"/>
          </a:p>
          <a:p>
            <a:r>
              <a:rPr lang="en-US" altLang="ko-KR" sz="2000" dirty="0">
                <a:hlinkClick r:id="rId12"/>
              </a:rPr>
              <a:t>https://rrhh234cm.tistory.com/184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309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3149</Words>
  <Application>Microsoft Office PowerPoint</Application>
  <PresentationFormat>와이드스크린</PresentationFormat>
  <Paragraphs>424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맑은 고딕</vt:lpstr>
      <vt:lpstr>Arial</vt:lpstr>
      <vt:lpstr>Calibri</vt:lpstr>
      <vt:lpstr>Calibri Light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진일</dc:creator>
  <cp:lastModifiedBy>김 진일</cp:lastModifiedBy>
  <cp:revision>8</cp:revision>
  <dcterms:created xsi:type="dcterms:W3CDTF">2019-06-25T15:28:25Z</dcterms:created>
  <dcterms:modified xsi:type="dcterms:W3CDTF">2019-06-25T16:09:52Z</dcterms:modified>
</cp:coreProperties>
</file>