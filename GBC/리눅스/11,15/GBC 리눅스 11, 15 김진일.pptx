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695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503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29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7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83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92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7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87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63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40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75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57B99-0A78-448D-BB6D-A276AE09D679}" type="datetimeFigureOut">
              <a:rPr lang="ko-KR" altLang="en-US" smtClean="0"/>
              <a:t>2019-06-27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852F-F066-448C-8B2C-4421DF1A9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062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09B91EEE-57BE-4C84-9445-88DE86F8D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63807"/>
            <a:ext cx="9144000" cy="1655762"/>
          </a:xfrm>
        </p:spPr>
        <p:txBody>
          <a:bodyPr/>
          <a:lstStyle/>
          <a:p>
            <a:r>
              <a:rPr lang="en-US" altLang="ko-KR" sz="3000" dirty="0"/>
              <a:t>GBC </a:t>
            </a:r>
            <a:r>
              <a:rPr lang="ko-KR" altLang="en-US" sz="3000" dirty="0"/>
              <a:t>리눅스 </a:t>
            </a:r>
            <a:r>
              <a:rPr lang="en-US" altLang="ko-KR" sz="3000" dirty="0"/>
              <a:t>11 ,15</a:t>
            </a:r>
          </a:p>
          <a:p>
            <a:r>
              <a:rPr lang="en-US" altLang="ko-KR" dirty="0"/>
              <a:t>21900195 </a:t>
            </a:r>
            <a:r>
              <a:rPr lang="ko-KR" altLang="en-US" dirty="0"/>
              <a:t>김진일</a:t>
            </a:r>
          </a:p>
        </p:txBody>
      </p:sp>
    </p:spTree>
    <p:extLst>
      <p:ext uri="{BB962C8B-B14F-4D97-AF65-F5344CB8AC3E}">
        <p14:creationId xmlns:p14="http://schemas.microsoft.com/office/powerpoint/2010/main" val="181634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34DF5-8743-4A55-87B6-A6CE35E6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6954"/>
            <a:ext cx="10515600" cy="5380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  네트워크의 기초</a:t>
            </a:r>
          </a:p>
          <a:p>
            <a:pPr marL="0" indent="0">
              <a:buNone/>
            </a:pPr>
            <a:r>
              <a:rPr lang="en-US" altLang="ko-KR" sz="2000" dirty="0"/>
              <a:t>  1. TCP/IP </a:t>
            </a:r>
            <a:r>
              <a:rPr lang="ko-KR" altLang="en-US" sz="2000" dirty="0"/>
              <a:t>프로토콜</a:t>
            </a:r>
          </a:p>
          <a:p>
            <a:pPr marL="0" indent="0">
              <a:buNone/>
            </a:pPr>
            <a:r>
              <a:rPr lang="ko-KR" altLang="en-US" sz="2000" dirty="0"/>
              <a:t>  프로토콜 </a:t>
            </a:r>
            <a:r>
              <a:rPr lang="en-US" altLang="ko-KR" sz="2000" dirty="0"/>
              <a:t>: </a:t>
            </a:r>
            <a:r>
              <a:rPr lang="ko-KR" altLang="en-US" sz="2000" dirty="0"/>
              <a:t>컴퓨터와 컴퓨터 사이에서 데이터를 어떻게 주고받을 것인지를 정의한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통신 규약</a:t>
            </a:r>
          </a:p>
          <a:p>
            <a:pPr marL="0" indent="0">
              <a:buNone/>
            </a:pPr>
            <a:r>
              <a:rPr lang="ko-KR" altLang="en-US" sz="2000" dirty="0"/>
              <a:t>  즉 </a:t>
            </a:r>
            <a:r>
              <a:rPr lang="en-US" altLang="ko-KR" sz="2000" dirty="0"/>
              <a:t>, </a:t>
            </a:r>
            <a:r>
              <a:rPr lang="ko-KR" altLang="en-US" sz="2000" dirty="0"/>
              <a:t>같은 프로토콜을 사용하는 기기 간에는 통신이 필요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TCP/IP</a:t>
            </a:r>
            <a:r>
              <a:rPr lang="ko-KR" altLang="en-US" sz="2000" dirty="0"/>
              <a:t>의 </a:t>
            </a:r>
            <a:r>
              <a:rPr lang="en-US" altLang="ko-KR" sz="2000" dirty="0"/>
              <a:t>5</a:t>
            </a:r>
            <a:r>
              <a:rPr lang="ko-KR" altLang="en-US" sz="2000" dirty="0"/>
              <a:t>계층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3~5</a:t>
            </a:r>
            <a:r>
              <a:rPr lang="ko-KR" altLang="en-US" sz="2000" dirty="0"/>
              <a:t>계층은 </a:t>
            </a:r>
            <a:r>
              <a:rPr lang="en-US" altLang="ko-KR" sz="2000" dirty="0"/>
              <a:t>IP </a:t>
            </a:r>
            <a:r>
              <a:rPr lang="ko-KR" altLang="en-US" sz="2000" dirty="0"/>
              <a:t>주소를 사용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/>
              <a:t>4 </a:t>
            </a:r>
            <a:r>
              <a:rPr lang="ko-KR" altLang="en-US" sz="2000" dirty="0"/>
              <a:t>계층인 전송 계층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(</a:t>
            </a:r>
            <a:r>
              <a:rPr lang="ko-KR" altLang="en-US" sz="2000" dirty="0"/>
              <a:t>데이터가 정확하게 전달되도록 하는 계층</a:t>
            </a:r>
            <a:r>
              <a:rPr lang="en-US" altLang="ko-KR" sz="2000" dirty="0"/>
              <a:t>)</a:t>
            </a:r>
            <a:r>
              <a:rPr lang="ko-KR" altLang="en-US" sz="2000" dirty="0"/>
              <a:t>에서 사용하는 번호 </a:t>
            </a:r>
            <a:r>
              <a:rPr lang="en-US" altLang="ko-KR" sz="2000" dirty="0"/>
              <a:t>: </a:t>
            </a:r>
            <a:r>
              <a:rPr lang="ko-KR" altLang="en-US" sz="2000" dirty="0"/>
              <a:t>포트 번호</a:t>
            </a:r>
          </a:p>
        </p:txBody>
      </p:sp>
      <p:pic>
        <p:nvPicPr>
          <p:cNvPr id="1026" name="Picture 2" descr="TCP IP 5ê³ì¸µì ëí ì´ë¯¸ì§ ê²ìê²°ê³¼">
            <a:extLst>
              <a:ext uri="{FF2B5EF4-FFF2-40B4-BE49-F238E27FC236}">
                <a16:creationId xmlns:a16="http://schemas.microsoft.com/office/drawing/2014/main" id="{CB8F0FFC-FD15-4332-9705-D1CFD647C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375" y="2301810"/>
            <a:ext cx="3518302" cy="3259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130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0FB885-9E15-4821-B1E6-7FC3626E5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1178"/>
            <a:ext cx="10515600" cy="52457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주소</a:t>
            </a:r>
          </a:p>
          <a:p>
            <a:pPr marL="0" indent="0">
              <a:buNone/>
            </a:pPr>
            <a:r>
              <a:rPr lang="ko-KR" altLang="en-US" sz="2000" dirty="0"/>
              <a:t>   컴퓨터 주소 </a:t>
            </a:r>
            <a:r>
              <a:rPr lang="en-US" altLang="ko-KR" sz="2000" dirty="0"/>
              <a:t>: MAC </a:t>
            </a:r>
            <a:r>
              <a:rPr lang="ko-KR" altLang="en-US" sz="2000" dirty="0"/>
              <a:t>주소 </a:t>
            </a:r>
            <a:r>
              <a:rPr lang="en-US" altLang="ko-KR" sz="2000" dirty="0"/>
              <a:t>, IP </a:t>
            </a:r>
            <a:r>
              <a:rPr lang="ko-KR" altLang="en-US" sz="2000" dirty="0"/>
              <a:t>주소 </a:t>
            </a:r>
            <a:r>
              <a:rPr lang="en-US" altLang="ko-KR" sz="2000" dirty="0"/>
              <a:t>, </a:t>
            </a:r>
            <a:r>
              <a:rPr lang="ko-KR" altLang="en-US" sz="2000" dirty="0"/>
              <a:t>호스트 명 </a:t>
            </a:r>
          </a:p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MAC </a:t>
            </a:r>
            <a:r>
              <a:rPr lang="ko-KR" altLang="en-US" sz="2000" dirty="0"/>
              <a:t>주소 </a:t>
            </a:r>
            <a:r>
              <a:rPr lang="en-US" altLang="ko-KR" sz="2000" dirty="0"/>
              <a:t>(media access control) = </a:t>
            </a:r>
            <a:r>
              <a:rPr lang="ko-KR" altLang="en-US" sz="2000" dirty="0"/>
              <a:t>이더넷 주소</a:t>
            </a:r>
            <a:r>
              <a:rPr lang="en-US" altLang="ko-KR" sz="2000" dirty="0"/>
              <a:t>, </a:t>
            </a:r>
            <a:r>
              <a:rPr lang="ko-KR" altLang="en-US" sz="2000" dirty="0"/>
              <a:t>하드웨어 주소 </a:t>
            </a:r>
            <a:r>
              <a:rPr lang="en-US" altLang="ko-KR" sz="2000" dirty="0"/>
              <a:t>, </a:t>
            </a:r>
            <a:r>
              <a:rPr lang="ko-KR" altLang="en-US" sz="2000" dirty="0"/>
              <a:t>물리 주소 </a:t>
            </a: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</a:t>
            </a:r>
            <a:r>
              <a:rPr lang="en-US" altLang="ko-KR" sz="2000" dirty="0"/>
              <a:t> </a:t>
            </a:r>
            <a:r>
              <a:rPr lang="ko-KR" altLang="en-US" sz="2000" dirty="0"/>
              <a:t>네트워크 인터페이스 </a:t>
            </a:r>
            <a:r>
              <a:rPr lang="en-US" altLang="ko-KR" sz="2000" dirty="0"/>
              <a:t>(</a:t>
            </a:r>
            <a:r>
              <a:rPr lang="ko-KR" altLang="en-US" sz="2000" dirty="0"/>
              <a:t>카드</a:t>
            </a:r>
            <a:r>
              <a:rPr lang="en-US" altLang="ko-KR" sz="2000" dirty="0"/>
              <a:t>)</a:t>
            </a:r>
            <a:r>
              <a:rPr lang="ko-KR" altLang="en-US" sz="2000" dirty="0"/>
              <a:t>에 저장된 주소</a:t>
            </a:r>
          </a:p>
          <a:p>
            <a:pPr marL="0" indent="0">
              <a:buNone/>
            </a:pPr>
            <a:r>
              <a:rPr lang="ko-KR" altLang="en-US" sz="2000" dirty="0"/>
              <a:t>   역할 </a:t>
            </a:r>
            <a:r>
              <a:rPr lang="en-US" altLang="ko-KR" sz="2000" dirty="0"/>
              <a:t>: </a:t>
            </a:r>
            <a:r>
              <a:rPr lang="ko-KR" altLang="en-US" sz="2000" dirty="0"/>
              <a:t>각 하드웨어를 구별하는 역할  </a:t>
            </a:r>
            <a:r>
              <a:rPr lang="en-US" altLang="ko-KR" sz="2000" dirty="0"/>
              <a:t>/ 6</a:t>
            </a:r>
            <a:r>
              <a:rPr lang="ko-KR" altLang="en-US" sz="2000" dirty="0"/>
              <a:t>개의 </a:t>
            </a:r>
            <a:r>
              <a:rPr lang="en-US" altLang="ko-KR" sz="2000" dirty="0"/>
              <a:t>16</a:t>
            </a:r>
            <a:r>
              <a:rPr lang="ko-KR" altLang="en-US" sz="2000" dirty="0"/>
              <a:t>진수로 되어있음 </a:t>
            </a:r>
            <a:r>
              <a:rPr lang="en-US" altLang="ko-KR" sz="2000" dirty="0"/>
              <a:t>= 48 </a:t>
            </a:r>
            <a:r>
              <a:rPr lang="ko-KR" altLang="en-US" sz="2000" dirty="0"/>
              <a:t>비트</a:t>
            </a:r>
          </a:p>
          <a:p>
            <a:pPr marL="0" indent="0">
              <a:buNone/>
            </a:pPr>
            <a:r>
              <a:rPr lang="ko-KR" altLang="en-US" sz="2000" dirty="0"/>
              <a:t> 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IP </a:t>
            </a:r>
            <a:r>
              <a:rPr lang="ko-KR" altLang="en-US" sz="2000" dirty="0"/>
              <a:t>주소 </a:t>
            </a:r>
            <a:r>
              <a:rPr lang="en-US" altLang="ko-KR" sz="2000"/>
              <a:t>(3</a:t>
            </a:r>
            <a:r>
              <a:rPr lang="ko-KR" altLang="en-US" sz="2000"/>
              <a:t>계층</a:t>
            </a:r>
            <a:r>
              <a:rPr lang="en-US" altLang="ko-KR" sz="2000" dirty="0"/>
              <a:t>, </a:t>
            </a:r>
            <a:r>
              <a:rPr lang="ko-KR" altLang="en-US" sz="2000" dirty="0"/>
              <a:t>인터넷 주소</a:t>
            </a:r>
            <a:r>
              <a:rPr lang="en-US" altLang="ko-KR" sz="2000" dirty="0"/>
              <a:t>)  : </a:t>
            </a:r>
            <a:r>
              <a:rPr lang="ko-KR" altLang="en-US" sz="2000" dirty="0"/>
              <a:t>인터넷으로 연결된 네트워크에 각 컴퓨터를 구분하기 위해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 사용</a:t>
            </a: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</a:t>
            </a:r>
            <a:r>
              <a:rPr lang="en-US" altLang="ko-KR" sz="2000" dirty="0"/>
              <a:t> A </a:t>
            </a:r>
            <a:r>
              <a:rPr lang="ko-KR" altLang="en-US" sz="2000" dirty="0"/>
              <a:t>클래스 </a:t>
            </a:r>
            <a:r>
              <a:rPr lang="en-US" altLang="ko-KR" sz="2000" dirty="0"/>
              <a:t>, B </a:t>
            </a:r>
            <a:r>
              <a:rPr lang="ko-KR" altLang="en-US" sz="2000" dirty="0"/>
              <a:t>클래스 </a:t>
            </a:r>
            <a:r>
              <a:rPr lang="en-US" altLang="ko-KR" sz="2000" dirty="0"/>
              <a:t>, C </a:t>
            </a:r>
            <a:r>
              <a:rPr lang="ko-KR" altLang="en-US" sz="2000" dirty="0"/>
              <a:t>클래스로 구분 </a:t>
            </a:r>
            <a:r>
              <a:rPr lang="en-US" altLang="ko-KR" sz="2000" dirty="0"/>
              <a:t>(</a:t>
            </a:r>
            <a:r>
              <a:rPr lang="ko-KR" altLang="en-US" sz="2000" dirty="0"/>
              <a:t>네트워크 부분</a:t>
            </a:r>
            <a:r>
              <a:rPr lang="en-US" altLang="ko-KR" sz="2000" dirty="0"/>
              <a:t>, </a:t>
            </a:r>
            <a:r>
              <a:rPr lang="ko-KR" altLang="en-US" sz="2000" dirty="0"/>
              <a:t>호스트 부분</a:t>
            </a:r>
            <a:r>
              <a:rPr lang="en-US" altLang="ko-KR" sz="2000" dirty="0"/>
              <a:t>)  </a:t>
            </a:r>
            <a:r>
              <a:rPr lang="ko-KR" altLang="en-US" sz="2000" dirty="0"/>
              <a:t>총 </a:t>
            </a:r>
            <a:r>
              <a:rPr lang="en-US" altLang="ko-KR" sz="2000" dirty="0"/>
              <a:t>32 </a:t>
            </a:r>
            <a:r>
              <a:rPr lang="ko-KR" altLang="en-US" sz="2000" dirty="0"/>
              <a:t>비트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</a:p>
          <a:p>
            <a:pPr marL="0" indent="0">
              <a:buNone/>
            </a:pPr>
            <a:r>
              <a:rPr lang="ko-KR" altLang="en-US" sz="2000" dirty="0"/>
              <a:t>   넷마스크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서브넷</a:t>
            </a:r>
            <a:r>
              <a:rPr lang="ko-KR" altLang="en-US" sz="2000" dirty="0"/>
              <a:t> 마스크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역할 </a:t>
            </a:r>
            <a:r>
              <a:rPr lang="en-US" altLang="ko-KR" sz="2000" dirty="0"/>
              <a:t>: IP </a:t>
            </a:r>
            <a:r>
              <a:rPr lang="ko-KR" altLang="en-US" sz="2000" dirty="0"/>
              <a:t>주소에서 네트워크 부분과 호스트 부분을 구분해주는 역할</a:t>
            </a:r>
          </a:p>
          <a:p>
            <a:pPr marL="0" indent="0">
              <a:buNone/>
            </a:pPr>
            <a:r>
              <a:rPr lang="ko-KR" altLang="en-US" sz="2000" dirty="0"/>
              <a:t>   기능 </a:t>
            </a:r>
            <a:r>
              <a:rPr lang="en-US" altLang="ko-KR" sz="2000" dirty="0"/>
              <a:t>: </a:t>
            </a:r>
            <a:r>
              <a:rPr lang="ko-KR" altLang="en-US" sz="2000" dirty="0"/>
              <a:t>하나의 네트워크를 다시 작은 네트워크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서브넷</a:t>
            </a:r>
            <a:r>
              <a:rPr lang="en-US" altLang="ko-KR" sz="2000" dirty="0"/>
              <a:t>)</a:t>
            </a:r>
            <a:r>
              <a:rPr lang="ko-KR" altLang="en-US" sz="2000" dirty="0"/>
              <a:t>로 분리할 때도 사용</a:t>
            </a:r>
          </a:p>
        </p:txBody>
      </p:sp>
    </p:spTree>
    <p:extLst>
      <p:ext uri="{BB962C8B-B14F-4D97-AF65-F5344CB8AC3E}">
        <p14:creationId xmlns:p14="http://schemas.microsoft.com/office/powerpoint/2010/main" val="95469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BC8F7C-082F-4D68-90CD-374A5C923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7288"/>
            <a:ext cx="10515600" cy="53296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r>
              <a:rPr lang="ko-KR" altLang="en-US" sz="2000" dirty="0"/>
              <a:t>   포트 번호 </a:t>
            </a:r>
          </a:p>
          <a:p>
            <a:pPr marL="0" indent="0">
              <a:buNone/>
            </a:pPr>
            <a:r>
              <a:rPr lang="ko-KR" altLang="en-US" sz="2000" dirty="0"/>
              <a:t>   네트워크 서비스를 구분하는 번호 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</a:p>
          <a:p>
            <a:pPr marL="0" indent="0">
              <a:buNone/>
            </a:pPr>
            <a:r>
              <a:rPr lang="ko-KR" altLang="en-US" sz="2000" dirty="0"/>
              <a:t>   호스트 이름</a:t>
            </a:r>
          </a:p>
          <a:p>
            <a:pPr marL="0" indent="0">
              <a:buNone/>
            </a:pPr>
            <a:r>
              <a:rPr lang="ko-KR" altLang="en-US" sz="2000" dirty="0"/>
              <a:t>   사용자의 편의를 위해 각 장비에 붙인 이름 </a:t>
            </a:r>
          </a:p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r>
              <a:rPr lang="ko-KR" altLang="en-US" sz="2000" dirty="0"/>
              <a:t>   인터페이스 </a:t>
            </a:r>
            <a:r>
              <a:rPr lang="en-US" altLang="ko-KR" sz="2000" dirty="0"/>
              <a:t>(+</a:t>
            </a:r>
            <a:r>
              <a:rPr lang="ko-KR" altLang="en-US" sz="2000" dirty="0"/>
              <a:t>추가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서로 다른 두 개의 시스템</a:t>
            </a:r>
            <a:r>
              <a:rPr lang="en-US" altLang="ko-KR" sz="2000" dirty="0"/>
              <a:t>, </a:t>
            </a:r>
            <a:r>
              <a:rPr lang="ko-KR" altLang="en-US" sz="2000" dirty="0"/>
              <a:t>장치 사이에서 정보나 신호를 주고받는 경우의 접점이나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경계면이다</a:t>
            </a:r>
            <a:r>
              <a:rPr lang="en-US" altLang="ko-KR" sz="2000" dirty="0"/>
              <a:t>. (</a:t>
            </a: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/>
              <a:t>사용자가 기기를 쉽게 </a:t>
            </a:r>
            <a:r>
              <a:rPr lang="ko-KR" altLang="en-US" sz="2000" dirty="0" err="1"/>
              <a:t>동작시키는데</a:t>
            </a:r>
            <a:r>
              <a:rPr lang="ko-KR" altLang="en-US" sz="2000" dirty="0"/>
              <a:t> 도움을 주는 시스템을 의미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인터넷에 연결하기 위해 설정해야 할 주소 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IP </a:t>
            </a:r>
            <a:r>
              <a:rPr lang="ko-KR" altLang="en-US" sz="2000" dirty="0"/>
              <a:t>주소 </a:t>
            </a:r>
            <a:r>
              <a:rPr lang="en-US" altLang="ko-KR" sz="2000" dirty="0"/>
              <a:t>, </a:t>
            </a:r>
            <a:r>
              <a:rPr lang="ko-KR" altLang="en-US" sz="2000" dirty="0"/>
              <a:t>넷마스크와 </a:t>
            </a:r>
            <a:r>
              <a:rPr lang="ko-KR" altLang="en-US" sz="2000" dirty="0" err="1"/>
              <a:t>브로드캐스트</a:t>
            </a:r>
            <a:r>
              <a:rPr lang="ko-KR" altLang="en-US" sz="2000" dirty="0"/>
              <a:t> 주소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게이트워이</a:t>
            </a:r>
            <a:r>
              <a:rPr lang="en-US" altLang="ko-KR" sz="2000" dirty="0"/>
              <a:t>(</a:t>
            </a:r>
            <a:r>
              <a:rPr lang="ko-KR" altLang="en-US" sz="2000" dirty="0"/>
              <a:t>라우터</a:t>
            </a:r>
            <a:r>
              <a:rPr lang="en-US" altLang="ko-KR" sz="2000" dirty="0"/>
              <a:t>) </a:t>
            </a:r>
            <a:r>
              <a:rPr lang="ko-KR" altLang="en-US" sz="2000" dirty="0"/>
              <a:t>주소 </a:t>
            </a:r>
            <a:r>
              <a:rPr lang="en-US" altLang="ko-KR" sz="2000" dirty="0"/>
              <a:t>, DNS </a:t>
            </a:r>
            <a:r>
              <a:rPr lang="ko-KR" altLang="en-US" sz="2000" dirty="0"/>
              <a:t>주소</a:t>
            </a:r>
          </a:p>
        </p:txBody>
      </p:sp>
    </p:spTree>
    <p:extLst>
      <p:ext uri="{BB962C8B-B14F-4D97-AF65-F5344CB8AC3E}">
        <p14:creationId xmlns:p14="http://schemas.microsoft.com/office/powerpoint/2010/main" val="728950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B0820C-54C9-42D7-AE58-D3551CB45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5677"/>
            <a:ext cx="10515600" cy="5321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호스트 이름 확인하는 명령어 </a:t>
            </a:r>
            <a:r>
              <a:rPr lang="en-US" altLang="ko-KR" sz="2000" dirty="0"/>
              <a:t>: hostname , </a:t>
            </a:r>
            <a:r>
              <a:rPr lang="en-US" altLang="ko-KR" sz="2000" dirty="0" err="1"/>
              <a:t>uname</a:t>
            </a:r>
            <a:r>
              <a:rPr lang="en-US" altLang="ko-KR" sz="2000" dirty="0"/>
              <a:t> -n</a:t>
            </a:r>
          </a:p>
          <a:p>
            <a:pPr marL="0" indent="0">
              <a:buNone/>
            </a:pPr>
            <a:r>
              <a:rPr lang="en-US" altLang="ko-KR" sz="2000" dirty="0"/>
              <a:t>     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en-US" altLang="ko-KR" sz="2000" dirty="0" err="1"/>
              <a:t>uname</a:t>
            </a:r>
            <a:r>
              <a:rPr lang="en-US" altLang="ko-KR" sz="2000" dirty="0"/>
              <a:t> [</a:t>
            </a:r>
            <a:r>
              <a:rPr lang="ko-KR" altLang="en-US" sz="2000" dirty="0"/>
              <a:t>옵션</a:t>
            </a:r>
            <a:r>
              <a:rPr lang="en-US" altLang="ko-KR" sz="2000" dirty="0"/>
              <a:t>] : </a:t>
            </a:r>
            <a:r>
              <a:rPr lang="ko-KR" altLang="en-US" sz="2000" dirty="0"/>
              <a:t>시스템 정보를 출력하는 명령어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[</a:t>
            </a:r>
            <a:r>
              <a:rPr lang="ko-KR" altLang="en-US" sz="2000" dirty="0"/>
              <a:t>옵션</a:t>
            </a:r>
            <a:r>
              <a:rPr lang="en-US" altLang="ko-KR" sz="2000" dirty="0"/>
              <a:t>] -m : </a:t>
            </a:r>
            <a:r>
              <a:rPr lang="ko-KR" altLang="en-US" sz="2000" dirty="0"/>
              <a:t>하드웨어 종류를 출력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-n : </a:t>
            </a:r>
            <a:r>
              <a:rPr lang="ko-KR" altLang="en-US" sz="2000" dirty="0"/>
              <a:t>호스트 이름을 출력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- r : </a:t>
            </a:r>
            <a:r>
              <a:rPr lang="ko-KR" altLang="en-US" sz="2000" dirty="0"/>
              <a:t>운영체제의 릴리즈 정보를 출력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-s : </a:t>
            </a:r>
            <a:r>
              <a:rPr lang="ko-KR" altLang="en-US" sz="2000" dirty="0"/>
              <a:t>운영체제의 이름을 출력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-v : </a:t>
            </a:r>
            <a:r>
              <a:rPr lang="ko-KR" altLang="en-US" sz="2000" dirty="0"/>
              <a:t>운영체제의 버전을 출력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-a : </a:t>
            </a:r>
            <a:r>
              <a:rPr lang="ko-KR" altLang="en-US" sz="2000" dirty="0"/>
              <a:t>위의 모든 정보를 출력</a:t>
            </a:r>
          </a:p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r>
              <a:rPr lang="ko-KR" altLang="en-US" sz="2000" dirty="0"/>
              <a:t>    호스트 이름을 저장하는 파일 </a:t>
            </a:r>
            <a:r>
              <a:rPr lang="en-US" altLang="ko-KR" sz="2000" dirty="0"/>
              <a:t>: /</a:t>
            </a:r>
            <a:r>
              <a:rPr lang="en-US" altLang="ko-KR" sz="2000" dirty="0" err="1"/>
              <a:t>etc</a:t>
            </a:r>
            <a:r>
              <a:rPr lang="en-US" altLang="ko-KR" sz="2000" dirty="0"/>
              <a:t>/hostname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한 네트워크에서 같은 이름을 사용하는 다른 호스트가 있으면 안 됨 </a:t>
            </a:r>
            <a:r>
              <a:rPr lang="en-US" altLang="ko-KR" sz="2000" dirty="0"/>
              <a:t>!!</a:t>
            </a:r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63959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3532C8-7ED1-4DF7-BB62-855F0B10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791"/>
            <a:ext cx="10515600" cy="5103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 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네트워크 인터페이스 설정할 때 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  <a:r>
              <a:rPr lang="en-US" altLang="ko-KR" sz="2000" dirty="0">
                <a:sym typeface="Wingdings" panose="05000000000000000000" pitchFamily="2" charset="2"/>
              </a:rPr>
              <a:t></a:t>
            </a:r>
            <a:r>
              <a:rPr lang="en-US" altLang="ko-KR" sz="2000" dirty="0"/>
              <a:t>IP </a:t>
            </a:r>
            <a:r>
              <a:rPr lang="ko-KR" altLang="en-US" sz="2000" dirty="0"/>
              <a:t>주소와 넷마스크 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브로드캐스트</a:t>
            </a:r>
            <a:r>
              <a:rPr lang="ko-KR" altLang="en-US" sz="2000" dirty="0"/>
              <a:t> 주소를 함께 설정</a:t>
            </a:r>
          </a:p>
          <a:p>
            <a:pPr marL="0" indent="0">
              <a:buNone/>
            </a:pPr>
            <a:r>
              <a:rPr lang="ko-KR" altLang="en-US" sz="2000" dirty="0"/>
              <a:t>    명령어 </a:t>
            </a:r>
            <a:r>
              <a:rPr lang="en-US" altLang="ko-KR" sz="2000" dirty="0"/>
              <a:t>: ifconfig [</a:t>
            </a:r>
            <a:r>
              <a:rPr lang="ko-KR" altLang="en-US" sz="2000" dirty="0"/>
              <a:t>인터페이스명</a:t>
            </a:r>
            <a:r>
              <a:rPr lang="en-US" altLang="ko-KR" sz="2000" dirty="0"/>
              <a:t>] [</a:t>
            </a:r>
            <a:r>
              <a:rPr lang="ko-KR" altLang="en-US" sz="2000" dirty="0"/>
              <a:t>옵션</a:t>
            </a:r>
            <a:r>
              <a:rPr lang="en-US" altLang="ko-KR" sz="2000" dirty="0"/>
              <a:t>] [</a:t>
            </a:r>
            <a:r>
              <a:rPr lang="ko-KR" altLang="en-US" sz="2000" dirty="0"/>
              <a:t>값</a:t>
            </a:r>
            <a:r>
              <a:rPr lang="en-US" altLang="ko-KR" sz="2000" dirty="0"/>
              <a:t>]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옵션 </a:t>
            </a:r>
            <a:r>
              <a:rPr lang="en-US" altLang="ko-KR" sz="2000" dirty="0"/>
              <a:t>-a : </a:t>
            </a:r>
            <a:r>
              <a:rPr lang="ko-KR" altLang="en-US" sz="2000" dirty="0"/>
              <a:t>시스템의 전체 인터페이스에 대한 정보를 출력</a:t>
            </a:r>
          </a:p>
          <a:p>
            <a:pPr marL="0" indent="0">
              <a:buNone/>
            </a:pPr>
            <a:r>
              <a:rPr lang="ko-KR" altLang="en-US" sz="2000" dirty="0"/>
              <a:t>           </a:t>
            </a:r>
            <a:r>
              <a:rPr lang="en-US" altLang="ko-KR" sz="2000" dirty="0"/>
              <a:t>-up/down : </a:t>
            </a:r>
            <a:r>
              <a:rPr lang="ko-KR" altLang="en-US" sz="2000" dirty="0"/>
              <a:t>인터페이스 활성화 </a:t>
            </a:r>
            <a:r>
              <a:rPr lang="en-US" altLang="ko-KR" sz="2000" dirty="0"/>
              <a:t>, </a:t>
            </a:r>
            <a:r>
              <a:rPr lang="ko-KR" altLang="en-US" sz="2000" dirty="0"/>
              <a:t>비활성화 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       -netmask </a:t>
            </a:r>
            <a:r>
              <a:rPr lang="ko-KR" altLang="en-US" sz="2000" dirty="0"/>
              <a:t>주소 </a:t>
            </a:r>
            <a:r>
              <a:rPr lang="en-US" altLang="ko-KR" sz="2000" dirty="0"/>
              <a:t>: </a:t>
            </a:r>
            <a:r>
              <a:rPr lang="ko-KR" altLang="en-US" sz="2000" dirty="0"/>
              <a:t>넷마스크 주소 설정</a:t>
            </a:r>
          </a:p>
          <a:p>
            <a:pPr marL="0" indent="0">
              <a:buNone/>
            </a:pPr>
            <a:r>
              <a:rPr lang="ko-KR" altLang="en-US" sz="2000" dirty="0"/>
              <a:t>           </a:t>
            </a:r>
            <a:r>
              <a:rPr lang="en-US" altLang="ko-KR" sz="2000" dirty="0"/>
              <a:t>-broadcast </a:t>
            </a:r>
            <a:r>
              <a:rPr lang="ko-KR" altLang="en-US" sz="2000" dirty="0"/>
              <a:t>주소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브로드캐스트</a:t>
            </a:r>
            <a:r>
              <a:rPr lang="ko-KR" altLang="en-US" sz="2000" dirty="0"/>
              <a:t> 주소 설정</a:t>
            </a:r>
          </a:p>
        </p:txBody>
      </p:sp>
    </p:spTree>
    <p:extLst>
      <p:ext uri="{BB962C8B-B14F-4D97-AF65-F5344CB8AC3E}">
        <p14:creationId xmlns:p14="http://schemas.microsoft.com/office/powerpoint/2010/main" val="1022799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2A6E62-0731-4CB2-A54E-182D9F515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5677"/>
            <a:ext cx="10515600" cy="5321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현재 설치된 네트워크 인터페이스 설정 확인 명령어 </a:t>
            </a:r>
            <a:r>
              <a:rPr lang="en-US" altLang="ko-KR" sz="2000" dirty="0"/>
              <a:t>: ifconfig </a:t>
            </a:r>
          </a:p>
          <a:p>
            <a:pPr marL="0" indent="0">
              <a:buNone/>
            </a:pPr>
            <a:r>
              <a:rPr lang="en-US" altLang="ko-KR" sz="2000" dirty="0"/>
              <a:t>    lo(local loopback) : </a:t>
            </a:r>
            <a:r>
              <a:rPr lang="ko-KR" altLang="en-US" sz="2000" dirty="0"/>
              <a:t>시스템 내부 통신용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  <a:r>
              <a:rPr lang="en-US" altLang="ko-KR" sz="2000" dirty="0"/>
              <a:t>ens33 : </a:t>
            </a:r>
            <a:r>
              <a:rPr lang="ko-KR" altLang="en-US" sz="2000" dirty="0"/>
              <a:t>시스템 외부 통신용 네트워크 인터페이스  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  <a:r>
              <a:rPr lang="en-US" altLang="ko-KR" sz="2000" dirty="0"/>
              <a:t>RX : </a:t>
            </a:r>
            <a:r>
              <a:rPr lang="ko-KR" altLang="en-US" sz="2000" dirty="0"/>
              <a:t>부팅 후 현재까지 받은 패킷 수 와 바이트 수를 알려줌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  <a:r>
              <a:rPr lang="en-US" altLang="ko-KR" sz="2000" dirty="0"/>
              <a:t>TX : </a:t>
            </a:r>
            <a:r>
              <a:rPr lang="ko-KR" altLang="en-US" sz="2000" dirty="0"/>
              <a:t>부팅 후 현재까지 보낸 패킷 수와 바이트 수를 알려줌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7805E8-E72F-4F8F-AD4D-1CDD5D51A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950" y="2966590"/>
            <a:ext cx="6897063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832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648E5E-23B8-4A2B-9A25-821965432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5780"/>
            <a:ext cx="10515600" cy="5421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   게이트웨이</a:t>
            </a:r>
            <a:r>
              <a:rPr lang="en-US" altLang="ko-KR" sz="2000" dirty="0"/>
              <a:t>(</a:t>
            </a:r>
            <a:r>
              <a:rPr lang="ko-KR" altLang="en-US" sz="2000" dirty="0"/>
              <a:t>라우터</a:t>
            </a:r>
            <a:r>
              <a:rPr lang="en-US" altLang="ko-KR" sz="2000" dirty="0"/>
              <a:t>) </a:t>
            </a:r>
            <a:r>
              <a:rPr lang="ko-KR" altLang="en-US" sz="2000" dirty="0"/>
              <a:t>설정하기</a:t>
            </a:r>
          </a:p>
          <a:p>
            <a:pPr marL="0" indent="0">
              <a:buNone/>
            </a:pPr>
            <a:r>
              <a:rPr lang="ko-KR" altLang="en-US" sz="2000" dirty="0"/>
              <a:t>   네트워크를 다른 네트워크와 연결할 때 연결점이 되는 장치 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</a:p>
          <a:p>
            <a:pPr marL="0" indent="0">
              <a:buNone/>
            </a:pPr>
            <a:r>
              <a:rPr lang="ko-KR" altLang="en-US" sz="2000" dirty="0"/>
              <a:t>   게이트웨이의 연결 정보를 관리하는 라우팅 테이블을 편집하는 명령어 </a:t>
            </a:r>
            <a:r>
              <a:rPr lang="en-US" altLang="ko-KR" sz="2000" dirty="0"/>
              <a:t>: route </a:t>
            </a:r>
            <a:r>
              <a:rPr lang="ko-KR" altLang="en-US" sz="2000" dirty="0"/>
              <a:t>명령</a:t>
            </a:r>
          </a:p>
          <a:p>
            <a:pPr marL="0" indent="0">
              <a:buNone/>
            </a:pPr>
            <a:r>
              <a:rPr lang="ko-KR" altLang="en-US" sz="2000" dirty="0"/>
              <a:t>   명령 </a:t>
            </a:r>
            <a:r>
              <a:rPr lang="en-US" altLang="ko-KR" sz="2000" dirty="0"/>
              <a:t>: add , del  : </a:t>
            </a:r>
            <a:r>
              <a:rPr lang="ko-KR" altLang="en-US" sz="2000" dirty="0"/>
              <a:t>라우팅 경로나 기본 게이트웨이 추가 </a:t>
            </a:r>
            <a:r>
              <a:rPr lang="en-US" altLang="ko-KR" sz="2000" dirty="0"/>
              <a:t>, </a:t>
            </a:r>
            <a:r>
              <a:rPr lang="ko-KR" altLang="en-US" sz="2000" dirty="0"/>
              <a:t>삭제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route : </a:t>
            </a:r>
            <a:r>
              <a:rPr lang="ko-KR" altLang="en-US" sz="2000" dirty="0"/>
              <a:t>라우팅 테이블 보기 명령어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DNS( domain name service) 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역할 </a:t>
            </a:r>
            <a:r>
              <a:rPr lang="en-US" altLang="ko-KR" sz="2000" dirty="0"/>
              <a:t>: </a:t>
            </a:r>
            <a:r>
              <a:rPr lang="ko-KR" altLang="en-US" sz="2000" dirty="0"/>
              <a:t>호스트명을 </a:t>
            </a:r>
            <a:r>
              <a:rPr lang="en-US" altLang="ko-KR" sz="2000" dirty="0"/>
              <a:t>IP </a:t>
            </a:r>
            <a:r>
              <a:rPr lang="ko-KR" altLang="en-US" sz="2000" dirty="0"/>
              <a:t>주소로 바꾸는 역할을 수행</a:t>
            </a:r>
          </a:p>
          <a:p>
            <a:pPr marL="0" indent="0">
              <a:buNone/>
            </a:pPr>
            <a:r>
              <a:rPr lang="ko-KR" altLang="en-US" sz="2000" dirty="0"/>
              <a:t>   리눅스는 </a:t>
            </a:r>
            <a:r>
              <a:rPr lang="en-US" altLang="ko-KR" sz="2000" dirty="0"/>
              <a:t>DNS </a:t>
            </a:r>
            <a:r>
              <a:rPr lang="ko-KR" altLang="en-US" sz="2000" dirty="0"/>
              <a:t>서버의 주소를 </a:t>
            </a:r>
            <a:r>
              <a:rPr lang="en-US" altLang="ko-KR" sz="2000" dirty="0"/>
              <a:t>/</a:t>
            </a:r>
            <a:r>
              <a:rPr lang="en-US" altLang="ko-KR" sz="2000" dirty="0" err="1"/>
              <a:t>etc</a:t>
            </a:r>
            <a:r>
              <a:rPr lang="en-US" altLang="ko-KR" sz="2000" dirty="0"/>
              <a:t>/</a:t>
            </a:r>
            <a:r>
              <a:rPr lang="en-US" altLang="ko-KR" sz="2000" dirty="0" err="1"/>
              <a:t>resolv.conf</a:t>
            </a:r>
            <a:r>
              <a:rPr lang="en-US" altLang="ko-KR" sz="2000" dirty="0"/>
              <a:t> </a:t>
            </a:r>
            <a:r>
              <a:rPr lang="ko-KR" altLang="en-US" sz="2000" dirty="0"/>
              <a:t>파일에 저장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DNS </a:t>
            </a:r>
            <a:r>
              <a:rPr lang="ko-KR" altLang="en-US" sz="2000" dirty="0"/>
              <a:t>서버와 대화식으로 질의하고 응답을 받는 명령어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nslookup</a:t>
            </a:r>
            <a:r>
              <a:rPr lang="en-US" altLang="ko-KR" sz="2000" dirty="0"/>
              <a:t> [</a:t>
            </a:r>
            <a:r>
              <a:rPr lang="ko-KR" altLang="en-US" sz="2000" dirty="0"/>
              <a:t>도메인 명 </a:t>
            </a:r>
            <a:r>
              <a:rPr lang="en-US" altLang="ko-KR" sz="2000" dirty="0"/>
              <a:t>]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특정 도메인의 주소를 검색하는 역할 </a:t>
            </a:r>
            <a:r>
              <a:rPr lang="en-US" altLang="ko-KR" sz="2000" dirty="0"/>
              <a:t>ex) </a:t>
            </a:r>
            <a:r>
              <a:rPr lang="en-US" altLang="ko-KR" sz="2000" dirty="0" err="1"/>
              <a:t>nslookup</a:t>
            </a:r>
            <a:r>
              <a:rPr lang="en-US" altLang="ko-KR" sz="2000" dirty="0"/>
              <a:t> www.naver.com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59090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0B2631-F5D0-4FDE-AD5F-4A23ACAB1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8899"/>
            <a:ext cx="10515600" cy="53380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sz="2000" dirty="0"/>
              <a:t>네트워크 상태 확인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</a:p>
          <a:p>
            <a:pPr marL="0" indent="0">
              <a:buNone/>
            </a:pPr>
            <a:r>
              <a:rPr lang="ko-KR" altLang="en-US" sz="2000" dirty="0"/>
              <a:t>   네트워크에 통신이 가능한지 확인하는 대표적인 명령어 </a:t>
            </a:r>
            <a:r>
              <a:rPr lang="en-US" altLang="ko-KR" sz="2000" dirty="0"/>
              <a:t>: ping</a:t>
            </a:r>
          </a:p>
          <a:p>
            <a:pPr marL="0" indent="0">
              <a:buNone/>
            </a:pPr>
            <a:r>
              <a:rPr lang="en-US" altLang="ko-KR" sz="2000" dirty="0"/>
              <a:t>   1. </a:t>
            </a:r>
            <a:r>
              <a:rPr lang="ko-KR" altLang="en-US" sz="2000" dirty="0"/>
              <a:t>외부와 </a:t>
            </a:r>
            <a:r>
              <a:rPr lang="ko-KR" altLang="en-US" sz="2000" dirty="0" err="1"/>
              <a:t>통신되는지</a:t>
            </a:r>
            <a:r>
              <a:rPr lang="ko-KR" altLang="en-US" sz="2000" dirty="0"/>
              <a:t> 확인할 때 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2. </a:t>
            </a:r>
            <a:r>
              <a:rPr lang="ko-KR" altLang="en-US" sz="2000" dirty="0"/>
              <a:t>외부 서버가 동작하는지를 확인할 때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</a:p>
          <a:p>
            <a:pPr marL="0" indent="0">
              <a:buNone/>
            </a:pPr>
            <a:r>
              <a:rPr lang="ko-KR" altLang="en-US" sz="2000" dirty="0"/>
              <a:t>   형식 </a:t>
            </a:r>
            <a:r>
              <a:rPr lang="en-US" altLang="ko-KR" sz="2000" dirty="0"/>
              <a:t>: ping  [</a:t>
            </a:r>
            <a:r>
              <a:rPr lang="ko-KR" altLang="en-US" sz="2000" dirty="0"/>
              <a:t>옵션</a:t>
            </a:r>
            <a:r>
              <a:rPr lang="en-US" altLang="ko-KR" sz="2000" dirty="0"/>
              <a:t>] </a:t>
            </a:r>
            <a:r>
              <a:rPr lang="ko-KR" altLang="en-US" sz="2000" dirty="0"/>
              <a:t>목적지 주소 </a:t>
            </a:r>
          </a:p>
          <a:p>
            <a:pPr marL="0" indent="0">
              <a:buNone/>
            </a:pPr>
            <a:r>
              <a:rPr lang="ko-KR" altLang="en-US" sz="2000" dirty="0"/>
              <a:t>   기능 </a:t>
            </a:r>
            <a:r>
              <a:rPr lang="en-US" altLang="ko-KR" sz="2000" dirty="0"/>
              <a:t>: </a:t>
            </a:r>
            <a:r>
              <a:rPr lang="ko-KR" altLang="en-US" sz="2000" dirty="0"/>
              <a:t>네트워크 장비에 신호를 보내는 기능</a:t>
            </a:r>
          </a:p>
          <a:p>
            <a:pPr marL="0" indent="0">
              <a:buNone/>
            </a:pPr>
            <a:r>
              <a:rPr lang="ko-KR" altLang="en-US" sz="2000" dirty="0"/>
              <a:t>   옵션 </a:t>
            </a:r>
            <a:r>
              <a:rPr lang="en-US" altLang="ko-KR" sz="2000" dirty="0"/>
              <a:t>: -a : </a:t>
            </a:r>
            <a:r>
              <a:rPr lang="ko-KR" altLang="en-US" sz="2000" dirty="0"/>
              <a:t>통신이 되면 소리를 낸다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-q : </a:t>
            </a:r>
            <a:r>
              <a:rPr lang="ko-KR" altLang="en-US" sz="2000" dirty="0"/>
              <a:t>테스트 결과를 지속적으로 보여주지 않고 종합 결과만 출력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-c </a:t>
            </a:r>
            <a:r>
              <a:rPr lang="ko-KR" altLang="en-US" sz="2000" dirty="0"/>
              <a:t>개수 </a:t>
            </a:r>
            <a:r>
              <a:rPr lang="en-US" altLang="ko-KR" sz="2000" dirty="0"/>
              <a:t>: </a:t>
            </a:r>
            <a:r>
              <a:rPr lang="ko-KR" altLang="en-US" sz="2000" dirty="0"/>
              <a:t>보낼 패킷 수를 지정</a:t>
            </a:r>
          </a:p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r>
              <a:rPr lang="ko-KR" altLang="en-US" sz="2000" dirty="0"/>
              <a:t>   목적지 시스템까지의 네트워크 경로를 추적하는 명령어 </a:t>
            </a:r>
            <a:r>
              <a:rPr lang="en-US" altLang="ko-KR" sz="2000" dirty="0"/>
              <a:t>: traceroute </a:t>
            </a:r>
            <a:r>
              <a:rPr lang="ko-KR" altLang="en-US" sz="2000" dirty="0"/>
              <a:t>목적지 주소</a:t>
            </a:r>
          </a:p>
          <a:p>
            <a:pPr marL="0" indent="0">
              <a:buNone/>
            </a:pPr>
            <a:r>
              <a:rPr lang="ko-KR" altLang="en-US" sz="2000" dirty="0"/>
              <a:t>   기능 </a:t>
            </a:r>
            <a:r>
              <a:rPr lang="en-US" altLang="ko-KR" sz="2000" dirty="0"/>
              <a:t>: </a:t>
            </a:r>
            <a:r>
              <a:rPr lang="ko-KR" altLang="en-US" sz="2000" dirty="0"/>
              <a:t>목적지까지 패킷이 거치는 경로를 출력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</a:p>
          <a:p>
            <a:pPr marL="0" indent="0">
              <a:buNone/>
            </a:pPr>
            <a:r>
              <a:rPr lang="ko-KR" altLang="en-US" sz="2000" dirty="0"/>
              <a:t>   중간에 거치는 </a:t>
            </a:r>
            <a:r>
              <a:rPr lang="en-US" altLang="ko-KR" sz="2000" dirty="0"/>
              <a:t>IP </a:t>
            </a:r>
            <a:r>
              <a:rPr lang="ko-KR" altLang="en-US" sz="2000" dirty="0"/>
              <a:t>주소가 어느 기관의 것인지 알고 싶으면 </a:t>
            </a:r>
            <a:r>
              <a:rPr lang="en-US" altLang="ko-KR" sz="2000" dirty="0" err="1"/>
              <a:t>whois</a:t>
            </a:r>
            <a:r>
              <a:rPr lang="en-US" altLang="ko-KR" sz="2000" dirty="0"/>
              <a:t> </a:t>
            </a:r>
            <a:r>
              <a:rPr lang="ko-KR" altLang="en-US" sz="2000" dirty="0"/>
              <a:t>명령을 사용</a:t>
            </a:r>
          </a:p>
        </p:txBody>
      </p:sp>
    </p:spTree>
    <p:extLst>
      <p:ext uri="{BB962C8B-B14F-4D97-AF65-F5344CB8AC3E}">
        <p14:creationId xmlns:p14="http://schemas.microsoft.com/office/powerpoint/2010/main" val="2002987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150228-6B30-46B4-A6CE-F9D1F328F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5736"/>
            <a:ext cx="10515600" cy="50612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네트워크 상태 정보 출력하는 명령어 </a:t>
            </a:r>
            <a:r>
              <a:rPr lang="en-US" altLang="ko-KR" sz="2000" dirty="0"/>
              <a:t>: netstat [</a:t>
            </a:r>
            <a:r>
              <a:rPr lang="ko-KR" altLang="en-US" sz="2000" dirty="0"/>
              <a:t>옵션</a:t>
            </a:r>
            <a:r>
              <a:rPr lang="en-US" altLang="ko-KR" sz="2000" dirty="0"/>
              <a:t>]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옵션 </a:t>
            </a:r>
            <a:r>
              <a:rPr lang="en-US" altLang="ko-KR" sz="2000" dirty="0"/>
              <a:t>: -a : </a:t>
            </a:r>
            <a:r>
              <a:rPr lang="ko-KR" altLang="en-US" sz="2000" dirty="0"/>
              <a:t>모든 소켓 정보를 출력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       </a:t>
            </a:r>
            <a:r>
              <a:rPr lang="en-US" altLang="ko-KR" sz="2000" dirty="0"/>
              <a:t>-r : </a:t>
            </a:r>
            <a:r>
              <a:rPr lang="ko-KR" altLang="en-US" sz="2000" dirty="0"/>
              <a:t>라우팅 정보를 출력</a:t>
            </a:r>
          </a:p>
          <a:p>
            <a:pPr marL="0" indent="0">
              <a:buNone/>
            </a:pPr>
            <a:r>
              <a:rPr lang="ko-KR" altLang="en-US" sz="2000" dirty="0"/>
              <a:t>          </a:t>
            </a:r>
            <a:r>
              <a:rPr lang="en-US" altLang="ko-KR" sz="2000" dirty="0"/>
              <a:t>-n : </a:t>
            </a:r>
            <a:r>
              <a:rPr lang="ko-KR" altLang="en-US" sz="2000" dirty="0"/>
              <a:t>호스트명 대신에 </a:t>
            </a:r>
            <a:r>
              <a:rPr lang="en-US" altLang="ko-KR" sz="2000" dirty="0"/>
              <a:t>IP </a:t>
            </a:r>
            <a:r>
              <a:rPr lang="ko-KR" altLang="en-US" sz="2000" dirty="0"/>
              <a:t>주소를 출력</a:t>
            </a:r>
          </a:p>
          <a:p>
            <a:pPr marL="0" indent="0">
              <a:buNone/>
            </a:pPr>
            <a:r>
              <a:rPr lang="ko-KR" altLang="en-US" sz="2000" dirty="0"/>
              <a:t>           </a:t>
            </a:r>
            <a:r>
              <a:rPr lang="en-US" altLang="ko-KR" sz="2000" dirty="0"/>
              <a:t>-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: </a:t>
            </a:r>
            <a:r>
              <a:rPr lang="ko-KR" altLang="en-US" sz="2000" dirty="0"/>
              <a:t>모든 네트워크 인터페이스 정보를 출력</a:t>
            </a:r>
          </a:p>
          <a:p>
            <a:pPr marL="0" indent="0">
              <a:buNone/>
            </a:pPr>
            <a:r>
              <a:rPr lang="ko-KR" altLang="en-US" sz="2000" dirty="0"/>
              <a:t>          </a:t>
            </a:r>
            <a:r>
              <a:rPr lang="en-US" altLang="ko-KR" sz="2000" dirty="0"/>
              <a:t>-s : </a:t>
            </a:r>
            <a:r>
              <a:rPr lang="ko-KR" altLang="en-US" sz="2000" dirty="0"/>
              <a:t>프로토콜별로 네트워크 통계 정보를 출력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      </a:t>
            </a:r>
            <a:r>
              <a:rPr lang="en-US" altLang="ko-KR" sz="2000" dirty="0"/>
              <a:t>-p : </a:t>
            </a:r>
            <a:r>
              <a:rPr lang="ko-KR" altLang="en-US" sz="2000" dirty="0"/>
              <a:t>해당 소켓과 관련된 프로세스의 이름과 </a:t>
            </a:r>
            <a:r>
              <a:rPr lang="en-US" altLang="ko-KR" sz="2000" dirty="0"/>
              <a:t>PID</a:t>
            </a:r>
            <a:r>
              <a:rPr lang="ko-KR" altLang="en-US" sz="2000" dirty="0"/>
              <a:t>를 출력</a:t>
            </a:r>
          </a:p>
        </p:txBody>
      </p:sp>
    </p:spTree>
    <p:extLst>
      <p:ext uri="{BB962C8B-B14F-4D97-AF65-F5344CB8AC3E}">
        <p14:creationId xmlns:p14="http://schemas.microsoft.com/office/powerpoint/2010/main" val="207929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04400C-E0ED-4252-A9AD-D812BA2DB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2848"/>
            <a:ext cx="10515600" cy="49941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MAC </a:t>
            </a:r>
            <a:r>
              <a:rPr lang="ko-KR" altLang="en-US" sz="2000" dirty="0"/>
              <a:t>주소와 </a:t>
            </a:r>
            <a:r>
              <a:rPr lang="en-US" altLang="ko-KR" sz="2000" dirty="0"/>
              <a:t>IP </a:t>
            </a:r>
            <a:r>
              <a:rPr lang="ko-KR" altLang="en-US" sz="2000" dirty="0"/>
              <a:t>주소 확인하는 명령어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arp</a:t>
            </a:r>
            <a:r>
              <a:rPr lang="en-US" altLang="ko-KR" sz="2000" dirty="0"/>
              <a:t> [IP </a:t>
            </a:r>
            <a:r>
              <a:rPr lang="ko-KR" altLang="en-US" sz="2000" dirty="0"/>
              <a:t>주소</a:t>
            </a:r>
            <a:r>
              <a:rPr lang="en-US" altLang="ko-KR" sz="2000" dirty="0"/>
              <a:t>]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네트워크에서 주고받는 패킷을 캡처하여 확인하는 명령어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tcpdump</a:t>
            </a:r>
            <a:r>
              <a:rPr lang="en-US" altLang="ko-KR" sz="2000" dirty="0"/>
              <a:t> [</a:t>
            </a:r>
            <a:r>
              <a:rPr lang="ko-KR" altLang="en-US" sz="2000" dirty="0"/>
              <a:t>옵션</a:t>
            </a:r>
            <a:r>
              <a:rPr lang="en-US" altLang="ko-KR" sz="2000" dirty="0"/>
              <a:t>]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옵션 </a:t>
            </a:r>
            <a:r>
              <a:rPr lang="en-US" altLang="ko-KR" sz="2000" dirty="0"/>
              <a:t>: -c : </a:t>
            </a:r>
            <a:r>
              <a:rPr lang="ko-KR" altLang="en-US" sz="2000" dirty="0"/>
              <a:t>캡처할 패킷 개수 지정하기 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-w : </a:t>
            </a:r>
            <a:r>
              <a:rPr lang="ko-KR" altLang="en-US" sz="2000" dirty="0"/>
              <a:t>캡처한 패킷 정보를 파일로 저장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-r : </a:t>
            </a:r>
            <a:r>
              <a:rPr lang="ko-KR" altLang="en-US" sz="2000" dirty="0"/>
              <a:t>캡처한 패킷 파일 읽기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 err="1"/>
              <a:t>tcp</a:t>
            </a:r>
            <a:r>
              <a:rPr lang="en-US" altLang="ko-KR" sz="2000" dirty="0"/>
              <a:t> port </a:t>
            </a:r>
            <a:r>
              <a:rPr lang="ko-KR" altLang="en-US" sz="2000" dirty="0"/>
              <a:t>번호 </a:t>
            </a:r>
            <a:r>
              <a:rPr lang="en-US" altLang="ko-KR" sz="2000" dirty="0"/>
              <a:t>: </a:t>
            </a:r>
            <a:r>
              <a:rPr lang="ko-KR" altLang="en-US" sz="2000" dirty="0"/>
              <a:t>지정한 포트 번호 패킷만 </a:t>
            </a:r>
            <a:r>
              <a:rPr lang="ko-KR" altLang="en-US" sz="2000" dirty="0" err="1"/>
              <a:t>덤프한다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         -X : </a:t>
            </a:r>
            <a:r>
              <a:rPr lang="ko-KR" altLang="en-US" sz="2000" dirty="0"/>
              <a:t>캡처한 내용을 </a:t>
            </a:r>
            <a:r>
              <a:rPr lang="en-US" altLang="ko-KR" sz="2000" dirty="0"/>
              <a:t>ASCII </a:t>
            </a:r>
            <a:r>
              <a:rPr lang="ko-KR" altLang="en-US" sz="2000" dirty="0"/>
              <a:t>로 보기</a:t>
            </a:r>
          </a:p>
        </p:txBody>
      </p:sp>
    </p:spTree>
    <p:extLst>
      <p:ext uri="{BB962C8B-B14F-4D97-AF65-F5344CB8AC3E}">
        <p14:creationId xmlns:p14="http://schemas.microsoft.com/office/powerpoint/2010/main" val="3217555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5B2535-57DF-41D5-8494-217F33C56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123"/>
            <a:ext cx="10515600" cy="5203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   정보 보안의 </a:t>
            </a:r>
            <a:r>
              <a:rPr lang="en-US" altLang="ko-KR" sz="2000" dirty="0"/>
              <a:t>3</a:t>
            </a:r>
            <a:r>
              <a:rPr lang="ko-KR" altLang="en-US" sz="2000" dirty="0"/>
              <a:t>요소 </a:t>
            </a:r>
            <a:r>
              <a:rPr lang="en-US" altLang="ko-KR" sz="2000" dirty="0"/>
              <a:t>: </a:t>
            </a:r>
            <a:r>
              <a:rPr lang="ko-KR" altLang="en-US" sz="2000" dirty="0"/>
              <a:t>기밀성 </a:t>
            </a:r>
            <a:r>
              <a:rPr lang="en-US" altLang="ko-KR" sz="2000" dirty="0"/>
              <a:t>, </a:t>
            </a:r>
            <a:r>
              <a:rPr lang="ko-KR" altLang="en-US" sz="2000" dirty="0"/>
              <a:t>무결성 </a:t>
            </a:r>
            <a:r>
              <a:rPr lang="en-US" altLang="ko-KR" sz="2000" dirty="0"/>
              <a:t>, </a:t>
            </a:r>
            <a:r>
              <a:rPr lang="ko-KR" altLang="en-US" sz="2000" dirty="0"/>
              <a:t>가용성 유지 </a:t>
            </a:r>
            <a:r>
              <a:rPr lang="en-US" altLang="ko-KR" sz="2000" dirty="0"/>
              <a:t>! (CIA </a:t>
            </a:r>
            <a:r>
              <a:rPr lang="ko-KR" altLang="en-US" sz="2000" dirty="0"/>
              <a:t>삼각형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기밀성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허가받은</a:t>
            </a:r>
            <a:r>
              <a:rPr lang="ko-KR" altLang="en-US" sz="2000" dirty="0"/>
              <a:t> 사용자만이 해당 정보에 접근할 수 있도록 하는 것</a:t>
            </a:r>
          </a:p>
          <a:p>
            <a:pPr marL="0" indent="0">
              <a:buNone/>
            </a:pPr>
            <a:r>
              <a:rPr lang="ko-KR" altLang="en-US" sz="2000" dirty="0"/>
              <a:t>   무결성 </a:t>
            </a:r>
            <a:r>
              <a:rPr lang="en-US" altLang="ko-KR" sz="2000" dirty="0"/>
              <a:t>: </a:t>
            </a:r>
            <a:r>
              <a:rPr lang="ko-KR" altLang="en-US" sz="2000" dirty="0"/>
              <a:t>정보가 무단으로 변조되지 않았음을 의미</a:t>
            </a:r>
          </a:p>
          <a:p>
            <a:pPr marL="0" indent="0">
              <a:buNone/>
            </a:pPr>
            <a:r>
              <a:rPr lang="ko-KR" altLang="en-US" sz="2000" dirty="0"/>
              <a:t>   가용성 </a:t>
            </a:r>
            <a:r>
              <a:rPr lang="en-US" altLang="ko-KR" sz="2000" dirty="0"/>
              <a:t>: </a:t>
            </a:r>
            <a:r>
              <a:rPr lang="ko-KR" altLang="en-US" sz="2000" dirty="0"/>
              <a:t>필요할 때 인가를 받은 사용자가 정보나 서비스에 접근할 수 있는 것을 말함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보안 기본 조치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1. </a:t>
            </a:r>
            <a:r>
              <a:rPr lang="ko-KR" altLang="en-US" sz="2000" dirty="0"/>
              <a:t>불필요한 서비스 통제하기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2. </a:t>
            </a:r>
            <a:r>
              <a:rPr lang="ko-KR" altLang="en-US" sz="2000" dirty="0"/>
              <a:t>소프트웨어 패치 실시하기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3. </a:t>
            </a:r>
            <a:r>
              <a:rPr lang="ko-KR" altLang="en-US" sz="2000" dirty="0"/>
              <a:t>주기적으로 점검하기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4. </a:t>
            </a:r>
            <a:r>
              <a:rPr lang="ko-KR" altLang="en-US" sz="2000" dirty="0"/>
              <a:t>백업하기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5. </a:t>
            </a:r>
            <a:r>
              <a:rPr lang="ko-KR" altLang="en-US" sz="2000" dirty="0"/>
              <a:t>공부하는 시스템 관리자</a:t>
            </a:r>
          </a:p>
        </p:txBody>
      </p:sp>
    </p:spTree>
    <p:extLst>
      <p:ext uri="{BB962C8B-B14F-4D97-AF65-F5344CB8AC3E}">
        <p14:creationId xmlns:p14="http://schemas.microsoft.com/office/powerpoint/2010/main" val="581249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8AA4A2-6511-40D9-8298-0FE164BCF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2455"/>
            <a:ext cx="10515600" cy="5304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  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시스템 로그 </a:t>
            </a:r>
          </a:p>
          <a:p>
            <a:pPr marL="0" indent="0">
              <a:buNone/>
            </a:pPr>
            <a:r>
              <a:rPr lang="ko-KR" altLang="en-US" sz="2000" dirty="0"/>
              <a:t>   로그 </a:t>
            </a:r>
            <a:r>
              <a:rPr lang="en-US" altLang="ko-KR" sz="2000" dirty="0"/>
              <a:t>: </a:t>
            </a:r>
            <a:r>
              <a:rPr lang="ko-KR" altLang="en-US" sz="2000" dirty="0"/>
              <a:t>커널과 리눅스 시스템이 제공하는 여러 서비스와 응용 프로그램이 발생시키는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 err="1"/>
              <a:t>메세지</a:t>
            </a:r>
            <a:r>
              <a:rPr lang="ko-KR" altLang="en-US" sz="2000" dirty="0"/>
              <a:t> </a:t>
            </a:r>
            <a:r>
              <a:rPr lang="en-US" altLang="ko-KR" sz="2000" dirty="0"/>
              <a:t>/  </a:t>
            </a:r>
            <a:r>
              <a:rPr lang="ko-KR" altLang="en-US" sz="2000" dirty="0"/>
              <a:t>시스템의 상태를 알려주는 </a:t>
            </a:r>
            <a:r>
              <a:rPr lang="ko-KR" altLang="en-US" sz="2000" dirty="0" err="1"/>
              <a:t>메세지</a:t>
            </a:r>
            <a:endParaRPr lang="ko-KR" altLang="en-US" sz="2000" dirty="0"/>
          </a:p>
          <a:p>
            <a:pPr marL="0" indent="0">
              <a:buNone/>
            </a:pPr>
            <a:r>
              <a:rPr lang="ko-KR" altLang="en-US" sz="2000" dirty="0"/>
              <a:t>   로그 파일 </a:t>
            </a:r>
            <a:r>
              <a:rPr lang="en-US" altLang="ko-KR" sz="2000" dirty="0"/>
              <a:t>: </a:t>
            </a:r>
            <a:r>
              <a:rPr lang="ko-KR" altLang="en-US" sz="2000" dirty="0"/>
              <a:t>로그를 저장하고 있는 파일 </a:t>
            </a:r>
            <a:r>
              <a:rPr lang="en-US" altLang="ko-KR" sz="2000" dirty="0"/>
              <a:t>/var/log </a:t>
            </a:r>
            <a:r>
              <a:rPr lang="ko-KR" altLang="en-US" sz="2000" dirty="0"/>
              <a:t>디렉터리에 존재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</a:p>
          <a:p>
            <a:pPr marL="0" indent="0">
              <a:buNone/>
            </a:pPr>
            <a:r>
              <a:rPr lang="ko-KR" altLang="en-US" sz="2000" dirty="0"/>
              <a:t>   로그 관리 데몬</a:t>
            </a:r>
          </a:p>
          <a:p>
            <a:pPr marL="0" indent="0">
              <a:buNone/>
            </a:pPr>
            <a:r>
              <a:rPr lang="ko-KR" altLang="en-US" sz="2000" dirty="0"/>
              <a:t>   리눅스 시스템의 로그 파일 중 일부는 로그 관리 </a:t>
            </a:r>
            <a:r>
              <a:rPr lang="ko-KR" altLang="en-US" sz="2000" dirty="0" err="1"/>
              <a:t>데몬에</a:t>
            </a:r>
            <a:r>
              <a:rPr lang="ko-KR" altLang="en-US" sz="2000" dirty="0"/>
              <a:t> 의해 통제됨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en-US" altLang="ko-KR" sz="2000" dirty="0" err="1"/>
              <a:t>rsyslog</a:t>
            </a:r>
            <a:r>
              <a:rPr lang="en-US" altLang="ko-KR" sz="2000" dirty="0"/>
              <a:t> </a:t>
            </a:r>
            <a:r>
              <a:rPr lang="ko-KR" altLang="en-US" sz="2000" dirty="0"/>
              <a:t>서비스를 제공하는 데몬 </a:t>
            </a:r>
            <a:r>
              <a:rPr lang="en-US" altLang="ko-KR" sz="2000" dirty="0"/>
              <a:t>: /</a:t>
            </a:r>
            <a:r>
              <a:rPr lang="en-US" altLang="ko-KR" sz="2000" dirty="0" err="1"/>
              <a:t>sbin</a:t>
            </a:r>
            <a:r>
              <a:rPr lang="en-US" altLang="ko-KR" sz="2000" dirty="0"/>
              <a:t>/</a:t>
            </a:r>
            <a:r>
              <a:rPr lang="en-US" altLang="ko-KR" sz="2000" dirty="0" err="1"/>
              <a:t>rsyslogd</a:t>
            </a: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en-US" altLang="ko-KR" sz="2000" dirty="0" err="1"/>
              <a:t>rsyslog</a:t>
            </a:r>
            <a:r>
              <a:rPr lang="en-US" altLang="ko-KR" sz="2000" dirty="0"/>
              <a:t> </a:t>
            </a:r>
            <a:r>
              <a:rPr lang="ko-KR" altLang="en-US" sz="2000" dirty="0"/>
              <a:t>서비스를 설정하는 파일 </a:t>
            </a:r>
            <a:r>
              <a:rPr lang="en-US" altLang="ko-KR" sz="2000" dirty="0"/>
              <a:t>: /</a:t>
            </a:r>
            <a:r>
              <a:rPr lang="en-US" altLang="ko-KR" sz="2000" dirty="0" err="1"/>
              <a:t>etc</a:t>
            </a:r>
            <a:r>
              <a:rPr lang="en-US" altLang="ko-KR" sz="2000" dirty="0"/>
              <a:t>/</a:t>
            </a:r>
            <a:r>
              <a:rPr lang="en-US" altLang="ko-KR" sz="2000" dirty="0" err="1"/>
              <a:t>rsyslog.conf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20253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AB3AAA-A9D8-475A-BBC1-2998C136A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0073"/>
            <a:ext cx="10515600" cy="5746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 err="1"/>
              <a:t>선택자</a:t>
            </a:r>
            <a:r>
              <a:rPr lang="ko-KR" altLang="en-US" sz="2000" dirty="0"/>
              <a:t> 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 err="1"/>
              <a:t>rsyslog</a:t>
            </a:r>
            <a:r>
              <a:rPr lang="ko-KR" altLang="en-US" sz="2000" dirty="0"/>
              <a:t>의 선택자는 기능명과 우선순위를 기반으로 작성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</a:p>
          <a:p>
            <a:pPr marL="0" indent="0">
              <a:buNone/>
            </a:pPr>
            <a:r>
              <a:rPr lang="ko-KR" altLang="en-US" sz="2000" dirty="0"/>
              <a:t>   기능 명 </a:t>
            </a:r>
            <a:r>
              <a:rPr lang="en-US" altLang="ko-KR" sz="2000" dirty="0"/>
              <a:t>: </a:t>
            </a:r>
            <a:r>
              <a:rPr lang="ko-KR" altLang="en-US" sz="2000" dirty="0"/>
              <a:t>로그 메세지를 생성하는 프로그램을 지정한 것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우선 순위 </a:t>
            </a:r>
            <a:r>
              <a:rPr lang="en-US" altLang="ko-KR" sz="2000" dirty="0"/>
              <a:t>: </a:t>
            </a:r>
            <a:r>
              <a:rPr lang="ko-KR" altLang="en-US" sz="2000" dirty="0"/>
              <a:t>메세지의 심각도를 나타냄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E48012-19A7-4857-8E4E-34669432E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580" y="2504467"/>
            <a:ext cx="4229690" cy="43535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54D6F76-F597-43F5-B148-7967F2274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463" y="2504467"/>
            <a:ext cx="3453187" cy="358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98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FF971-AA48-41F7-AE83-EA25338FF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3732"/>
            <a:ext cx="10515600" cy="5363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동작 </a:t>
            </a:r>
            <a:r>
              <a:rPr lang="en-US" altLang="ko-KR" sz="2000" dirty="0"/>
              <a:t>: </a:t>
            </a:r>
            <a:r>
              <a:rPr lang="ko-KR" altLang="en-US" sz="2000" dirty="0"/>
              <a:t>선택자가 선택한 메세지를 어떻게 처리할 것인지를 정의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ex) </a:t>
            </a:r>
            <a:r>
              <a:rPr lang="ko-KR" altLang="en-US" sz="2000" dirty="0"/>
              <a:t>메세지를 파일로 저장하거나 메일로 전송하기</a:t>
            </a:r>
            <a:r>
              <a:rPr lang="en-US" altLang="ko-KR" sz="2000" dirty="0"/>
              <a:t>, </a:t>
            </a:r>
            <a:r>
              <a:rPr lang="ko-KR" altLang="en-US" sz="2000" dirty="0"/>
              <a:t>화면으로 출력하기 등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</a:p>
          <a:p>
            <a:pPr marL="0" indent="0">
              <a:buNone/>
            </a:pPr>
            <a:r>
              <a:rPr lang="ko-KR" altLang="en-US" sz="2000" dirty="0"/>
              <a:t>   로그 관리 도구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gnome-system-log (</a:t>
            </a:r>
            <a:r>
              <a:rPr lang="ko-KR" altLang="en-US" sz="2000" dirty="0"/>
              <a:t>로그 뷰어의 패키지 이름</a:t>
            </a:r>
            <a:r>
              <a:rPr lang="en-US" altLang="ko-KR" sz="2000" dirty="0"/>
              <a:t>) : </a:t>
            </a:r>
            <a:r>
              <a:rPr lang="ko-KR" altLang="en-US" sz="2000" dirty="0"/>
              <a:t>로그를 관리할 수 있는 </a:t>
            </a:r>
            <a:r>
              <a:rPr lang="en-US" altLang="ko-KR" sz="2000" dirty="0"/>
              <a:t>GUI </a:t>
            </a:r>
            <a:r>
              <a:rPr lang="ko-KR" altLang="en-US" sz="2000" dirty="0"/>
              <a:t>도구로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 err="1"/>
              <a:t>로그뷰어</a:t>
            </a:r>
            <a:r>
              <a:rPr lang="ko-KR" altLang="en-US" sz="2000" dirty="0"/>
              <a:t> 제공</a:t>
            </a:r>
          </a:p>
          <a:p>
            <a:pPr marL="0" indent="0">
              <a:buNone/>
            </a:pP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891F2C-5D73-48DF-BD38-CE29DB9EF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018" y="3243029"/>
            <a:ext cx="7078063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445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DDB26B-AFE3-49B9-9FFE-203C35087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1846"/>
            <a:ext cx="10515600" cy="5145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   방화벽 관리</a:t>
            </a:r>
          </a:p>
          <a:p>
            <a:pPr marL="0" indent="0">
              <a:buNone/>
            </a:pPr>
            <a:r>
              <a:rPr lang="ko-KR" altLang="en-US" sz="2000" dirty="0"/>
              <a:t>   네트워크를 통한 외부의 접속을 차단하려면 방화벽을 사용해야함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</a:p>
          <a:p>
            <a:pPr marL="0" indent="0">
              <a:buNone/>
            </a:pPr>
            <a:r>
              <a:rPr lang="ko-KR" altLang="en-US" sz="2000" dirty="0"/>
              <a:t>   방화벽 동작 확인하기</a:t>
            </a:r>
          </a:p>
          <a:p>
            <a:pPr marL="0" indent="0">
              <a:buNone/>
            </a:pPr>
            <a:r>
              <a:rPr lang="ko-KR" altLang="en-US" sz="2000" dirty="0"/>
              <a:t>   방화벽의 서비스 이름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firewalld.service</a:t>
            </a:r>
            <a:r>
              <a:rPr lang="en-US" altLang="ko-KR" sz="2000" dirty="0"/>
              <a:t> </a:t>
            </a:r>
            <a:r>
              <a:rPr lang="ko-KR" altLang="en-US" sz="2000" dirty="0"/>
              <a:t>즉 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systemctl</a:t>
            </a:r>
            <a:r>
              <a:rPr lang="en-US" altLang="ko-KR" sz="2000" dirty="0"/>
              <a:t> status </a:t>
            </a:r>
            <a:r>
              <a:rPr lang="en-US" altLang="ko-KR" sz="2000" dirty="0" err="1"/>
              <a:t>firewalld.service</a:t>
            </a:r>
            <a:r>
              <a:rPr lang="en-US" altLang="ko-KR" sz="2000" dirty="0"/>
              <a:t> </a:t>
            </a:r>
            <a:r>
              <a:rPr lang="ko-KR" altLang="en-US" sz="2000" dirty="0"/>
              <a:t>명령을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 통해 동작 여부를 확인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GUI </a:t>
            </a:r>
            <a:r>
              <a:rPr lang="ko-KR" altLang="en-US" sz="2000" dirty="0"/>
              <a:t>도구로 방화벽 설정하기 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firewall </a:t>
            </a:r>
            <a:r>
              <a:rPr lang="ko-KR" altLang="en-US" sz="2000" dirty="0" err="1"/>
              <a:t>데몬은</a:t>
            </a:r>
            <a:r>
              <a:rPr lang="ko-KR" altLang="en-US" sz="2000" dirty="0"/>
              <a:t> 동적으로 방화벽을 관리할 수 있도록 하며 </a:t>
            </a:r>
            <a:r>
              <a:rPr lang="en-US" altLang="ko-KR" sz="2000" dirty="0"/>
              <a:t>IPv4 , IPv6</a:t>
            </a:r>
            <a:r>
              <a:rPr lang="ko-KR" altLang="en-US" sz="2000" dirty="0"/>
              <a:t>를 모두 지원</a:t>
            </a:r>
          </a:p>
          <a:p>
            <a:pPr marL="0" indent="0">
              <a:buNone/>
            </a:pPr>
            <a:r>
              <a:rPr lang="ko-KR" altLang="en-US" sz="2000" dirty="0"/>
              <a:t>   방화벽을 동적으로 관리한다는 것은 언제든지 방화벽의 설정을 변경할 수 있다는 것으로 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firewall-config </a:t>
            </a:r>
            <a:r>
              <a:rPr lang="ko-KR" altLang="en-US" sz="2000" dirty="0"/>
              <a:t>라는 방화벽을 관리하기 위한 </a:t>
            </a:r>
            <a:r>
              <a:rPr lang="en-US" altLang="ko-KR" sz="2000" dirty="0"/>
              <a:t>GUI </a:t>
            </a:r>
            <a:r>
              <a:rPr lang="ko-KR" altLang="en-US" sz="2000" dirty="0"/>
              <a:t>도구를 통해 설정</a:t>
            </a:r>
          </a:p>
        </p:txBody>
      </p:sp>
    </p:spTree>
    <p:extLst>
      <p:ext uri="{BB962C8B-B14F-4D97-AF65-F5344CB8AC3E}">
        <p14:creationId xmlns:p14="http://schemas.microsoft.com/office/powerpoint/2010/main" val="12459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099538-E3FB-4521-A7EB-77EE98250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2789"/>
            <a:ext cx="10515600" cy="5254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Current View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현재 설정하는 내용을 바로 적용할 것인지를 결정하는 것 </a:t>
            </a:r>
            <a:r>
              <a:rPr lang="en-US" altLang="ko-KR" sz="2000" dirty="0"/>
              <a:t>/ </a:t>
            </a:r>
            <a:r>
              <a:rPr lang="ko-KR" altLang="en-US" sz="2000" dirty="0"/>
              <a:t>다른 사용자들에게도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영향을 미치므로 서비스를 열거나 닫을 때 주의 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ex ) </a:t>
            </a:r>
            <a:r>
              <a:rPr lang="ko-KR" altLang="en-US" sz="2000" dirty="0"/>
              <a:t>서비스의 </a:t>
            </a:r>
            <a:r>
              <a:rPr lang="en-US" altLang="ko-KR" sz="2000" dirty="0"/>
              <a:t>telnet </a:t>
            </a:r>
            <a:r>
              <a:rPr lang="ko-KR" altLang="en-US" sz="2000" dirty="0"/>
              <a:t>체크박스에 체크하면 바로 적용되는 것 </a:t>
            </a:r>
          </a:p>
          <a:p>
            <a:pPr marL="0" indent="0">
              <a:buNone/>
            </a:pPr>
            <a:r>
              <a:rPr lang="ko-KR" altLang="en-US" sz="2000" dirty="0"/>
              <a:t>         </a:t>
            </a:r>
            <a:r>
              <a:rPr lang="en-US" altLang="ko-KR" sz="2000" dirty="0"/>
              <a:t>Current View </a:t>
            </a:r>
            <a:r>
              <a:rPr lang="ko-KR" altLang="en-US" sz="2000" dirty="0"/>
              <a:t>값이 </a:t>
            </a:r>
            <a:r>
              <a:rPr lang="en-US" altLang="ko-KR" sz="2000" dirty="0"/>
              <a:t>'</a:t>
            </a:r>
            <a:r>
              <a:rPr lang="ko-KR" altLang="en-US" sz="2000" dirty="0"/>
              <a:t>방화벽 설정</a:t>
            </a:r>
            <a:r>
              <a:rPr lang="en-US" altLang="ko-KR" sz="2000" dirty="0"/>
              <a:t>' </a:t>
            </a:r>
            <a:r>
              <a:rPr lang="ko-KR" altLang="en-US" sz="2000" dirty="0"/>
              <a:t>이라면 설정한 내용을 적용하기 위해 서비스나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</a:t>
            </a:r>
            <a:r>
              <a:rPr lang="ko-KR" altLang="en-US" sz="2000" dirty="0"/>
              <a:t>시스템을 다시 시작해야함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영역 </a:t>
            </a:r>
          </a:p>
          <a:p>
            <a:pPr marL="0" indent="0">
              <a:buNone/>
            </a:pPr>
            <a:r>
              <a:rPr lang="ko-KR" altLang="en-US" sz="2000" dirty="0"/>
              <a:t>  방화벽은 네트워크를 신뢰도 수준에 따라 여러 개의 영역으로 구분하여 사용할 수 있음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영역은 하나를 기본 영역으로 지정할 수 있으며</a:t>
            </a:r>
            <a:r>
              <a:rPr lang="en-US" altLang="ko-KR" sz="2000" dirty="0"/>
              <a:t>, </a:t>
            </a:r>
            <a:r>
              <a:rPr lang="ko-KR" altLang="en-US" sz="2000" dirty="0"/>
              <a:t>현재 기본 영역은 </a:t>
            </a:r>
            <a:r>
              <a:rPr lang="en-US" altLang="ko-KR" sz="2000" dirty="0"/>
              <a:t>Public </a:t>
            </a:r>
            <a:r>
              <a:rPr lang="ko-KR" altLang="en-US" sz="2000" dirty="0"/>
              <a:t>임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36009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470CE5-933B-4C2B-84B3-41BDF262E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7622"/>
            <a:ext cx="10515600" cy="5279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방화벽 설정하기</a:t>
            </a:r>
          </a:p>
          <a:p>
            <a:pPr marL="0" indent="0">
              <a:buNone/>
            </a:pPr>
            <a:r>
              <a:rPr lang="ko-KR" altLang="en-US" sz="2000" dirty="0"/>
              <a:t>  방화벽에서는 서비스</a:t>
            </a:r>
            <a:r>
              <a:rPr lang="en-US" altLang="ko-KR" sz="2000" dirty="0"/>
              <a:t>, </a:t>
            </a:r>
            <a:r>
              <a:rPr lang="ko-KR" altLang="en-US" sz="2000" dirty="0"/>
              <a:t>포트 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마스커레이딩</a:t>
            </a:r>
            <a:r>
              <a:rPr lang="en-US" altLang="ko-KR" sz="2000" dirty="0"/>
              <a:t>, </a:t>
            </a:r>
            <a:r>
              <a:rPr lang="ko-KR" altLang="en-US" sz="2000" dirty="0"/>
              <a:t>포트 포워딩 </a:t>
            </a:r>
            <a:r>
              <a:rPr lang="en-US" altLang="ko-KR" sz="2000" dirty="0"/>
              <a:t>, ICMP </a:t>
            </a:r>
            <a:r>
              <a:rPr lang="ko-KR" altLang="en-US" sz="2000" dirty="0"/>
              <a:t>필터를 설정할 수 있음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서비스 항목 </a:t>
            </a:r>
            <a:r>
              <a:rPr lang="en-US" altLang="ko-KR" sz="2000" dirty="0"/>
              <a:t>: http , </a:t>
            </a:r>
            <a:r>
              <a:rPr lang="en-US" altLang="ko-KR" sz="2000" dirty="0" err="1"/>
              <a:t>ssh</a:t>
            </a:r>
            <a:r>
              <a:rPr lang="en-US" altLang="ko-KR" sz="2000" dirty="0"/>
              <a:t> , FTP </a:t>
            </a:r>
            <a:r>
              <a:rPr lang="ko-KR" altLang="en-US" sz="2000" dirty="0"/>
              <a:t>같은 이미 잘 알려져 있는 서비스 중 신뢰할 수 있는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        </a:t>
            </a:r>
            <a:r>
              <a:rPr lang="ko-KR" altLang="en-US" sz="2000" dirty="0"/>
              <a:t>서비스를 열거나 닫는 것</a:t>
            </a:r>
          </a:p>
          <a:p>
            <a:pPr marL="0" indent="0">
              <a:buNone/>
            </a:pPr>
            <a:r>
              <a:rPr lang="ko-KR" altLang="en-US" sz="2000" dirty="0"/>
              <a:t>  포트 항목 </a:t>
            </a:r>
            <a:r>
              <a:rPr lang="en-US" altLang="ko-KR" sz="2000" dirty="0"/>
              <a:t>: </a:t>
            </a:r>
            <a:r>
              <a:rPr lang="ko-KR" altLang="en-US" sz="2000" dirty="0"/>
              <a:t>서비스 목록에 없는 네트워크 서비스를 </a:t>
            </a:r>
            <a:r>
              <a:rPr lang="ko-KR" altLang="en-US" sz="2000" dirty="0" err="1"/>
              <a:t>열어주기</a:t>
            </a:r>
            <a:r>
              <a:rPr lang="ko-KR" altLang="en-US" sz="2000" dirty="0"/>
              <a:t> 위해 해당 서비스의 포트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      </a:t>
            </a:r>
            <a:r>
              <a:rPr lang="ko-KR" altLang="en-US" sz="2000" dirty="0"/>
              <a:t>번호를 직접 지정할 때 사용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ko-KR" altLang="en-US" sz="2000" dirty="0" err="1"/>
              <a:t>마스커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레이딩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내부의 </a:t>
            </a:r>
            <a:r>
              <a:rPr lang="en-US" altLang="ko-KR" sz="2000" dirty="0"/>
              <a:t>IP </a:t>
            </a:r>
            <a:r>
              <a:rPr lang="ko-KR" altLang="en-US" sz="2000" dirty="0"/>
              <a:t>주소를 하나의 </a:t>
            </a:r>
            <a:r>
              <a:rPr lang="ko-KR" altLang="en-US" sz="2000" dirty="0" err="1"/>
              <a:t>외부용</a:t>
            </a:r>
            <a:r>
              <a:rPr lang="ko-KR" altLang="en-US" sz="2000" dirty="0"/>
              <a:t> 주소로 변환하는 것으로 리눅스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           </a:t>
            </a:r>
            <a:r>
              <a:rPr lang="ko-KR" altLang="en-US" sz="2000" dirty="0"/>
              <a:t>시스템을 라우터 기능으로 사용할 때 적용함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포트 포워딩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마스커레이딩과</a:t>
            </a:r>
            <a:r>
              <a:rPr lang="ko-KR" altLang="en-US" sz="2000" dirty="0"/>
              <a:t> 함께 사용하는데</a:t>
            </a:r>
            <a:r>
              <a:rPr lang="en-US" altLang="ko-KR" sz="2000" dirty="0"/>
              <a:t>, </a:t>
            </a:r>
            <a:r>
              <a:rPr lang="ko-KR" altLang="en-US" sz="2000" dirty="0"/>
              <a:t>외부에 들어오는 패킷을 내부 주소의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        </a:t>
            </a:r>
            <a:r>
              <a:rPr lang="ko-KR" altLang="en-US" sz="2000" dirty="0"/>
              <a:t>특정 포트로 전달하는 것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/>
              <a:t>ICMP </a:t>
            </a:r>
            <a:r>
              <a:rPr lang="ko-KR" altLang="en-US" sz="2000" dirty="0"/>
              <a:t>필터 </a:t>
            </a:r>
            <a:r>
              <a:rPr lang="en-US" altLang="ko-KR" sz="2000" dirty="0"/>
              <a:t>: ICMP </a:t>
            </a:r>
            <a:r>
              <a:rPr lang="ko-KR" altLang="en-US" sz="2000" dirty="0"/>
              <a:t>프로토콜로 보내는 메세지에서 거부할 유형을 표시하는 것</a:t>
            </a:r>
          </a:p>
        </p:txBody>
      </p:sp>
    </p:spTree>
    <p:extLst>
      <p:ext uri="{BB962C8B-B14F-4D97-AF65-F5344CB8AC3E}">
        <p14:creationId xmlns:p14="http://schemas.microsoft.com/office/powerpoint/2010/main" val="1365644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2417E-D5D8-4EB8-9A66-1740BCEB1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6011"/>
            <a:ext cx="10515600" cy="5270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방화벽 관리 명령어 </a:t>
            </a:r>
            <a:r>
              <a:rPr lang="en-US" altLang="ko-KR" sz="2000" dirty="0"/>
              <a:t>: firewall-</a:t>
            </a:r>
            <a:r>
              <a:rPr lang="en-US" altLang="ko-KR" sz="2000" dirty="0" err="1"/>
              <a:t>cmd</a:t>
            </a:r>
            <a:r>
              <a:rPr lang="en-US" altLang="ko-KR" sz="2000" dirty="0"/>
              <a:t> [</a:t>
            </a:r>
            <a:r>
              <a:rPr lang="ko-KR" altLang="en-US" sz="2000" dirty="0"/>
              <a:t>옵션</a:t>
            </a:r>
            <a:r>
              <a:rPr lang="en-US" altLang="ko-KR" sz="2000" dirty="0"/>
              <a:t>]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옵션 </a:t>
            </a:r>
            <a:r>
              <a:rPr lang="en-US" altLang="ko-KR" sz="2000" dirty="0"/>
              <a:t>: --get-</a:t>
            </a:r>
            <a:r>
              <a:rPr lang="en-US" altLang="ko-KR" sz="2000" dirty="0" err="1"/>
              <a:t>defalut</a:t>
            </a:r>
            <a:r>
              <a:rPr lang="en-US" altLang="ko-KR" sz="2000" dirty="0"/>
              <a:t>-zone : </a:t>
            </a:r>
            <a:r>
              <a:rPr lang="ko-KR" altLang="en-US" sz="2000" dirty="0"/>
              <a:t>기본 영역을 출력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--add-ACTION : ACTION</a:t>
            </a:r>
            <a:r>
              <a:rPr lang="ko-KR" altLang="en-US" sz="2000" dirty="0"/>
              <a:t>을 추가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--remove-ACTION : ACTION</a:t>
            </a:r>
            <a:r>
              <a:rPr lang="ko-KR" altLang="en-US" sz="2000" dirty="0"/>
              <a:t>을 제거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--list-ports : </a:t>
            </a:r>
            <a:r>
              <a:rPr lang="ko-KR" altLang="en-US" sz="2000" dirty="0"/>
              <a:t>허용된 포트 목록을 출력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--list-services : </a:t>
            </a:r>
            <a:r>
              <a:rPr lang="ko-KR" altLang="en-US" sz="2000" dirty="0"/>
              <a:t>허용된 서비스 목록을 출력</a:t>
            </a:r>
          </a:p>
          <a:p>
            <a:pPr marL="0" indent="0">
              <a:buNone/>
            </a:pPr>
            <a:r>
              <a:rPr lang="ko-KR" altLang="en-US" sz="2000" dirty="0"/>
              <a:t>             </a:t>
            </a:r>
            <a:r>
              <a:rPr lang="en-US" altLang="ko-KR" sz="2000" dirty="0"/>
              <a:t>--permanent : </a:t>
            </a:r>
            <a:r>
              <a:rPr lang="ko-KR" altLang="en-US" sz="2000" dirty="0"/>
              <a:t>방화벽에 저장</a:t>
            </a:r>
            <a:r>
              <a:rPr lang="en-US" altLang="ko-KR" sz="2000" dirty="0"/>
              <a:t>. reload</a:t>
            </a:r>
            <a:r>
              <a:rPr lang="ko-KR" altLang="en-US" sz="2000" dirty="0"/>
              <a:t>나 재시작을 해야 적용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보안 관리 도구 </a:t>
            </a:r>
          </a:p>
          <a:p>
            <a:pPr marL="0" indent="0">
              <a:buNone/>
            </a:pPr>
            <a:r>
              <a:rPr lang="ko-KR" altLang="en-US" sz="2000" dirty="0"/>
              <a:t>  로그 관리와 방화벽 설정 </a:t>
            </a:r>
            <a:r>
              <a:rPr lang="en-US" altLang="ko-KR" sz="2000" dirty="0"/>
              <a:t>: </a:t>
            </a:r>
            <a:r>
              <a:rPr lang="ko-KR" altLang="en-US" sz="2000" dirty="0"/>
              <a:t>리눅스의 보안을 위해 가장 기본적으로 사용하는 도구 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 err="1"/>
              <a:t>nmap</a:t>
            </a:r>
            <a:r>
              <a:rPr lang="en-US" altLang="ko-KR" sz="2000" dirty="0"/>
              <a:t> : </a:t>
            </a:r>
            <a:r>
              <a:rPr lang="ko-KR" altLang="en-US" sz="2000" dirty="0"/>
              <a:t>네트워크 포트를 점검하는 도구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/>
              <a:t>PAM : </a:t>
            </a:r>
            <a:r>
              <a:rPr lang="ko-KR" altLang="en-US" sz="2000" dirty="0"/>
              <a:t>사용자 인증 관련 기능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 err="1"/>
              <a:t>SELinux</a:t>
            </a:r>
            <a:r>
              <a:rPr lang="en-US" altLang="ko-KR" sz="2000" dirty="0"/>
              <a:t> : </a:t>
            </a:r>
            <a:r>
              <a:rPr lang="ko-KR" altLang="en-US" sz="2000" dirty="0"/>
              <a:t>리눅스 보안을 강화한 도구</a:t>
            </a:r>
          </a:p>
        </p:txBody>
      </p:sp>
    </p:spTree>
    <p:extLst>
      <p:ext uri="{BB962C8B-B14F-4D97-AF65-F5344CB8AC3E}">
        <p14:creationId xmlns:p14="http://schemas.microsoft.com/office/powerpoint/2010/main" val="21341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087B1D-C230-4384-9E0D-F7080B568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1453"/>
            <a:ext cx="10515600" cy="545551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en-US" altLang="ko-KR" sz="2000" dirty="0" err="1"/>
              <a:t>NMap</a:t>
            </a:r>
            <a:r>
              <a:rPr lang="en-US" altLang="ko-KR" sz="2000" dirty="0"/>
              <a:t> : </a:t>
            </a:r>
            <a:r>
              <a:rPr lang="ko-KR" altLang="en-US" sz="2000" dirty="0"/>
              <a:t>포트 스캔 도구</a:t>
            </a:r>
          </a:p>
          <a:p>
            <a:pPr marL="0" indent="0">
              <a:buNone/>
            </a:pPr>
            <a:r>
              <a:rPr lang="ko-KR" altLang="en-US" sz="2000" dirty="0"/>
              <a:t>  기능 </a:t>
            </a:r>
            <a:r>
              <a:rPr lang="en-US" altLang="ko-KR" sz="2000" dirty="0"/>
              <a:t>: </a:t>
            </a:r>
            <a:r>
              <a:rPr lang="ko-KR" altLang="en-US" sz="2000" dirty="0"/>
              <a:t>내 서버나 원격의 서버가 사용 중인 포트 </a:t>
            </a:r>
            <a:r>
              <a:rPr lang="en-US" altLang="ko-KR" sz="2000" dirty="0"/>
              <a:t>, </a:t>
            </a:r>
            <a:r>
              <a:rPr lang="ko-KR" altLang="en-US" sz="2000" dirty="0"/>
              <a:t>운영체제 등을 스캔하여 출력</a:t>
            </a:r>
          </a:p>
          <a:p>
            <a:pPr marL="0" indent="0">
              <a:buNone/>
            </a:pPr>
            <a:r>
              <a:rPr lang="ko-KR" altLang="en-US" sz="2000" dirty="0"/>
              <a:t>  네트워크 관리용으로도 사용되고 </a:t>
            </a:r>
            <a:r>
              <a:rPr lang="en-US" altLang="ko-KR" sz="2000" dirty="0"/>
              <a:t>, </a:t>
            </a:r>
            <a:r>
              <a:rPr lang="ko-KR" altLang="en-US" sz="2000" dirty="0"/>
              <a:t>취약한 포트가 사용 중인지 확인 가능하여 보안용으로 사용</a:t>
            </a:r>
          </a:p>
          <a:p>
            <a:pPr marL="0" indent="0">
              <a:buNone/>
            </a:pPr>
            <a:r>
              <a:rPr lang="ko-KR" altLang="en-US" sz="2000" dirty="0"/>
              <a:t>  주의 </a:t>
            </a:r>
            <a:r>
              <a:rPr lang="en-US" altLang="ko-KR" sz="2000" dirty="0"/>
              <a:t>! : </a:t>
            </a:r>
            <a:r>
              <a:rPr lang="ko-KR" altLang="en-US" sz="2000" dirty="0"/>
              <a:t>스캔하는 것만으로도 보안 침입을 위한 준비 과정으로 간주하므로 원격 서버를 마구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</a:t>
            </a:r>
            <a:r>
              <a:rPr lang="ko-KR" altLang="en-US" sz="2000" dirty="0"/>
              <a:t> 스캔해서는 </a:t>
            </a:r>
            <a:r>
              <a:rPr lang="ko-KR" altLang="en-US" sz="2000" dirty="0" err="1"/>
              <a:t>안됌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네트워크를 탐색하고 보안을 점검하는 명령어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nmap</a:t>
            </a:r>
            <a:r>
              <a:rPr lang="en-US" altLang="ko-KR" sz="2000" dirty="0"/>
              <a:t> [</a:t>
            </a:r>
            <a:r>
              <a:rPr lang="ko-KR" altLang="en-US" sz="2000" dirty="0"/>
              <a:t>옵션</a:t>
            </a:r>
            <a:r>
              <a:rPr lang="en-US" altLang="ko-KR" sz="2000" dirty="0"/>
              <a:t>] </a:t>
            </a:r>
            <a:r>
              <a:rPr lang="ko-KR" altLang="en-US" sz="2000" dirty="0"/>
              <a:t>목적지 주소</a:t>
            </a:r>
          </a:p>
          <a:p>
            <a:pPr marL="0" indent="0">
              <a:buNone/>
            </a:pPr>
            <a:r>
              <a:rPr lang="ko-KR" altLang="en-US" sz="2000" dirty="0"/>
              <a:t>  옵션 </a:t>
            </a:r>
            <a:r>
              <a:rPr lang="en-US" altLang="ko-KR" sz="2000" dirty="0"/>
              <a:t>: -</a:t>
            </a:r>
            <a:r>
              <a:rPr lang="en-US" altLang="ko-KR" sz="2000" dirty="0" err="1"/>
              <a:t>sS</a:t>
            </a:r>
            <a:r>
              <a:rPr lang="en-US" altLang="ko-KR" sz="2000" dirty="0"/>
              <a:t> : TCP SYN</a:t>
            </a:r>
            <a:r>
              <a:rPr lang="ko-KR" altLang="en-US" sz="2000" dirty="0"/>
              <a:t>을 스캔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-</a:t>
            </a:r>
            <a:r>
              <a:rPr lang="en-US" altLang="ko-KR" sz="2000" dirty="0" err="1"/>
              <a:t>sT</a:t>
            </a:r>
            <a:r>
              <a:rPr lang="en-US" altLang="ko-KR" sz="2000" dirty="0"/>
              <a:t> : TCP </a:t>
            </a:r>
            <a:r>
              <a:rPr lang="ko-KR" altLang="en-US" sz="2000" dirty="0"/>
              <a:t>연결을 스캔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-</a:t>
            </a:r>
            <a:r>
              <a:rPr lang="en-US" altLang="ko-KR" sz="2000" dirty="0" err="1"/>
              <a:t>sP</a:t>
            </a:r>
            <a:r>
              <a:rPr lang="en-US" altLang="ko-KR" sz="2000" dirty="0"/>
              <a:t> : ping</a:t>
            </a:r>
            <a:r>
              <a:rPr lang="ko-KR" altLang="en-US" sz="2000" dirty="0"/>
              <a:t>을 스캔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-</a:t>
            </a:r>
            <a:r>
              <a:rPr lang="en-US" altLang="ko-KR" sz="2000" dirty="0" err="1"/>
              <a:t>sU</a:t>
            </a:r>
            <a:r>
              <a:rPr lang="en-US" altLang="ko-KR" sz="2000" dirty="0"/>
              <a:t> : UDP</a:t>
            </a:r>
            <a:r>
              <a:rPr lang="ko-KR" altLang="en-US" sz="2000" dirty="0"/>
              <a:t>를 스캔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-</a:t>
            </a:r>
            <a:r>
              <a:rPr lang="en-US" altLang="ko-KR" sz="2000" dirty="0" err="1"/>
              <a:t>sO</a:t>
            </a:r>
            <a:r>
              <a:rPr lang="en-US" altLang="ko-KR" sz="2000" dirty="0"/>
              <a:t> : IP </a:t>
            </a:r>
            <a:r>
              <a:rPr lang="ko-KR" altLang="en-US" sz="2000" dirty="0"/>
              <a:t>프로토콜을 스캔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-O   : </a:t>
            </a:r>
            <a:r>
              <a:rPr lang="ko-KR" altLang="en-US" sz="2000" dirty="0"/>
              <a:t>운영체제를 확인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-v  : </a:t>
            </a:r>
            <a:r>
              <a:rPr lang="ko-KR" altLang="en-US" sz="2000" dirty="0"/>
              <a:t>스캔 결과를 상세하게 출력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-p </a:t>
            </a:r>
            <a:r>
              <a:rPr lang="ko-KR" altLang="en-US" sz="2000" dirty="0"/>
              <a:t>포트번호 </a:t>
            </a:r>
            <a:r>
              <a:rPr lang="en-US" altLang="ko-KR" sz="2000" dirty="0"/>
              <a:t>: </a:t>
            </a:r>
            <a:r>
              <a:rPr lang="ko-KR" altLang="en-US" sz="2000" dirty="0"/>
              <a:t>지정한 포트만 스캔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-F : </a:t>
            </a:r>
            <a:r>
              <a:rPr lang="ko-KR" altLang="en-US" sz="2000" dirty="0"/>
              <a:t>빠른 모드로 기본 스캔보다 적은 수의 포트만 스캔</a:t>
            </a:r>
          </a:p>
        </p:txBody>
      </p:sp>
    </p:spTree>
    <p:extLst>
      <p:ext uri="{BB962C8B-B14F-4D97-AF65-F5344CB8AC3E}">
        <p14:creationId xmlns:p14="http://schemas.microsoft.com/office/powerpoint/2010/main" val="1371957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EC78A4-9C0D-4571-BDC3-38335B903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6286"/>
            <a:ext cx="10515600" cy="54806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000" dirty="0"/>
              <a:t>PAM (</a:t>
            </a:r>
            <a:r>
              <a:rPr lang="ko-KR" altLang="en-US" sz="2000" dirty="0"/>
              <a:t>삽입형 인증 모듈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사용자가 시스템의 서비스를 사용하는 데는 사용자의 신원을 확인하는 인증이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필요하므로 중앙 </a:t>
            </a:r>
            <a:r>
              <a:rPr lang="ko-KR" altLang="en-US" sz="2000" dirty="0" err="1"/>
              <a:t>집중화된</a:t>
            </a:r>
            <a:r>
              <a:rPr lang="ko-KR" altLang="en-US" sz="2000" dirty="0"/>
              <a:t> 인증 기법인 </a:t>
            </a:r>
            <a:r>
              <a:rPr lang="en-US" altLang="ko-KR" sz="2000" dirty="0"/>
              <a:t>PAM</a:t>
            </a:r>
            <a:r>
              <a:rPr lang="ko-KR" altLang="en-US" sz="2000" dirty="0"/>
              <a:t>을 사용</a:t>
            </a:r>
          </a:p>
          <a:p>
            <a:pPr marL="0" indent="0">
              <a:buNone/>
            </a:pPr>
            <a:r>
              <a:rPr lang="ko-KR" altLang="en-US" sz="2000" dirty="0"/>
              <a:t>  모듈 방식으로 구성되어 있어 시스템 관리자가 필요에 따라 인증 모듈을 추가</a:t>
            </a:r>
            <a:r>
              <a:rPr lang="en-US" altLang="ko-KR" sz="2000" dirty="0"/>
              <a:t>,</a:t>
            </a:r>
            <a:r>
              <a:rPr lang="ko-KR" altLang="en-US" sz="2000" dirty="0"/>
              <a:t>삭제</a:t>
            </a:r>
            <a:r>
              <a:rPr lang="en-US" altLang="ko-KR" sz="2000" dirty="0"/>
              <a:t>,</a:t>
            </a:r>
            <a:r>
              <a:rPr lang="ko-KR" altLang="en-US" sz="2000" dirty="0"/>
              <a:t>편집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가능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/>
              <a:t>PAM </a:t>
            </a:r>
            <a:r>
              <a:rPr lang="ko-KR" altLang="en-US" sz="2000" dirty="0"/>
              <a:t>설정 파일 형식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/>
              <a:t>&lt;</a:t>
            </a:r>
            <a:r>
              <a:rPr lang="ko-KR" altLang="en-US" sz="2000" dirty="0"/>
              <a:t>모듈 인터페이스</a:t>
            </a:r>
            <a:r>
              <a:rPr lang="en-US" altLang="ko-KR" sz="2000" dirty="0"/>
              <a:t>&gt;&lt;</a:t>
            </a:r>
            <a:r>
              <a:rPr lang="ko-KR" altLang="en-US" sz="2000" dirty="0"/>
              <a:t>제어 플래그</a:t>
            </a:r>
            <a:r>
              <a:rPr lang="en-US" altLang="ko-KR" sz="2000" dirty="0"/>
              <a:t>&gt;&lt;</a:t>
            </a:r>
            <a:r>
              <a:rPr lang="ko-KR" altLang="en-US" sz="2000" dirty="0"/>
              <a:t>모듈 이름</a:t>
            </a:r>
            <a:r>
              <a:rPr lang="en-US" altLang="ko-KR" sz="2000" dirty="0"/>
              <a:t>&gt;&lt;</a:t>
            </a:r>
            <a:r>
              <a:rPr lang="ko-KR" altLang="en-US" sz="2000" dirty="0"/>
              <a:t>모듈 인자</a:t>
            </a:r>
            <a:r>
              <a:rPr lang="en-US" altLang="ko-KR" sz="2000" dirty="0"/>
              <a:t>&gt;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모듈 인터페이스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/>
              <a:t>-auth : </a:t>
            </a:r>
            <a:r>
              <a:rPr lang="ko-KR" altLang="en-US" sz="2000" dirty="0"/>
              <a:t>이 모듈은 사용자를 인증하는데 사용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/>
              <a:t>-account : </a:t>
            </a:r>
            <a:r>
              <a:rPr lang="ko-KR" altLang="en-US" sz="2000" dirty="0"/>
              <a:t>접근이 허용되는지를 확인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/>
              <a:t>-password : </a:t>
            </a:r>
            <a:r>
              <a:rPr lang="ko-KR" altLang="en-US" sz="2000" dirty="0"/>
              <a:t>사용자 계정 암호를 바꾸는데 사용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/>
              <a:t>-session : </a:t>
            </a:r>
            <a:r>
              <a:rPr lang="ko-KR" altLang="en-US" sz="2000" dirty="0"/>
              <a:t>사용자의 세션을 설정하고 관리</a:t>
            </a:r>
          </a:p>
        </p:txBody>
      </p:sp>
    </p:spTree>
    <p:extLst>
      <p:ext uri="{BB962C8B-B14F-4D97-AF65-F5344CB8AC3E}">
        <p14:creationId xmlns:p14="http://schemas.microsoft.com/office/powerpoint/2010/main" val="2160855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A710F2-6A94-4C9A-BAD5-C74CC713C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6286"/>
            <a:ext cx="10515600" cy="54806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000" dirty="0"/>
              <a:t>   제어 플래그 </a:t>
            </a:r>
          </a:p>
          <a:p>
            <a:pPr marL="0" indent="0">
              <a:buNone/>
            </a:pPr>
            <a:r>
              <a:rPr lang="ko-KR" altLang="en-US" sz="2000" dirty="0"/>
              <a:t>   모든 </a:t>
            </a:r>
            <a:r>
              <a:rPr lang="en-US" altLang="ko-KR" sz="2000" dirty="0"/>
              <a:t>PAM </a:t>
            </a:r>
            <a:r>
              <a:rPr lang="ko-KR" altLang="en-US" sz="2000" dirty="0"/>
              <a:t>모듈은 수행 후에 성공이나 실패를 생성하는데 </a:t>
            </a:r>
            <a:r>
              <a:rPr lang="ko-KR" altLang="en-US" sz="2000" dirty="0" err="1"/>
              <a:t>제어플래그는</a:t>
            </a:r>
            <a:r>
              <a:rPr lang="ko-KR" altLang="en-US" sz="2000" dirty="0"/>
              <a:t> 특정 모듈의 성공과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실패를 어떻게 처리할 것인지를 알려줌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-required : </a:t>
            </a:r>
            <a:r>
              <a:rPr lang="ko-KR" altLang="en-US" sz="2000" dirty="0"/>
              <a:t>해당 모듈은 인증을 계속하기 위해 반드시 </a:t>
            </a:r>
            <a:r>
              <a:rPr lang="ko-KR" altLang="en-US" sz="2000" dirty="0" err="1"/>
              <a:t>성공해야함</a:t>
            </a:r>
            <a:r>
              <a:rPr lang="en-US" altLang="ko-KR" sz="2000" dirty="0"/>
              <a:t>. </a:t>
            </a:r>
            <a:r>
              <a:rPr lang="ko-KR" altLang="en-US" sz="2000" dirty="0"/>
              <a:t>실패할 경우 사용자는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      </a:t>
            </a:r>
            <a:r>
              <a:rPr lang="ko-KR" altLang="en-US" sz="2000" dirty="0"/>
              <a:t>다른 모든 모듈의 테스트가 끝날 때 까지 결과를 받지 못함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-requisite : </a:t>
            </a:r>
            <a:r>
              <a:rPr lang="ko-KR" altLang="en-US" sz="2000" dirty="0"/>
              <a:t>인증을 계속하기 위해 반드시 성공 해야함</a:t>
            </a:r>
            <a:r>
              <a:rPr lang="en-US" altLang="ko-KR" sz="2000" dirty="0"/>
              <a:t>. </a:t>
            </a:r>
            <a:r>
              <a:rPr lang="ko-KR" altLang="en-US" sz="2000" dirty="0"/>
              <a:t>실패할 경우 사용자는 실패에 대한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       </a:t>
            </a:r>
            <a:r>
              <a:rPr lang="ko-KR" altLang="en-US" sz="2000" dirty="0"/>
              <a:t>메세지를 즉시 받음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-sufficient : </a:t>
            </a:r>
            <a:r>
              <a:rPr lang="ko-KR" altLang="en-US" sz="2000" dirty="0"/>
              <a:t>실패하면 이 모듈의 결과가 무시됨</a:t>
            </a:r>
            <a:r>
              <a:rPr lang="en-US" altLang="ko-KR" sz="2000" dirty="0"/>
              <a:t>. </a:t>
            </a:r>
            <a:r>
              <a:rPr lang="ko-KR" altLang="en-US" sz="2000" dirty="0"/>
              <a:t>이 모듈을 성공하고 앞선 </a:t>
            </a:r>
            <a:r>
              <a:rPr lang="en-US" altLang="ko-KR" sz="2000" dirty="0"/>
              <a:t>required </a:t>
            </a:r>
            <a:r>
              <a:rPr lang="ko-KR" altLang="en-US" sz="2000" dirty="0"/>
              <a:t>모듈 중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       </a:t>
            </a:r>
            <a:r>
              <a:rPr lang="ko-KR" altLang="en-US" sz="2000" dirty="0"/>
              <a:t>실패가 없으면 인증 성공을 </a:t>
            </a:r>
            <a:r>
              <a:rPr lang="ko-KR" altLang="en-US" sz="2000" dirty="0" err="1"/>
              <a:t>리턴함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-optional : </a:t>
            </a:r>
            <a:r>
              <a:rPr lang="ko-KR" altLang="en-US" sz="2000" dirty="0"/>
              <a:t>이 모듈의 결과는 무시됨</a:t>
            </a:r>
            <a:r>
              <a:rPr lang="en-US" altLang="ko-KR" sz="2000" dirty="0"/>
              <a:t>. </a:t>
            </a:r>
            <a:r>
              <a:rPr lang="ko-KR" altLang="en-US" sz="2000" dirty="0"/>
              <a:t>오직 해당 인터페이스에 다른 모듈이 없는 경우에만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             인증에 성공하는데 필요하다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모듈 이름은 삽입 가능한 것을 지정</a:t>
            </a:r>
          </a:p>
          <a:p>
            <a:pPr marL="0" indent="0">
              <a:buNone/>
            </a:pPr>
            <a:r>
              <a:rPr lang="ko-KR" altLang="en-US" sz="2000" dirty="0"/>
              <a:t>  모듈 인자는 인증 과정에서 정보가 필요한 일부 모듈에 정보를 전달</a:t>
            </a:r>
          </a:p>
        </p:txBody>
      </p:sp>
    </p:spTree>
    <p:extLst>
      <p:ext uri="{BB962C8B-B14F-4D97-AF65-F5344CB8AC3E}">
        <p14:creationId xmlns:p14="http://schemas.microsoft.com/office/powerpoint/2010/main" val="2211733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A24D9-4B3C-4564-A24A-27EB3C738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5009"/>
            <a:ext cx="10515600" cy="54219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2000" dirty="0"/>
              <a:t> </a:t>
            </a:r>
            <a:r>
              <a:rPr lang="en-US" altLang="ko-KR" sz="2000" dirty="0" err="1"/>
              <a:t>SELinux</a:t>
            </a: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침입자가 </a:t>
            </a:r>
            <a:r>
              <a:rPr lang="en-US" altLang="ko-KR" sz="2000" dirty="0"/>
              <a:t>root </a:t>
            </a:r>
            <a:r>
              <a:rPr lang="ko-KR" altLang="en-US" sz="2000" dirty="0"/>
              <a:t>권한을 획득할 경우 시스템의 모든 부분이 </a:t>
            </a:r>
            <a:r>
              <a:rPr lang="ko-KR" altLang="en-US" sz="2000" dirty="0" err="1"/>
              <a:t>해킹당할</a:t>
            </a:r>
            <a:r>
              <a:rPr lang="ko-KR" altLang="en-US" sz="2000" dirty="0"/>
              <a:t> 수 있는 위험을 보완하기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 위해 만들어짐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/>
              <a:t>침입자가 특정 프로그램을 해킹하여 </a:t>
            </a:r>
            <a:r>
              <a:rPr lang="en-US" altLang="ko-KR" sz="2000" dirty="0"/>
              <a:t>root </a:t>
            </a:r>
            <a:r>
              <a:rPr lang="ko-KR" altLang="en-US" sz="2000" dirty="0"/>
              <a:t>권한을 가졌더라도 다른 프로그램에서는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root </a:t>
            </a:r>
            <a:r>
              <a:rPr lang="ko-KR" altLang="en-US" sz="2000" dirty="0"/>
              <a:t>권한을 행사하지 못하도록 하는 것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en-US" altLang="ko-KR" sz="2000" dirty="0" err="1"/>
              <a:t>SELinux</a:t>
            </a:r>
            <a:r>
              <a:rPr lang="en-US" altLang="ko-KR" sz="2000" dirty="0"/>
              <a:t>  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기능 </a:t>
            </a:r>
            <a:r>
              <a:rPr lang="en-US" altLang="ko-KR" sz="2000" dirty="0"/>
              <a:t>:</a:t>
            </a:r>
            <a:r>
              <a:rPr lang="ko-KR" altLang="en-US" sz="2000" dirty="0"/>
              <a:t>리눅스 커널에 강제 접근 제어</a:t>
            </a:r>
            <a:r>
              <a:rPr lang="en-US" altLang="ko-KR" sz="2000" dirty="0"/>
              <a:t>(mandatory access control, MAC) </a:t>
            </a:r>
            <a:r>
              <a:rPr lang="ko-KR" altLang="en-US" sz="2000" dirty="0"/>
              <a:t>를 구현한 것으로 </a:t>
            </a:r>
          </a:p>
          <a:p>
            <a:pPr marL="0" indent="0">
              <a:buNone/>
            </a:pPr>
            <a:r>
              <a:rPr lang="ko-KR" altLang="en-US" sz="2000" dirty="0"/>
              <a:t>  기존의 임의적 접근 제어</a:t>
            </a:r>
            <a:r>
              <a:rPr lang="en-US" altLang="ko-KR" sz="2000" dirty="0"/>
              <a:t>(discretionary access control, DAC) </a:t>
            </a:r>
            <a:r>
              <a:rPr lang="ko-KR" altLang="en-US" sz="2000" dirty="0"/>
              <a:t>외에 추가적인 접근 제어를 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  </a:t>
            </a:r>
            <a:r>
              <a:rPr lang="ko-KR" altLang="en-US" sz="2000" dirty="0"/>
              <a:t>객체 </a:t>
            </a:r>
            <a:r>
              <a:rPr lang="en-US" altLang="ko-KR" sz="2000" dirty="0"/>
              <a:t>: </a:t>
            </a:r>
            <a:r>
              <a:rPr lang="ko-KR" altLang="en-US" sz="2000" dirty="0"/>
              <a:t>파일</a:t>
            </a:r>
            <a:r>
              <a:rPr lang="en-US" altLang="ko-KR" sz="2000" dirty="0"/>
              <a:t>, </a:t>
            </a:r>
            <a:r>
              <a:rPr lang="ko-KR" altLang="en-US" sz="2000" dirty="0"/>
              <a:t>디렉터리</a:t>
            </a:r>
            <a:r>
              <a:rPr lang="en-US" altLang="ko-KR" sz="2000" dirty="0"/>
              <a:t>, </a:t>
            </a:r>
            <a:r>
              <a:rPr lang="ko-KR" altLang="en-US" sz="2000" dirty="0"/>
              <a:t>장치</a:t>
            </a:r>
          </a:p>
          <a:p>
            <a:pPr marL="0" indent="0">
              <a:buNone/>
            </a:pPr>
            <a:r>
              <a:rPr lang="ko-KR" altLang="en-US" sz="2000" dirty="0"/>
              <a:t>      주체 </a:t>
            </a:r>
            <a:r>
              <a:rPr lang="en-US" altLang="ko-KR" sz="2000" dirty="0"/>
              <a:t>: </a:t>
            </a:r>
            <a:r>
              <a:rPr lang="ko-KR" altLang="en-US" sz="2000" dirty="0"/>
              <a:t>사용자</a:t>
            </a:r>
            <a:r>
              <a:rPr lang="en-US" altLang="ko-KR" sz="2000" dirty="0"/>
              <a:t>, </a:t>
            </a:r>
            <a:r>
              <a:rPr lang="ko-KR" altLang="en-US" sz="2000" dirty="0"/>
              <a:t>프로세스 </a:t>
            </a:r>
            <a:r>
              <a:rPr lang="en-US" altLang="ko-KR" sz="2000" dirty="0"/>
              <a:t>,</a:t>
            </a:r>
            <a:r>
              <a:rPr lang="ko-KR" altLang="en-US" sz="2000" dirty="0"/>
              <a:t>프로그램</a:t>
            </a:r>
          </a:p>
          <a:p>
            <a:pPr marL="0" indent="0">
              <a:buNone/>
            </a:pPr>
            <a:r>
              <a:rPr lang="ko-KR" altLang="en-US" sz="2000" dirty="0"/>
              <a:t>  대부분 운영체제는 주체가 객체를 사용할 때 </a:t>
            </a:r>
            <a:r>
              <a:rPr lang="en-US" altLang="ko-KR" sz="2000" dirty="0"/>
              <a:t>DAC</a:t>
            </a:r>
            <a:r>
              <a:rPr lang="ko-KR" altLang="en-US" sz="2000" dirty="0"/>
              <a:t>를 적용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 err="1"/>
              <a:t>SELinux</a:t>
            </a:r>
            <a:r>
              <a:rPr lang="en-US" altLang="ko-KR" sz="2000" dirty="0"/>
              <a:t> </a:t>
            </a:r>
            <a:r>
              <a:rPr lang="ko-KR" altLang="en-US" sz="2000" dirty="0"/>
              <a:t>의 상태를 알려주는 명령어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getenforce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en-US" altLang="ko-KR" sz="2000" dirty="0" err="1"/>
              <a:t>SELinux</a:t>
            </a:r>
            <a:r>
              <a:rPr lang="en-US" altLang="ko-KR" sz="2000" dirty="0"/>
              <a:t> </a:t>
            </a:r>
            <a:r>
              <a:rPr lang="ko-KR" altLang="en-US" sz="2000" dirty="0"/>
              <a:t>의 상태를 변경하는 명령어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setenforce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1419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0B8A3-DA3D-4B19-9242-174D4451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24BAE0-81F6-4808-B04F-A013CBEF5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973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1954</Words>
  <Application>Microsoft Office PowerPoint</Application>
  <PresentationFormat>와이드스크린</PresentationFormat>
  <Paragraphs>256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맑은 고딕</vt:lpstr>
      <vt:lpstr>Arial</vt:lpstr>
      <vt:lpstr>Calibri</vt:lpstr>
      <vt:lpstr>Calibri Light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9</cp:revision>
  <dcterms:created xsi:type="dcterms:W3CDTF">2019-06-27T09:01:31Z</dcterms:created>
  <dcterms:modified xsi:type="dcterms:W3CDTF">2019-06-27T10:22:40Z</dcterms:modified>
</cp:coreProperties>
</file>